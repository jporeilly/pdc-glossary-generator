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5, rebuilt for the Business Analyst audience. The goal is a comprehensive conceptual understanding of Data Identification: what it is, the two methods (dictionaries match values, patterns match shape), how matches are scored, how methods bundle into policies, and what it produces. The technical workshop goes deeper into building custom methods and tuning rules. Anchor everything in the Arizona Water Company scenario.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where identification sits: it is step two, right after profiling. Make the 'we think → we know' shift concrete. Preview the two methods (next slide) and the three takeaways: it depends on profiling, it uses two methods, and it outputs tags and terms that everything downstream relies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conceptual heart of the workshop. The mental model: dictionary = value lookup, pattern = shape match. Give one quick example of each verbally. Stress that most real identification uses BOTH together — that's what a policy is, which we'll see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Dictionaries answer 'is this value in a known list?'. Key distinction for a BA: system-defined (95 built in) versus user-defined (your own CSV or extracted from a column). Marital_Status is the canonical example — low-cardinality values that have no regex shape, so a dictionary is the right tool. The values get compared, and on a match the PII / Sensitive tags are applied.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Patterns answer 'does this value have a known shape?'. Walk the alphabet quickly, then the KT1734-B → AAnnnn-A reduction — this is the memorable visual. Note the dual purpose: identification AND data-quality (the same patterns generate RegEx recommendations that flag outliers later). Email, phone, passport, SSN are all pattern-friendly because they have a consistent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BA-level. The point: matching is graded with a confidence score (similarity + a metadata hint from the column name), checked against a threshold, and only then does it apply tags/terms. Avoid the JSON. Signpost that the confidence formulas, weightings and conditions are exactly what the technical workshop covers.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Corrected model: a policy is not a pre-built, pre-named object — it is the combination of dictionaries and patterns you select at 'Select Methods'. Dictionaries + patterns = policy. You assemble it from the built-in methods plus your own custom ones (the AWC Service Cities dictionary and the Account Reference pattern). Apply, run, then review in the Data Canvas and Galaxy 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it home with AWC. The same table from the old deck, but reframed around the two methods: name and the consent flag are dictionary matches; email and phone are pattern matches; address takes both. Each matched column gets tags and links to its Workshop 3 term (all High sensitivity). Flag that the method column is illustrative — the point is showing both methods working on real AWC columns.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extension for a comprehensive picture: identification isn't limited to tables. Structured columns go through Profiling then Data Identification (the scored rule logic). Unstructured documents go through Data Discovery, and inside it String Detection re-uses the SAME dictionaries and patterns against the document text — but as presence/count matching, not the scored rules. Documents add ML-only helpers: Address Detection, semantic Data Classification, and summaries with sentiment. Same methods, different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AWC applied, unstructured side. The correspondence folder (emails + letters) is exactly the .txt/.docx types PDC supports. Running Data Discovery with String Detection and the PII dictionaries/patterns flags which documents contain personal data — the same compliance answer as the customers table, now for free text. The reference-code callout shows a custom pattern (AAA-AA-nnnnnn) catching AWC account/case refs inside letters. Note this is illustrative since the asset files weren't readable — confirm against the real documents.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practical 'what do I actually select' slide. Message: don't build from scratch — built-in dictionaries and patterns already cover name, email, phone, and address for the customers table, and the same methods run against documents through String Detection, with Address Detection and Data Classification adding document-only ML. A policy is just whichever of these you select. Then two custom AWC methods fill the gaps the built-ins can't: a Service Cities dictionary (which you upload as a CSV) and an Account Reference pattern (AWC-XX-NNNNNN), which the learner adds in the technical track. Built-in method names should be confirmed against the lab's method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BA takeaway: they can now explain what data identification is, the two methods, and when each applies. The three numbers reinforce the message — two methods, 95+ ready dictionaries, one scan to classify everything. Hand off to the technical workshop, which builds and tunes the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33F"/>
        </a:solidFill>
      </p:bgPr>
    </p:bg>
    <p:spTree>
      <p:nvGrpSpPr>
        <p:cNvPr id="1" name=""/>
        <p:cNvGrpSpPr/>
        <p:nvPr/>
      </p:nvGrpSpPr>
      <p:grpSpPr>
        <a:xfrm>
          <a:off x="0" y="0"/>
          <a:ext cx="0" cy="0"/>
          <a:chOff x="0" y="0"/>
          <a:chExt cx="0" cy="0"/>
        </a:xfrm>
      </p:grpSpPr>
      <p:sp>
        <p:nvSpPr>
          <p:cNvPr id="2" name="Shape 0"/>
          <p:cNvSpPr/>
          <p:nvPr/>
        </p:nvSpPr>
        <p:spPr>
          <a:xfrm>
            <a:off x="6675120" y="-1554480"/>
            <a:ext cx="4206240" cy="4206240"/>
          </a:xfrm>
          <a:prstGeom prst="ellipse">
            <a:avLst/>
          </a:prstGeom>
          <a:solidFill>
            <a:srgbClr val="0A3D52"/>
          </a:solidFill>
          <a:ln/>
        </p:spPr>
      </p:sp>
      <p:sp>
        <p:nvSpPr>
          <p:cNvPr id="3" name="Shape 1"/>
          <p:cNvSpPr/>
          <p:nvPr/>
        </p:nvSpPr>
        <p:spPr>
          <a:xfrm>
            <a:off x="7452360" y="-868680"/>
            <a:ext cx="2834640" cy="2834640"/>
          </a:xfrm>
          <a:prstGeom prst="ellipse">
            <a:avLst/>
          </a:prstGeom>
          <a:solidFill>
            <a:srgbClr val="1C7293"/>
          </a:solidFill>
          <a:ln w="12700">
            <a:solidFill>
              <a:srgbClr val="1C7293"/>
            </a:solidFill>
            <a:prstDash val="solid"/>
          </a:ln>
        </p:spPr>
      </p:sp>
      <p:sp>
        <p:nvSpPr>
          <p:cNvPr id="4" name="Shape 2"/>
          <p:cNvSpPr/>
          <p:nvPr/>
        </p:nvSpPr>
        <p:spPr>
          <a:xfrm>
            <a:off x="8138160" y="-320040"/>
            <a:ext cx="1554480" cy="1554480"/>
          </a:xfrm>
          <a:prstGeom prst="ellipse">
            <a:avLst/>
          </a:prstGeom>
          <a:solidFill>
            <a:srgbClr val="2EC4B6"/>
          </a:solidFill>
          <a:ln/>
        </p:spPr>
      </p:sp>
      <p:sp>
        <p:nvSpPr>
          <p:cNvPr id="5" name="Shape 3"/>
          <p:cNvSpPr/>
          <p:nvPr/>
        </p:nvSpPr>
        <p:spPr>
          <a:xfrm>
            <a:off x="548640" y="868680"/>
            <a:ext cx="868680" cy="868680"/>
          </a:xfrm>
          <a:prstGeom prst="ellipse">
            <a:avLst/>
          </a:prstGeom>
          <a:solidFill>
            <a:srgbClr val="2EC4B6"/>
          </a:solidFill>
          <a:ln/>
          <a:effectLst>
            <a:outerShdw sx="100000" sy="100000" kx="0" ky="0" algn="bl" rotWithShape="0" blurRad="88900" dist="38100" dir="5400000">
              <a:srgbClr val="0B1B2B">
                <a:alpha val="16000"/>
              </a:srgbClr>
            </a:outerShdw>
          </a:effectLst>
        </p:spPr>
      </p:sp>
      <p:pic>
        <p:nvPicPr>
          <p:cNvPr id="6" name="Image 0" descr="preencoded.png">    </p:cNvPr>
          <p:cNvPicPr>
            <a:picLocks noChangeAspect="1"/>
          </p:cNvPicPr>
          <p:nvPr/>
        </p:nvPicPr>
        <p:blipFill>
          <a:blip r:embed="rId1"/>
          <a:stretch>
            <a:fillRect/>
          </a:stretch>
        </p:blipFill>
        <p:spPr>
          <a:xfrm>
            <a:off x="768096" y="1088136"/>
            <a:ext cx="429768" cy="429768"/>
          </a:xfrm>
          <a:prstGeom prst="rect">
            <a:avLst/>
          </a:prstGeom>
        </p:spPr>
      </p:pic>
      <p:sp>
        <p:nvSpPr>
          <p:cNvPr id="7" name="Text 4"/>
          <p:cNvSpPr/>
          <p:nvPr/>
        </p:nvSpPr>
        <p:spPr>
          <a:xfrm>
            <a:off x="566928" y="1993392"/>
            <a:ext cx="7863840" cy="274320"/>
          </a:xfrm>
          <a:prstGeom prst="rect">
            <a:avLst/>
          </a:prstGeom>
          <a:noFill/>
          <a:ln/>
        </p:spPr>
        <p:txBody>
          <a:bodyPr wrap="square" lIns="0" tIns="0" rIns="0" bIns="0" rtlCol="0" anchor="ctr"/>
          <a:lstStyle/>
          <a:p>
            <a:pPr indent="0" marL="0">
              <a:buNone/>
            </a:pPr>
            <a:r>
              <a:rPr lang="en-US" sz="1200" b="1" spc="250" kern="0" dirty="0">
                <a:solidFill>
                  <a:srgbClr val="2EC4B6"/>
                </a:solidFill>
                <a:latin typeface="Calibri" pitchFamily="34" charset="0"/>
                <a:ea typeface="Calibri" pitchFamily="34" charset="-122"/>
                <a:cs typeface="Calibri" pitchFamily="34" charset="-120"/>
              </a:rPr>
              <a:t>WORKSHOP 5   ·   BUSINESS ANALYST   ·   PENTAHO DATA CATALOG</a:t>
            </a:r>
            <a:endParaRPr lang="en-US" sz="1200" dirty="0"/>
          </a:p>
        </p:txBody>
      </p:sp>
      <p:sp>
        <p:nvSpPr>
          <p:cNvPr id="8" name="Text 5"/>
          <p:cNvSpPr/>
          <p:nvPr/>
        </p:nvSpPr>
        <p:spPr>
          <a:xfrm>
            <a:off x="530352" y="2286000"/>
            <a:ext cx="8046720" cy="868680"/>
          </a:xfrm>
          <a:prstGeom prst="rect">
            <a:avLst/>
          </a:prstGeom>
          <a:noFill/>
          <a:ln/>
        </p:spPr>
        <p:txBody>
          <a:bodyPr wrap="square" lIns="0" tIns="0" rIns="0" bIns="0" rtlCol="0" anchor="ctr"/>
          <a:lstStyle/>
          <a:p>
            <a:pPr indent="0" marL="0">
              <a:buNone/>
            </a:pPr>
            <a:r>
              <a:rPr lang="en-US" sz="5400" b="1" dirty="0">
                <a:solidFill>
                  <a:srgbClr val="FFFFFF"/>
                </a:solidFill>
                <a:latin typeface="Bookman Old Style" pitchFamily="34" charset="0"/>
                <a:ea typeface="Bookman Old Style" pitchFamily="34" charset="-122"/>
                <a:cs typeface="Bookman Old Style" pitchFamily="34" charset="-120"/>
              </a:rPr>
              <a:t>Data Identification</a:t>
            </a:r>
            <a:endParaRPr lang="en-US" sz="5400" dirty="0"/>
          </a:p>
        </p:txBody>
      </p:sp>
      <p:sp>
        <p:nvSpPr>
          <p:cNvPr id="9" name="Text 6"/>
          <p:cNvSpPr/>
          <p:nvPr/>
        </p:nvSpPr>
        <p:spPr>
          <a:xfrm>
            <a:off x="566928" y="3127248"/>
            <a:ext cx="8046720" cy="502920"/>
          </a:xfrm>
          <a:prstGeom prst="rect">
            <a:avLst/>
          </a:prstGeom>
          <a:noFill/>
          <a:ln/>
        </p:spPr>
        <p:txBody>
          <a:bodyPr wrap="square" lIns="0" tIns="0" rIns="0" bIns="0" rtlCol="0" anchor="ctr"/>
          <a:lstStyle/>
          <a:p>
            <a:pPr indent="0" marL="0">
              <a:buNone/>
            </a:pPr>
            <a:r>
              <a:rPr lang="en-US" sz="2500" i="1" dirty="0">
                <a:solidFill>
                  <a:srgbClr val="C9DEE8"/>
                </a:solidFill>
                <a:latin typeface="Bookman Old Style" pitchFamily="34" charset="0"/>
                <a:ea typeface="Bookman Old Style" pitchFamily="34" charset="-122"/>
                <a:cs typeface="Bookman Old Style" pitchFamily="34" charset="-120"/>
              </a:rPr>
              <a:t>Dictionaries &amp; Patterns</a:t>
            </a:r>
            <a:endParaRPr lang="en-US" sz="2500" dirty="0"/>
          </a:p>
        </p:txBody>
      </p:sp>
      <p:sp>
        <p:nvSpPr>
          <p:cNvPr id="10" name="Text 7"/>
          <p:cNvSpPr/>
          <p:nvPr/>
        </p:nvSpPr>
        <p:spPr>
          <a:xfrm>
            <a:off x="566928" y="3730752"/>
            <a:ext cx="7040880" cy="640080"/>
          </a:xfrm>
          <a:prstGeom prst="rect">
            <a:avLst/>
          </a:prstGeom>
          <a:noFill/>
          <a:ln/>
        </p:spPr>
        <p:txBody>
          <a:bodyPr wrap="square" lIns="0" tIns="0" rIns="0" bIns="0" rtlCol="0" anchor="ctr"/>
          <a:lstStyle/>
          <a:p>
            <a:pPr indent="0" marL="0">
              <a:lnSpc>
                <a:spcPct val="105000"/>
              </a:lnSpc>
              <a:buNone/>
            </a:pPr>
            <a:r>
              <a:rPr lang="en-US" sz="1350" dirty="0">
                <a:solidFill>
                  <a:srgbClr val="C9DEE8"/>
                </a:solidFill>
                <a:latin typeface="Calibri" pitchFamily="34" charset="0"/>
                <a:ea typeface="Calibri" pitchFamily="34" charset="-122"/>
                <a:cs typeface="Calibri" pitchFamily="34" charset="-120"/>
              </a:rPr>
              <a:t>How PDC recognizes what your data is — matching values against dictionaries and shapes against patterns — so every column is classified, tagged, and ready to govern.</a:t>
            </a:r>
            <a:endParaRPr lang="en-US" sz="1350" dirty="0"/>
          </a:p>
        </p:txBody>
      </p:sp>
      <p:sp>
        <p:nvSpPr>
          <p:cNvPr id="11" name="Text 8"/>
          <p:cNvSpPr/>
          <p:nvPr/>
        </p:nvSpPr>
        <p:spPr>
          <a:xfrm>
            <a:off x="548640" y="4736592"/>
            <a:ext cx="7315200" cy="274320"/>
          </a:xfrm>
          <a:prstGeom prst="rect">
            <a:avLst/>
          </a:prstGeom>
          <a:noFill/>
          <a:ln/>
        </p:spPr>
        <p:txBody>
          <a:bodyPr wrap="square" lIns="0" tIns="0" rIns="0" bIns="0" rtlCol="0" anchor="ctr"/>
          <a:lstStyle/>
          <a:p>
            <a:pPr algn="l" indent="0" marL="0">
              <a:buNone/>
            </a:pPr>
            <a:r>
              <a:rPr lang="en-US" sz="900" dirty="0">
                <a:solidFill>
                  <a:srgbClr val="C9DEE8"/>
                </a:solidFill>
                <a:latin typeface="Calibri" pitchFamily="34" charset="0"/>
                <a:ea typeface="Calibri" pitchFamily="34" charset="-122"/>
                <a:cs typeface="Calibri" pitchFamily="34" charset="-120"/>
              </a:rPr>
              <a:t>Pentaho Data Catalog 10.2.11   ·   Dictionaries + Patterns = Policies   ·   Arizona Water Company</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algn="l" indent="0" marL="0">
              <a:buNone/>
            </a:pPr>
            <a:r>
              <a:rPr lang="en-US" sz="1150" b="1" spc="300" kern="0" dirty="0">
                <a:solidFill>
                  <a:srgbClr val="1C7293"/>
                </a:solidFill>
                <a:latin typeface="Calibri" pitchFamily="34" charset="0"/>
                <a:ea typeface="Calibri" pitchFamily="34" charset="-122"/>
                <a:cs typeface="Calibri" pitchFamily="34" charset="-120"/>
              </a:rPr>
              <a:t>THE BIG IDEA</a:t>
            </a:r>
            <a:endParaRPr lang="en-US" sz="1150" dirty="0"/>
          </a:p>
        </p:txBody>
      </p:sp>
      <p:sp>
        <p:nvSpPr>
          <p:cNvPr id="3" name="Text 1"/>
          <p:cNvSpPr/>
          <p:nvPr/>
        </p:nvSpPr>
        <p:spPr>
          <a:xfrm>
            <a:off x="548640" y="658368"/>
            <a:ext cx="8229600" cy="548640"/>
          </a:xfrm>
          <a:prstGeom prst="rect">
            <a:avLst/>
          </a:prstGeom>
          <a:noFill/>
          <a:ln/>
        </p:spPr>
        <p:txBody>
          <a:bodyPr wrap="square" lIns="0" tIns="0" rIns="0" bIns="0" rtlCol="0" anchor="ctr"/>
          <a:lstStyle/>
          <a:p>
            <a:pPr indent="0" marL="0">
              <a:buNone/>
            </a:pPr>
            <a:r>
              <a:rPr lang="en-US" sz="2800" b="1" dirty="0">
                <a:solidFill>
                  <a:srgbClr val="14333F"/>
                </a:solidFill>
                <a:latin typeface="Bookman Old Style" pitchFamily="34" charset="0"/>
                <a:ea typeface="Bookman Old Style" pitchFamily="34" charset="-122"/>
                <a:cs typeface="Bookman Old Style" pitchFamily="34" charset="-120"/>
              </a:rPr>
              <a:t>From profiled to classified — automatically</a:t>
            </a:r>
            <a:endParaRPr lang="en-US" sz="2800" dirty="0"/>
          </a:p>
        </p:txBody>
      </p:sp>
      <p:sp>
        <p:nvSpPr>
          <p:cNvPr id="4" name="Text 2"/>
          <p:cNvSpPr/>
          <p:nvPr/>
        </p:nvSpPr>
        <p:spPr>
          <a:xfrm>
            <a:off x="548640" y="1225296"/>
            <a:ext cx="8138160" cy="658368"/>
          </a:xfrm>
          <a:prstGeom prst="rect">
            <a:avLst/>
          </a:prstGeom>
          <a:noFill/>
          <a:ln/>
        </p:spPr>
        <p:txBody>
          <a:bodyPr wrap="square" lIns="0" tIns="0" rIns="0" bIns="0" rtlCol="0" anchor="ctr"/>
          <a:lstStyle/>
          <a:p>
            <a:pPr indent="0" marL="0">
              <a:lnSpc>
                <a:spcPct val="108000"/>
              </a:lnSpc>
              <a:buNone/>
            </a:pPr>
            <a:r>
              <a:rPr lang="en-US" sz="1450" b="1" dirty="0">
                <a:solidFill>
                  <a:srgbClr val="1C7293"/>
                </a:solidFill>
                <a:latin typeface="Calibri" pitchFamily="34" charset="0"/>
                <a:ea typeface="Calibri" pitchFamily="34" charset="-122"/>
                <a:cs typeface="Calibri" pitchFamily="34" charset="-120"/>
              </a:rPr>
              <a:t>Data Identification</a:t>
            </a:r>
            <a:pPr indent="0" marL="0">
              <a:lnSpc>
                <a:spcPct val="108000"/>
              </a:lnSpc>
              <a:buNone/>
            </a:pPr>
            <a:r>
              <a:rPr lang="en-US" sz="1450" dirty="0">
                <a:solidFill>
                  <a:srgbClr val="5B7782"/>
                </a:solidFill>
                <a:latin typeface="Calibri" pitchFamily="34" charset="0"/>
                <a:ea typeface="Calibri" pitchFamily="34" charset="-122"/>
                <a:cs typeface="Calibri" pitchFamily="34" charset="-120"/>
              </a:rPr>
              <a:t> is the rule-based scan PDC runs after profiling. It compares your data against two kinds of methods and tags whatever matches — turning </a:t>
            </a:r>
            <a:pPr indent="0" marL="0">
              <a:lnSpc>
                <a:spcPct val="108000"/>
              </a:lnSpc>
              <a:buNone/>
            </a:pPr>
            <a:r>
              <a:rPr lang="en-US" sz="1450" i="1" dirty="0">
                <a:solidFill>
                  <a:srgbClr val="5B7782"/>
                </a:solidFill>
                <a:latin typeface="Calibri" pitchFamily="34" charset="0"/>
                <a:ea typeface="Calibri" pitchFamily="34" charset="-122"/>
                <a:cs typeface="Calibri" pitchFamily="34" charset="-120"/>
              </a:rPr>
              <a:t>“we think this column is a phone number”</a:t>
            </a:r>
            <a:pPr indent="0" marL="0">
              <a:lnSpc>
                <a:spcPct val="108000"/>
              </a:lnSpc>
              <a:buNone/>
            </a:pPr>
            <a:r>
              <a:rPr lang="en-US" sz="1450" dirty="0">
                <a:solidFill>
                  <a:srgbClr val="5B7782"/>
                </a:solidFill>
                <a:latin typeface="Calibri" pitchFamily="34" charset="0"/>
                <a:ea typeface="Calibri" pitchFamily="34" charset="-122"/>
                <a:cs typeface="Calibri" pitchFamily="34" charset="-120"/>
              </a:rPr>
              <a:t> into </a:t>
            </a:r>
            <a:pPr indent="0" marL="0">
              <a:lnSpc>
                <a:spcPct val="108000"/>
              </a:lnSpc>
              <a:buNone/>
            </a:pPr>
            <a:r>
              <a:rPr lang="en-US" sz="1450" b="1" i="1" dirty="0">
                <a:solidFill>
                  <a:srgbClr val="14333F"/>
                </a:solidFill>
                <a:latin typeface="Calibri" pitchFamily="34" charset="0"/>
                <a:ea typeface="Calibri" pitchFamily="34" charset="-122"/>
                <a:cs typeface="Calibri" pitchFamily="34" charset="-120"/>
              </a:rPr>
              <a:t>“the catalog knows it is.”</a:t>
            </a:r>
            <a:endParaRPr lang="en-US" sz="1450" dirty="0"/>
          </a:p>
        </p:txBody>
      </p:sp>
      <p:sp>
        <p:nvSpPr>
          <p:cNvPr id="5" name="Shape 3"/>
          <p:cNvSpPr/>
          <p:nvPr/>
        </p:nvSpPr>
        <p:spPr>
          <a:xfrm>
            <a:off x="548640" y="2148840"/>
            <a:ext cx="1819656" cy="1371600"/>
          </a:xfrm>
          <a:prstGeom prst="roundRect">
            <a:avLst>
              <a:gd name="adj" fmla="val 6000"/>
            </a:avLst>
          </a:prstGeom>
          <a:solidFill>
            <a:srgbClr val="EEF6FA"/>
          </a:solidFill>
          <a:ln w="12700">
            <a:solidFill>
              <a:srgbClr val="DCEEF5"/>
            </a:solidFill>
            <a:prstDash val="solid"/>
          </a:ln>
        </p:spPr>
      </p:sp>
      <p:sp>
        <p:nvSpPr>
          <p:cNvPr id="6" name="Text 4"/>
          <p:cNvSpPr/>
          <p:nvPr/>
        </p:nvSpPr>
        <p:spPr>
          <a:xfrm>
            <a:off x="694944" y="2276856"/>
            <a:ext cx="457200" cy="365760"/>
          </a:xfrm>
          <a:prstGeom prst="rect">
            <a:avLst/>
          </a:prstGeom>
          <a:noFill/>
          <a:ln/>
        </p:spPr>
        <p:txBody>
          <a:bodyPr wrap="square" lIns="0" tIns="0" rIns="0" bIns="0" rtlCol="0" anchor="ctr"/>
          <a:lstStyle/>
          <a:p>
            <a:pPr indent="0" marL="0">
              <a:buNone/>
            </a:pPr>
            <a:r>
              <a:rPr lang="en-US" sz="2200" b="1" dirty="0">
                <a:solidFill>
                  <a:srgbClr val="C9DEE8"/>
                </a:solidFill>
                <a:latin typeface="Bookman Old Style" pitchFamily="34" charset="0"/>
                <a:ea typeface="Bookman Old Style" pitchFamily="34" charset="-122"/>
                <a:cs typeface="Bookman Old Style" pitchFamily="34" charset="-120"/>
              </a:rPr>
              <a:t>1</a:t>
            </a:r>
            <a:endParaRPr lang="en-US" sz="2200" dirty="0"/>
          </a:p>
        </p:txBody>
      </p:sp>
      <p:sp>
        <p:nvSpPr>
          <p:cNvPr id="7" name="Text 5"/>
          <p:cNvSpPr/>
          <p:nvPr/>
        </p:nvSpPr>
        <p:spPr>
          <a:xfrm>
            <a:off x="694944" y="2660904"/>
            <a:ext cx="1527048" cy="320040"/>
          </a:xfrm>
          <a:prstGeom prst="rect">
            <a:avLst/>
          </a:prstGeom>
          <a:noFill/>
          <a:ln/>
        </p:spPr>
        <p:txBody>
          <a:bodyPr wrap="square" lIns="0" tIns="0" rIns="0" bIns="0" rtlCol="0" anchor="ctr"/>
          <a:lstStyle/>
          <a:p>
            <a:pPr indent="0" marL="0">
              <a:buNone/>
            </a:pPr>
            <a:r>
              <a:rPr lang="en-US" sz="1350" b="1" dirty="0">
                <a:solidFill>
                  <a:srgbClr val="14333F"/>
                </a:solidFill>
                <a:latin typeface="Calibri" pitchFamily="34" charset="0"/>
                <a:ea typeface="Calibri" pitchFamily="34" charset="-122"/>
                <a:cs typeface="Calibri" pitchFamily="34" charset="-120"/>
              </a:rPr>
              <a:t>Profile</a:t>
            </a:r>
            <a:endParaRPr lang="en-US" sz="1350" dirty="0"/>
          </a:p>
        </p:txBody>
      </p:sp>
      <p:sp>
        <p:nvSpPr>
          <p:cNvPr id="8" name="Text 6"/>
          <p:cNvSpPr/>
          <p:nvPr/>
        </p:nvSpPr>
        <p:spPr>
          <a:xfrm>
            <a:off x="694944" y="2971800"/>
            <a:ext cx="1545336" cy="457200"/>
          </a:xfrm>
          <a:prstGeom prst="rect">
            <a:avLst/>
          </a:prstGeom>
          <a:noFill/>
          <a:ln/>
        </p:spPr>
        <p:txBody>
          <a:bodyPr wrap="square" lIns="0" tIns="0" rIns="0" bIns="0" rtlCol="0" anchor="ctr"/>
          <a:lstStyle/>
          <a:p>
            <a:pPr indent="0" marL="0">
              <a:lnSpc>
                <a:spcPct val="100000"/>
              </a:lnSpc>
              <a:buNone/>
            </a:pPr>
            <a:r>
              <a:rPr lang="en-US" sz="1000" dirty="0">
                <a:solidFill>
                  <a:srgbClr val="5B7782"/>
                </a:solidFill>
                <a:latin typeface="Calibri" pitchFamily="34" charset="0"/>
                <a:ea typeface="Calibri" pitchFamily="34" charset="-122"/>
                <a:cs typeface="Calibri" pitchFamily="34" charset="-120"/>
              </a:rPr>
              <a:t>Stats, samples &amp; patterns</a:t>
            </a:r>
            <a:endParaRPr lang="en-US" sz="1000" dirty="0"/>
          </a:p>
        </p:txBody>
      </p:sp>
      <p:sp>
        <p:nvSpPr>
          <p:cNvPr id="9" name="Shape 7"/>
          <p:cNvSpPr/>
          <p:nvPr/>
        </p:nvSpPr>
        <p:spPr>
          <a:xfrm>
            <a:off x="2624328" y="2148840"/>
            <a:ext cx="1819656" cy="1371600"/>
          </a:xfrm>
          <a:prstGeom prst="roundRect">
            <a:avLst>
              <a:gd name="adj" fmla="val 6000"/>
            </a:avLst>
          </a:prstGeom>
          <a:solidFill>
            <a:srgbClr val="1C7293"/>
          </a:solidFill>
          <a:ln w="12700">
            <a:solidFill>
              <a:srgbClr val="1C7293"/>
            </a:solidFill>
            <a:prstDash val="solid"/>
          </a:ln>
          <a:effectLst>
            <a:outerShdw sx="100000" sy="100000" kx="0" ky="0" algn="bl" rotWithShape="0" blurRad="88900" dist="38100" dir="5400000">
              <a:srgbClr val="0B1B2B">
                <a:alpha val="16000"/>
              </a:srgbClr>
            </a:outerShdw>
          </a:effectLst>
        </p:spPr>
      </p:sp>
      <p:sp>
        <p:nvSpPr>
          <p:cNvPr id="10" name="Text 8"/>
          <p:cNvSpPr/>
          <p:nvPr/>
        </p:nvSpPr>
        <p:spPr>
          <a:xfrm>
            <a:off x="2770632" y="2276856"/>
            <a:ext cx="457200" cy="365760"/>
          </a:xfrm>
          <a:prstGeom prst="rect">
            <a:avLst/>
          </a:prstGeom>
          <a:noFill/>
          <a:ln/>
        </p:spPr>
        <p:txBody>
          <a:bodyPr wrap="square" lIns="0" tIns="0" rIns="0" bIns="0" rtlCol="0" anchor="ctr"/>
          <a:lstStyle/>
          <a:p>
            <a:pPr indent="0" marL="0">
              <a:buNone/>
            </a:pPr>
            <a:r>
              <a:rPr lang="en-US" sz="2200" b="1" dirty="0">
                <a:solidFill>
                  <a:srgbClr val="2EC4B6"/>
                </a:solidFill>
                <a:latin typeface="Bookman Old Style" pitchFamily="34" charset="0"/>
                <a:ea typeface="Bookman Old Style" pitchFamily="34" charset="-122"/>
                <a:cs typeface="Bookman Old Style" pitchFamily="34" charset="-120"/>
              </a:rPr>
              <a:t>2</a:t>
            </a:r>
            <a:endParaRPr lang="en-US" sz="2200" dirty="0"/>
          </a:p>
        </p:txBody>
      </p:sp>
      <p:sp>
        <p:nvSpPr>
          <p:cNvPr id="11" name="Text 9"/>
          <p:cNvSpPr/>
          <p:nvPr/>
        </p:nvSpPr>
        <p:spPr>
          <a:xfrm>
            <a:off x="2770632" y="2660904"/>
            <a:ext cx="1527048" cy="32004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Identify</a:t>
            </a:r>
            <a:endParaRPr lang="en-US" sz="1350" dirty="0"/>
          </a:p>
        </p:txBody>
      </p:sp>
      <p:sp>
        <p:nvSpPr>
          <p:cNvPr id="12" name="Text 10"/>
          <p:cNvSpPr/>
          <p:nvPr/>
        </p:nvSpPr>
        <p:spPr>
          <a:xfrm>
            <a:off x="2770632" y="2971800"/>
            <a:ext cx="1545336" cy="457200"/>
          </a:xfrm>
          <a:prstGeom prst="rect">
            <a:avLst/>
          </a:prstGeom>
          <a:noFill/>
          <a:ln/>
        </p:spPr>
        <p:txBody>
          <a:bodyPr wrap="square" lIns="0" tIns="0" rIns="0" bIns="0" rtlCol="0" anchor="ctr"/>
          <a:lstStyle/>
          <a:p>
            <a:pPr indent="0" marL="0">
              <a:lnSpc>
                <a:spcPct val="100000"/>
              </a:lnSpc>
              <a:buNone/>
            </a:pPr>
            <a:r>
              <a:rPr lang="en-US" sz="1000" dirty="0">
                <a:solidFill>
                  <a:srgbClr val="C9DEE8"/>
                </a:solidFill>
                <a:latin typeface="Calibri" pitchFamily="34" charset="0"/>
                <a:ea typeface="Calibri" pitchFamily="34" charset="-122"/>
                <a:cs typeface="Calibri" pitchFamily="34" charset="-120"/>
              </a:rPr>
              <a:t>Match dictionaries &amp; patterns</a:t>
            </a:r>
            <a:endParaRPr lang="en-US" sz="1000" dirty="0"/>
          </a:p>
        </p:txBody>
      </p:sp>
      <p:sp>
        <p:nvSpPr>
          <p:cNvPr id="13" name="Shape 11"/>
          <p:cNvSpPr/>
          <p:nvPr/>
        </p:nvSpPr>
        <p:spPr>
          <a:xfrm>
            <a:off x="4700016" y="2148840"/>
            <a:ext cx="1819656" cy="1371600"/>
          </a:xfrm>
          <a:prstGeom prst="roundRect">
            <a:avLst>
              <a:gd name="adj" fmla="val 6000"/>
            </a:avLst>
          </a:prstGeom>
          <a:solidFill>
            <a:srgbClr val="EEF6FA"/>
          </a:solidFill>
          <a:ln w="12700">
            <a:solidFill>
              <a:srgbClr val="DCEEF5"/>
            </a:solidFill>
            <a:prstDash val="solid"/>
          </a:ln>
        </p:spPr>
      </p:sp>
      <p:sp>
        <p:nvSpPr>
          <p:cNvPr id="14" name="Text 12"/>
          <p:cNvSpPr/>
          <p:nvPr/>
        </p:nvSpPr>
        <p:spPr>
          <a:xfrm>
            <a:off x="4846320" y="2276856"/>
            <a:ext cx="457200" cy="365760"/>
          </a:xfrm>
          <a:prstGeom prst="rect">
            <a:avLst/>
          </a:prstGeom>
          <a:noFill/>
          <a:ln/>
        </p:spPr>
        <p:txBody>
          <a:bodyPr wrap="square" lIns="0" tIns="0" rIns="0" bIns="0" rtlCol="0" anchor="ctr"/>
          <a:lstStyle/>
          <a:p>
            <a:pPr indent="0" marL="0">
              <a:buNone/>
            </a:pPr>
            <a:r>
              <a:rPr lang="en-US" sz="2200" b="1" dirty="0">
                <a:solidFill>
                  <a:srgbClr val="C9DEE8"/>
                </a:solidFill>
                <a:latin typeface="Bookman Old Style" pitchFamily="34" charset="0"/>
                <a:ea typeface="Bookman Old Style" pitchFamily="34" charset="-122"/>
                <a:cs typeface="Bookman Old Style" pitchFamily="34" charset="-120"/>
              </a:rPr>
              <a:t>3</a:t>
            </a:r>
            <a:endParaRPr lang="en-US" sz="2200" dirty="0"/>
          </a:p>
        </p:txBody>
      </p:sp>
      <p:sp>
        <p:nvSpPr>
          <p:cNvPr id="15" name="Text 13"/>
          <p:cNvSpPr/>
          <p:nvPr/>
        </p:nvSpPr>
        <p:spPr>
          <a:xfrm>
            <a:off x="4846320" y="2660904"/>
            <a:ext cx="1527048" cy="320040"/>
          </a:xfrm>
          <a:prstGeom prst="rect">
            <a:avLst/>
          </a:prstGeom>
          <a:noFill/>
          <a:ln/>
        </p:spPr>
        <p:txBody>
          <a:bodyPr wrap="square" lIns="0" tIns="0" rIns="0" bIns="0" rtlCol="0" anchor="ctr"/>
          <a:lstStyle/>
          <a:p>
            <a:pPr indent="0" marL="0">
              <a:buNone/>
            </a:pPr>
            <a:r>
              <a:rPr lang="en-US" sz="1350" b="1" dirty="0">
                <a:solidFill>
                  <a:srgbClr val="14333F"/>
                </a:solidFill>
                <a:latin typeface="Calibri" pitchFamily="34" charset="0"/>
                <a:ea typeface="Calibri" pitchFamily="34" charset="-122"/>
                <a:cs typeface="Calibri" pitchFamily="34" charset="-120"/>
              </a:rPr>
              <a:t>Tag &amp; classify</a:t>
            </a:r>
            <a:endParaRPr lang="en-US" sz="1350" dirty="0"/>
          </a:p>
        </p:txBody>
      </p:sp>
      <p:sp>
        <p:nvSpPr>
          <p:cNvPr id="16" name="Text 14"/>
          <p:cNvSpPr/>
          <p:nvPr/>
        </p:nvSpPr>
        <p:spPr>
          <a:xfrm>
            <a:off x="4846320" y="2971800"/>
            <a:ext cx="1545336" cy="457200"/>
          </a:xfrm>
          <a:prstGeom prst="rect">
            <a:avLst/>
          </a:prstGeom>
          <a:noFill/>
          <a:ln/>
        </p:spPr>
        <p:txBody>
          <a:bodyPr wrap="square" lIns="0" tIns="0" rIns="0" bIns="0" rtlCol="0" anchor="ctr"/>
          <a:lstStyle/>
          <a:p>
            <a:pPr indent="0" marL="0">
              <a:lnSpc>
                <a:spcPct val="100000"/>
              </a:lnSpc>
              <a:buNone/>
            </a:pPr>
            <a:r>
              <a:rPr lang="en-US" sz="1000" dirty="0">
                <a:solidFill>
                  <a:srgbClr val="5B7782"/>
                </a:solidFill>
                <a:latin typeface="Calibri" pitchFamily="34" charset="0"/>
                <a:ea typeface="Calibri" pitchFamily="34" charset="-122"/>
                <a:cs typeface="Calibri" pitchFamily="34" charset="-120"/>
              </a:rPr>
              <a:t>Apply tags + business terms</a:t>
            </a:r>
            <a:endParaRPr lang="en-US" sz="1000" dirty="0"/>
          </a:p>
        </p:txBody>
      </p:sp>
      <p:sp>
        <p:nvSpPr>
          <p:cNvPr id="17" name="Shape 15"/>
          <p:cNvSpPr/>
          <p:nvPr/>
        </p:nvSpPr>
        <p:spPr>
          <a:xfrm>
            <a:off x="6775704" y="2148840"/>
            <a:ext cx="1819656" cy="1371600"/>
          </a:xfrm>
          <a:prstGeom prst="roundRect">
            <a:avLst>
              <a:gd name="adj" fmla="val 6000"/>
            </a:avLst>
          </a:prstGeom>
          <a:solidFill>
            <a:srgbClr val="EEF6FA"/>
          </a:solidFill>
          <a:ln w="12700">
            <a:solidFill>
              <a:srgbClr val="DCEEF5"/>
            </a:solidFill>
            <a:prstDash val="solid"/>
          </a:ln>
        </p:spPr>
      </p:sp>
      <p:sp>
        <p:nvSpPr>
          <p:cNvPr id="18" name="Text 16"/>
          <p:cNvSpPr/>
          <p:nvPr/>
        </p:nvSpPr>
        <p:spPr>
          <a:xfrm>
            <a:off x="6922008" y="2276856"/>
            <a:ext cx="457200" cy="365760"/>
          </a:xfrm>
          <a:prstGeom prst="rect">
            <a:avLst/>
          </a:prstGeom>
          <a:noFill/>
          <a:ln/>
        </p:spPr>
        <p:txBody>
          <a:bodyPr wrap="square" lIns="0" tIns="0" rIns="0" bIns="0" rtlCol="0" anchor="ctr"/>
          <a:lstStyle/>
          <a:p>
            <a:pPr indent="0" marL="0">
              <a:buNone/>
            </a:pPr>
            <a:r>
              <a:rPr lang="en-US" sz="2200" b="1" dirty="0">
                <a:solidFill>
                  <a:srgbClr val="C9DEE8"/>
                </a:solidFill>
                <a:latin typeface="Bookman Old Style" pitchFamily="34" charset="0"/>
                <a:ea typeface="Bookman Old Style" pitchFamily="34" charset="-122"/>
                <a:cs typeface="Bookman Old Style" pitchFamily="34" charset="-120"/>
              </a:rPr>
              <a:t>4</a:t>
            </a:r>
            <a:endParaRPr lang="en-US" sz="2200" dirty="0"/>
          </a:p>
        </p:txBody>
      </p:sp>
      <p:sp>
        <p:nvSpPr>
          <p:cNvPr id="19" name="Text 17"/>
          <p:cNvSpPr/>
          <p:nvPr/>
        </p:nvSpPr>
        <p:spPr>
          <a:xfrm>
            <a:off x="6922008" y="2660904"/>
            <a:ext cx="1527048" cy="320040"/>
          </a:xfrm>
          <a:prstGeom prst="rect">
            <a:avLst/>
          </a:prstGeom>
          <a:noFill/>
          <a:ln/>
        </p:spPr>
        <p:txBody>
          <a:bodyPr wrap="square" lIns="0" tIns="0" rIns="0" bIns="0" rtlCol="0" anchor="ctr"/>
          <a:lstStyle/>
          <a:p>
            <a:pPr indent="0" marL="0">
              <a:buNone/>
            </a:pPr>
            <a:r>
              <a:rPr lang="en-US" sz="1350" b="1" dirty="0">
                <a:solidFill>
                  <a:srgbClr val="14333F"/>
                </a:solidFill>
                <a:latin typeface="Calibri" pitchFamily="34" charset="0"/>
                <a:ea typeface="Calibri" pitchFamily="34" charset="-122"/>
                <a:cs typeface="Calibri" pitchFamily="34" charset="-120"/>
              </a:rPr>
              <a:t>Discover &amp; govern</a:t>
            </a:r>
            <a:endParaRPr lang="en-US" sz="1350" dirty="0"/>
          </a:p>
        </p:txBody>
      </p:sp>
      <p:sp>
        <p:nvSpPr>
          <p:cNvPr id="20" name="Text 18"/>
          <p:cNvSpPr/>
          <p:nvPr/>
        </p:nvSpPr>
        <p:spPr>
          <a:xfrm>
            <a:off x="6922008" y="2971800"/>
            <a:ext cx="1545336" cy="457200"/>
          </a:xfrm>
          <a:prstGeom prst="rect">
            <a:avLst/>
          </a:prstGeom>
          <a:noFill/>
          <a:ln/>
        </p:spPr>
        <p:txBody>
          <a:bodyPr wrap="square" lIns="0" tIns="0" rIns="0" bIns="0" rtlCol="0" anchor="ctr"/>
          <a:lstStyle/>
          <a:p>
            <a:pPr indent="0" marL="0">
              <a:lnSpc>
                <a:spcPct val="100000"/>
              </a:lnSpc>
              <a:buNone/>
            </a:pPr>
            <a:r>
              <a:rPr lang="en-US" sz="1000" dirty="0">
                <a:solidFill>
                  <a:srgbClr val="5B7782"/>
                </a:solidFill>
                <a:latin typeface="Calibri" pitchFamily="34" charset="0"/>
                <a:ea typeface="Calibri" pitchFamily="34" charset="-122"/>
                <a:cs typeface="Calibri" pitchFamily="34" charset="-120"/>
              </a:rPr>
              <a:t>Search, sensitivity, Galaxy View</a:t>
            </a:r>
            <a:endParaRPr lang="en-US" sz="1000" dirty="0"/>
          </a:p>
        </p:txBody>
      </p:sp>
      <p:sp>
        <p:nvSpPr>
          <p:cNvPr id="21" name="Text 19"/>
          <p:cNvSpPr/>
          <p:nvPr/>
        </p:nvSpPr>
        <p:spPr>
          <a:xfrm>
            <a:off x="2395362" y="2606040"/>
            <a:ext cx="274320" cy="457200"/>
          </a:xfrm>
          <a:prstGeom prst="rect">
            <a:avLst/>
          </a:prstGeom>
          <a:noFill/>
          <a:ln/>
        </p:spPr>
        <p:txBody>
          <a:bodyPr wrap="square" lIns="0" tIns="0" rIns="0" bIns="0" rtlCol="0" anchor="ctr"/>
          <a:lstStyle/>
          <a:p>
            <a:pPr algn="ctr" indent="0" marL="0">
              <a:buNone/>
            </a:pPr>
            <a:r>
              <a:rPr lang="en-US" sz="2200" b="1" dirty="0">
                <a:solidFill>
                  <a:srgbClr val="5B7782"/>
                </a:solidFill>
                <a:latin typeface="Calibri" pitchFamily="34" charset="0"/>
                <a:ea typeface="Calibri" pitchFamily="34" charset="-122"/>
                <a:cs typeface="Calibri" pitchFamily="34" charset="-120"/>
              </a:rPr>
              <a:t>›</a:t>
            </a:r>
            <a:endParaRPr lang="en-US" sz="2200" dirty="0"/>
          </a:p>
        </p:txBody>
      </p:sp>
      <p:sp>
        <p:nvSpPr>
          <p:cNvPr id="22" name="Text 20"/>
          <p:cNvSpPr/>
          <p:nvPr/>
        </p:nvSpPr>
        <p:spPr>
          <a:xfrm>
            <a:off x="4471050" y="2606040"/>
            <a:ext cx="274320" cy="457200"/>
          </a:xfrm>
          <a:prstGeom prst="rect">
            <a:avLst/>
          </a:prstGeom>
          <a:noFill/>
          <a:ln/>
        </p:spPr>
        <p:txBody>
          <a:bodyPr wrap="square" lIns="0" tIns="0" rIns="0" bIns="0" rtlCol="0" anchor="ctr"/>
          <a:lstStyle/>
          <a:p>
            <a:pPr algn="ctr" indent="0" marL="0">
              <a:buNone/>
            </a:pPr>
            <a:r>
              <a:rPr lang="en-US" sz="2200" b="1" dirty="0">
                <a:solidFill>
                  <a:srgbClr val="5B7782"/>
                </a:solidFill>
                <a:latin typeface="Calibri" pitchFamily="34" charset="0"/>
                <a:ea typeface="Calibri" pitchFamily="34" charset="-122"/>
                <a:cs typeface="Calibri" pitchFamily="34" charset="-120"/>
              </a:rPr>
              <a:t>›</a:t>
            </a:r>
            <a:endParaRPr lang="en-US" sz="2200" dirty="0"/>
          </a:p>
        </p:txBody>
      </p:sp>
      <p:sp>
        <p:nvSpPr>
          <p:cNvPr id="23" name="Text 21"/>
          <p:cNvSpPr/>
          <p:nvPr/>
        </p:nvSpPr>
        <p:spPr>
          <a:xfrm>
            <a:off x="6546738" y="2606040"/>
            <a:ext cx="274320" cy="457200"/>
          </a:xfrm>
          <a:prstGeom prst="rect">
            <a:avLst/>
          </a:prstGeom>
          <a:noFill/>
          <a:ln/>
        </p:spPr>
        <p:txBody>
          <a:bodyPr wrap="square" lIns="0" tIns="0" rIns="0" bIns="0" rtlCol="0" anchor="ctr"/>
          <a:lstStyle/>
          <a:p>
            <a:pPr algn="ctr" indent="0" marL="0">
              <a:buNone/>
            </a:pPr>
            <a:r>
              <a:rPr lang="en-US" sz="2200" b="1" dirty="0">
                <a:solidFill>
                  <a:srgbClr val="5B7782"/>
                </a:solidFill>
                <a:latin typeface="Calibri" pitchFamily="34" charset="0"/>
                <a:ea typeface="Calibri" pitchFamily="34" charset="-122"/>
                <a:cs typeface="Calibri" pitchFamily="34" charset="-120"/>
              </a:rPr>
              <a:t>›</a:t>
            </a:r>
            <a:endParaRPr lang="en-US" sz="2200" dirty="0"/>
          </a:p>
        </p:txBody>
      </p:sp>
      <p:sp>
        <p:nvSpPr>
          <p:cNvPr id="24" name="Shape 22"/>
          <p:cNvSpPr/>
          <p:nvPr/>
        </p:nvSpPr>
        <p:spPr>
          <a:xfrm>
            <a:off x="548640" y="3822192"/>
            <a:ext cx="457200" cy="457200"/>
          </a:xfrm>
          <a:prstGeom prst="ellipse">
            <a:avLst/>
          </a:prstGeom>
          <a:solidFill>
            <a:srgbClr val="1C7293"/>
          </a:solidFill>
          <a:ln/>
          <a:effectLst>
            <a:outerShdw sx="100000" sy="100000" kx="0" ky="0" algn="bl" rotWithShape="0" blurRad="88900" dist="38100" dir="5400000">
              <a:srgbClr val="0B1B2B">
                <a:alpha val="16000"/>
              </a:srgbClr>
            </a:outerShdw>
          </a:effectLst>
        </p:spPr>
      </p:sp>
      <p:pic>
        <p:nvPicPr>
          <p:cNvPr id="25" name="Image 0" descr="preencoded.png">    </p:cNvPr>
          <p:cNvPicPr>
            <a:picLocks noChangeAspect="1"/>
          </p:cNvPicPr>
          <p:nvPr/>
        </p:nvPicPr>
        <p:blipFill>
          <a:blip r:embed="rId1"/>
          <a:stretch>
            <a:fillRect/>
          </a:stretch>
        </p:blipFill>
        <p:spPr>
          <a:xfrm>
            <a:off x="672084" y="3945636"/>
            <a:ext cx="210312" cy="210312"/>
          </a:xfrm>
          <a:prstGeom prst="rect">
            <a:avLst/>
          </a:prstGeom>
        </p:spPr>
      </p:pic>
      <p:sp>
        <p:nvSpPr>
          <p:cNvPr id="26" name="Text 23"/>
          <p:cNvSpPr/>
          <p:nvPr/>
        </p:nvSpPr>
        <p:spPr>
          <a:xfrm>
            <a:off x="1115568" y="3785616"/>
            <a:ext cx="1981200" cy="274320"/>
          </a:xfrm>
          <a:prstGeom prst="rect">
            <a:avLst/>
          </a:prstGeom>
          <a:noFill/>
          <a:ln/>
        </p:spPr>
        <p:txBody>
          <a:bodyPr wrap="square" lIns="0" tIns="0" rIns="0" bIns="0" rtlCol="0" anchor="ctr"/>
          <a:lstStyle/>
          <a:p>
            <a:pPr indent="0" marL="0">
              <a:buNone/>
            </a:pPr>
            <a:r>
              <a:rPr lang="en-US" sz="1250" b="1" dirty="0">
                <a:solidFill>
                  <a:srgbClr val="14333F"/>
                </a:solidFill>
                <a:latin typeface="Calibri" pitchFamily="34" charset="0"/>
                <a:ea typeface="Calibri" pitchFamily="34" charset="-122"/>
                <a:cs typeface="Calibri" pitchFamily="34" charset="-120"/>
              </a:rPr>
              <a:t>Runs on profiled data</a:t>
            </a:r>
            <a:endParaRPr lang="en-US" sz="1250" dirty="0"/>
          </a:p>
        </p:txBody>
      </p:sp>
      <p:sp>
        <p:nvSpPr>
          <p:cNvPr id="27" name="Text 24"/>
          <p:cNvSpPr/>
          <p:nvPr/>
        </p:nvSpPr>
        <p:spPr>
          <a:xfrm>
            <a:off x="1115568" y="4078224"/>
            <a:ext cx="1981200" cy="640080"/>
          </a:xfrm>
          <a:prstGeom prst="rect">
            <a:avLst/>
          </a:prstGeom>
          <a:noFill/>
          <a:ln/>
        </p:spPr>
        <p:txBody>
          <a:bodyPr wrap="square" lIns="0" tIns="0" rIns="0" bIns="0" rtlCol="0" anchor="ctr"/>
          <a:lstStyle/>
          <a:p>
            <a:pPr indent="0" marL="0">
              <a:lnSpc>
                <a:spcPct val="102000"/>
              </a:lnSpc>
              <a:buNone/>
            </a:pPr>
            <a:r>
              <a:rPr lang="en-US" sz="970" dirty="0">
                <a:solidFill>
                  <a:srgbClr val="5B7782"/>
                </a:solidFill>
                <a:latin typeface="Calibri" pitchFamily="34" charset="0"/>
                <a:ea typeface="Calibri" pitchFamily="34" charset="-122"/>
                <a:cs typeface="Calibri" pitchFamily="34" charset="-120"/>
              </a:rPr>
              <a:t>It needs the patterns and samples that Profiling produced in Workshop 4.</a:t>
            </a:r>
            <a:endParaRPr lang="en-US" sz="970" dirty="0"/>
          </a:p>
        </p:txBody>
      </p:sp>
      <p:sp>
        <p:nvSpPr>
          <p:cNvPr id="28" name="Shape 25"/>
          <p:cNvSpPr/>
          <p:nvPr/>
        </p:nvSpPr>
        <p:spPr>
          <a:xfrm>
            <a:off x="3307080" y="3822192"/>
            <a:ext cx="457200" cy="457200"/>
          </a:xfrm>
          <a:prstGeom prst="ellipse">
            <a:avLst/>
          </a:prstGeom>
          <a:solidFill>
            <a:srgbClr val="2EC4B6"/>
          </a:solidFill>
          <a:ln/>
          <a:effectLst>
            <a:outerShdw sx="100000" sy="100000" kx="0" ky="0" algn="bl" rotWithShape="0" blurRad="88900" dist="38100" dir="5400000">
              <a:srgbClr val="0B1B2B">
                <a:alpha val="16000"/>
              </a:srgbClr>
            </a:outerShdw>
          </a:effectLst>
        </p:spPr>
      </p:sp>
      <p:pic>
        <p:nvPicPr>
          <p:cNvPr id="29" name="Image 1" descr="preencoded.png">    </p:cNvPr>
          <p:cNvPicPr>
            <a:picLocks noChangeAspect="1"/>
          </p:cNvPicPr>
          <p:nvPr/>
        </p:nvPicPr>
        <p:blipFill>
          <a:blip r:embed="rId2"/>
          <a:stretch>
            <a:fillRect/>
          </a:stretch>
        </p:blipFill>
        <p:spPr>
          <a:xfrm>
            <a:off x="3430524" y="3945636"/>
            <a:ext cx="210312" cy="210312"/>
          </a:xfrm>
          <a:prstGeom prst="rect">
            <a:avLst/>
          </a:prstGeom>
        </p:spPr>
      </p:pic>
      <p:sp>
        <p:nvSpPr>
          <p:cNvPr id="30" name="Text 26"/>
          <p:cNvSpPr/>
          <p:nvPr/>
        </p:nvSpPr>
        <p:spPr>
          <a:xfrm>
            <a:off x="3874008" y="3785616"/>
            <a:ext cx="1981200" cy="274320"/>
          </a:xfrm>
          <a:prstGeom prst="rect">
            <a:avLst/>
          </a:prstGeom>
          <a:noFill/>
          <a:ln/>
        </p:spPr>
        <p:txBody>
          <a:bodyPr wrap="square" lIns="0" tIns="0" rIns="0" bIns="0" rtlCol="0" anchor="ctr"/>
          <a:lstStyle/>
          <a:p>
            <a:pPr indent="0" marL="0">
              <a:buNone/>
            </a:pPr>
            <a:r>
              <a:rPr lang="en-US" sz="1250" b="1" dirty="0">
                <a:solidFill>
                  <a:srgbClr val="14333F"/>
                </a:solidFill>
                <a:latin typeface="Calibri" pitchFamily="34" charset="0"/>
                <a:ea typeface="Calibri" pitchFamily="34" charset="-122"/>
                <a:cs typeface="Calibri" pitchFamily="34" charset="-120"/>
              </a:rPr>
              <a:t>Two methods</a:t>
            </a:r>
            <a:endParaRPr lang="en-US" sz="1250" dirty="0"/>
          </a:p>
        </p:txBody>
      </p:sp>
      <p:sp>
        <p:nvSpPr>
          <p:cNvPr id="31" name="Text 27"/>
          <p:cNvSpPr/>
          <p:nvPr/>
        </p:nvSpPr>
        <p:spPr>
          <a:xfrm>
            <a:off x="3874008" y="4078224"/>
            <a:ext cx="1981200" cy="640080"/>
          </a:xfrm>
          <a:prstGeom prst="rect">
            <a:avLst/>
          </a:prstGeom>
          <a:noFill/>
          <a:ln/>
        </p:spPr>
        <p:txBody>
          <a:bodyPr wrap="square" lIns="0" tIns="0" rIns="0" bIns="0" rtlCol="0" anchor="ctr"/>
          <a:lstStyle/>
          <a:p>
            <a:pPr indent="0" marL="0">
              <a:lnSpc>
                <a:spcPct val="102000"/>
              </a:lnSpc>
              <a:buNone/>
            </a:pPr>
            <a:r>
              <a:rPr lang="en-US" sz="970" dirty="0">
                <a:solidFill>
                  <a:srgbClr val="5B7782"/>
                </a:solidFill>
                <a:latin typeface="Calibri" pitchFamily="34" charset="0"/>
                <a:ea typeface="Calibri" pitchFamily="34" charset="-122"/>
                <a:cs typeface="Calibri" pitchFamily="34" charset="-120"/>
              </a:rPr>
              <a:t>Data Dictionaries match values; Data Patterns match shape.</a:t>
            </a:r>
            <a:endParaRPr lang="en-US" sz="970" dirty="0"/>
          </a:p>
        </p:txBody>
      </p:sp>
      <p:sp>
        <p:nvSpPr>
          <p:cNvPr id="32" name="Shape 28"/>
          <p:cNvSpPr/>
          <p:nvPr/>
        </p:nvSpPr>
        <p:spPr>
          <a:xfrm>
            <a:off x="6065520" y="3822192"/>
            <a:ext cx="457200" cy="457200"/>
          </a:xfrm>
          <a:prstGeom prst="ellipse">
            <a:avLst/>
          </a:prstGeom>
          <a:solidFill>
            <a:srgbClr val="1C7293"/>
          </a:solidFill>
          <a:ln/>
          <a:effectLst>
            <a:outerShdw sx="100000" sy="100000" kx="0" ky="0" algn="bl" rotWithShape="0" blurRad="88900" dist="38100" dir="5400000">
              <a:srgbClr val="0B1B2B">
                <a:alpha val="16000"/>
              </a:srgbClr>
            </a:outerShdw>
          </a:effectLst>
        </p:spPr>
      </p:sp>
      <p:pic>
        <p:nvPicPr>
          <p:cNvPr id="33" name="Image 2" descr="preencoded.png">    </p:cNvPr>
          <p:cNvPicPr>
            <a:picLocks noChangeAspect="1"/>
          </p:cNvPicPr>
          <p:nvPr/>
        </p:nvPicPr>
        <p:blipFill>
          <a:blip r:embed="rId3"/>
          <a:stretch>
            <a:fillRect/>
          </a:stretch>
        </p:blipFill>
        <p:spPr>
          <a:xfrm>
            <a:off x="6188964" y="3945636"/>
            <a:ext cx="210312" cy="210312"/>
          </a:xfrm>
          <a:prstGeom prst="rect">
            <a:avLst/>
          </a:prstGeom>
        </p:spPr>
      </p:pic>
      <p:sp>
        <p:nvSpPr>
          <p:cNvPr id="34" name="Text 29"/>
          <p:cNvSpPr/>
          <p:nvPr/>
        </p:nvSpPr>
        <p:spPr>
          <a:xfrm>
            <a:off x="6632448" y="3785616"/>
            <a:ext cx="1981200" cy="274320"/>
          </a:xfrm>
          <a:prstGeom prst="rect">
            <a:avLst/>
          </a:prstGeom>
          <a:noFill/>
          <a:ln/>
        </p:spPr>
        <p:txBody>
          <a:bodyPr wrap="square" lIns="0" tIns="0" rIns="0" bIns="0" rtlCol="0" anchor="ctr"/>
          <a:lstStyle/>
          <a:p>
            <a:pPr indent="0" marL="0">
              <a:buNone/>
            </a:pPr>
            <a:r>
              <a:rPr lang="en-US" sz="1250" b="1" dirty="0">
                <a:solidFill>
                  <a:srgbClr val="14333F"/>
                </a:solidFill>
                <a:latin typeface="Calibri" pitchFamily="34" charset="0"/>
                <a:ea typeface="Calibri" pitchFamily="34" charset="-122"/>
                <a:cs typeface="Calibri" pitchFamily="34" charset="-120"/>
              </a:rPr>
              <a:t>Produces tags &amp; terms</a:t>
            </a:r>
            <a:endParaRPr lang="en-US" sz="1250" dirty="0"/>
          </a:p>
        </p:txBody>
      </p:sp>
      <p:sp>
        <p:nvSpPr>
          <p:cNvPr id="35" name="Text 30"/>
          <p:cNvSpPr/>
          <p:nvPr/>
        </p:nvSpPr>
        <p:spPr>
          <a:xfrm>
            <a:off x="6632448" y="4078224"/>
            <a:ext cx="1981200" cy="640080"/>
          </a:xfrm>
          <a:prstGeom prst="rect">
            <a:avLst/>
          </a:prstGeom>
          <a:noFill/>
          <a:ln/>
        </p:spPr>
        <p:txBody>
          <a:bodyPr wrap="square" lIns="0" tIns="0" rIns="0" bIns="0" rtlCol="0" anchor="ctr"/>
          <a:lstStyle/>
          <a:p>
            <a:pPr indent="0" marL="0">
              <a:lnSpc>
                <a:spcPct val="102000"/>
              </a:lnSpc>
              <a:buNone/>
            </a:pPr>
            <a:r>
              <a:rPr lang="en-US" sz="970" dirty="0">
                <a:solidFill>
                  <a:srgbClr val="5B7782"/>
                </a:solidFill>
                <a:latin typeface="Calibri" pitchFamily="34" charset="0"/>
                <a:ea typeface="Calibri" pitchFamily="34" charset="-122"/>
                <a:cs typeface="Calibri" pitchFamily="34" charset="-120"/>
              </a:rPr>
              <a:t>Matched columns feed discovery, sensitivity, and the Galaxy View.</a:t>
            </a:r>
            <a:endParaRPr lang="en-US" sz="970" dirty="0"/>
          </a:p>
        </p:txBody>
      </p:sp>
      <p:sp>
        <p:nvSpPr>
          <p:cNvPr id="36" name="Text 31"/>
          <p:cNvSpPr/>
          <p:nvPr/>
        </p:nvSpPr>
        <p:spPr>
          <a:xfrm>
            <a:off x="8458200" y="4736592"/>
            <a:ext cx="365760" cy="274320"/>
          </a:xfrm>
          <a:prstGeom prst="rect">
            <a:avLst/>
          </a:prstGeom>
          <a:noFill/>
          <a:ln/>
        </p:spPr>
        <p:txBody>
          <a:bodyPr wrap="square" lIns="0" tIns="0" rIns="0" bIns="0" rtlCol="0" anchor="ctr"/>
          <a:lstStyle/>
          <a:p>
            <a:pPr algn="r" indent="0" marL="0">
              <a:buNone/>
            </a:pPr>
            <a:r>
              <a:rPr lang="en-US" sz="900" dirty="0">
                <a:solidFill>
                  <a:srgbClr val="5B7782"/>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333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algn="l" indent="0" marL="0">
              <a:buNone/>
            </a:pPr>
            <a:r>
              <a:rPr lang="en-US" sz="1150" b="1" spc="300" kern="0" dirty="0">
                <a:solidFill>
                  <a:srgbClr val="2EC4B6"/>
                </a:solidFill>
                <a:latin typeface="Calibri" pitchFamily="34" charset="0"/>
                <a:ea typeface="Calibri" pitchFamily="34" charset="-122"/>
                <a:cs typeface="Calibri" pitchFamily="34" charset="-120"/>
              </a:rPr>
              <a:t>THE TWO METHODS</a:t>
            </a:r>
            <a:endParaRPr lang="en-US" sz="1150" dirty="0"/>
          </a:p>
        </p:txBody>
      </p:sp>
      <p:sp>
        <p:nvSpPr>
          <p:cNvPr id="3" name="Text 1"/>
          <p:cNvSpPr/>
          <p:nvPr/>
        </p:nvSpPr>
        <p:spPr>
          <a:xfrm>
            <a:off x="548640" y="658368"/>
            <a:ext cx="8229600" cy="548640"/>
          </a:xfrm>
          <a:prstGeom prst="rect">
            <a:avLst/>
          </a:prstGeom>
          <a:noFill/>
          <a:ln/>
        </p:spPr>
        <p:txBody>
          <a:bodyPr wrap="square" lIns="0" tIns="0" rIns="0" bIns="0" rtlCol="0" anchor="ctr"/>
          <a:lstStyle/>
          <a:p>
            <a:pPr indent="0" marL="0">
              <a:buNone/>
            </a:pPr>
            <a:r>
              <a:rPr lang="en-US" sz="2700" b="1" dirty="0">
                <a:solidFill>
                  <a:srgbClr val="FFFFFF"/>
                </a:solidFill>
                <a:latin typeface="Bookman Old Style" pitchFamily="34" charset="0"/>
                <a:ea typeface="Bookman Old Style" pitchFamily="34" charset="-122"/>
                <a:cs typeface="Bookman Old Style" pitchFamily="34" charset="-120"/>
              </a:rPr>
              <a:t>Two ways to answer: “what is this column?”</a:t>
            </a:r>
            <a:endParaRPr lang="en-US" sz="2700" dirty="0"/>
          </a:p>
        </p:txBody>
      </p:sp>
      <p:sp>
        <p:nvSpPr>
          <p:cNvPr id="4" name="Shape 2"/>
          <p:cNvSpPr/>
          <p:nvPr/>
        </p:nvSpPr>
        <p:spPr>
          <a:xfrm>
            <a:off x="548640" y="1417320"/>
            <a:ext cx="3913632" cy="2606040"/>
          </a:xfrm>
          <a:prstGeom prst="roundRect">
            <a:avLst>
              <a:gd name="adj" fmla="val 3509"/>
            </a:avLst>
          </a:prstGeom>
          <a:solidFill>
            <a:srgbClr val="FFFFFF"/>
          </a:solidFill>
          <a:ln/>
          <a:effectLst>
            <a:outerShdw sx="100000" sy="100000" kx="0" ky="0" algn="bl" rotWithShape="0" blurRad="88900" dist="38100" dir="5400000">
              <a:srgbClr val="0B1B2B">
                <a:alpha val="16000"/>
              </a:srgbClr>
            </a:outerShdw>
          </a:effectLst>
        </p:spPr>
      </p:sp>
      <p:sp>
        <p:nvSpPr>
          <p:cNvPr id="5" name="Shape 3"/>
          <p:cNvSpPr/>
          <p:nvPr/>
        </p:nvSpPr>
        <p:spPr>
          <a:xfrm>
            <a:off x="822960" y="1691640"/>
            <a:ext cx="603504" cy="603504"/>
          </a:xfrm>
          <a:prstGeom prst="ellipse">
            <a:avLst/>
          </a:prstGeom>
          <a:solidFill>
            <a:srgbClr val="1C7293"/>
          </a:solidFill>
          <a:ln/>
          <a:effectLst>
            <a:outerShdw sx="100000" sy="100000" kx="0" ky="0" algn="bl" rotWithShape="0" blurRad="88900" dist="38100" dir="5400000">
              <a:srgbClr val="0B1B2B">
                <a:alpha val="16000"/>
              </a:srgbClr>
            </a:outerShdw>
          </a:effectLst>
        </p:spPr>
      </p:sp>
      <p:pic>
        <p:nvPicPr>
          <p:cNvPr id="6" name="Image 0" descr="preencoded.png">    </p:cNvPr>
          <p:cNvPicPr>
            <a:picLocks noChangeAspect="1"/>
          </p:cNvPicPr>
          <p:nvPr/>
        </p:nvPicPr>
        <p:blipFill>
          <a:blip r:embed="rId1"/>
          <a:stretch>
            <a:fillRect/>
          </a:stretch>
        </p:blipFill>
        <p:spPr>
          <a:xfrm>
            <a:off x="985906" y="1854586"/>
            <a:ext cx="277612" cy="277612"/>
          </a:xfrm>
          <a:prstGeom prst="rect">
            <a:avLst/>
          </a:prstGeom>
        </p:spPr>
      </p:pic>
      <p:sp>
        <p:nvSpPr>
          <p:cNvPr id="7" name="Text 4"/>
          <p:cNvSpPr/>
          <p:nvPr/>
        </p:nvSpPr>
        <p:spPr>
          <a:xfrm>
            <a:off x="1554480" y="1691640"/>
            <a:ext cx="2724912" cy="365760"/>
          </a:xfrm>
          <a:prstGeom prst="rect">
            <a:avLst/>
          </a:prstGeom>
          <a:noFill/>
          <a:ln/>
        </p:spPr>
        <p:txBody>
          <a:bodyPr wrap="square" lIns="0" tIns="0" rIns="0" bIns="0" rtlCol="0" anchor="ctr"/>
          <a:lstStyle/>
          <a:p>
            <a:pPr indent="0" marL="0">
              <a:buNone/>
            </a:pPr>
            <a:r>
              <a:rPr lang="en-US" sz="1900" b="1" dirty="0">
                <a:solidFill>
                  <a:srgbClr val="14333F"/>
                </a:solidFill>
                <a:latin typeface="Bookman Old Style" pitchFamily="34" charset="0"/>
                <a:ea typeface="Bookman Old Style" pitchFamily="34" charset="-122"/>
                <a:cs typeface="Bookman Old Style" pitchFamily="34" charset="-120"/>
              </a:rPr>
              <a:t>Data Dictionary</a:t>
            </a:r>
            <a:endParaRPr lang="en-US" sz="1900" dirty="0"/>
          </a:p>
        </p:txBody>
      </p:sp>
      <p:sp>
        <p:nvSpPr>
          <p:cNvPr id="8" name="Text 5"/>
          <p:cNvSpPr/>
          <p:nvPr/>
        </p:nvSpPr>
        <p:spPr>
          <a:xfrm>
            <a:off x="1554480" y="2075688"/>
            <a:ext cx="2724912" cy="237744"/>
          </a:xfrm>
          <a:prstGeom prst="rect">
            <a:avLst/>
          </a:prstGeom>
          <a:noFill/>
          <a:ln/>
        </p:spPr>
        <p:txBody>
          <a:bodyPr wrap="square" lIns="0" tIns="0" rIns="0" bIns="0" rtlCol="0" anchor="ctr"/>
          <a:lstStyle/>
          <a:p>
            <a:pPr indent="0" marL="0">
              <a:buNone/>
            </a:pPr>
            <a:r>
              <a:rPr lang="en-US" sz="1050" b="1" spc="200" kern="0" dirty="0">
                <a:solidFill>
                  <a:srgbClr val="1C7293"/>
                </a:solidFill>
                <a:latin typeface="Calibri" pitchFamily="34" charset="0"/>
                <a:ea typeface="Calibri" pitchFamily="34" charset="-122"/>
                <a:cs typeface="Calibri" pitchFamily="34" charset="-120"/>
              </a:rPr>
              <a:t>MATCHES BY VALUE</a:t>
            </a:r>
            <a:endParaRPr lang="en-US" sz="1050" dirty="0"/>
          </a:p>
        </p:txBody>
      </p:sp>
      <p:sp>
        <p:nvSpPr>
          <p:cNvPr id="9" name="Text 6"/>
          <p:cNvSpPr/>
          <p:nvPr/>
        </p:nvSpPr>
        <p:spPr>
          <a:xfrm>
            <a:off x="841248" y="2496312"/>
            <a:ext cx="3328416" cy="786384"/>
          </a:xfrm>
          <a:prstGeom prst="rect">
            <a:avLst/>
          </a:prstGeom>
          <a:noFill/>
          <a:ln/>
        </p:spPr>
        <p:txBody>
          <a:bodyPr wrap="square" lIns="0" tIns="0" rIns="0" bIns="0" rtlCol="0" anchor="ctr"/>
          <a:lstStyle/>
          <a:p>
            <a:pPr indent="0" marL="0">
              <a:lnSpc>
                <a:spcPct val="106000"/>
              </a:lnSpc>
              <a:buNone/>
            </a:pPr>
            <a:r>
              <a:rPr lang="en-US" sz="1230" dirty="0">
                <a:solidFill>
                  <a:srgbClr val="5B7782"/>
                </a:solidFill>
                <a:latin typeface="Calibri" pitchFamily="34" charset="0"/>
                <a:ea typeface="Calibri" pitchFamily="34" charset="-122"/>
                <a:cs typeface="Calibri" pitchFamily="34" charset="-120"/>
              </a:rPr>
              <a:t>Compares the actual contents of a column against a known list of terms or values. A match means the value appears in the list.</a:t>
            </a:r>
            <a:endParaRPr lang="en-US" sz="1230" dirty="0"/>
          </a:p>
        </p:txBody>
      </p:sp>
      <p:sp>
        <p:nvSpPr>
          <p:cNvPr id="10" name="Text 7"/>
          <p:cNvSpPr/>
          <p:nvPr/>
        </p:nvSpPr>
        <p:spPr>
          <a:xfrm>
            <a:off x="841248" y="3246120"/>
            <a:ext cx="3328416" cy="237744"/>
          </a:xfrm>
          <a:prstGeom prst="rect">
            <a:avLst/>
          </a:prstGeom>
          <a:noFill/>
          <a:ln/>
        </p:spPr>
        <p:txBody>
          <a:bodyPr wrap="square" lIns="0" tIns="0" rIns="0" bIns="0" rtlCol="0" anchor="ctr"/>
          <a:lstStyle/>
          <a:p>
            <a:pPr indent="0" marL="0">
              <a:buNone/>
            </a:pPr>
            <a:r>
              <a:rPr lang="en-US" sz="1050" b="1" dirty="0">
                <a:solidFill>
                  <a:srgbClr val="14333F"/>
                </a:solidFill>
                <a:latin typeface="Calibri" pitchFamily="34" charset="0"/>
                <a:ea typeface="Calibri" pitchFamily="34" charset="-122"/>
                <a:cs typeface="Calibri" pitchFamily="34" charset="-120"/>
              </a:rPr>
              <a:t>Best for values with no fixed shape:</a:t>
            </a:r>
            <a:endParaRPr lang="en-US" sz="1050" dirty="0"/>
          </a:p>
        </p:txBody>
      </p:sp>
      <p:sp>
        <p:nvSpPr>
          <p:cNvPr id="11" name="Text 8"/>
          <p:cNvSpPr/>
          <p:nvPr/>
        </p:nvSpPr>
        <p:spPr>
          <a:xfrm>
            <a:off x="841248" y="3483864"/>
            <a:ext cx="3328416" cy="502920"/>
          </a:xfrm>
          <a:prstGeom prst="rect">
            <a:avLst/>
          </a:prstGeom>
          <a:noFill/>
          <a:ln/>
        </p:spPr>
        <p:txBody>
          <a:bodyPr wrap="square" lIns="0" tIns="0" rIns="0" bIns="0" rtlCol="0" anchor="ctr"/>
          <a:lstStyle/>
          <a:p>
            <a:pPr indent="0" marL="0">
              <a:lnSpc>
                <a:spcPct val="102000"/>
              </a:lnSpc>
              <a:buNone/>
            </a:pPr>
            <a:r>
              <a:rPr lang="en-US" sz="1050" i="1" dirty="0">
                <a:solidFill>
                  <a:srgbClr val="1C7293"/>
                </a:solidFill>
                <a:latin typeface="Calibri" pitchFamily="34" charset="0"/>
                <a:ea typeface="Calibri" pitchFamily="34" charset="-122"/>
                <a:cs typeface="Calibri" pitchFamily="34" charset="-120"/>
              </a:rPr>
              <a:t>country &amp; state codes · marital status · product names / SKUs · department codes · custom business terms</a:t>
            </a:r>
            <a:endParaRPr lang="en-US" sz="1050" dirty="0"/>
          </a:p>
        </p:txBody>
      </p:sp>
      <p:sp>
        <p:nvSpPr>
          <p:cNvPr id="12" name="Shape 9"/>
          <p:cNvSpPr/>
          <p:nvPr/>
        </p:nvSpPr>
        <p:spPr>
          <a:xfrm>
            <a:off x="4681728" y="1417320"/>
            <a:ext cx="3913632" cy="2606040"/>
          </a:xfrm>
          <a:prstGeom prst="roundRect">
            <a:avLst>
              <a:gd name="adj" fmla="val 3509"/>
            </a:avLst>
          </a:prstGeom>
          <a:solidFill>
            <a:srgbClr val="FFFFFF"/>
          </a:solidFill>
          <a:ln/>
          <a:effectLst>
            <a:outerShdw sx="100000" sy="100000" kx="0" ky="0" algn="bl" rotWithShape="0" blurRad="88900" dist="38100" dir="5400000">
              <a:srgbClr val="0B1B2B">
                <a:alpha val="16000"/>
              </a:srgbClr>
            </a:outerShdw>
          </a:effectLst>
        </p:spPr>
      </p:sp>
      <p:sp>
        <p:nvSpPr>
          <p:cNvPr id="13" name="Shape 10"/>
          <p:cNvSpPr/>
          <p:nvPr/>
        </p:nvSpPr>
        <p:spPr>
          <a:xfrm>
            <a:off x="4956048" y="1691640"/>
            <a:ext cx="603504" cy="603504"/>
          </a:xfrm>
          <a:prstGeom prst="ellipse">
            <a:avLst/>
          </a:prstGeom>
          <a:solidFill>
            <a:srgbClr val="065A82"/>
          </a:solidFill>
          <a:ln/>
          <a:effectLst>
            <a:outerShdw sx="100000" sy="100000" kx="0" ky="0" algn="bl" rotWithShape="0" blurRad="88900" dist="38100" dir="5400000">
              <a:srgbClr val="0B1B2B">
                <a:alpha val="16000"/>
              </a:srgbClr>
            </a:outerShdw>
          </a:effectLst>
        </p:spPr>
      </p:sp>
      <p:pic>
        <p:nvPicPr>
          <p:cNvPr id="14" name="Image 1" descr="preencoded.png">    </p:cNvPr>
          <p:cNvPicPr>
            <a:picLocks noChangeAspect="1"/>
          </p:cNvPicPr>
          <p:nvPr/>
        </p:nvPicPr>
        <p:blipFill>
          <a:blip r:embed="rId2"/>
          <a:stretch>
            <a:fillRect/>
          </a:stretch>
        </p:blipFill>
        <p:spPr>
          <a:xfrm>
            <a:off x="5118994" y="1854586"/>
            <a:ext cx="277612" cy="277612"/>
          </a:xfrm>
          <a:prstGeom prst="rect">
            <a:avLst/>
          </a:prstGeom>
        </p:spPr>
      </p:pic>
      <p:sp>
        <p:nvSpPr>
          <p:cNvPr id="15" name="Text 11"/>
          <p:cNvSpPr/>
          <p:nvPr/>
        </p:nvSpPr>
        <p:spPr>
          <a:xfrm>
            <a:off x="5687568" y="1691640"/>
            <a:ext cx="2724912" cy="365760"/>
          </a:xfrm>
          <a:prstGeom prst="rect">
            <a:avLst/>
          </a:prstGeom>
          <a:noFill/>
          <a:ln/>
        </p:spPr>
        <p:txBody>
          <a:bodyPr wrap="square" lIns="0" tIns="0" rIns="0" bIns="0" rtlCol="0" anchor="ctr"/>
          <a:lstStyle/>
          <a:p>
            <a:pPr indent="0" marL="0">
              <a:buNone/>
            </a:pPr>
            <a:r>
              <a:rPr lang="en-US" sz="1900" b="1" dirty="0">
                <a:solidFill>
                  <a:srgbClr val="14333F"/>
                </a:solidFill>
                <a:latin typeface="Bookman Old Style" pitchFamily="34" charset="0"/>
                <a:ea typeface="Bookman Old Style" pitchFamily="34" charset="-122"/>
                <a:cs typeface="Bookman Old Style" pitchFamily="34" charset="-120"/>
              </a:rPr>
              <a:t>Data Patterns</a:t>
            </a:r>
            <a:endParaRPr lang="en-US" sz="1900" dirty="0"/>
          </a:p>
        </p:txBody>
      </p:sp>
      <p:sp>
        <p:nvSpPr>
          <p:cNvPr id="16" name="Text 12"/>
          <p:cNvSpPr/>
          <p:nvPr/>
        </p:nvSpPr>
        <p:spPr>
          <a:xfrm>
            <a:off x="5687568" y="2075688"/>
            <a:ext cx="2724912" cy="237744"/>
          </a:xfrm>
          <a:prstGeom prst="rect">
            <a:avLst/>
          </a:prstGeom>
          <a:noFill/>
          <a:ln/>
        </p:spPr>
        <p:txBody>
          <a:bodyPr wrap="square" lIns="0" tIns="0" rIns="0" bIns="0" rtlCol="0" anchor="ctr"/>
          <a:lstStyle/>
          <a:p>
            <a:pPr indent="0" marL="0">
              <a:buNone/>
            </a:pPr>
            <a:r>
              <a:rPr lang="en-US" sz="1050" b="1" spc="200" kern="0" dirty="0">
                <a:solidFill>
                  <a:srgbClr val="065A82"/>
                </a:solidFill>
                <a:latin typeface="Calibri" pitchFamily="34" charset="0"/>
                <a:ea typeface="Calibri" pitchFamily="34" charset="-122"/>
                <a:cs typeface="Calibri" pitchFamily="34" charset="-120"/>
              </a:rPr>
              <a:t>MATCHES BY SHAPE</a:t>
            </a:r>
            <a:endParaRPr lang="en-US" sz="1050" dirty="0"/>
          </a:p>
        </p:txBody>
      </p:sp>
      <p:sp>
        <p:nvSpPr>
          <p:cNvPr id="17" name="Text 13"/>
          <p:cNvSpPr/>
          <p:nvPr/>
        </p:nvSpPr>
        <p:spPr>
          <a:xfrm>
            <a:off x="4974336" y="2496312"/>
            <a:ext cx="3328416" cy="786384"/>
          </a:xfrm>
          <a:prstGeom prst="rect">
            <a:avLst/>
          </a:prstGeom>
          <a:noFill/>
          <a:ln/>
        </p:spPr>
        <p:txBody>
          <a:bodyPr wrap="square" lIns="0" tIns="0" rIns="0" bIns="0" rtlCol="0" anchor="ctr"/>
          <a:lstStyle/>
          <a:p>
            <a:pPr indent="0" marL="0">
              <a:lnSpc>
                <a:spcPct val="106000"/>
              </a:lnSpc>
              <a:buNone/>
            </a:pPr>
            <a:r>
              <a:rPr lang="en-US" sz="1230" dirty="0">
                <a:solidFill>
                  <a:srgbClr val="5B7782"/>
                </a:solidFill>
                <a:latin typeface="Calibri" pitchFamily="34" charset="0"/>
                <a:ea typeface="Calibri" pitchFamily="34" charset="-122"/>
                <a:cs typeface="Calibri" pitchFamily="34" charset="-120"/>
              </a:rPr>
              <a:t>Reduces each value to a structural shape — one symbol per character position — and checks it against a known format or regex.</a:t>
            </a:r>
            <a:endParaRPr lang="en-US" sz="1230" dirty="0"/>
          </a:p>
        </p:txBody>
      </p:sp>
      <p:sp>
        <p:nvSpPr>
          <p:cNvPr id="18" name="Text 14"/>
          <p:cNvSpPr/>
          <p:nvPr/>
        </p:nvSpPr>
        <p:spPr>
          <a:xfrm>
            <a:off x="4974336" y="3246120"/>
            <a:ext cx="3328416" cy="237744"/>
          </a:xfrm>
          <a:prstGeom prst="rect">
            <a:avLst/>
          </a:prstGeom>
          <a:noFill/>
          <a:ln/>
        </p:spPr>
        <p:txBody>
          <a:bodyPr wrap="square" lIns="0" tIns="0" rIns="0" bIns="0" rtlCol="0" anchor="ctr"/>
          <a:lstStyle/>
          <a:p>
            <a:pPr indent="0" marL="0">
              <a:buNone/>
            </a:pPr>
            <a:r>
              <a:rPr lang="en-US" sz="1050" b="1" dirty="0">
                <a:solidFill>
                  <a:srgbClr val="14333F"/>
                </a:solidFill>
                <a:latin typeface="Calibri" pitchFamily="34" charset="0"/>
                <a:ea typeface="Calibri" pitchFamily="34" charset="-122"/>
                <a:cs typeface="Calibri" pitchFamily="34" charset="-120"/>
              </a:rPr>
              <a:t>Best for values with a recognizable form:</a:t>
            </a:r>
            <a:endParaRPr lang="en-US" sz="1050" dirty="0"/>
          </a:p>
        </p:txBody>
      </p:sp>
      <p:sp>
        <p:nvSpPr>
          <p:cNvPr id="19" name="Text 15"/>
          <p:cNvSpPr/>
          <p:nvPr/>
        </p:nvSpPr>
        <p:spPr>
          <a:xfrm>
            <a:off x="4974336" y="3483864"/>
            <a:ext cx="3328416" cy="502920"/>
          </a:xfrm>
          <a:prstGeom prst="rect">
            <a:avLst/>
          </a:prstGeom>
          <a:noFill/>
          <a:ln/>
        </p:spPr>
        <p:txBody>
          <a:bodyPr wrap="square" lIns="0" tIns="0" rIns="0" bIns="0" rtlCol="0" anchor="ctr"/>
          <a:lstStyle/>
          <a:p>
            <a:pPr indent="0" marL="0">
              <a:lnSpc>
                <a:spcPct val="102000"/>
              </a:lnSpc>
              <a:buNone/>
            </a:pPr>
            <a:r>
              <a:rPr lang="en-US" sz="1050" i="1" dirty="0">
                <a:solidFill>
                  <a:srgbClr val="065A82"/>
                </a:solidFill>
                <a:latin typeface="Calibri" pitchFamily="34" charset="0"/>
                <a:ea typeface="Calibri" pitchFamily="34" charset="-122"/>
                <a:cs typeface="Calibri" pitchFamily="34" charset="-120"/>
              </a:rPr>
              <a:t>email · phone · SSN · passport · IP address · dates · structured part codes</a:t>
            </a:r>
            <a:endParaRPr lang="en-US" sz="1050" dirty="0"/>
          </a:p>
        </p:txBody>
      </p:sp>
      <p:sp>
        <p:nvSpPr>
          <p:cNvPr id="20" name="Shape 16"/>
          <p:cNvSpPr/>
          <p:nvPr/>
        </p:nvSpPr>
        <p:spPr>
          <a:xfrm>
            <a:off x="548640" y="4224528"/>
            <a:ext cx="8046720" cy="457200"/>
          </a:xfrm>
          <a:prstGeom prst="roundRect">
            <a:avLst>
              <a:gd name="adj" fmla="val 16000"/>
            </a:avLst>
          </a:prstGeom>
          <a:solidFill>
            <a:srgbClr val="0B1B2B"/>
          </a:solidFill>
          <a:ln/>
        </p:spPr>
      </p:sp>
      <p:sp>
        <p:nvSpPr>
          <p:cNvPr id="21" name="Text 17"/>
          <p:cNvSpPr/>
          <p:nvPr/>
        </p:nvSpPr>
        <p:spPr>
          <a:xfrm>
            <a:off x="731520" y="4224528"/>
            <a:ext cx="7680960" cy="457200"/>
          </a:xfrm>
          <a:prstGeom prst="rect">
            <a:avLst/>
          </a:prstGeom>
          <a:noFill/>
          <a:ln/>
        </p:spPr>
        <p:txBody>
          <a:bodyPr wrap="square" lIns="0" tIns="0" rIns="0" bIns="0" rtlCol="0" anchor="ctr"/>
          <a:lstStyle/>
          <a:p>
            <a:pPr algn="ctr" indent="0" marL="0">
              <a:buNone/>
            </a:pPr>
            <a:r>
              <a:rPr lang="en-US" sz="1200" b="1" dirty="0">
                <a:solidFill>
                  <a:srgbClr val="2EC4B6"/>
                </a:solidFill>
                <a:latin typeface="Calibri" pitchFamily="34" charset="0"/>
                <a:ea typeface="Calibri" pitchFamily="34" charset="-122"/>
                <a:cs typeface="Calibri" pitchFamily="34" charset="-120"/>
              </a:rPr>
              <a:t>Dictionary  </a:t>
            </a:r>
            <a:pPr algn="ctr" indent="0" marL="0">
              <a:buNone/>
            </a:pPr>
            <a:r>
              <a:rPr lang="en-US" sz="1200" i="1" dirty="0">
                <a:solidFill>
                  <a:srgbClr val="C9DEE8"/>
                </a:solidFill>
                <a:latin typeface="Calibri" pitchFamily="34" charset="0"/>
                <a:ea typeface="Calibri" pitchFamily="34" charset="-122"/>
                <a:cs typeface="Calibri" pitchFamily="34" charset="-120"/>
              </a:rPr>
              <a:t>“do these values appear in a known list?”</a:t>
            </a:r>
            <a:pPr algn="ctr" indent="0" marL="0">
              <a:buNone/>
            </a:pPr>
            <a:r>
              <a:rPr lang="en-US" sz="1200" b="1" dirty="0">
                <a:solidFill>
                  <a:srgbClr val="2EC4B6"/>
                </a:solidFill>
                <a:latin typeface="Calibri" pitchFamily="34" charset="0"/>
                <a:ea typeface="Calibri" pitchFamily="34" charset="-122"/>
                <a:cs typeface="Calibri" pitchFamily="34" charset="-120"/>
              </a:rPr>
              <a:t>      Pattern  </a:t>
            </a:r>
            <a:pPr algn="ctr" indent="0" marL="0">
              <a:buNone/>
            </a:pPr>
            <a:r>
              <a:rPr lang="en-US" sz="1200" i="1" dirty="0">
                <a:solidFill>
                  <a:srgbClr val="C9DEE8"/>
                </a:solidFill>
                <a:latin typeface="Calibri" pitchFamily="34" charset="0"/>
                <a:ea typeface="Calibri" pitchFamily="34" charset="-122"/>
                <a:cs typeface="Calibri" pitchFamily="34" charset="-120"/>
              </a:rPr>
              <a:t>“does this value have a known shape?”</a:t>
            </a:r>
            <a:endParaRPr lang="en-US" sz="1200" dirty="0"/>
          </a:p>
        </p:txBody>
      </p:sp>
      <p:sp>
        <p:nvSpPr>
          <p:cNvPr id="22" name="Text 18"/>
          <p:cNvSpPr/>
          <p:nvPr/>
        </p:nvSpPr>
        <p:spPr>
          <a:xfrm>
            <a:off x="8458200" y="4736592"/>
            <a:ext cx="365760" cy="274320"/>
          </a:xfrm>
          <a:prstGeom prst="rect">
            <a:avLst/>
          </a:prstGeom>
          <a:noFill/>
          <a:ln/>
        </p:spPr>
        <p:txBody>
          <a:bodyPr wrap="square" lIns="0" tIns="0" rIns="0" bIns="0" rtlCol="0" anchor="ctr"/>
          <a:lstStyle/>
          <a:p>
            <a:pPr algn="r" indent="0" marL="0">
              <a:buNone/>
            </a:pPr>
            <a:r>
              <a:rPr lang="en-US" sz="900" dirty="0">
                <a:solidFill>
                  <a:srgbClr val="C9DEE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512064" cy="512064"/>
          </a:xfrm>
          <a:prstGeom prst="ellipse">
            <a:avLst/>
          </a:prstGeom>
          <a:solidFill>
            <a:srgbClr val="1C7293"/>
          </a:solidFill>
          <a:ln/>
          <a:effectLst>
            <a:outerShdw sx="100000" sy="100000" kx="0" ky="0" algn="bl" rotWithShape="0" blurRad="88900" dist="38100" dir="5400000">
              <a:srgbClr val="0B1B2B">
                <a:alpha val="16000"/>
              </a:srgbClr>
            </a:outerShdw>
          </a:effectLst>
        </p:spPr>
      </p:sp>
      <p:pic>
        <p:nvPicPr>
          <p:cNvPr id="3" name="Image 0" descr="preencoded.png">    </p:cNvPr>
          <p:cNvPicPr>
            <a:picLocks noChangeAspect="1"/>
          </p:cNvPicPr>
          <p:nvPr/>
        </p:nvPicPr>
        <p:blipFill>
          <a:blip r:embed="rId1"/>
          <a:stretch>
            <a:fillRect/>
          </a:stretch>
        </p:blipFill>
        <p:spPr>
          <a:xfrm>
            <a:off x="686897" y="504017"/>
            <a:ext cx="235549" cy="235549"/>
          </a:xfrm>
          <a:prstGeom prst="rect">
            <a:avLst/>
          </a:prstGeom>
        </p:spPr>
      </p:pic>
      <p:sp>
        <p:nvSpPr>
          <p:cNvPr id="4" name="Text 1"/>
          <p:cNvSpPr/>
          <p:nvPr/>
        </p:nvSpPr>
        <p:spPr>
          <a:xfrm>
            <a:off x="1170432" y="365760"/>
            <a:ext cx="7315200" cy="292608"/>
          </a:xfrm>
          <a:prstGeom prst="rect">
            <a:avLst/>
          </a:prstGeom>
          <a:noFill/>
          <a:ln/>
        </p:spPr>
        <p:txBody>
          <a:bodyPr wrap="square" lIns="0" tIns="0" rIns="0" bIns="0" rtlCol="0" anchor="ctr"/>
          <a:lstStyle/>
          <a:p>
            <a:pPr algn="l" indent="0" marL="0">
              <a:buNone/>
            </a:pPr>
            <a:r>
              <a:rPr lang="en-US" sz="1150" b="1" spc="300" kern="0" dirty="0">
                <a:solidFill>
                  <a:srgbClr val="1C7293"/>
                </a:solidFill>
                <a:latin typeface="Calibri" pitchFamily="34" charset="0"/>
                <a:ea typeface="Calibri" pitchFamily="34" charset="-122"/>
                <a:cs typeface="Calibri" pitchFamily="34" charset="-120"/>
              </a:rPr>
              <a:t>METHOD 1 · DATA DICTIONARY</a:t>
            </a:r>
            <a:endParaRPr lang="en-US" sz="1150" dirty="0"/>
          </a:p>
        </p:txBody>
      </p:sp>
      <p:sp>
        <p:nvSpPr>
          <p:cNvPr id="5" name="Text 2"/>
          <p:cNvSpPr/>
          <p:nvPr/>
        </p:nvSpPr>
        <p:spPr>
          <a:xfrm>
            <a:off x="548640" y="868680"/>
            <a:ext cx="8229600" cy="502920"/>
          </a:xfrm>
          <a:prstGeom prst="rect">
            <a:avLst/>
          </a:prstGeom>
          <a:noFill/>
          <a:ln/>
        </p:spPr>
        <p:txBody>
          <a:bodyPr wrap="square" lIns="0" tIns="0" rIns="0" bIns="0" rtlCol="0" anchor="ctr"/>
          <a:lstStyle/>
          <a:p>
            <a:pPr indent="0" marL="0">
              <a:buNone/>
            </a:pPr>
            <a:r>
              <a:rPr lang="en-US" sz="2700" b="1" dirty="0">
                <a:solidFill>
                  <a:srgbClr val="14333F"/>
                </a:solidFill>
                <a:latin typeface="Bookman Old Style" pitchFamily="34" charset="0"/>
                <a:ea typeface="Bookman Old Style" pitchFamily="34" charset="-122"/>
                <a:cs typeface="Bookman Old Style" pitchFamily="34" charset="-120"/>
              </a:rPr>
              <a:t>Dictionaries match meaning by value</a:t>
            </a:r>
            <a:endParaRPr lang="en-US" sz="2700" dirty="0"/>
          </a:p>
        </p:txBody>
      </p:sp>
      <p:sp>
        <p:nvSpPr>
          <p:cNvPr id="6" name="Text 3"/>
          <p:cNvSpPr/>
          <p:nvPr/>
        </p:nvSpPr>
        <p:spPr>
          <a:xfrm>
            <a:off x="548640" y="1417320"/>
            <a:ext cx="4937760" cy="914400"/>
          </a:xfrm>
          <a:prstGeom prst="rect">
            <a:avLst/>
          </a:prstGeom>
          <a:noFill/>
          <a:ln/>
        </p:spPr>
        <p:txBody>
          <a:bodyPr wrap="square" lIns="0" tIns="0" rIns="0" bIns="0" rtlCol="0" anchor="ctr"/>
          <a:lstStyle/>
          <a:p>
            <a:pPr indent="0" marL="0">
              <a:lnSpc>
                <a:spcPct val="108000"/>
              </a:lnSpc>
              <a:buNone/>
            </a:pPr>
            <a:r>
              <a:rPr lang="en-US" sz="1300" dirty="0">
                <a:solidFill>
                  <a:srgbClr val="5B7782"/>
                </a:solidFill>
                <a:latin typeface="Calibri" pitchFamily="34" charset="0"/>
                <a:ea typeface="Calibri" pitchFamily="34" charset="-122"/>
                <a:cs typeface="Calibri" pitchFamily="34" charset="-120"/>
              </a:rPr>
              <a:t>A dictionary is a curated list of terms or values. During identification PDC compares a column's contents to that list and, when confidence clears the threshold, applies the dictionary's tags and business terms.</a:t>
            </a:r>
            <a:endParaRPr lang="en-US" sz="1300" dirty="0"/>
          </a:p>
        </p:txBody>
      </p:sp>
      <p:sp>
        <p:nvSpPr>
          <p:cNvPr id="7" name="Shape 4"/>
          <p:cNvSpPr/>
          <p:nvPr/>
        </p:nvSpPr>
        <p:spPr>
          <a:xfrm>
            <a:off x="548640" y="2432304"/>
            <a:ext cx="4937760" cy="950976"/>
          </a:xfrm>
          <a:prstGeom prst="roundRect">
            <a:avLst>
              <a:gd name="adj" fmla="val 7692"/>
            </a:avLst>
          </a:prstGeom>
          <a:solidFill>
            <a:srgbClr val="EEF6FA"/>
          </a:solidFill>
          <a:ln w="12700">
            <a:solidFill>
              <a:srgbClr val="DCEEF5"/>
            </a:solidFill>
            <a:prstDash val="solid"/>
          </a:ln>
        </p:spPr>
      </p:sp>
      <p:sp>
        <p:nvSpPr>
          <p:cNvPr id="8" name="Shape 5"/>
          <p:cNvSpPr/>
          <p:nvPr/>
        </p:nvSpPr>
        <p:spPr>
          <a:xfrm>
            <a:off x="713232" y="2633472"/>
            <a:ext cx="530352" cy="530352"/>
          </a:xfrm>
          <a:prstGeom prst="ellipse">
            <a:avLst/>
          </a:prstGeom>
          <a:solidFill>
            <a:srgbClr val="1C7293"/>
          </a:solidFill>
          <a:ln/>
          <a:effectLst>
            <a:outerShdw sx="100000" sy="100000" kx="0" ky="0" algn="bl" rotWithShape="0" blurRad="88900" dist="38100" dir="5400000">
              <a:srgbClr val="0B1B2B">
                <a:alpha val="16000"/>
              </a:srgbClr>
            </a:outerShdw>
          </a:effectLst>
        </p:spPr>
      </p:sp>
      <p:pic>
        <p:nvPicPr>
          <p:cNvPr id="9" name="Image 1" descr="preencoded.png">    </p:cNvPr>
          <p:cNvPicPr>
            <a:picLocks noChangeAspect="1"/>
          </p:cNvPicPr>
          <p:nvPr/>
        </p:nvPicPr>
        <p:blipFill>
          <a:blip r:embed="rId2"/>
          <a:stretch>
            <a:fillRect/>
          </a:stretch>
        </p:blipFill>
        <p:spPr>
          <a:xfrm>
            <a:off x="856427" y="2776667"/>
            <a:ext cx="243962" cy="243962"/>
          </a:xfrm>
          <a:prstGeom prst="rect">
            <a:avLst/>
          </a:prstGeom>
        </p:spPr>
      </p:pic>
      <p:sp>
        <p:nvSpPr>
          <p:cNvPr id="10" name="Text 6"/>
          <p:cNvSpPr/>
          <p:nvPr/>
        </p:nvSpPr>
        <p:spPr>
          <a:xfrm>
            <a:off x="1371600" y="2578608"/>
            <a:ext cx="3931920" cy="274320"/>
          </a:xfrm>
          <a:prstGeom prst="rect">
            <a:avLst/>
          </a:prstGeom>
          <a:noFill/>
          <a:ln/>
        </p:spPr>
        <p:txBody>
          <a:bodyPr wrap="square" lIns="0" tIns="0" rIns="0" bIns="0" rtlCol="0" anchor="ctr"/>
          <a:lstStyle/>
          <a:p>
            <a:pPr indent="0" marL="0">
              <a:buNone/>
            </a:pPr>
            <a:r>
              <a:rPr lang="en-US" sz="1300" b="1" dirty="0">
                <a:solidFill>
                  <a:srgbClr val="14333F"/>
                </a:solidFill>
                <a:latin typeface="Calibri" pitchFamily="34" charset="0"/>
                <a:ea typeface="Calibri" pitchFamily="34" charset="-122"/>
                <a:cs typeface="Calibri" pitchFamily="34" charset="-120"/>
              </a:rPr>
              <a:t>System-defined</a:t>
            </a:r>
            <a:endParaRPr lang="en-US" sz="1300" dirty="0"/>
          </a:p>
        </p:txBody>
      </p:sp>
      <p:sp>
        <p:nvSpPr>
          <p:cNvPr id="11" name="Text 7"/>
          <p:cNvSpPr/>
          <p:nvPr/>
        </p:nvSpPr>
        <p:spPr>
          <a:xfrm>
            <a:off x="1371600" y="2852928"/>
            <a:ext cx="3968496" cy="457200"/>
          </a:xfrm>
          <a:prstGeom prst="rect">
            <a:avLst/>
          </a:prstGeom>
          <a:noFill/>
          <a:ln/>
        </p:spPr>
        <p:txBody>
          <a:bodyPr wrap="square" lIns="0" tIns="0" rIns="0" bIns="0" rtlCol="0" anchor="ctr"/>
          <a:lstStyle/>
          <a:p>
            <a:pPr indent="0" marL="0">
              <a:lnSpc>
                <a:spcPct val="102000"/>
              </a:lnSpc>
              <a:buNone/>
            </a:pPr>
            <a:r>
              <a:rPr lang="en-US" sz="1030" dirty="0">
                <a:solidFill>
                  <a:srgbClr val="5B7782"/>
                </a:solidFill>
                <a:latin typeface="Calibri" pitchFamily="34" charset="0"/>
                <a:ea typeface="Calibri" pitchFamily="34" charset="-122"/>
                <a:cs typeface="Calibri" pitchFamily="34" charset="-120"/>
              </a:rPr>
              <a:t>95 dictionaries ship built-in — ISO country codes, currency, marital status, US states, and more.</a:t>
            </a:r>
            <a:endParaRPr lang="en-US" sz="1030" dirty="0"/>
          </a:p>
        </p:txBody>
      </p:sp>
      <p:sp>
        <p:nvSpPr>
          <p:cNvPr id="12" name="Shape 8"/>
          <p:cNvSpPr/>
          <p:nvPr/>
        </p:nvSpPr>
        <p:spPr>
          <a:xfrm>
            <a:off x="548640" y="3511296"/>
            <a:ext cx="4937760" cy="950976"/>
          </a:xfrm>
          <a:prstGeom prst="roundRect">
            <a:avLst>
              <a:gd name="adj" fmla="val 7692"/>
            </a:avLst>
          </a:prstGeom>
          <a:solidFill>
            <a:srgbClr val="EEF6FA"/>
          </a:solidFill>
          <a:ln w="12700">
            <a:solidFill>
              <a:srgbClr val="DCEEF5"/>
            </a:solidFill>
            <a:prstDash val="solid"/>
          </a:ln>
        </p:spPr>
      </p:sp>
      <p:sp>
        <p:nvSpPr>
          <p:cNvPr id="13" name="Shape 9"/>
          <p:cNvSpPr/>
          <p:nvPr/>
        </p:nvSpPr>
        <p:spPr>
          <a:xfrm>
            <a:off x="713232" y="3712464"/>
            <a:ext cx="530352" cy="530352"/>
          </a:xfrm>
          <a:prstGeom prst="ellipse">
            <a:avLst/>
          </a:prstGeom>
          <a:solidFill>
            <a:srgbClr val="065A82"/>
          </a:solidFill>
          <a:ln/>
          <a:effectLst>
            <a:outerShdw sx="100000" sy="100000" kx="0" ky="0" algn="bl" rotWithShape="0" blurRad="88900" dist="38100" dir="5400000">
              <a:srgbClr val="0B1B2B">
                <a:alpha val="16000"/>
              </a:srgbClr>
            </a:outerShdw>
          </a:effectLst>
        </p:spPr>
      </p:sp>
      <p:pic>
        <p:nvPicPr>
          <p:cNvPr id="14" name="Image 2" descr="preencoded.png">    </p:cNvPr>
          <p:cNvPicPr>
            <a:picLocks noChangeAspect="1"/>
          </p:cNvPicPr>
          <p:nvPr/>
        </p:nvPicPr>
        <p:blipFill>
          <a:blip r:embed="rId3"/>
          <a:stretch>
            <a:fillRect/>
          </a:stretch>
        </p:blipFill>
        <p:spPr>
          <a:xfrm>
            <a:off x="856427" y="3855659"/>
            <a:ext cx="243962" cy="243962"/>
          </a:xfrm>
          <a:prstGeom prst="rect">
            <a:avLst/>
          </a:prstGeom>
        </p:spPr>
      </p:pic>
      <p:sp>
        <p:nvSpPr>
          <p:cNvPr id="15" name="Text 10"/>
          <p:cNvSpPr/>
          <p:nvPr/>
        </p:nvSpPr>
        <p:spPr>
          <a:xfrm>
            <a:off x="1371600" y="3657600"/>
            <a:ext cx="3931920" cy="274320"/>
          </a:xfrm>
          <a:prstGeom prst="rect">
            <a:avLst/>
          </a:prstGeom>
          <a:noFill/>
          <a:ln/>
        </p:spPr>
        <p:txBody>
          <a:bodyPr wrap="square" lIns="0" tIns="0" rIns="0" bIns="0" rtlCol="0" anchor="ctr"/>
          <a:lstStyle/>
          <a:p>
            <a:pPr indent="0" marL="0">
              <a:buNone/>
            </a:pPr>
            <a:r>
              <a:rPr lang="en-US" sz="1300" b="1" dirty="0">
                <a:solidFill>
                  <a:srgbClr val="14333F"/>
                </a:solidFill>
                <a:latin typeface="Calibri" pitchFamily="34" charset="0"/>
                <a:ea typeface="Calibri" pitchFamily="34" charset="-122"/>
                <a:cs typeface="Calibri" pitchFamily="34" charset="-120"/>
              </a:rPr>
              <a:t>User-defined</a:t>
            </a:r>
            <a:endParaRPr lang="en-US" sz="1300" dirty="0"/>
          </a:p>
        </p:txBody>
      </p:sp>
      <p:sp>
        <p:nvSpPr>
          <p:cNvPr id="16" name="Text 11"/>
          <p:cNvSpPr/>
          <p:nvPr/>
        </p:nvSpPr>
        <p:spPr>
          <a:xfrm>
            <a:off x="1371600" y="3931920"/>
            <a:ext cx="3968496" cy="457200"/>
          </a:xfrm>
          <a:prstGeom prst="rect">
            <a:avLst/>
          </a:prstGeom>
          <a:noFill/>
          <a:ln/>
        </p:spPr>
        <p:txBody>
          <a:bodyPr wrap="square" lIns="0" tIns="0" rIns="0" bIns="0" rtlCol="0" anchor="ctr"/>
          <a:lstStyle/>
          <a:p>
            <a:pPr indent="0" marL="0">
              <a:lnSpc>
                <a:spcPct val="102000"/>
              </a:lnSpc>
              <a:buNone/>
            </a:pPr>
            <a:r>
              <a:rPr lang="en-US" sz="1030" dirty="0">
                <a:solidFill>
                  <a:srgbClr val="5B7782"/>
                </a:solidFill>
                <a:latin typeface="Calibri" pitchFamily="34" charset="0"/>
                <a:ea typeface="Calibri" pitchFamily="34" charset="-122"/>
                <a:cs typeface="Calibri" pitchFamily="34" charset="-120"/>
              </a:rPr>
              <a:t>Your own lists — upload a CSV, build in the UI, or extract terms from a profiled column.</a:t>
            </a:r>
            <a:endParaRPr lang="en-US" sz="1030" dirty="0"/>
          </a:p>
        </p:txBody>
      </p:sp>
      <p:sp>
        <p:nvSpPr>
          <p:cNvPr id="17" name="Shape 12"/>
          <p:cNvSpPr/>
          <p:nvPr/>
        </p:nvSpPr>
        <p:spPr>
          <a:xfrm>
            <a:off x="5715000" y="1417320"/>
            <a:ext cx="2880360" cy="3017520"/>
          </a:xfrm>
          <a:prstGeom prst="roundRect">
            <a:avLst>
              <a:gd name="adj" fmla="val 3175"/>
            </a:avLst>
          </a:prstGeom>
          <a:solidFill>
            <a:srgbClr val="14333F"/>
          </a:solidFill>
          <a:ln/>
          <a:effectLst>
            <a:outerShdw sx="100000" sy="100000" kx="0" ky="0" algn="bl" rotWithShape="0" blurRad="88900" dist="38100" dir="5400000">
              <a:srgbClr val="0B1B2B">
                <a:alpha val="16000"/>
              </a:srgbClr>
            </a:outerShdw>
          </a:effectLst>
        </p:spPr>
      </p:sp>
      <p:sp>
        <p:nvSpPr>
          <p:cNvPr id="18" name="Text 13"/>
          <p:cNvSpPr/>
          <p:nvPr/>
        </p:nvSpPr>
        <p:spPr>
          <a:xfrm>
            <a:off x="5971032" y="1627632"/>
            <a:ext cx="2423160" cy="237744"/>
          </a:xfrm>
          <a:prstGeom prst="rect">
            <a:avLst/>
          </a:prstGeom>
          <a:noFill/>
          <a:ln/>
        </p:spPr>
        <p:txBody>
          <a:bodyPr wrap="square" lIns="0" tIns="0" rIns="0" bIns="0" rtlCol="0" anchor="ctr"/>
          <a:lstStyle/>
          <a:p>
            <a:pPr indent="0" marL="0">
              <a:buNone/>
            </a:pPr>
            <a:r>
              <a:rPr lang="en-US" sz="1050" b="1" spc="250" kern="0" dirty="0">
                <a:solidFill>
                  <a:srgbClr val="2EC4B6"/>
                </a:solidFill>
                <a:latin typeface="Calibri" pitchFamily="34" charset="0"/>
                <a:ea typeface="Calibri" pitchFamily="34" charset="-122"/>
                <a:cs typeface="Calibri" pitchFamily="34" charset="-120"/>
              </a:rPr>
              <a:t>EXAMPLE</a:t>
            </a:r>
            <a:endParaRPr lang="en-US" sz="1050" dirty="0"/>
          </a:p>
        </p:txBody>
      </p:sp>
      <p:sp>
        <p:nvSpPr>
          <p:cNvPr id="19" name="Text 14"/>
          <p:cNvSpPr/>
          <p:nvPr/>
        </p:nvSpPr>
        <p:spPr>
          <a:xfrm>
            <a:off x="5971032" y="1883664"/>
            <a:ext cx="2423160" cy="365760"/>
          </a:xfrm>
          <a:prstGeom prst="rect">
            <a:avLst/>
          </a:prstGeom>
          <a:noFill/>
          <a:ln/>
        </p:spPr>
        <p:txBody>
          <a:bodyPr wrap="square" lIns="0" tIns="0" rIns="0" bIns="0" rtlCol="0" anchor="ctr"/>
          <a:lstStyle/>
          <a:p>
            <a:pPr indent="0" marL="0">
              <a:buNone/>
            </a:pPr>
            <a:r>
              <a:rPr lang="en-US" sz="1900" b="1" dirty="0">
                <a:solidFill>
                  <a:srgbClr val="FFFFFF"/>
                </a:solidFill>
                <a:latin typeface="Bookman Old Style" pitchFamily="34" charset="0"/>
                <a:ea typeface="Bookman Old Style" pitchFamily="34" charset="-122"/>
                <a:cs typeface="Bookman Old Style" pitchFamily="34" charset="-120"/>
              </a:rPr>
              <a:t>Marital_Status</a:t>
            </a:r>
            <a:endParaRPr lang="en-US" sz="1900" dirty="0"/>
          </a:p>
        </p:txBody>
      </p:sp>
      <p:sp>
        <p:nvSpPr>
          <p:cNvPr id="20" name="Text 15"/>
          <p:cNvSpPr/>
          <p:nvPr/>
        </p:nvSpPr>
        <p:spPr>
          <a:xfrm>
            <a:off x="5971032" y="2304288"/>
            <a:ext cx="2423160" cy="566928"/>
          </a:xfrm>
          <a:prstGeom prst="rect">
            <a:avLst/>
          </a:prstGeom>
          <a:noFill/>
          <a:ln/>
        </p:spPr>
        <p:txBody>
          <a:bodyPr wrap="square" lIns="0" tIns="0" rIns="0" bIns="0" rtlCol="0" anchor="ctr"/>
          <a:lstStyle/>
          <a:p>
            <a:pPr indent="0" marL="0">
              <a:lnSpc>
                <a:spcPct val="105000"/>
              </a:lnSpc>
              <a:buNone/>
            </a:pPr>
            <a:r>
              <a:rPr lang="en-US" sz="1150" b="1" dirty="0">
                <a:solidFill>
                  <a:srgbClr val="C9DEE8"/>
                </a:solidFill>
                <a:latin typeface="Calibri" pitchFamily="34" charset="0"/>
                <a:ea typeface="Calibri" pitchFamily="34" charset="-122"/>
                <a:cs typeface="Calibri" pitchFamily="34" charset="-120"/>
              </a:rPr>
              <a:t>Column values</a:t>
            </a:r>
            <a:endParaRPr lang="en-US" sz="1150" dirty="0"/>
          </a:p>
          <a:p>
            <a:pPr indent="0" marL="0">
              <a:lnSpc>
                <a:spcPct val="105000"/>
              </a:lnSpc>
              <a:buNone/>
            </a:pPr>
            <a:r>
              <a:rPr lang="en-US" sz="1150" dirty="0">
                <a:solidFill>
                  <a:srgbClr val="FFFFFF"/>
                </a:solidFill>
                <a:latin typeface="Calibri" pitchFamily="34" charset="0"/>
                <a:ea typeface="Calibri" pitchFamily="34" charset="-122"/>
                <a:cs typeface="Calibri" pitchFamily="34" charset="-120"/>
              </a:rPr>
              <a:t>Single · Married · Divorced</a:t>
            </a:r>
            <a:endParaRPr lang="en-US" sz="1150" dirty="0"/>
          </a:p>
        </p:txBody>
      </p:sp>
      <p:sp>
        <p:nvSpPr>
          <p:cNvPr id="21" name="Text 16"/>
          <p:cNvSpPr/>
          <p:nvPr/>
        </p:nvSpPr>
        <p:spPr>
          <a:xfrm>
            <a:off x="5971032" y="2889504"/>
            <a:ext cx="2423160" cy="274320"/>
          </a:xfrm>
          <a:prstGeom prst="rect">
            <a:avLst/>
          </a:prstGeom>
          <a:noFill/>
          <a:ln/>
        </p:spPr>
        <p:txBody>
          <a:bodyPr wrap="square" lIns="0" tIns="0" rIns="0" bIns="0" rtlCol="0" anchor="ctr"/>
          <a:lstStyle/>
          <a:p>
            <a:pPr indent="0" marL="0">
              <a:buNone/>
            </a:pPr>
            <a:r>
              <a:rPr lang="en-US" sz="1050" i="1" dirty="0">
                <a:solidFill>
                  <a:srgbClr val="2EC4B6"/>
                </a:solidFill>
                <a:latin typeface="Calibri" pitchFamily="34" charset="0"/>
                <a:ea typeface="Calibri" pitchFamily="34" charset="-122"/>
                <a:cs typeface="Calibri" pitchFamily="34" charset="-120"/>
              </a:rPr>
              <a:t>↓ compared to the dictionary list</a:t>
            </a:r>
            <a:endParaRPr lang="en-US" sz="1050" dirty="0"/>
          </a:p>
        </p:txBody>
      </p:sp>
      <p:sp>
        <p:nvSpPr>
          <p:cNvPr id="22" name="Text 17"/>
          <p:cNvSpPr/>
          <p:nvPr/>
        </p:nvSpPr>
        <p:spPr>
          <a:xfrm>
            <a:off x="5971032" y="3200400"/>
            <a:ext cx="2423160" cy="548640"/>
          </a:xfrm>
          <a:prstGeom prst="rect">
            <a:avLst/>
          </a:prstGeom>
          <a:noFill/>
          <a:ln/>
        </p:spPr>
        <p:txBody>
          <a:bodyPr wrap="square" lIns="0" tIns="0" rIns="0" bIns="0" rtlCol="0" anchor="ctr"/>
          <a:lstStyle/>
          <a:p>
            <a:pPr indent="0" marL="0">
              <a:lnSpc>
                <a:spcPct val="105000"/>
              </a:lnSpc>
              <a:buNone/>
            </a:pPr>
            <a:r>
              <a:rPr lang="en-US" sz="1150" b="1" dirty="0">
                <a:solidFill>
                  <a:srgbClr val="C9DEE8"/>
                </a:solidFill>
                <a:latin typeface="Calibri" pitchFamily="34" charset="0"/>
                <a:ea typeface="Calibri" pitchFamily="34" charset="-122"/>
                <a:cs typeface="Calibri" pitchFamily="34" charset="-120"/>
              </a:rPr>
              <a:t>Matched → tags applied</a:t>
            </a:r>
            <a:endParaRPr lang="en-US" sz="1150" dirty="0"/>
          </a:p>
          <a:p>
            <a:pPr indent="0" marL="0">
              <a:lnSpc>
                <a:spcPct val="105000"/>
              </a:lnSpc>
              <a:buNone/>
            </a:pPr>
            <a:r>
              <a:rPr lang="en-US" sz="1150" dirty="0">
                <a:solidFill>
                  <a:srgbClr val="FFFFFF"/>
                </a:solidFill>
                <a:latin typeface="Calibri" pitchFamily="34" charset="0"/>
                <a:ea typeface="Calibri" pitchFamily="34" charset="-122"/>
                <a:cs typeface="Calibri" pitchFamily="34" charset="-120"/>
              </a:rPr>
              <a:t>PII · Sensitive: Marital Status</a:t>
            </a:r>
            <a:endParaRPr lang="en-US" sz="1150" dirty="0"/>
          </a:p>
        </p:txBody>
      </p:sp>
      <p:sp>
        <p:nvSpPr>
          <p:cNvPr id="23" name="Text 18"/>
          <p:cNvSpPr/>
          <p:nvPr/>
        </p:nvSpPr>
        <p:spPr>
          <a:xfrm>
            <a:off x="5971032" y="3840480"/>
            <a:ext cx="2423160" cy="502920"/>
          </a:xfrm>
          <a:prstGeom prst="rect">
            <a:avLst/>
          </a:prstGeom>
          <a:noFill/>
          <a:ln/>
        </p:spPr>
        <p:txBody>
          <a:bodyPr wrap="square" lIns="0" tIns="0" rIns="0" bIns="0" rtlCol="0" anchor="ctr"/>
          <a:lstStyle/>
          <a:p>
            <a:pPr indent="0" marL="0">
              <a:lnSpc>
                <a:spcPct val="102000"/>
              </a:lnSpc>
              <a:buNone/>
            </a:pPr>
            <a:r>
              <a:rPr lang="en-US" sz="950" i="1" dirty="0">
                <a:solidFill>
                  <a:srgbClr val="C9DEE8"/>
                </a:solidFill>
                <a:latin typeface="Calibri" pitchFamily="34" charset="0"/>
                <a:ea typeface="Calibri" pitchFamily="34" charset="-122"/>
                <a:cs typeface="Calibri" pitchFamily="34" charset="-120"/>
              </a:rPr>
              <a:t>Good for: country/state codes · SKUs · department codes · custom business terms</a:t>
            </a:r>
            <a:endParaRPr lang="en-US" sz="950" dirty="0"/>
          </a:p>
        </p:txBody>
      </p:sp>
      <p:sp>
        <p:nvSpPr>
          <p:cNvPr id="24" name="Text 19"/>
          <p:cNvSpPr/>
          <p:nvPr/>
        </p:nvSpPr>
        <p:spPr>
          <a:xfrm>
            <a:off x="548640" y="4736592"/>
            <a:ext cx="7315200" cy="274320"/>
          </a:xfrm>
          <a:prstGeom prst="rect">
            <a:avLst/>
          </a:prstGeom>
          <a:noFill/>
          <a:ln/>
        </p:spPr>
        <p:txBody>
          <a:bodyPr wrap="square" lIns="0" tIns="0" rIns="0" bIns="0" rtlCol="0" anchor="ctr"/>
          <a:lstStyle/>
          <a:p>
            <a:pPr algn="l" indent="0" marL="0">
              <a:buNone/>
            </a:pPr>
            <a:r>
              <a:rPr lang="en-US" sz="900" dirty="0">
                <a:solidFill>
                  <a:srgbClr val="5B7782"/>
                </a:solidFill>
                <a:latin typeface="Calibri" pitchFamily="34" charset="0"/>
                <a:ea typeface="Calibri" pitchFamily="34" charset="-122"/>
                <a:cs typeface="Calibri" pitchFamily="34" charset="-120"/>
              </a:rPr>
              <a:t>Data Operations → Data Identification Methods → Dictionaries</a:t>
            </a:r>
            <a:endParaRPr lang="en-US" sz="900" dirty="0"/>
          </a:p>
        </p:txBody>
      </p:sp>
      <p:sp>
        <p:nvSpPr>
          <p:cNvPr id="25" name="Text 20"/>
          <p:cNvSpPr/>
          <p:nvPr/>
        </p:nvSpPr>
        <p:spPr>
          <a:xfrm>
            <a:off x="8458200" y="4736592"/>
            <a:ext cx="365760" cy="274320"/>
          </a:xfrm>
          <a:prstGeom prst="rect">
            <a:avLst/>
          </a:prstGeom>
          <a:noFill/>
          <a:ln/>
        </p:spPr>
        <p:txBody>
          <a:bodyPr wrap="square" lIns="0" tIns="0" rIns="0" bIns="0" rtlCol="0" anchor="ctr"/>
          <a:lstStyle/>
          <a:p>
            <a:pPr algn="r" indent="0" marL="0">
              <a:buNone/>
            </a:pPr>
            <a:r>
              <a:rPr lang="en-US" sz="900" dirty="0">
                <a:solidFill>
                  <a:srgbClr val="5B7782"/>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512064" cy="512064"/>
          </a:xfrm>
          <a:prstGeom prst="ellipse">
            <a:avLst/>
          </a:prstGeom>
          <a:solidFill>
            <a:srgbClr val="065A82"/>
          </a:solidFill>
          <a:ln/>
          <a:effectLst>
            <a:outerShdw sx="100000" sy="100000" kx="0" ky="0" algn="bl" rotWithShape="0" blurRad="88900" dist="38100" dir="5400000">
              <a:srgbClr val="0B1B2B">
                <a:alpha val="16000"/>
              </a:srgbClr>
            </a:outerShdw>
          </a:effectLst>
        </p:spPr>
      </p:sp>
      <p:pic>
        <p:nvPicPr>
          <p:cNvPr id="3" name="Image 0" descr="preencoded.png">    </p:cNvPr>
          <p:cNvPicPr>
            <a:picLocks noChangeAspect="1"/>
          </p:cNvPicPr>
          <p:nvPr/>
        </p:nvPicPr>
        <p:blipFill>
          <a:blip r:embed="rId1"/>
          <a:stretch>
            <a:fillRect/>
          </a:stretch>
        </p:blipFill>
        <p:spPr>
          <a:xfrm>
            <a:off x="686897" y="504017"/>
            <a:ext cx="235549" cy="235549"/>
          </a:xfrm>
          <a:prstGeom prst="rect">
            <a:avLst/>
          </a:prstGeom>
        </p:spPr>
      </p:pic>
      <p:sp>
        <p:nvSpPr>
          <p:cNvPr id="4" name="Text 1"/>
          <p:cNvSpPr/>
          <p:nvPr/>
        </p:nvSpPr>
        <p:spPr>
          <a:xfrm>
            <a:off x="1170432" y="365760"/>
            <a:ext cx="7315200" cy="292608"/>
          </a:xfrm>
          <a:prstGeom prst="rect">
            <a:avLst/>
          </a:prstGeom>
          <a:noFill/>
          <a:ln/>
        </p:spPr>
        <p:txBody>
          <a:bodyPr wrap="square" lIns="0" tIns="0" rIns="0" bIns="0" rtlCol="0" anchor="ctr"/>
          <a:lstStyle/>
          <a:p>
            <a:pPr algn="l" indent="0" marL="0">
              <a:buNone/>
            </a:pPr>
            <a:r>
              <a:rPr lang="en-US" sz="1150" b="1" spc="300" kern="0" dirty="0">
                <a:solidFill>
                  <a:srgbClr val="065A82"/>
                </a:solidFill>
                <a:latin typeface="Calibri" pitchFamily="34" charset="0"/>
                <a:ea typeface="Calibri" pitchFamily="34" charset="-122"/>
                <a:cs typeface="Calibri" pitchFamily="34" charset="-120"/>
              </a:rPr>
              <a:t>METHOD 2 · DATA PATTERNS</a:t>
            </a:r>
            <a:endParaRPr lang="en-US" sz="1150" dirty="0"/>
          </a:p>
        </p:txBody>
      </p:sp>
      <p:sp>
        <p:nvSpPr>
          <p:cNvPr id="5" name="Text 2"/>
          <p:cNvSpPr/>
          <p:nvPr/>
        </p:nvSpPr>
        <p:spPr>
          <a:xfrm>
            <a:off x="548640" y="868680"/>
            <a:ext cx="8229600" cy="502920"/>
          </a:xfrm>
          <a:prstGeom prst="rect">
            <a:avLst/>
          </a:prstGeom>
          <a:noFill/>
          <a:ln/>
        </p:spPr>
        <p:txBody>
          <a:bodyPr wrap="square" lIns="0" tIns="0" rIns="0" bIns="0" rtlCol="0" anchor="ctr"/>
          <a:lstStyle/>
          <a:p>
            <a:pPr indent="0" marL="0">
              <a:buNone/>
            </a:pPr>
            <a:r>
              <a:rPr lang="en-US" sz="2700" b="1" dirty="0">
                <a:solidFill>
                  <a:srgbClr val="14333F"/>
                </a:solidFill>
                <a:latin typeface="Bookman Old Style" pitchFamily="34" charset="0"/>
                <a:ea typeface="Bookman Old Style" pitchFamily="34" charset="-122"/>
                <a:cs typeface="Bookman Old Style" pitchFamily="34" charset="-120"/>
              </a:rPr>
              <a:t>Patterns match shape, not value</a:t>
            </a:r>
            <a:endParaRPr lang="en-US" sz="2700" dirty="0"/>
          </a:p>
        </p:txBody>
      </p:sp>
      <p:sp>
        <p:nvSpPr>
          <p:cNvPr id="6" name="Text 3"/>
          <p:cNvSpPr/>
          <p:nvPr/>
        </p:nvSpPr>
        <p:spPr>
          <a:xfrm>
            <a:off x="548640" y="1417320"/>
            <a:ext cx="5029200" cy="777240"/>
          </a:xfrm>
          <a:prstGeom prst="rect">
            <a:avLst/>
          </a:prstGeom>
          <a:noFill/>
          <a:ln/>
        </p:spPr>
        <p:txBody>
          <a:bodyPr wrap="square" lIns="0" tIns="0" rIns="0" bIns="0" rtlCol="0" anchor="ctr"/>
          <a:lstStyle/>
          <a:p>
            <a:pPr indent="0" marL="0">
              <a:lnSpc>
                <a:spcPct val="108000"/>
              </a:lnSpc>
              <a:buNone/>
            </a:pPr>
            <a:r>
              <a:rPr lang="en-US" sz="1300" dirty="0">
                <a:solidFill>
                  <a:srgbClr val="5B7782"/>
                </a:solidFill>
                <a:latin typeface="Calibri" pitchFamily="34" charset="0"/>
                <a:ea typeface="Calibri" pitchFamily="34" charset="-122"/>
                <a:cs typeface="Calibri" pitchFamily="34" charset="-120"/>
              </a:rPr>
              <a:t>Pattern analysis reduces each value to a simple shape string — one symbol per character position — then matches that shape (and an optional regex) against a known format.</a:t>
            </a:r>
            <a:endParaRPr lang="en-US" sz="1300" dirty="0"/>
          </a:p>
        </p:txBody>
      </p:sp>
      <p:sp>
        <p:nvSpPr>
          <p:cNvPr id="7" name="Text 4"/>
          <p:cNvSpPr/>
          <p:nvPr/>
        </p:nvSpPr>
        <p:spPr>
          <a:xfrm>
            <a:off x="548640" y="2286000"/>
            <a:ext cx="4937760" cy="237744"/>
          </a:xfrm>
          <a:prstGeom prst="rect">
            <a:avLst/>
          </a:prstGeom>
          <a:noFill/>
          <a:ln/>
        </p:spPr>
        <p:txBody>
          <a:bodyPr wrap="square" lIns="0" tIns="0" rIns="0" bIns="0" rtlCol="0" anchor="ctr"/>
          <a:lstStyle/>
          <a:p>
            <a:pPr indent="0" marL="0">
              <a:buNone/>
            </a:pPr>
            <a:r>
              <a:rPr lang="en-US" sz="1050" b="1" spc="200" kern="0" dirty="0">
                <a:solidFill>
                  <a:srgbClr val="065A82"/>
                </a:solidFill>
                <a:latin typeface="Calibri" pitchFamily="34" charset="0"/>
                <a:ea typeface="Calibri" pitchFamily="34" charset="-122"/>
                <a:cs typeface="Calibri" pitchFamily="34" charset="-120"/>
              </a:rPr>
              <a:t>THE PATTERN ALPHABET</a:t>
            </a:r>
            <a:endParaRPr lang="en-US" sz="1050" dirty="0"/>
          </a:p>
        </p:txBody>
      </p:sp>
      <p:sp>
        <p:nvSpPr>
          <p:cNvPr id="8" name="Shape 5"/>
          <p:cNvSpPr/>
          <p:nvPr/>
        </p:nvSpPr>
        <p:spPr>
          <a:xfrm>
            <a:off x="548640" y="2578608"/>
            <a:ext cx="384048" cy="292608"/>
          </a:xfrm>
          <a:prstGeom prst="roundRect">
            <a:avLst>
              <a:gd name="adj" fmla="val 15625"/>
            </a:avLst>
          </a:prstGeom>
          <a:solidFill>
            <a:srgbClr val="14333F"/>
          </a:solidFill>
          <a:ln/>
        </p:spPr>
      </p:sp>
      <p:sp>
        <p:nvSpPr>
          <p:cNvPr id="9" name="Text 6"/>
          <p:cNvSpPr/>
          <p:nvPr/>
        </p:nvSpPr>
        <p:spPr>
          <a:xfrm>
            <a:off x="548640" y="2578608"/>
            <a:ext cx="384048" cy="292608"/>
          </a:xfrm>
          <a:prstGeom prst="rect">
            <a:avLst/>
          </a:prstGeom>
          <a:noFill/>
          <a:ln/>
        </p:spPr>
        <p:txBody>
          <a:bodyPr wrap="square" lIns="0" tIns="0" rIns="0" bIns="0" rtlCol="0" anchor="ctr"/>
          <a:lstStyle/>
          <a:p>
            <a:pPr algn="ctr" indent="0" marL="0">
              <a:buNone/>
            </a:pPr>
            <a:r>
              <a:rPr lang="en-US" sz="1400" b="1" dirty="0">
                <a:solidFill>
                  <a:srgbClr val="2EC4B6"/>
                </a:solidFill>
                <a:latin typeface="Calibri" pitchFamily="34" charset="0"/>
                <a:ea typeface="Calibri" pitchFamily="34" charset="-122"/>
                <a:cs typeface="Calibri" pitchFamily="34" charset="-120"/>
              </a:rPr>
              <a:t>A</a:t>
            </a:r>
            <a:endParaRPr lang="en-US" sz="1400" dirty="0"/>
          </a:p>
        </p:txBody>
      </p:sp>
      <p:sp>
        <p:nvSpPr>
          <p:cNvPr id="10" name="Text 7"/>
          <p:cNvSpPr/>
          <p:nvPr/>
        </p:nvSpPr>
        <p:spPr>
          <a:xfrm>
            <a:off x="1051560" y="2578608"/>
            <a:ext cx="3657600" cy="292608"/>
          </a:xfrm>
          <a:prstGeom prst="rect">
            <a:avLst/>
          </a:prstGeom>
          <a:noFill/>
          <a:ln/>
        </p:spPr>
        <p:txBody>
          <a:bodyPr wrap="square" lIns="0" tIns="0" rIns="0" bIns="0" rtlCol="0" anchor="ctr"/>
          <a:lstStyle/>
          <a:p>
            <a:pPr indent="0" marL="0">
              <a:buNone/>
            </a:pPr>
            <a:r>
              <a:rPr lang="en-US" sz="1150" dirty="0">
                <a:solidFill>
                  <a:srgbClr val="14333F"/>
                </a:solidFill>
                <a:latin typeface="Calibri" pitchFamily="34" charset="0"/>
                <a:ea typeface="Calibri" pitchFamily="34" charset="-122"/>
                <a:cs typeface="Calibri" pitchFamily="34" charset="-120"/>
              </a:rPr>
              <a:t>upper-case letter</a:t>
            </a:r>
            <a:endParaRPr lang="en-US" sz="1150" dirty="0"/>
          </a:p>
        </p:txBody>
      </p:sp>
      <p:sp>
        <p:nvSpPr>
          <p:cNvPr id="11" name="Shape 8"/>
          <p:cNvSpPr/>
          <p:nvPr/>
        </p:nvSpPr>
        <p:spPr>
          <a:xfrm>
            <a:off x="548640" y="2944368"/>
            <a:ext cx="384048" cy="292608"/>
          </a:xfrm>
          <a:prstGeom prst="roundRect">
            <a:avLst>
              <a:gd name="adj" fmla="val 15625"/>
            </a:avLst>
          </a:prstGeom>
          <a:solidFill>
            <a:srgbClr val="14333F"/>
          </a:solidFill>
          <a:ln/>
        </p:spPr>
      </p:sp>
      <p:sp>
        <p:nvSpPr>
          <p:cNvPr id="12" name="Text 9"/>
          <p:cNvSpPr/>
          <p:nvPr/>
        </p:nvSpPr>
        <p:spPr>
          <a:xfrm>
            <a:off x="548640" y="2944368"/>
            <a:ext cx="384048" cy="292608"/>
          </a:xfrm>
          <a:prstGeom prst="rect">
            <a:avLst/>
          </a:prstGeom>
          <a:noFill/>
          <a:ln/>
        </p:spPr>
        <p:txBody>
          <a:bodyPr wrap="square" lIns="0" tIns="0" rIns="0" bIns="0" rtlCol="0" anchor="ctr"/>
          <a:lstStyle/>
          <a:p>
            <a:pPr algn="ctr" indent="0" marL="0">
              <a:buNone/>
            </a:pPr>
            <a:r>
              <a:rPr lang="en-US" sz="1400" b="1" dirty="0">
                <a:solidFill>
                  <a:srgbClr val="2EC4B6"/>
                </a:solidFill>
                <a:latin typeface="Calibri" pitchFamily="34" charset="0"/>
                <a:ea typeface="Calibri" pitchFamily="34" charset="-122"/>
                <a:cs typeface="Calibri" pitchFamily="34" charset="-120"/>
              </a:rPr>
              <a:t>a</a:t>
            </a:r>
            <a:endParaRPr lang="en-US" sz="1400" dirty="0"/>
          </a:p>
        </p:txBody>
      </p:sp>
      <p:sp>
        <p:nvSpPr>
          <p:cNvPr id="13" name="Text 10"/>
          <p:cNvSpPr/>
          <p:nvPr/>
        </p:nvSpPr>
        <p:spPr>
          <a:xfrm>
            <a:off x="1051560" y="2944368"/>
            <a:ext cx="3657600" cy="292608"/>
          </a:xfrm>
          <a:prstGeom prst="rect">
            <a:avLst/>
          </a:prstGeom>
          <a:noFill/>
          <a:ln/>
        </p:spPr>
        <p:txBody>
          <a:bodyPr wrap="square" lIns="0" tIns="0" rIns="0" bIns="0" rtlCol="0" anchor="ctr"/>
          <a:lstStyle/>
          <a:p>
            <a:pPr indent="0" marL="0">
              <a:buNone/>
            </a:pPr>
            <a:r>
              <a:rPr lang="en-US" sz="1150" dirty="0">
                <a:solidFill>
                  <a:srgbClr val="14333F"/>
                </a:solidFill>
                <a:latin typeface="Calibri" pitchFamily="34" charset="0"/>
                <a:ea typeface="Calibri" pitchFamily="34" charset="-122"/>
                <a:cs typeface="Calibri" pitchFamily="34" charset="-120"/>
              </a:rPr>
              <a:t>lower-case letter</a:t>
            </a:r>
            <a:endParaRPr lang="en-US" sz="1150" dirty="0"/>
          </a:p>
        </p:txBody>
      </p:sp>
      <p:sp>
        <p:nvSpPr>
          <p:cNvPr id="14" name="Shape 11"/>
          <p:cNvSpPr/>
          <p:nvPr/>
        </p:nvSpPr>
        <p:spPr>
          <a:xfrm>
            <a:off x="548640" y="3310128"/>
            <a:ext cx="384048" cy="292608"/>
          </a:xfrm>
          <a:prstGeom prst="roundRect">
            <a:avLst>
              <a:gd name="adj" fmla="val 15625"/>
            </a:avLst>
          </a:prstGeom>
          <a:solidFill>
            <a:srgbClr val="14333F"/>
          </a:solidFill>
          <a:ln/>
        </p:spPr>
      </p:sp>
      <p:sp>
        <p:nvSpPr>
          <p:cNvPr id="15" name="Text 12"/>
          <p:cNvSpPr/>
          <p:nvPr/>
        </p:nvSpPr>
        <p:spPr>
          <a:xfrm>
            <a:off x="548640" y="3310128"/>
            <a:ext cx="384048" cy="292608"/>
          </a:xfrm>
          <a:prstGeom prst="rect">
            <a:avLst/>
          </a:prstGeom>
          <a:noFill/>
          <a:ln/>
        </p:spPr>
        <p:txBody>
          <a:bodyPr wrap="square" lIns="0" tIns="0" rIns="0" bIns="0" rtlCol="0" anchor="ctr"/>
          <a:lstStyle/>
          <a:p>
            <a:pPr algn="ctr" indent="0" marL="0">
              <a:buNone/>
            </a:pPr>
            <a:r>
              <a:rPr lang="en-US" sz="1400" b="1" dirty="0">
                <a:solidFill>
                  <a:srgbClr val="2EC4B6"/>
                </a:solidFill>
                <a:latin typeface="Calibri" pitchFamily="34" charset="0"/>
                <a:ea typeface="Calibri" pitchFamily="34" charset="-122"/>
                <a:cs typeface="Calibri" pitchFamily="34" charset="-120"/>
              </a:rPr>
              <a:t>n</a:t>
            </a:r>
            <a:endParaRPr lang="en-US" sz="1400" dirty="0"/>
          </a:p>
        </p:txBody>
      </p:sp>
      <p:sp>
        <p:nvSpPr>
          <p:cNvPr id="16" name="Text 13"/>
          <p:cNvSpPr/>
          <p:nvPr/>
        </p:nvSpPr>
        <p:spPr>
          <a:xfrm>
            <a:off x="1051560" y="3310128"/>
            <a:ext cx="3657600" cy="292608"/>
          </a:xfrm>
          <a:prstGeom prst="rect">
            <a:avLst/>
          </a:prstGeom>
          <a:noFill/>
          <a:ln/>
        </p:spPr>
        <p:txBody>
          <a:bodyPr wrap="square" lIns="0" tIns="0" rIns="0" bIns="0" rtlCol="0" anchor="ctr"/>
          <a:lstStyle/>
          <a:p>
            <a:pPr indent="0" marL="0">
              <a:buNone/>
            </a:pPr>
            <a:r>
              <a:rPr lang="en-US" sz="1150" dirty="0">
                <a:solidFill>
                  <a:srgbClr val="14333F"/>
                </a:solidFill>
                <a:latin typeface="Calibri" pitchFamily="34" charset="0"/>
                <a:ea typeface="Calibri" pitchFamily="34" charset="-122"/>
                <a:cs typeface="Calibri" pitchFamily="34" charset="-120"/>
              </a:rPr>
              <a:t>digit 0–9</a:t>
            </a:r>
            <a:endParaRPr lang="en-US" sz="1150" dirty="0"/>
          </a:p>
        </p:txBody>
      </p:sp>
      <p:sp>
        <p:nvSpPr>
          <p:cNvPr id="17" name="Shape 14"/>
          <p:cNvSpPr/>
          <p:nvPr/>
        </p:nvSpPr>
        <p:spPr>
          <a:xfrm>
            <a:off x="548640" y="3675888"/>
            <a:ext cx="384048" cy="292608"/>
          </a:xfrm>
          <a:prstGeom prst="roundRect">
            <a:avLst>
              <a:gd name="adj" fmla="val 15625"/>
            </a:avLst>
          </a:prstGeom>
          <a:solidFill>
            <a:srgbClr val="14333F"/>
          </a:solidFill>
          <a:ln/>
        </p:spPr>
      </p:sp>
      <p:sp>
        <p:nvSpPr>
          <p:cNvPr id="18" name="Text 15"/>
          <p:cNvSpPr/>
          <p:nvPr/>
        </p:nvSpPr>
        <p:spPr>
          <a:xfrm>
            <a:off x="548640" y="3675888"/>
            <a:ext cx="384048" cy="292608"/>
          </a:xfrm>
          <a:prstGeom prst="rect">
            <a:avLst/>
          </a:prstGeom>
          <a:noFill/>
          <a:ln/>
        </p:spPr>
        <p:txBody>
          <a:bodyPr wrap="square" lIns="0" tIns="0" rIns="0" bIns="0" rtlCol="0" anchor="ctr"/>
          <a:lstStyle/>
          <a:p>
            <a:pPr algn="ctr" indent="0" marL="0">
              <a:buNone/>
            </a:pPr>
            <a:r>
              <a:rPr lang="en-US" sz="1400" b="1" dirty="0">
                <a:solidFill>
                  <a:srgbClr val="2EC4B6"/>
                </a:solidFill>
                <a:latin typeface="Calibri" pitchFamily="34" charset="0"/>
                <a:ea typeface="Calibri" pitchFamily="34" charset="-122"/>
                <a:cs typeface="Calibri" pitchFamily="34" charset="-120"/>
              </a:rPr>
              <a:t>s</a:t>
            </a:r>
            <a:endParaRPr lang="en-US" sz="1400" dirty="0"/>
          </a:p>
        </p:txBody>
      </p:sp>
      <p:sp>
        <p:nvSpPr>
          <p:cNvPr id="19" name="Text 16"/>
          <p:cNvSpPr/>
          <p:nvPr/>
        </p:nvSpPr>
        <p:spPr>
          <a:xfrm>
            <a:off x="1051560" y="3675888"/>
            <a:ext cx="3657600" cy="292608"/>
          </a:xfrm>
          <a:prstGeom prst="rect">
            <a:avLst/>
          </a:prstGeom>
          <a:noFill/>
          <a:ln/>
        </p:spPr>
        <p:txBody>
          <a:bodyPr wrap="square" lIns="0" tIns="0" rIns="0" bIns="0" rtlCol="0" anchor="ctr"/>
          <a:lstStyle/>
          <a:p>
            <a:pPr indent="0" marL="0">
              <a:buNone/>
            </a:pPr>
            <a:r>
              <a:rPr lang="en-US" sz="1150" dirty="0">
                <a:solidFill>
                  <a:srgbClr val="14333F"/>
                </a:solidFill>
                <a:latin typeface="Calibri" pitchFamily="34" charset="0"/>
                <a:ea typeface="Calibri" pitchFamily="34" charset="-122"/>
                <a:cs typeface="Calibri" pitchFamily="34" charset="-120"/>
              </a:rPr>
              <a:t>symbol</a:t>
            </a:r>
            <a:endParaRPr lang="en-US" sz="1150" dirty="0"/>
          </a:p>
        </p:txBody>
      </p:sp>
      <p:sp>
        <p:nvSpPr>
          <p:cNvPr id="20" name="Shape 17"/>
          <p:cNvSpPr/>
          <p:nvPr/>
        </p:nvSpPr>
        <p:spPr>
          <a:xfrm>
            <a:off x="548640" y="4041648"/>
            <a:ext cx="384048" cy="292608"/>
          </a:xfrm>
          <a:prstGeom prst="roundRect">
            <a:avLst>
              <a:gd name="adj" fmla="val 15625"/>
            </a:avLst>
          </a:prstGeom>
          <a:solidFill>
            <a:srgbClr val="14333F"/>
          </a:solidFill>
          <a:ln/>
        </p:spPr>
      </p:sp>
      <p:sp>
        <p:nvSpPr>
          <p:cNvPr id="21" name="Text 18"/>
          <p:cNvSpPr/>
          <p:nvPr/>
        </p:nvSpPr>
        <p:spPr>
          <a:xfrm>
            <a:off x="548640" y="4041648"/>
            <a:ext cx="384048" cy="292608"/>
          </a:xfrm>
          <a:prstGeom prst="rect">
            <a:avLst/>
          </a:prstGeom>
          <a:noFill/>
          <a:ln/>
        </p:spPr>
        <p:txBody>
          <a:bodyPr wrap="square" lIns="0" tIns="0" rIns="0" bIns="0" rtlCol="0" anchor="ctr"/>
          <a:lstStyle/>
          <a:p>
            <a:pPr algn="ctr" indent="0" marL="0">
              <a:buNone/>
            </a:pPr>
            <a:r>
              <a:rPr lang="en-US" sz="1400" b="1" dirty="0">
                <a:solidFill>
                  <a:srgbClr val="2EC4B6"/>
                </a:solidFill>
                <a:latin typeface="Calibri" pitchFamily="34" charset="0"/>
                <a:ea typeface="Calibri" pitchFamily="34" charset="-122"/>
                <a:cs typeface="Calibri" pitchFamily="34" charset="-120"/>
              </a:rPr>
              <a:t>w</a:t>
            </a:r>
            <a:endParaRPr lang="en-US" sz="1400" dirty="0"/>
          </a:p>
        </p:txBody>
      </p:sp>
      <p:sp>
        <p:nvSpPr>
          <p:cNvPr id="22" name="Text 19"/>
          <p:cNvSpPr/>
          <p:nvPr/>
        </p:nvSpPr>
        <p:spPr>
          <a:xfrm>
            <a:off x="1051560" y="4041648"/>
            <a:ext cx="3657600" cy="292608"/>
          </a:xfrm>
          <a:prstGeom prst="rect">
            <a:avLst/>
          </a:prstGeom>
          <a:noFill/>
          <a:ln/>
        </p:spPr>
        <p:txBody>
          <a:bodyPr wrap="square" lIns="0" tIns="0" rIns="0" bIns="0" rtlCol="0" anchor="ctr"/>
          <a:lstStyle/>
          <a:p>
            <a:pPr indent="0" marL="0">
              <a:buNone/>
            </a:pPr>
            <a:r>
              <a:rPr lang="en-US" sz="1150" dirty="0">
                <a:solidFill>
                  <a:srgbClr val="14333F"/>
                </a:solidFill>
                <a:latin typeface="Calibri" pitchFamily="34" charset="0"/>
                <a:ea typeface="Calibri" pitchFamily="34" charset="-122"/>
                <a:cs typeface="Calibri" pitchFamily="34" charset="-120"/>
              </a:rPr>
              <a:t>whitespace</a:t>
            </a:r>
            <a:endParaRPr lang="en-US" sz="1150" dirty="0"/>
          </a:p>
        </p:txBody>
      </p:sp>
      <p:sp>
        <p:nvSpPr>
          <p:cNvPr id="23" name="Shape 20"/>
          <p:cNvSpPr/>
          <p:nvPr/>
        </p:nvSpPr>
        <p:spPr>
          <a:xfrm>
            <a:off x="5715000" y="1417320"/>
            <a:ext cx="2880360" cy="3017520"/>
          </a:xfrm>
          <a:prstGeom prst="roundRect">
            <a:avLst>
              <a:gd name="adj" fmla="val 3175"/>
            </a:avLst>
          </a:prstGeom>
          <a:solidFill>
            <a:srgbClr val="14333F"/>
          </a:solidFill>
          <a:ln/>
          <a:effectLst>
            <a:outerShdw sx="100000" sy="100000" kx="0" ky="0" algn="bl" rotWithShape="0" blurRad="88900" dist="38100" dir="5400000">
              <a:srgbClr val="0B1B2B">
                <a:alpha val="16000"/>
              </a:srgbClr>
            </a:outerShdw>
          </a:effectLst>
        </p:spPr>
      </p:sp>
      <p:sp>
        <p:nvSpPr>
          <p:cNvPr id="24" name="Text 21"/>
          <p:cNvSpPr/>
          <p:nvPr/>
        </p:nvSpPr>
        <p:spPr>
          <a:xfrm>
            <a:off x="5971032" y="1627632"/>
            <a:ext cx="2423160" cy="237744"/>
          </a:xfrm>
          <a:prstGeom prst="rect">
            <a:avLst/>
          </a:prstGeom>
          <a:noFill/>
          <a:ln/>
        </p:spPr>
        <p:txBody>
          <a:bodyPr wrap="square" lIns="0" tIns="0" rIns="0" bIns="0" rtlCol="0" anchor="ctr"/>
          <a:lstStyle/>
          <a:p>
            <a:pPr indent="0" marL="0">
              <a:buNone/>
            </a:pPr>
            <a:r>
              <a:rPr lang="en-US" sz="1050" b="1" spc="250" kern="0" dirty="0">
                <a:solidFill>
                  <a:srgbClr val="2EC4B6"/>
                </a:solidFill>
                <a:latin typeface="Calibri" pitchFamily="34" charset="0"/>
                <a:ea typeface="Calibri" pitchFamily="34" charset="-122"/>
                <a:cs typeface="Calibri" pitchFamily="34" charset="-120"/>
              </a:rPr>
              <a:t>WORKED EXAMPLE</a:t>
            </a:r>
            <a:endParaRPr lang="en-US" sz="1050" dirty="0"/>
          </a:p>
        </p:txBody>
      </p:sp>
      <p:sp>
        <p:nvSpPr>
          <p:cNvPr id="25" name="Text 22"/>
          <p:cNvSpPr/>
          <p:nvPr/>
        </p:nvSpPr>
        <p:spPr>
          <a:xfrm>
            <a:off x="5971032" y="1883664"/>
            <a:ext cx="2423160" cy="292608"/>
          </a:xfrm>
          <a:prstGeom prst="rect">
            <a:avLst/>
          </a:prstGeom>
          <a:noFill/>
          <a:ln/>
        </p:spPr>
        <p:txBody>
          <a:bodyPr wrap="square" lIns="0" tIns="0" rIns="0" bIns="0" rtlCol="0" anchor="ctr"/>
          <a:lstStyle/>
          <a:p>
            <a:pPr indent="0" marL="0">
              <a:buNone/>
            </a:pPr>
            <a:r>
              <a:rPr lang="en-US" sz="1100" dirty="0">
                <a:solidFill>
                  <a:srgbClr val="C9DEE8"/>
                </a:solidFill>
                <a:latin typeface="Calibri" pitchFamily="34" charset="0"/>
                <a:ea typeface="Calibri" pitchFamily="34" charset="-122"/>
                <a:cs typeface="Calibri" pitchFamily="34" charset="-120"/>
              </a:rPr>
              <a:t>Part code</a:t>
            </a:r>
            <a:endParaRPr lang="en-US" sz="1100" dirty="0"/>
          </a:p>
        </p:txBody>
      </p:sp>
      <p:sp>
        <p:nvSpPr>
          <p:cNvPr id="26" name="Text 23"/>
          <p:cNvSpPr/>
          <p:nvPr/>
        </p:nvSpPr>
        <p:spPr>
          <a:xfrm>
            <a:off x="5971032" y="2139696"/>
            <a:ext cx="2423160" cy="384048"/>
          </a:xfrm>
          <a:prstGeom prst="rect">
            <a:avLst/>
          </a:prstGeom>
          <a:noFill/>
          <a:ln/>
        </p:spPr>
        <p:txBody>
          <a:bodyPr wrap="square" lIns="0" tIns="0" rIns="0" bIns="0" rtlCol="0" anchor="ctr"/>
          <a:lstStyle/>
          <a:p>
            <a:pPr indent="0" marL="0">
              <a:buNone/>
            </a:pPr>
            <a:r>
              <a:rPr lang="en-US" sz="2400" b="1" dirty="0">
                <a:solidFill>
                  <a:srgbClr val="FFFFFF"/>
                </a:solidFill>
                <a:latin typeface="Courier New" pitchFamily="34" charset="0"/>
                <a:ea typeface="Courier New" pitchFamily="34" charset="-122"/>
                <a:cs typeface="Courier New" pitchFamily="34" charset="-120"/>
              </a:rPr>
              <a:t>KT1734-B</a:t>
            </a:r>
            <a:endParaRPr lang="en-US" sz="2400" dirty="0"/>
          </a:p>
        </p:txBody>
      </p:sp>
      <p:sp>
        <p:nvSpPr>
          <p:cNvPr id="27" name="Text 24"/>
          <p:cNvSpPr/>
          <p:nvPr/>
        </p:nvSpPr>
        <p:spPr>
          <a:xfrm>
            <a:off x="5971032" y="2578608"/>
            <a:ext cx="2423160" cy="256032"/>
          </a:xfrm>
          <a:prstGeom prst="rect">
            <a:avLst/>
          </a:prstGeom>
          <a:noFill/>
          <a:ln/>
        </p:spPr>
        <p:txBody>
          <a:bodyPr wrap="square" lIns="0" tIns="0" rIns="0" bIns="0" rtlCol="0" anchor="ctr"/>
          <a:lstStyle/>
          <a:p>
            <a:pPr indent="0" marL="0">
              <a:buNone/>
            </a:pPr>
            <a:r>
              <a:rPr lang="en-US" sz="1050" i="1" dirty="0">
                <a:solidFill>
                  <a:srgbClr val="2EC4B6"/>
                </a:solidFill>
                <a:latin typeface="Calibri" pitchFamily="34" charset="0"/>
                <a:ea typeface="Calibri" pitchFamily="34" charset="-122"/>
                <a:cs typeface="Calibri" pitchFamily="34" charset="-120"/>
              </a:rPr>
              <a:t>reduces to the pattern</a:t>
            </a:r>
            <a:endParaRPr lang="en-US" sz="1050" dirty="0"/>
          </a:p>
        </p:txBody>
      </p:sp>
      <p:sp>
        <p:nvSpPr>
          <p:cNvPr id="28" name="Text 25"/>
          <p:cNvSpPr/>
          <p:nvPr/>
        </p:nvSpPr>
        <p:spPr>
          <a:xfrm>
            <a:off x="5971032" y="2834640"/>
            <a:ext cx="2423160" cy="384048"/>
          </a:xfrm>
          <a:prstGeom prst="rect">
            <a:avLst/>
          </a:prstGeom>
          <a:noFill/>
          <a:ln/>
        </p:spPr>
        <p:txBody>
          <a:bodyPr wrap="square" lIns="0" tIns="0" rIns="0" bIns="0" rtlCol="0" anchor="ctr"/>
          <a:lstStyle/>
          <a:p>
            <a:pPr indent="0" marL="0">
              <a:buNone/>
            </a:pPr>
            <a:r>
              <a:rPr lang="en-US" sz="2400" b="1" dirty="0">
                <a:solidFill>
                  <a:srgbClr val="2EC4B6"/>
                </a:solidFill>
                <a:latin typeface="Courier New" pitchFamily="34" charset="0"/>
                <a:ea typeface="Courier New" pitchFamily="34" charset="-122"/>
                <a:cs typeface="Courier New" pitchFamily="34" charset="-120"/>
              </a:rPr>
              <a:t>AAnnnn-A</a:t>
            </a:r>
            <a:endParaRPr lang="en-US" sz="2400" dirty="0"/>
          </a:p>
        </p:txBody>
      </p:sp>
      <p:sp>
        <p:nvSpPr>
          <p:cNvPr id="29" name="Text 26"/>
          <p:cNvSpPr/>
          <p:nvPr/>
        </p:nvSpPr>
        <p:spPr>
          <a:xfrm>
            <a:off x="5971032" y="3273552"/>
            <a:ext cx="2423160" cy="457200"/>
          </a:xfrm>
          <a:prstGeom prst="rect">
            <a:avLst/>
          </a:prstGeom>
          <a:noFill/>
          <a:ln/>
        </p:spPr>
        <p:txBody>
          <a:bodyPr wrap="square" lIns="0" tIns="0" rIns="0" bIns="0" rtlCol="0" anchor="ctr"/>
          <a:lstStyle/>
          <a:p>
            <a:pPr indent="0" marL="0">
              <a:lnSpc>
                <a:spcPct val="102000"/>
              </a:lnSpc>
              <a:buNone/>
            </a:pPr>
            <a:r>
              <a:rPr lang="en-US" sz="1000" dirty="0">
                <a:solidFill>
                  <a:srgbClr val="C9DEE8"/>
                </a:solidFill>
                <a:latin typeface="Calibri" pitchFamily="34" charset="0"/>
                <a:ea typeface="Calibri" pitchFamily="34" charset="-122"/>
                <a:cs typeface="Calibri" pitchFamily="34" charset="-120"/>
              </a:rPr>
              <a:t>two letters · four digits · dash · letter</a:t>
            </a:r>
            <a:endParaRPr lang="en-US" sz="1000" dirty="0"/>
          </a:p>
        </p:txBody>
      </p:sp>
      <p:sp>
        <p:nvSpPr>
          <p:cNvPr id="30" name="Text 27"/>
          <p:cNvSpPr/>
          <p:nvPr/>
        </p:nvSpPr>
        <p:spPr>
          <a:xfrm>
            <a:off x="5971032" y="3730752"/>
            <a:ext cx="2423160" cy="603504"/>
          </a:xfrm>
          <a:prstGeom prst="rect">
            <a:avLst/>
          </a:prstGeom>
          <a:noFill/>
          <a:ln/>
        </p:spPr>
        <p:txBody>
          <a:bodyPr wrap="square" lIns="0" tIns="0" rIns="0" bIns="0" rtlCol="0" anchor="ctr"/>
          <a:lstStyle/>
          <a:p>
            <a:pPr indent="0" marL="0">
              <a:lnSpc>
                <a:spcPct val="102000"/>
              </a:lnSpc>
              <a:buNone/>
            </a:pPr>
            <a:r>
              <a:rPr lang="en-US" sz="950" i="1" dirty="0">
                <a:solidFill>
                  <a:srgbClr val="C9DEE8"/>
                </a:solidFill>
                <a:latin typeface="Calibri" pitchFamily="34" charset="0"/>
                <a:ea typeface="Calibri" pitchFamily="34" charset="-122"/>
                <a:cs typeface="Calibri" pitchFamily="34" charset="-120"/>
              </a:rPr>
              <a:t>From the top ~20 patterns PDC also recommends a tunable RegEx — reused for data-quality checks.</a:t>
            </a:r>
            <a:endParaRPr lang="en-US" sz="950" dirty="0"/>
          </a:p>
        </p:txBody>
      </p:sp>
      <p:sp>
        <p:nvSpPr>
          <p:cNvPr id="31" name="Text 28"/>
          <p:cNvSpPr/>
          <p:nvPr/>
        </p:nvSpPr>
        <p:spPr>
          <a:xfrm>
            <a:off x="548640" y="4736592"/>
            <a:ext cx="7315200" cy="274320"/>
          </a:xfrm>
          <a:prstGeom prst="rect">
            <a:avLst/>
          </a:prstGeom>
          <a:noFill/>
          <a:ln/>
        </p:spPr>
        <p:txBody>
          <a:bodyPr wrap="square" lIns="0" tIns="0" rIns="0" bIns="0" rtlCol="0" anchor="ctr"/>
          <a:lstStyle/>
          <a:p>
            <a:pPr algn="l" indent="0" marL="0">
              <a:buNone/>
            </a:pPr>
            <a:r>
              <a:rPr lang="en-US" sz="900" dirty="0">
                <a:solidFill>
                  <a:srgbClr val="5B7782"/>
                </a:solidFill>
                <a:latin typeface="Calibri" pitchFamily="34" charset="0"/>
                <a:ea typeface="Calibri" pitchFamily="34" charset="-122"/>
                <a:cs typeface="Calibri" pitchFamily="34" charset="-120"/>
              </a:rPr>
              <a:t>Good for: email · phone · SSN · passport · dates · structured codes</a:t>
            </a:r>
            <a:endParaRPr lang="en-US" sz="900" dirty="0"/>
          </a:p>
        </p:txBody>
      </p:sp>
      <p:sp>
        <p:nvSpPr>
          <p:cNvPr id="32" name="Text 29"/>
          <p:cNvSpPr/>
          <p:nvPr/>
        </p:nvSpPr>
        <p:spPr>
          <a:xfrm>
            <a:off x="8458200" y="4736592"/>
            <a:ext cx="365760" cy="274320"/>
          </a:xfrm>
          <a:prstGeom prst="rect">
            <a:avLst/>
          </a:prstGeom>
          <a:noFill/>
          <a:ln/>
        </p:spPr>
        <p:txBody>
          <a:bodyPr wrap="square" lIns="0" tIns="0" rIns="0" bIns="0" rtlCol="0" anchor="ctr"/>
          <a:lstStyle/>
          <a:p>
            <a:pPr algn="r" indent="0" marL="0">
              <a:buNone/>
            </a:pPr>
            <a:r>
              <a:rPr lang="en-US" sz="900" dirty="0">
                <a:solidFill>
                  <a:srgbClr val="5B7782"/>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algn="l" indent="0" marL="0">
              <a:buNone/>
            </a:pPr>
            <a:r>
              <a:rPr lang="en-US" sz="1150" b="1" spc="300" kern="0" dirty="0">
                <a:solidFill>
                  <a:srgbClr val="1C7293"/>
                </a:solidFill>
                <a:latin typeface="Calibri" pitchFamily="34" charset="0"/>
                <a:ea typeface="Calibri" pitchFamily="34" charset="-122"/>
                <a:cs typeface="Calibri" pitchFamily="34" charset="-120"/>
              </a:rPr>
              <a:t>UNDER THE HOOD · THE BA VIEW</a:t>
            </a:r>
            <a:endParaRPr lang="en-US" sz="1150" dirty="0"/>
          </a:p>
        </p:txBody>
      </p:sp>
      <p:sp>
        <p:nvSpPr>
          <p:cNvPr id="3" name="Text 1"/>
          <p:cNvSpPr/>
          <p:nvPr/>
        </p:nvSpPr>
        <p:spPr>
          <a:xfrm>
            <a:off x="548640" y="658368"/>
            <a:ext cx="8229600" cy="548640"/>
          </a:xfrm>
          <a:prstGeom prst="rect">
            <a:avLst/>
          </a:prstGeom>
          <a:noFill/>
          <a:ln/>
        </p:spPr>
        <p:txBody>
          <a:bodyPr wrap="square" lIns="0" tIns="0" rIns="0" bIns="0" rtlCol="0" anchor="ctr"/>
          <a:lstStyle/>
          <a:p>
            <a:pPr indent="0" marL="0">
              <a:buNone/>
            </a:pPr>
            <a:r>
              <a:rPr lang="en-US" sz="2800" b="1" dirty="0">
                <a:solidFill>
                  <a:srgbClr val="14333F"/>
                </a:solidFill>
                <a:latin typeface="Bookman Old Style" pitchFamily="34" charset="0"/>
                <a:ea typeface="Bookman Old Style" pitchFamily="34" charset="-122"/>
                <a:cs typeface="Bookman Old Style" pitchFamily="34" charset="-120"/>
              </a:rPr>
              <a:t>From match to tag: scored, not guessed</a:t>
            </a:r>
            <a:endParaRPr lang="en-US" sz="2800" dirty="0"/>
          </a:p>
        </p:txBody>
      </p:sp>
      <p:sp>
        <p:nvSpPr>
          <p:cNvPr id="4" name="Text 2"/>
          <p:cNvSpPr/>
          <p:nvPr/>
        </p:nvSpPr>
        <p:spPr>
          <a:xfrm>
            <a:off x="548640" y="1225296"/>
            <a:ext cx="8138160" cy="548640"/>
          </a:xfrm>
          <a:prstGeom prst="rect">
            <a:avLst/>
          </a:prstGeom>
          <a:noFill/>
          <a:ln/>
        </p:spPr>
        <p:txBody>
          <a:bodyPr wrap="square" lIns="0" tIns="0" rIns="0" bIns="0" rtlCol="0" anchor="ctr"/>
          <a:lstStyle/>
          <a:p>
            <a:pPr indent="0" marL="0">
              <a:lnSpc>
                <a:spcPct val="106000"/>
              </a:lnSpc>
              <a:buNone/>
            </a:pPr>
            <a:r>
              <a:rPr lang="en-US" sz="1300" dirty="0">
                <a:solidFill>
                  <a:srgbClr val="5B7782"/>
                </a:solidFill>
                <a:latin typeface="Calibri" pitchFamily="34" charset="0"/>
                <a:ea typeface="Calibri" pitchFamily="34" charset="-122"/>
                <a:cs typeface="Calibri" pitchFamily="34" charset="-120"/>
              </a:rPr>
              <a:t>Both methods work the same way underneath — a graded match, a threshold, and an action. You don't write these as a BA, but knowing the shape of it explains why identification is reliable.</a:t>
            </a:r>
            <a:endParaRPr lang="en-US" sz="1300" dirty="0"/>
          </a:p>
        </p:txBody>
      </p:sp>
      <p:sp>
        <p:nvSpPr>
          <p:cNvPr id="5" name="Shape 3"/>
          <p:cNvSpPr/>
          <p:nvPr/>
        </p:nvSpPr>
        <p:spPr>
          <a:xfrm>
            <a:off x="548640" y="2057400"/>
            <a:ext cx="1805940" cy="2057400"/>
          </a:xfrm>
          <a:prstGeom prst="roundRect">
            <a:avLst>
              <a:gd name="adj" fmla="val 4557"/>
            </a:avLst>
          </a:prstGeom>
          <a:solidFill>
            <a:srgbClr val="EEF6FA"/>
          </a:solidFill>
          <a:ln w="12700">
            <a:solidFill>
              <a:srgbClr val="DCEEF5"/>
            </a:solidFill>
            <a:prstDash val="solid"/>
          </a:ln>
        </p:spPr>
      </p:sp>
      <p:sp>
        <p:nvSpPr>
          <p:cNvPr id="6" name="Shape 4"/>
          <p:cNvSpPr/>
          <p:nvPr/>
        </p:nvSpPr>
        <p:spPr>
          <a:xfrm>
            <a:off x="749808" y="2276856"/>
            <a:ext cx="512064" cy="512064"/>
          </a:xfrm>
          <a:prstGeom prst="ellipse">
            <a:avLst/>
          </a:prstGeom>
          <a:solidFill>
            <a:srgbClr val="1C7293"/>
          </a:solidFill>
          <a:ln/>
          <a:effectLst>
            <a:outerShdw sx="100000" sy="100000" kx="0" ky="0" algn="bl" rotWithShape="0" blurRad="88900" dist="38100" dir="5400000">
              <a:srgbClr val="0B1B2B">
                <a:alpha val="16000"/>
              </a:srgbClr>
            </a:outerShdw>
          </a:effectLst>
        </p:spPr>
      </p:sp>
      <p:pic>
        <p:nvPicPr>
          <p:cNvPr id="7" name="Image 0" descr="preencoded.png">    </p:cNvPr>
          <p:cNvPicPr>
            <a:picLocks noChangeAspect="1"/>
          </p:cNvPicPr>
          <p:nvPr/>
        </p:nvPicPr>
        <p:blipFill>
          <a:blip r:embed="rId1"/>
          <a:stretch>
            <a:fillRect/>
          </a:stretch>
        </p:blipFill>
        <p:spPr>
          <a:xfrm>
            <a:off x="888065" y="2415113"/>
            <a:ext cx="235549" cy="235549"/>
          </a:xfrm>
          <a:prstGeom prst="rect">
            <a:avLst/>
          </a:prstGeom>
        </p:spPr>
      </p:pic>
      <p:sp>
        <p:nvSpPr>
          <p:cNvPr id="8" name="Text 5"/>
          <p:cNvSpPr/>
          <p:nvPr/>
        </p:nvSpPr>
        <p:spPr>
          <a:xfrm>
            <a:off x="768096" y="2898648"/>
            <a:ext cx="1440180" cy="219456"/>
          </a:xfrm>
          <a:prstGeom prst="rect">
            <a:avLst/>
          </a:prstGeom>
          <a:noFill/>
          <a:ln/>
        </p:spPr>
        <p:txBody>
          <a:bodyPr wrap="square" lIns="0" tIns="0" rIns="0" bIns="0" rtlCol="0" anchor="ctr"/>
          <a:lstStyle/>
          <a:p>
            <a:pPr indent="0" marL="0">
              <a:buNone/>
            </a:pPr>
            <a:r>
              <a:rPr lang="en-US" sz="900" b="1" spc="150" kern="0" dirty="0">
                <a:solidFill>
                  <a:srgbClr val="5B7782"/>
                </a:solidFill>
                <a:latin typeface="Calibri" pitchFamily="34" charset="0"/>
                <a:ea typeface="Calibri" pitchFamily="34" charset="-122"/>
                <a:cs typeface="Calibri" pitchFamily="34" charset="-120"/>
              </a:rPr>
              <a:t>STEP 1</a:t>
            </a:r>
            <a:endParaRPr lang="en-US" sz="900" dirty="0"/>
          </a:p>
        </p:txBody>
      </p:sp>
      <p:sp>
        <p:nvSpPr>
          <p:cNvPr id="9" name="Text 6"/>
          <p:cNvSpPr/>
          <p:nvPr/>
        </p:nvSpPr>
        <p:spPr>
          <a:xfrm>
            <a:off x="768096" y="3099816"/>
            <a:ext cx="1440180" cy="292608"/>
          </a:xfrm>
          <a:prstGeom prst="rect">
            <a:avLst/>
          </a:prstGeom>
          <a:noFill/>
          <a:ln/>
        </p:spPr>
        <p:txBody>
          <a:bodyPr wrap="square" lIns="0" tIns="0" rIns="0" bIns="0" rtlCol="0" anchor="ctr"/>
          <a:lstStyle/>
          <a:p>
            <a:pPr indent="0" marL="0">
              <a:buNone/>
            </a:pPr>
            <a:r>
              <a:rPr lang="en-US" sz="1500" b="1" dirty="0">
                <a:solidFill>
                  <a:srgbClr val="14333F"/>
                </a:solidFill>
                <a:latin typeface="Bookman Old Style" pitchFamily="34" charset="0"/>
                <a:ea typeface="Bookman Old Style" pitchFamily="34" charset="-122"/>
                <a:cs typeface="Bookman Old Style" pitchFamily="34" charset="-120"/>
              </a:rPr>
              <a:t>Compare</a:t>
            </a:r>
            <a:endParaRPr lang="en-US" sz="1500" dirty="0"/>
          </a:p>
        </p:txBody>
      </p:sp>
      <p:sp>
        <p:nvSpPr>
          <p:cNvPr id="10" name="Text 7"/>
          <p:cNvSpPr/>
          <p:nvPr/>
        </p:nvSpPr>
        <p:spPr>
          <a:xfrm>
            <a:off x="768096" y="3429000"/>
            <a:ext cx="1403604" cy="603504"/>
          </a:xfrm>
          <a:prstGeom prst="rect">
            <a:avLst/>
          </a:prstGeom>
          <a:noFill/>
          <a:ln/>
        </p:spPr>
        <p:txBody>
          <a:bodyPr wrap="square" lIns="0" tIns="0" rIns="0" bIns="0" rtlCol="0" anchor="ctr"/>
          <a:lstStyle/>
          <a:p>
            <a:pPr indent="0" marL="0">
              <a:lnSpc>
                <a:spcPct val="102000"/>
              </a:lnSpc>
              <a:buNone/>
            </a:pPr>
            <a:r>
              <a:rPr lang="en-US" sz="950" dirty="0">
                <a:solidFill>
                  <a:srgbClr val="5B7782"/>
                </a:solidFill>
                <a:latin typeface="Calibri" pitchFamily="34" charset="0"/>
                <a:ea typeface="Calibri" pitchFamily="34" charset="-122"/>
                <a:cs typeface="Calibri" pitchFamily="34" charset="-120"/>
              </a:rPr>
              <a:t>Profiled values are checked against the dictionary or pattern — plus a hint from the column name.</a:t>
            </a:r>
            <a:endParaRPr lang="en-US" sz="950" dirty="0"/>
          </a:p>
        </p:txBody>
      </p:sp>
      <p:sp>
        <p:nvSpPr>
          <p:cNvPr id="11" name="Shape 8"/>
          <p:cNvSpPr/>
          <p:nvPr/>
        </p:nvSpPr>
        <p:spPr>
          <a:xfrm>
            <a:off x="2628900" y="2057400"/>
            <a:ext cx="1805940" cy="2057400"/>
          </a:xfrm>
          <a:prstGeom prst="roundRect">
            <a:avLst>
              <a:gd name="adj" fmla="val 4557"/>
            </a:avLst>
          </a:prstGeom>
          <a:solidFill>
            <a:srgbClr val="EEF6FA"/>
          </a:solidFill>
          <a:ln w="12700">
            <a:solidFill>
              <a:srgbClr val="DCEEF5"/>
            </a:solidFill>
            <a:prstDash val="solid"/>
          </a:ln>
        </p:spPr>
      </p:sp>
      <p:sp>
        <p:nvSpPr>
          <p:cNvPr id="12" name="Shape 9"/>
          <p:cNvSpPr/>
          <p:nvPr/>
        </p:nvSpPr>
        <p:spPr>
          <a:xfrm>
            <a:off x="2830068" y="2276856"/>
            <a:ext cx="512064" cy="512064"/>
          </a:xfrm>
          <a:prstGeom prst="ellipse">
            <a:avLst/>
          </a:prstGeom>
          <a:solidFill>
            <a:srgbClr val="065A82"/>
          </a:solidFill>
          <a:ln/>
          <a:effectLst>
            <a:outerShdw sx="100000" sy="100000" kx="0" ky="0" algn="bl" rotWithShape="0" blurRad="88900" dist="38100" dir="5400000">
              <a:srgbClr val="0B1B2B">
                <a:alpha val="16000"/>
              </a:srgbClr>
            </a:outerShdw>
          </a:effectLst>
        </p:spPr>
      </p:sp>
      <p:pic>
        <p:nvPicPr>
          <p:cNvPr id="13" name="Image 1" descr="preencoded.png">    </p:cNvPr>
          <p:cNvPicPr>
            <a:picLocks noChangeAspect="1"/>
          </p:cNvPicPr>
          <p:nvPr/>
        </p:nvPicPr>
        <p:blipFill>
          <a:blip r:embed="rId2"/>
          <a:stretch>
            <a:fillRect/>
          </a:stretch>
        </p:blipFill>
        <p:spPr>
          <a:xfrm>
            <a:off x="2968325" y="2415113"/>
            <a:ext cx="235549" cy="235549"/>
          </a:xfrm>
          <a:prstGeom prst="rect">
            <a:avLst/>
          </a:prstGeom>
        </p:spPr>
      </p:pic>
      <p:sp>
        <p:nvSpPr>
          <p:cNvPr id="14" name="Text 10"/>
          <p:cNvSpPr/>
          <p:nvPr/>
        </p:nvSpPr>
        <p:spPr>
          <a:xfrm>
            <a:off x="2848356" y="2898648"/>
            <a:ext cx="1440180" cy="219456"/>
          </a:xfrm>
          <a:prstGeom prst="rect">
            <a:avLst/>
          </a:prstGeom>
          <a:noFill/>
          <a:ln/>
        </p:spPr>
        <p:txBody>
          <a:bodyPr wrap="square" lIns="0" tIns="0" rIns="0" bIns="0" rtlCol="0" anchor="ctr"/>
          <a:lstStyle/>
          <a:p>
            <a:pPr indent="0" marL="0">
              <a:buNone/>
            </a:pPr>
            <a:r>
              <a:rPr lang="en-US" sz="900" b="1" spc="150" kern="0" dirty="0">
                <a:solidFill>
                  <a:srgbClr val="5B7782"/>
                </a:solidFill>
                <a:latin typeface="Calibri" pitchFamily="34" charset="0"/>
                <a:ea typeface="Calibri" pitchFamily="34" charset="-122"/>
                <a:cs typeface="Calibri" pitchFamily="34" charset="-120"/>
              </a:rPr>
              <a:t>STEP 2</a:t>
            </a:r>
            <a:endParaRPr lang="en-US" sz="900" dirty="0"/>
          </a:p>
        </p:txBody>
      </p:sp>
      <p:sp>
        <p:nvSpPr>
          <p:cNvPr id="15" name="Text 11"/>
          <p:cNvSpPr/>
          <p:nvPr/>
        </p:nvSpPr>
        <p:spPr>
          <a:xfrm>
            <a:off x="2848356" y="3099816"/>
            <a:ext cx="1440180" cy="292608"/>
          </a:xfrm>
          <a:prstGeom prst="rect">
            <a:avLst/>
          </a:prstGeom>
          <a:noFill/>
          <a:ln/>
        </p:spPr>
        <p:txBody>
          <a:bodyPr wrap="square" lIns="0" tIns="0" rIns="0" bIns="0" rtlCol="0" anchor="ctr"/>
          <a:lstStyle/>
          <a:p>
            <a:pPr indent="0" marL="0">
              <a:buNone/>
            </a:pPr>
            <a:r>
              <a:rPr lang="en-US" sz="1500" b="1" dirty="0">
                <a:solidFill>
                  <a:srgbClr val="14333F"/>
                </a:solidFill>
                <a:latin typeface="Bookman Old Style" pitchFamily="34" charset="0"/>
                <a:ea typeface="Bookman Old Style" pitchFamily="34" charset="-122"/>
                <a:cs typeface="Bookman Old Style" pitchFamily="34" charset="-120"/>
              </a:rPr>
              <a:t>Score</a:t>
            </a:r>
            <a:endParaRPr lang="en-US" sz="1500" dirty="0"/>
          </a:p>
        </p:txBody>
      </p:sp>
      <p:sp>
        <p:nvSpPr>
          <p:cNvPr id="16" name="Text 12"/>
          <p:cNvSpPr/>
          <p:nvPr/>
        </p:nvSpPr>
        <p:spPr>
          <a:xfrm>
            <a:off x="2848356" y="3429000"/>
            <a:ext cx="1403604" cy="603504"/>
          </a:xfrm>
          <a:prstGeom prst="rect">
            <a:avLst/>
          </a:prstGeom>
          <a:noFill/>
          <a:ln/>
        </p:spPr>
        <p:txBody>
          <a:bodyPr wrap="square" lIns="0" tIns="0" rIns="0" bIns="0" rtlCol="0" anchor="ctr"/>
          <a:lstStyle/>
          <a:p>
            <a:pPr indent="0" marL="0">
              <a:lnSpc>
                <a:spcPct val="102000"/>
              </a:lnSpc>
              <a:buNone/>
            </a:pPr>
            <a:r>
              <a:rPr lang="en-US" sz="950" dirty="0">
                <a:solidFill>
                  <a:srgbClr val="5B7782"/>
                </a:solidFill>
                <a:latin typeface="Calibri" pitchFamily="34" charset="0"/>
                <a:ea typeface="Calibri" pitchFamily="34" charset="-122"/>
                <a:cs typeface="Calibri" pitchFamily="34" charset="-120"/>
              </a:rPr>
              <a:t>A confidence score blends content similarity with the metadata (column-name) hint.</a:t>
            </a:r>
            <a:endParaRPr lang="en-US" sz="950" dirty="0"/>
          </a:p>
        </p:txBody>
      </p:sp>
      <p:sp>
        <p:nvSpPr>
          <p:cNvPr id="17" name="Shape 13"/>
          <p:cNvSpPr/>
          <p:nvPr/>
        </p:nvSpPr>
        <p:spPr>
          <a:xfrm>
            <a:off x="4709160" y="2057400"/>
            <a:ext cx="1805940" cy="2057400"/>
          </a:xfrm>
          <a:prstGeom prst="roundRect">
            <a:avLst>
              <a:gd name="adj" fmla="val 4557"/>
            </a:avLst>
          </a:prstGeom>
          <a:solidFill>
            <a:srgbClr val="EEF6FA"/>
          </a:solidFill>
          <a:ln w="12700">
            <a:solidFill>
              <a:srgbClr val="DCEEF5"/>
            </a:solidFill>
            <a:prstDash val="solid"/>
          </a:ln>
        </p:spPr>
      </p:sp>
      <p:sp>
        <p:nvSpPr>
          <p:cNvPr id="18" name="Shape 14"/>
          <p:cNvSpPr/>
          <p:nvPr/>
        </p:nvSpPr>
        <p:spPr>
          <a:xfrm>
            <a:off x="4910328" y="2276856"/>
            <a:ext cx="512064" cy="512064"/>
          </a:xfrm>
          <a:prstGeom prst="ellipse">
            <a:avLst/>
          </a:prstGeom>
          <a:solidFill>
            <a:srgbClr val="1C7293"/>
          </a:solidFill>
          <a:ln/>
          <a:effectLst>
            <a:outerShdw sx="100000" sy="100000" kx="0" ky="0" algn="bl" rotWithShape="0" blurRad="88900" dist="38100" dir="5400000">
              <a:srgbClr val="0B1B2B">
                <a:alpha val="16000"/>
              </a:srgbClr>
            </a:outerShdw>
          </a:effectLst>
        </p:spPr>
      </p:sp>
      <p:pic>
        <p:nvPicPr>
          <p:cNvPr id="19" name="Image 2" descr="preencoded.png">    </p:cNvPr>
          <p:cNvPicPr>
            <a:picLocks noChangeAspect="1"/>
          </p:cNvPicPr>
          <p:nvPr/>
        </p:nvPicPr>
        <p:blipFill>
          <a:blip r:embed="rId3"/>
          <a:stretch>
            <a:fillRect/>
          </a:stretch>
        </p:blipFill>
        <p:spPr>
          <a:xfrm>
            <a:off x="5048585" y="2415113"/>
            <a:ext cx="235549" cy="235549"/>
          </a:xfrm>
          <a:prstGeom prst="rect">
            <a:avLst/>
          </a:prstGeom>
        </p:spPr>
      </p:pic>
      <p:sp>
        <p:nvSpPr>
          <p:cNvPr id="20" name="Text 15"/>
          <p:cNvSpPr/>
          <p:nvPr/>
        </p:nvSpPr>
        <p:spPr>
          <a:xfrm>
            <a:off x="4928616" y="2898648"/>
            <a:ext cx="1440180" cy="219456"/>
          </a:xfrm>
          <a:prstGeom prst="rect">
            <a:avLst/>
          </a:prstGeom>
          <a:noFill/>
          <a:ln/>
        </p:spPr>
        <p:txBody>
          <a:bodyPr wrap="square" lIns="0" tIns="0" rIns="0" bIns="0" rtlCol="0" anchor="ctr"/>
          <a:lstStyle/>
          <a:p>
            <a:pPr indent="0" marL="0">
              <a:buNone/>
            </a:pPr>
            <a:r>
              <a:rPr lang="en-US" sz="900" b="1" spc="150" kern="0" dirty="0">
                <a:solidFill>
                  <a:srgbClr val="5B7782"/>
                </a:solidFill>
                <a:latin typeface="Calibri" pitchFamily="34" charset="0"/>
                <a:ea typeface="Calibri" pitchFamily="34" charset="-122"/>
                <a:cs typeface="Calibri" pitchFamily="34" charset="-120"/>
              </a:rPr>
              <a:t>STEP 3</a:t>
            </a:r>
            <a:endParaRPr lang="en-US" sz="900" dirty="0"/>
          </a:p>
        </p:txBody>
      </p:sp>
      <p:sp>
        <p:nvSpPr>
          <p:cNvPr id="21" name="Text 16"/>
          <p:cNvSpPr/>
          <p:nvPr/>
        </p:nvSpPr>
        <p:spPr>
          <a:xfrm>
            <a:off x="4928616" y="3099816"/>
            <a:ext cx="1440180" cy="292608"/>
          </a:xfrm>
          <a:prstGeom prst="rect">
            <a:avLst/>
          </a:prstGeom>
          <a:noFill/>
          <a:ln/>
        </p:spPr>
        <p:txBody>
          <a:bodyPr wrap="square" lIns="0" tIns="0" rIns="0" bIns="0" rtlCol="0" anchor="ctr"/>
          <a:lstStyle/>
          <a:p>
            <a:pPr indent="0" marL="0">
              <a:buNone/>
            </a:pPr>
            <a:r>
              <a:rPr lang="en-US" sz="1500" b="1" dirty="0">
                <a:solidFill>
                  <a:srgbClr val="14333F"/>
                </a:solidFill>
                <a:latin typeface="Bookman Old Style" pitchFamily="34" charset="0"/>
                <a:ea typeface="Bookman Old Style" pitchFamily="34" charset="-122"/>
                <a:cs typeface="Bookman Old Style" pitchFamily="34" charset="-120"/>
              </a:rPr>
              <a:t>Condition</a:t>
            </a:r>
            <a:endParaRPr lang="en-US" sz="1500" dirty="0"/>
          </a:p>
        </p:txBody>
      </p:sp>
      <p:sp>
        <p:nvSpPr>
          <p:cNvPr id="22" name="Text 17"/>
          <p:cNvSpPr/>
          <p:nvPr/>
        </p:nvSpPr>
        <p:spPr>
          <a:xfrm>
            <a:off x="4928616" y="3429000"/>
            <a:ext cx="1403604" cy="603504"/>
          </a:xfrm>
          <a:prstGeom prst="rect">
            <a:avLst/>
          </a:prstGeom>
          <a:noFill/>
          <a:ln/>
        </p:spPr>
        <p:txBody>
          <a:bodyPr wrap="square" lIns="0" tIns="0" rIns="0" bIns="0" rtlCol="0" anchor="ctr"/>
          <a:lstStyle/>
          <a:p>
            <a:pPr indent="0" marL="0">
              <a:lnSpc>
                <a:spcPct val="102000"/>
              </a:lnSpc>
              <a:buNone/>
            </a:pPr>
            <a:r>
              <a:rPr lang="en-US" sz="950" dirty="0">
                <a:solidFill>
                  <a:srgbClr val="5B7782"/>
                </a:solidFill>
                <a:latin typeface="Calibri" pitchFamily="34" charset="0"/>
                <a:ea typeface="Calibri" pitchFamily="34" charset="-122"/>
                <a:cs typeface="Calibri" pitchFamily="34" charset="-120"/>
              </a:rPr>
              <a:t>If the score clears the threshold — e.g. ≥ 0.7 — the match is accepted.</a:t>
            </a:r>
            <a:endParaRPr lang="en-US" sz="950" dirty="0"/>
          </a:p>
        </p:txBody>
      </p:sp>
      <p:sp>
        <p:nvSpPr>
          <p:cNvPr id="23" name="Shape 18"/>
          <p:cNvSpPr/>
          <p:nvPr/>
        </p:nvSpPr>
        <p:spPr>
          <a:xfrm>
            <a:off x="6789420" y="2057400"/>
            <a:ext cx="1805940" cy="2057400"/>
          </a:xfrm>
          <a:prstGeom prst="roundRect">
            <a:avLst>
              <a:gd name="adj" fmla="val 4557"/>
            </a:avLst>
          </a:prstGeom>
          <a:solidFill>
            <a:srgbClr val="1C7293"/>
          </a:solidFill>
          <a:ln w="12700">
            <a:solidFill>
              <a:srgbClr val="1C7293"/>
            </a:solidFill>
            <a:prstDash val="solid"/>
          </a:ln>
          <a:effectLst>
            <a:outerShdw sx="100000" sy="100000" kx="0" ky="0" algn="bl" rotWithShape="0" blurRad="88900" dist="38100" dir="5400000">
              <a:srgbClr val="0B1B2B">
                <a:alpha val="16000"/>
              </a:srgbClr>
            </a:outerShdw>
          </a:effectLst>
        </p:spPr>
      </p:sp>
      <p:sp>
        <p:nvSpPr>
          <p:cNvPr id="24" name="Shape 19"/>
          <p:cNvSpPr/>
          <p:nvPr/>
        </p:nvSpPr>
        <p:spPr>
          <a:xfrm>
            <a:off x="6990588" y="2276856"/>
            <a:ext cx="512064" cy="512064"/>
          </a:xfrm>
          <a:prstGeom prst="ellipse">
            <a:avLst/>
          </a:prstGeom>
          <a:solidFill>
            <a:srgbClr val="2EC4B6"/>
          </a:solidFill>
          <a:ln/>
          <a:effectLst>
            <a:outerShdw sx="100000" sy="100000" kx="0" ky="0" algn="bl" rotWithShape="0" blurRad="88900" dist="38100" dir="5400000">
              <a:srgbClr val="0B1B2B">
                <a:alpha val="16000"/>
              </a:srgbClr>
            </a:outerShdw>
          </a:effectLst>
        </p:spPr>
      </p:sp>
      <p:pic>
        <p:nvPicPr>
          <p:cNvPr id="25" name="Image 3" descr="preencoded.png">    </p:cNvPr>
          <p:cNvPicPr>
            <a:picLocks noChangeAspect="1"/>
          </p:cNvPicPr>
          <p:nvPr/>
        </p:nvPicPr>
        <p:blipFill>
          <a:blip r:embed="rId4"/>
          <a:stretch>
            <a:fillRect/>
          </a:stretch>
        </p:blipFill>
        <p:spPr>
          <a:xfrm>
            <a:off x="7128845" y="2415113"/>
            <a:ext cx="235549" cy="235549"/>
          </a:xfrm>
          <a:prstGeom prst="rect">
            <a:avLst/>
          </a:prstGeom>
        </p:spPr>
      </p:pic>
      <p:sp>
        <p:nvSpPr>
          <p:cNvPr id="26" name="Text 20"/>
          <p:cNvSpPr/>
          <p:nvPr/>
        </p:nvSpPr>
        <p:spPr>
          <a:xfrm>
            <a:off x="7008876" y="2898648"/>
            <a:ext cx="1440180" cy="219456"/>
          </a:xfrm>
          <a:prstGeom prst="rect">
            <a:avLst/>
          </a:prstGeom>
          <a:noFill/>
          <a:ln/>
        </p:spPr>
        <p:txBody>
          <a:bodyPr wrap="square" lIns="0" tIns="0" rIns="0" bIns="0" rtlCol="0" anchor="ctr"/>
          <a:lstStyle/>
          <a:p>
            <a:pPr indent="0" marL="0">
              <a:buNone/>
            </a:pPr>
            <a:r>
              <a:rPr lang="en-US" sz="900" b="1" spc="150" kern="0" dirty="0">
                <a:solidFill>
                  <a:srgbClr val="C9DEE8"/>
                </a:solidFill>
                <a:latin typeface="Calibri" pitchFamily="34" charset="0"/>
                <a:ea typeface="Calibri" pitchFamily="34" charset="-122"/>
                <a:cs typeface="Calibri" pitchFamily="34" charset="-120"/>
              </a:rPr>
              <a:t>STEP 4</a:t>
            </a:r>
            <a:endParaRPr lang="en-US" sz="900" dirty="0"/>
          </a:p>
        </p:txBody>
      </p:sp>
      <p:sp>
        <p:nvSpPr>
          <p:cNvPr id="27" name="Text 21"/>
          <p:cNvSpPr/>
          <p:nvPr/>
        </p:nvSpPr>
        <p:spPr>
          <a:xfrm>
            <a:off x="7008876" y="3099816"/>
            <a:ext cx="1440180" cy="292608"/>
          </a:xfrm>
          <a:prstGeom prst="rect">
            <a:avLst/>
          </a:prstGeom>
          <a:noFill/>
          <a:ln/>
        </p:spPr>
        <p:txBody>
          <a:bodyPr wrap="square" lIns="0" tIns="0" rIns="0" bIns="0" rtlCol="0" anchor="ctr"/>
          <a:lstStyle/>
          <a:p>
            <a:pPr indent="0" marL="0">
              <a:buNone/>
            </a:pPr>
            <a:r>
              <a:rPr lang="en-US" sz="1500" b="1" dirty="0">
                <a:solidFill>
                  <a:srgbClr val="FFFFFF"/>
                </a:solidFill>
                <a:latin typeface="Bookman Old Style" pitchFamily="34" charset="0"/>
                <a:ea typeface="Bookman Old Style" pitchFamily="34" charset="-122"/>
                <a:cs typeface="Bookman Old Style" pitchFamily="34" charset="-120"/>
              </a:rPr>
              <a:t>Action</a:t>
            </a:r>
            <a:endParaRPr lang="en-US" sz="1500" dirty="0"/>
          </a:p>
        </p:txBody>
      </p:sp>
      <p:sp>
        <p:nvSpPr>
          <p:cNvPr id="28" name="Text 22"/>
          <p:cNvSpPr/>
          <p:nvPr/>
        </p:nvSpPr>
        <p:spPr>
          <a:xfrm>
            <a:off x="7008876" y="3429000"/>
            <a:ext cx="1403604" cy="603504"/>
          </a:xfrm>
          <a:prstGeom prst="rect">
            <a:avLst/>
          </a:prstGeom>
          <a:noFill/>
          <a:ln/>
        </p:spPr>
        <p:txBody>
          <a:bodyPr wrap="square" lIns="0" tIns="0" rIns="0" bIns="0" rtlCol="0" anchor="ctr"/>
          <a:lstStyle/>
          <a:p>
            <a:pPr indent="0" marL="0">
              <a:lnSpc>
                <a:spcPct val="102000"/>
              </a:lnSpc>
              <a:buNone/>
            </a:pPr>
            <a:r>
              <a:rPr lang="en-US" sz="950" dirty="0">
                <a:solidFill>
                  <a:srgbClr val="C9DEE8"/>
                </a:solidFill>
                <a:latin typeface="Calibri" pitchFamily="34" charset="0"/>
                <a:ea typeface="Calibri" pitchFamily="34" charset="-122"/>
                <a:cs typeface="Calibri" pitchFamily="34" charset="-120"/>
              </a:rPr>
              <a:t>Apply the tags and link the business terms to the column.</a:t>
            </a:r>
            <a:endParaRPr lang="en-US" sz="950" dirty="0"/>
          </a:p>
        </p:txBody>
      </p:sp>
      <p:sp>
        <p:nvSpPr>
          <p:cNvPr id="29" name="Text 23"/>
          <p:cNvSpPr/>
          <p:nvPr/>
        </p:nvSpPr>
        <p:spPr>
          <a:xfrm>
            <a:off x="2372868" y="2423160"/>
            <a:ext cx="237744" cy="457200"/>
          </a:xfrm>
          <a:prstGeom prst="rect">
            <a:avLst/>
          </a:prstGeom>
          <a:noFill/>
          <a:ln/>
        </p:spPr>
        <p:txBody>
          <a:bodyPr wrap="square" lIns="0" tIns="0" rIns="0" bIns="0" rtlCol="0" anchor="ctr"/>
          <a:lstStyle/>
          <a:p>
            <a:pPr algn="ctr" indent="0" marL="0">
              <a:buNone/>
            </a:pPr>
            <a:r>
              <a:rPr lang="en-US" sz="2000" b="1" dirty="0">
                <a:solidFill>
                  <a:srgbClr val="5B7782"/>
                </a:solidFill>
                <a:latin typeface="Calibri" pitchFamily="34" charset="0"/>
                <a:ea typeface="Calibri" pitchFamily="34" charset="-122"/>
                <a:cs typeface="Calibri" pitchFamily="34" charset="-120"/>
              </a:rPr>
              <a:t>›</a:t>
            </a:r>
            <a:endParaRPr lang="en-US" sz="2000" dirty="0"/>
          </a:p>
        </p:txBody>
      </p:sp>
      <p:sp>
        <p:nvSpPr>
          <p:cNvPr id="30" name="Text 24"/>
          <p:cNvSpPr/>
          <p:nvPr/>
        </p:nvSpPr>
        <p:spPr>
          <a:xfrm>
            <a:off x="4453128" y="2423160"/>
            <a:ext cx="237744" cy="457200"/>
          </a:xfrm>
          <a:prstGeom prst="rect">
            <a:avLst/>
          </a:prstGeom>
          <a:noFill/>
          <a:ln/>
        </p:spPr>
        <p:txBody>
          <a:bodyPr wrap="square" lIns="0" tIns="0" rIns="0" bIns="0" rtlCol="0" anchor="ctr"/>
          <a:lstStyle/>
          <a:p>
            <a:pPr algn="ctr" indent="0" marL="0">
              <a:buNone/>
            </a:pPr>
            <a:r>
              <a:rPr lang="en-US" sz="2000" b="1" dirty="0">
                <a:solidFill>
                  <a:srgbClr val="5B7782"/>
                </a:solidFill>
                <a:latin typeface="Calibri" pitchFamily="34" charset="0"/>
                <a:ea typeface="Calibri" pitchFamily="34" charset="-122"/>
                <a:cs typeface="Calibri" pitchFamily="34" charset="-120"/>
              </a:rPr>
              <a:t>›</a:t>
            </a:r>
            <a:endParaRPr lang="en-US" sz="2000" dirty="0"/>
          </a:p>
        </p:txBody>
      </p:sp>
      <p:sp>
        <p:nvSpPr>
          <p:cNvPr id="31" name="Text 25"/>
          <p:cNvSpPr/>
          <p:nvPr/>
        </p:nvSpPr>
        <p:spPr>
          <a:xfrm>
            <a:off x="6533388" y="2423160"/>
            <a:ext cx="237744" cy="457200"/>
          </a:xfrm>
          <a:prstGeom prst="rect">
            <a:avLst/>
          </a:prstGeom>
          <a:noFill/>
          <a:ln/>
        </p:spPr>
        <p:txBody>
          <a:bodyPr wrap="square" lIns="0" tIns="0" rIns="0" bIns="0" rtlCol="0" anchor="ctr"/>
          <a:lstStyle/>
          <a:p>
            <a:pPr algn="ctr" indent="0" marL="0">
              <a:buNone/>
            </a:pPr>
            <a:r>
              <a:rPr lang="en-US" sz="2000" b="1" dirty="0">
                <a:solidFill>
                  <a:srgbClr val="5B7782"/>
                </a:solidFill>
                <a:latin typeface="Calibri" pitchFamily="34" charset="0"/>
                <a:ea typeface="Calibri" pitchFamily="34" charset="-122"/>
                <a:cs typeface="Calibri" pitchFamily="34" charset="-120"/>
              </a:rPr>
              <a:t>›</a:t>
            </a:r>
            <a:endParaRPr lang="en-US" sz="2000" dirty="0"/>
          </a:p>
        </p:txBody>
      </p:sp>
      <p:sp>
        <p:nvSpPr>
          <p:cNvPr id="32" name="Shape 26"/>
          <p:cNvSpPr/>
          <p:nvPr/>
        </p:nvSpPr>
        <p:spPr>
          <a:xfrm>
            <a:off x="548640" y="4315968"/>
            <a:ext cx="8046720" cy="420624"/>
          </a:xfrm>
          <a:prstGeom prst="roundRect">
            <a:avLst>
              <a:gd name="adj" fmla="val 15217"/>
            </a:avLst>
          </a:prstGeom>
          <a:solidFill>
            <a:srgbClr val="EEF6FA"/>
          </a:solidFill>
          <a:ln w="12700">
            <a:solidFill>
              <a:srgbClr val="DCEEF5"/>
            </a:solidFill>
            <a:prstDash val="solid"/>
          </a:ln>
        </p:spPr>
      </p:sp>
      <p:sp>
        <p:nvSpPr>
          <p:cNvPr id="33" name="Text 27"/>
          <p:cNvSpPr/>
          <p:nvPr/>
        </p:nvSpPr>
        <p:spPr>
          <a:xfrm>
            <a:off x="777240" y="4315968"/>
            <a:ext cx="7589520" cy="420624"/>
          </a:xfrm>
          <a:prstGeom prst="rect">
            <a:avLst/>
          </a:prstGeom>
          <a:noFill/>
          <a:ln/>
        </p:spPr>
        <p:txBody>
          <a:bodyPr wrap="square" lIns="0" tIns="0" rIns="0" bIns="0" rtlCol="0" anchor="ctr"/>
          <a:lstStyle/>
          <a:p>
            <a:pPr indent="0" marL="0">
              <a:buNone/>
            </a:pPr>
            <a:r>
              <a:rPr lang="en-US" sz="1100" b="1" dirty="0">
                <a:solidFill>
                  <a:srgbClr val="1C7293"/>
                </a:solidFill>
                <a:latin typeface="Calibri" pitchFamily="34" charset="0"/>
                <a:ea typeface="Calibri" pitchFamily="34" charset="-122"/>
                <a:cs typeface="Calibri" pitchFamily="34" charset="-120"/>
              </a:rPr>
              <a:t>For the technical workshop:  </a:t>
            </a:r>
            <a:pPr indent="0" marL="0">
              <a:buNone/>
            </a:pPr>
            <a:r>
              <a:rPr lang="en-US" sz="1100" dirty="0">
                <a:solidFill>
                  <a:srgbClr val="5B7782"/>
                </a:solidFill>
                <a:latin typeface="Calibri" pitchFamily="34" charset="0"/>
                <a:ea typeface="Calibri" pitchFamily="34" charset="-122"/>
                <a:cs typeface="Calibri" pitchFamily="34" charset="-120"/>
              </a:rPr>
              <a:t>you'll set the weightings, write the conditions, and tune the thresholds behind each method.</a:t>
            </a:r>
            <a:endParaRPr lang="en-US" sz="1100" dirty="0"/>
          </a:p>
        </p:txBody>
      </p:sp>
      <p:sp>
        <p:nvSpPr>
          <p:cNvPr id="34" name="Text 28"/>
          <p:cNvSpPr/>
          <p:nvPr/>
        </p:nvSpPr>
        <p:spPr>
          <a:xfrm>
            <a:off x="8458200" y="4736592"/>
            <a:ext cx="365760" cy="274320"/>
          </a:xfrm>
          <a:prstGeom prst="rect">
            <a:avLst/>
          </a:prstGeom>
          <a:noFill/>
          <a:ln/>
        </p:spPr>
        <p:txBody>
          <a:bodyPr wrap="square" lIns="0" tIns="0" rIns="0" bIns="0" rtlCol="0" anchor="ctr"/>
          <a:lstStyle/>
          <a:p>
            <a:pPr algn="r" indent="0" marL="0">
              <a:buNone/>
            </a:pPr>
            <a:r>
              <a:rPr lang="en-US" sz="900" dirty="0">
                <a:solidFill>
                  <a:srgbClr val="5B7782"/>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333F"/>
        </a:solidFill>
      </p:bgPr>
    </p:bg>
    <p:spTree>
      <p:nvGrpSpPr>
        <p:cNvPr id="1" name=""/>
        <p:cNvGrpSpPr/>
        <p:nvPr/>
      </p:nvGrpSpPr>
      <p:grpSpPr>
        <a:xfrm>
          <a:off x="0" y="0"/>
          <a:ext cx="0" cy="0"/>
          <a:chOff x="0" y="0"/>
          <a:chExt cx="0" cy="0"/>
        </a:xfrm>
      </p:grpSpPr>
      <p:sp>
        <p:nvSpPr>
          <p:cNvPr id="2" name="Shape 0"/>
          <p:cNvSpPr/>
          <p:nvPr/>
        </p:nvSpPr>
        <p:spPr>
          <a:xfrm>
            <a:off x="-1645920" y="3108960"/>
            <a:ext cx="3840480" cy="3840480"/>
          </a:xfrm>
          <a:prstGeom prst="ellipse">
            <a:avLst/>
          </a:prstGeom>
          <a:solidFill>
            <a:srgbClr val="0A3D52"/>
          </a:solidFill>
          <a:ln/>
        </p:spPr>
      </p:sp>
      <p:sp>
        <p:nvSpPr>
          <p:cNvPr id="3" name="Shape 1"/>
          <p:cNvSpPr/>
          <p:nvPr/>
        </p:nvSpPr>
        <p:spPr>
          <a:xfrm>
            <a:off x="-1005840" y="3749040"/>
            <a:ext cx="2468880" cy="2468880"/>
          </a:xfrm>
          <a:prstGeom prst="ellipse">
            <a:avLst/>
          </a:prstGeom>
          <a:solidFill>
            <a:srgbClr val="1C7293"/>
          </a:solidFill>
          <a:ln/>
        </p:spPr>
      </p:sp>
      <p:sp>
        <p:nvSpPr>
          <p:cNvPr id="4" name="Text 2"/>
          <p:cNvSpPr/>
          <p:nvPr/>
        </p:nvSpPr>
        <p:spPr>
          <a:xfrm>
            <a:off x="548640" y="384048"/>
            <a:ext cx="8046720" cy="292608"/>
          </a:xfrm>
          <a:prstGeom prst="rect">
            <a:avLst/>
          </a:prstGeom>
          <a:noFill/>
          <a:ln/>
        </p:spPr>
        <p:txBody>
          <a:bodyPr wrap="square" lIns="0" tIns="0" rIns="0" bIns="0" rtlCol="0" anchor="ctr"/>
          <a:lstStyle/>
          <a:p>
            <a:pPr algn="l" indent="0" marL="0">
              <a:buNone/>
            </a:pPr>
            <a:r>
              <a:rPr lang="en-US" sz="1150" b="1" spc="300" kern="0" dirty="0">
                <a:solidFill>
                  <a:srgbClr val="2EC4B6"/>
                </a:solidFill>
                <a:latin typeface="Calibri" pitchFamily="34" charset="0"/>
                <a:ea typeface="Calibri" pitchFamily="34" charset="-122"/>
                <a:cs typeface="Calibri" pitchFamily="34" charset="-120"/>
              </a:rPr>
              <a:t>PUTTING METHODS TOGETHER</a:t>
            </a:r>
            <a:endParaRPr lang="en-US" sz="1150" dirty="0"/>
          </a:p>
        </p:txBody>
      </p:sp>
      <p:sp>
        <p:nvSpPr>
          <p:cNvPr id="5" name="Text 3"/>
          <p:cNvSpPr/>
          <p:nvPr/>
        </p:nvSpPr>
        <p:spPr>
          <a:xfrm>
            <a:off x="548640" y="658368"/>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Bookman Old Style" pitchFamily="34" charset="0"/>
                <a:ea typeface="Bookman Old Style" pitchFamily="34" charset="-122"/>
                <a:cs typeface="Bookman Old Style" pitchFamily="34" charset="-120"/>
              </a:rPr>
              <a:t>Dictionaries + Patterns = Policies</a:t>
            </a:r>
            <a:endParaRPr lang="en-US" sz="2800" dirty="0"/>
          </a:p>
        </p:txBody>
      </p:sp>
      <p:sp>
        <p:nvSpPr>
          <p:cNvPr id="6" name="Text 4"/>
          <p:cNvSpPr/>
          <p:nvPr/>
        </p:nvSpPr>
        <p:spPr>
          <a:xfrm>
            <a:off x="548640" y="1243584"/>
            <a:ext cx="8138160" cy="566928"/>
          </a:xfrm>
          <a:prstGeom prst="rect">
            <a:avLst/>
          </a:prstGeom>
          <a:noFill/>
          <a:ln/>
        </p:spPr>
        <p:txBody>
          <a:bodyPr wrap="square" lIns="0" tIns="0" rIns="0" bIns="0" rtlCol="0" anchor="ctr"/>
          <a:lstStyle/>
          <a:p>
            <a:pPr indent="0" marL="0">
              <a:lnSpc>
                <a:spcPct val="106000"/>
              </a:lnSpc>
              <a:buNone/>
            </a:pPr>
            <a:r>
              <a:rPr lang="en-US" sz="1350" dirty="0">
                <a:solidFill>
                  <a:srgbClr val="C9DEE8"/>
                </a:solidFill>
                <a:latin typeface="Calibri" pitchFamily="34" charset="0"/>
                <a:ea typeface="Calibri" pitchFamily="34" charset="-122"/>
                <a:cs typeface="Calibri" pitchFamily="34" charset="-120"/>
              </a:rPr>
              <a:t>A policy isn’t something you pick off a shelf — it’s simply the dictionaries and patterns you select for a run. Choose the methods that fit your data, and that selection is your policy.</a:t>
            </a:r>
            <a:endParaRPr lang="en-US" sz="1350" dirty="0"/>
          </a:p>
        </p:txBody>
      </p:sp>
      <p:sp>
        <p:nvSpPr>
          <p:cNvPr id="7" name="Shape 5"/>
          <p:cNvSpPr/>
          <p:nvPr/>
        </p:nvSpPr>
        <p:spPr>
          <a:xfrm>
            <a:off x="548640" y="2148840"/>
            <a:ext cx="2286000" cy="1078992"/>
          </a:xfrm>
          <a:prstGeom prst="roundRect">
            <a:avLst>
              <a:gd name="adj" fmla="val 8475"/>
            </a:avLst>
          </a:prstGeom>
          <a:solidFill>
            <a:srgbClr val="FFFFFF"/>
          </a:solidFill>
          <a:ln/>
          <a:effectLst>
            <a:outerShdw sx="100000" sy="100000" kx="0" ky="0" algn="bl" rotWithShape="0" blurRad="88900" dist="38100" dir="5400000">
              <a:srgbClr val="0B1B2B">
                <a:alpha val="16000"/>
              </a:srgbClr>
            </a:outerShdw>
          </a:effectLst>
        </p:spPr>
      </p:sp>
      <p:sp>
        <p:nvSpPr>
          <p:cNvPr id="8" name="Shape 6"/>
          <p:cNvSpPr/>
          <p:nvPr/>
        </p:nvSpPr>
        <p:spPr>
          <a:xfrm>
            <a:off x="1408176" y="2295144"/>
            <a:ext cx="566928" cy="566928"/>
          </a:xfrm>
          <a:prstGeom prst="ellipse">
            <a:avLst/>
          </a:prstGeom>
          <a:solidFill>
            <a:srgbClr val="1C7293"/>
          </a:solidFill>
          <a:ln/>
          <a:effectLst>
            <a:outerShdw sx="100000" sy="100000" kx="0" ky="0" algn="bl" rotWithShape="0" blurRad="88900" dist="38100" dir="5400000">
              <a:srgbClr val="0B1B2B">
                <a:alpha val="16000"/>
              </a:srgbClr>
            </a:outerShdw>
          </a:effectLst>
        </p:spPr>
      </p:sp>
      <p:pic>
        <p:nvPicPr>
          <p:cNvPr id="9" name="Image 0" descr="preencoded.png">    </p:cNvPr>
          <p:cNvPicPr>
            <a:picLocks noChangeAspect="1"/>
          </p:cNvPicPr>
          <p:nvPr/>
        </p:nvPicPr>
        <p:blipFill>
          <a:blip r:embed="rId1"/>
          <a:stretch>
            <a:fillRect/>
          </a:stretch>
        </p:blipFill>
        <p:spPr>
          <a:xfrm>
            <a:off x="1561247" y="2448215"/>
            <a:ext cx="260787" cy="260787"/>
          </a:xfrm>
          <a:prstGeom prst="rect">
            <a:avLst/>
          </a:prstGeom>
        </p:spPr>
      </p:pic>
      <p:sp>
        <p:nvSpPr>
          <p:cNvPr id="10" name="Text 7"/>
          <p:cNvSpPr/>
          <p:nvPr/>
        </p:nvSpPr>
        <p:spPr>
          <a:xfrm>
            <a:off x="548640" y="2898648"/>
            <a:ext cx="2286000" cy="274320"/>
          </a:xfrm>
          <a:prstGeom prst="rect">
            <a:avLst/>
          </a:prstGeom>
          <a:noFill/>
          <a:ln/>
        </p:spPr>
        <p:txBody>
          <a:bodyPr wrap="square" lIns="0" tIns="0" rIns="0" bIns="0" rtlCol="0" anchor="ctr"/>
          <a:lstStyle/>
          <a:p>
            <a:pPr algn="ctr" indent="0" marL="0">
              <a:buNone/>
            </a:pPr>
            <a:r>
              <a:rPr lang="en-US" sz="1250" b="1" dirty="0">
                <a:solidFill>
                  <a:srgbClr val="14333F"/>
                </a:solidFill>
                <a:latin typeface="Calibri" pitchFamily="34" charset="0"/>
                <a:ea typeface="Calibri" pitchFamily="34" charset="-122"/>
                <a:cs typeface="Calibri" pitchFamily="34" charset="-120"/>
              </a:rPr>
              <a:t>Dictionaries</a:t>
            </a:r>
            <a:endParaRPr lang="en-US" sz="1250" dirty="0"/>
          </a:p>
        </p:txBody>
      </p:sp>
      <p:sp>
        <p:nvSpPr>
          <p:cNvPr id="11" name="Text 8"/>
          <p:cNvSpPr/>
          <p:nvPr/>
        </p:nvSpPr>
        <p:spPr>
          <a:xfrm>
            <a:off x="2834640" y="2148840"/>
            <a:ext cx="548640" cy="1078992"/>
          </a:xfrm>
          <a:prstGeom prst="rect">
            <a:avLst/>
          </a:prstGeom>
          <a:noFill/>
          <a:ln/>
        </p:spPr>
        <p:txBody>
          <a:bodyPr wrap="square" lIns="0" tIns="0" rIns="0" bIns="0" rtlCol="0" anchor="ctr"/>
          <a:lstStyle/>
          <a:p>
            <a:pPr algn="ctr" indent="0" marL="0">
              <a:buNone/>
            </a:pPr>
            <a:r>
              <a:rPr lang="en-US" sz="3000" b="1" dirty="0">
                <a:solidFill>
                  <a:srgbClr val="2EC4B6"/>
                </a:solidFill>
                <a:latin typeface="Bookman Old Style" pitchFamily="34" charset="0"/>
                <a:ea typeface="Bookman Old Style" pitchFamily="34" charset="-122"/>
                <a:cs typeface="Bookman Old Style" pitchFamily="34" charset="-120"/>
              </a:rPr>
              <a:t>+</a:t>
            </a:r>
            <a:endParaRPr lang="en-US" sz="3000" dirty="0"/>
          </a:p>
        </p:txBody>
      </p:sp>
      <p:sp>
        <p:nvSpPr>
          <p:cNvPr id="12" name="Shape 9"/>
          <p:cNvSpPr/>
          <p:nvPr/>
        </p:nvSpPr>
        <p:spPr>
          <a:xfrm>
            <a:off x="3383280" y="2148840"/>
            <a:ext cx="2286000" cy="1078992"/>
          </a:xfrm>
          <a:prstGeom prst="roundRect">
            <a:avLst>
              <a:gd name="adj" fmla="val 8475"/>
            </a:avLst>
          </a:prstGeom>
          <a:solidFill>
            <a:srgbClr val="FFFFFF"/>
          </a:solidFill>
          <a:ln/>
          <a:effectLst>
            <a:outerShdw sx="100000" sy="100000" kx="0" ky="0" algn="bl" rotWithShape="0" blurRad="88900" dist="38100" dir="5400000">
              <a:srgbClr val="0B1B2B">
                <a:alpha val="16000"/>
              </a:srgbClr>
            </a:outerShdw>
          </a:effectLst>
        </p:spPr>
      </p:sp>
      <p:sp>
        <p:nvSpPr>
          <p:cNvPr id="13" name="Shape 10"/>
          <p:cNvSpPr/>
          <p:nvPr/>
        </p:nvSpPr>
        <p:spPr>
          <a:xfrm>
            <a:off x="4242816" y="2295144"/>
            <a:ext cx="566928" cy="566928"/>
          </a:xfrm>
          <a:prstGeom prst="ellipse">
            <a:avLst/>
          </a:prstGeom>
          <a:solidFill>
            <a:srgbClr val="1C7293"/>
          </a:solidFill>
          <a:ln/>
          <a:effectLst>
            <a:outerShdw sx="100000" sy="100000" kx="0" ky="0" algn="bl" rotWithShape="0" blurRad="88900" dist="38100" dir="5400000">
              <a:srgbClr val="0B1B2B">
                <a:alpha val="16000"/>
              </a:srgbClr>
            </a:outerShdw>
          </a:effectLst>
        </p:spPr>
      </p:sp>
      <p:pic>
        <p:nvPicPr>
          <p:cNvPr id="14" name="Image 1" descr="preencoded.png">    </p:cNvPr>
          <p:cNvPicPr>
            <a:picLocks noChangeAspect="1"/>
          </p:cNvPicPr>
          <p:nvPr/>
        </p:nvPicPr>
        <p:blipFill>
          <a:blip r:embed="rId2"/>
          <a:stretch>
            <a:fillRect/>
          </a:stretch>
        </p:blipFill>
        <p:spPr>
          <a:xfrm>
            <a:off x="4395887" y="2448215"/>
            <a:ext cx="260787" cy="260787"/>
          </a:xfrm>
          <a:prstGeom prst="rect">
            <a:avLst/>
          </a:prstGeom>
        </p:spPr>
      </p:pic>
      <p:sp>
        <p:nvSpPr>
          <p:cNvPr id="15" name="Text 11"/>
          <p:cNvSpPr/>
          <p:nvPr/>
        </p:nvSpPr>
        <p:spPr>
          <a:xfrm>
            <a:off x="3383280" y="2898648"/>
            <a:ext cx="2286000" cy="274320"/>
          </a:xfrm>
          <a:prstGeom prst="rect">
            <a:avLst/>
          </a:prstGeom>
          <a:noFill/>
          <a:ln/>
        </p:spPr>
        <p:txBody>
          <a:bodyPr wrap="square" lIns="0" tIns="0" rIns="0" bIns="0" rtlCol="0" anchor="ctr"/>
          <a:lstStyle/>
          <a:p>
            <a:pPr algn="ctr" indent="0" marL="0">
              <a:buNone/>
            </a:pPr>
            <a:r>
              <a:rPr lang="en-US" sz="1250" b="1" dirty="0">
                <a:solidFill>
                  <a:srgbClr val="14333F"/>
                </a:solidFill>
                <a:latin typeface="Calibri" pitchFamily="34" charset="0"/>
                <a:ea typeface="Calibri" pitchFamily="34" charset="-122"/>
                <a:cs typeface="Calibri" pitchFamily="34" charset="-120"/>
              </a:rPr>
              <a:t>Data Patterns</a:t>
            </a:r>
            <a:endParaRPr lang="en-US" sz="1250" dirty="0"/>
          </a:p>
        </p:txBody>
      </p:sp>
      <p:sp>
        <p:nvSpPr>
          <p:cNvPr id="16" name="Text 12"/>
          <p:cNvSpPr/>
          <p:nvPr/>
        </p:nvSpPr>
        <p:spPr>
          <a:xfrm>
            <a:off x="5669280" y="2148840"/>
            <a:ext cx="548640" cy="1078992"/>
          </a:xfrm>
          <a:prstGeom prst="rect">
            <a:avLst/>
          </a:prstGeom>
          <a:noFill/>
          <a:ln/>
        </p:spPr>
        <p:txBody>
          <a:bodyPr wrap="square" lIns="0" tIns="0" rIns="0" bIns="0" rtlCol="0" anchor="ctr"/>
          <a:lstStyle/>
          <a:p>
            <a:pPr algn="ctr" indent="0" marL="0">
              <a:buNone/>
            </a:pPr>
            <a:r>
              <a:rPr lang="en-US" sz="3000" b="1" dirty="0">
                <a:solidFill>
                  <a:srgbClr val="2EC4B6"/>
                </a:solidFill>
                <a:latin typeface="Bookman Old Style" pitchFamily="34" charset="0"/>
                <a:ea typeface="Bookman Old Style" pitchFamily="34" charset="-122"/>
                <a:cs typeface="Bookman Old Style" pitchFamily="34" charset="-120"/>
              </a:rPr>
              <a:t>=</a:t>
            </a:r>
            <a:endParaRPr lang="en-US" sz="3000" dirty="0"/>
          </a:p>
        </p:txBody>
      </p:sp>
      <p:sp>
        <p:nvSpPr>
          <p:cNvPr id="17" name="Shape 13"/>
          <p:cNvSpPr/>
          <p:nvPr/>
        </p:nvSpPr>
        <p:spPr>
          <a:xfrm>
            <a:off x="6217920" y="2148840"/>
            <a:ext cx="2377440" cy="1078992"/>
          </a:xfrm>
          <a:prstGeom prst="roundRect">
            <a:avLst>
              <a:gd name="adj" fmla="val 8475"/>
            </a:avLst>
          </a:prstGeom>
          <a:solidFill>
            <a:srgbClr val="2EC4B6"/>
          </a:solidFill>
          <a:ln/>
          <a:effectLst>
            <a:outerShdw sx="100000" sy="100000" kx="0" ky="0" algn="bl" rotWithShape="0" blurRad="88900" dist="38100" dir="5400000">
              <a:srgbClr val="0B1B2B">
                <a:alpha val="16000"/>
              </a:srgbClr>
            </a:outerShdw>
          </a:effectLst>
        </p:spPr>
      </p:sp>
      <p:sp>
        <p:nvSpPr>
          <p:cNvPr id="18" name="Shape 14"/>
          <p:cNvSpPr/>
          <p:nvPr/>
        </p:nvSpPr>
        <p:spPr>
          <a:xfrm>
            <a:off x="7123176" y="2295144"/>
            <a:ext cx="566928" cy="566928"/>
          </a:xfrm>
          <a:prstGeom prst="ellipse">
            <a:avLst/>
          </a:prstGeom>
          <a:solidFill>
            <a:srgbClr val="2EC4B6"/>
          </a:solidFill>
          <a:ln/>
          <a:effectLst>
            <a:outerShdw sx="100000" sy="100000" kx="0" ky="0" algn="bl" rotWithShape="0" blurRad="88900" dist="38100" dir="5400000">
              <a:srgbClr val="0B1B2B">
                <a:alpha val="16000"/>
              </a:srgbClr>
            </a:outerShdw>
          </a:effectLst>
        </p:spPr>
      </p:sp>
      <p:pic>
        <p:nvPicPr>
          <p:cNvPr id="19" name="Image 2" descr="preencoded.png">    </p:cNvPr>
          <p:cNvPicPr>
            <a:picLocks noChangeAspect="1"/>
          </p:cNvPicPr>
          <p:nvPr/>
        </p:nvPicPr>
        <p:blipFill>
          <a:blip r:embed="rId3"/>
          <a:stretch>
            <a:fillRect/>
          </a:stretch>
        </p:blipFill>
        <p:spPr>
          <a:xfrm>
            <a:off x="7276247" y="2448215"/>
            <a:ext cx="260787" cy="260787"/>
          </a:xfrm>
          <a:prstGeom prst="rect">
            <a:avLst/>
          </a:prstGeom>
        </p:spPr>
      </p:pic>
      <p:sp>
        <p:nvSpPr>
          <p:cNvPr id="20" name="Text 15"/>
          <p:cNvSpPr/>
          <p:nvPr/>
        </p:nvSpPr>
        <p:spPr>
          <a:xfrm>
            <a:off x="6217920" y="2898648"/>
            <a:ext cx="2377440" cy="274320"/>
          </a:xfrm>
          <a:prstGeom prst="rect">
            <a:avLst/>
          </a:prstGeom>
          <a:noFill/>
          <a:ln/>
        </p:spPr>
        <p:txBody>
          <a:bodyPr wrap="square" lIns="0" tIns="0" rIns="0" bIns="0" rtlCol="0" anchor="ctr"/>
          <a:lstStyle/>
          <a:p>
            <a:pPr algn="ctr" indent="0" marL="0">
              <a:buNone/>
            </a:pPr>
            <a:r>
              <a:rPr lang="en-US" sz="1250" b="1" dirty="0">
                <a:solidFill>
                  <a:srgbClr val="14333F"/>
                </a:solidFill>
                <a:latin typeface="Calibri" pitchFamily="34" charset="0"/>
                <a:ea typeface="Calibri" pitchFamily="34" charset="-122"/>
                <a:cs typeface="Calibri" pitchFamily="34" charset="-120"/>
              </a:rPr>
              <a:t>Policy</a:t>
            </a:r>
            <a:endParaRPr lang="en-US" sz="1250" dirty="0"/>
          </a:p>
        </p:txBody>
      </p:sp>
      <p:sp>
        <p:nvSpPr>
          <p:cNvPr id="21" name="Text 16"/>
          <p:cNvSpPr/>
          <p:nvPr/>
        </p:nvSpPr>
        <p:spPr>
          <a:xfrm>
            <a:off x="548640" y="3584448"/>
            <a:ext cx="8046720" cy="256032"/>
          </a:xfrm>
          <a:prstGeom prst="rect">
            <a:avLst/>
          </a:prstGeom>
          <a:noFill/>
          <a:ln/>
        </p:spPr>
        <p:txBody>
          <a:bodyPr wrap="square" lIns="0" tIns="0" rIns="0" bIns="0" rtlCol="0" anchor="ctr"/>
          <a:lstStyle/>
          <a:p>
            <a:pPr indent="0" marL="0">
              <a:buNone/>
            </a:pPr>
            <a:r>
              <a:rPr lang="en-US" sz="1050" b="1" spc="200" kern="0" dirty="0">
                <a:solidFill>
                  <a:srgbClr val="2EC4B6"/>
                </a:solidFill>
                <a:latin typeface="Calibri" pitchFamily="34" charset="0"/>
                <a:ea typeface="Calibri" pitchFamily="34" charset="-122"/>
                <a:cs typeface="Calibri" pitchFamily="34" charset="-120"/>
              </a:rPr>
              <a:t>BUILD IT AT ‘SELECT METHODS’</a:t>
            </a:r>
            <a:endParaRPr lang="en-US" sz="1050" dirty="0"/>
          </a:p>
        </p:txBody>
      </p:sp>
      <p:sp>
        <p:nvSpPr>
          <p:cNvPr id="22" name="Shape 17"/>
          <p:cNvSpPr/>
          <p:nvPr/>
        </p:nvSpPr>
        <p:spPr>
          <a:xfrm>
            <a:off x="548640" y="3877056"/>
            <a:ext cx="8046720" cy="822960"/>
          </a:xfrm>
          <a:prstGeom prst="roundRect">
            <a:avLst>
              <a:gd name="adj" fmla="val 11111"/>
            </a:avLst>
          </a:prstGeom>
          <a:solidFill>
            <a:srgbClr val="0B1B2B"/>
          </a:solidFill>
          <a:ln/>
        </p:spPr>
      </p:sp>
      <p:sp>
        <p:nvSpPr>
          <p:cNvPr id="23" name="Text 18"/>
          <p:cNvSpPr/>
          <p:nvPr/>
        </p:nvSpPr>
        <p:spPr>
          <a:xfrm>
            <a:off x="822960" y="3877056"/>
            <a:ext cx="7498080" cy="822960"/>
          </a:xfrm>
          <a:prstGeom prst="rect">
            <a:avLst/>
          </a:prstGeom>
          <a:noFill/>
          <a:ln/>
        </p:spPr>
        <p:txBody>
          <a:bodyPr wrap="square" lIns="0" tIns="0" rIns="0" bIns="0" rtlCol="0" anchor="ctr"/>
          <a:lstStyle/>
          <a:p>
            <a:pPr indent="0" marL="0">
              <a:lnSpc>
                <a:spcPct val="110000"/>
              </a:lnSpc>
              <a:buNone/>
            </a:pPr>
            <a:r>
              <a:rPr lang="en-US" sz="1250" dirty="0">
                <a:solidFill>
                  <a:srgbClr val="C9DEE8"/>
                </a:solidFill>
                <a:latin typeface="Calibri" pitchFamily="34" charset="0"/>
                <a:ea typeface="Calibri" pitchFamily="34" charset="-122"/>
                <a:cs typeface="Calibri" pitchFamily="34" charset="-120"/>
              </a:rPr>
              <a:t>Pick any mix of dictionaries and patterns — the built-in methods plus your own, like the </a:t>
            </a:r>
            <a:pPr indent="0" marL="0">
              <a:lnSpc>
                <a:spcPct val="110000"/>
              </a:lnSpc>
              <a:buNone/>
            </a:pPr>
            <a:r>
              <a:rPr lang="en-US" sz="1250" b="1" dirty="0">
                <a:solidFill>
                  <a:srgbClr val="2EC4B6"/>
                </a:solidFill>
                <a:latin typeface="Calibri" pitchFamily="34" charset="0"/>
                <a:ea typeface="Calibri" pitchFamily="34" charset="-122"/>
                <a:cs typeface="Calibri" pitchFamily="34" charset="-120"/>
              </a:rPr>
              <a:t>AWC Service Cities</a:t>
            </a:r>
            <a:pPr indent="0" marL="0">
              <a:lnSpc>
                <a:spcPct val="110000"/>
              </a:lnSpc>
              <a:buNone/>
            </a:pPr>
            <a:r>
              <a:rPr lang="en-US" sz="1250" dirty="0">
                <a:solidFill>
                  <a:srgbClr val="C9DEE8"/>
                </a:solidFill>
                <a:latin typeface="Calibri" pitchFamily="34" charset="0"/>
                <a:ea typeface="Calibri" pitchFamily="34" charset="-122"/>
                <a:cs typeface="Calibri" pitchFamily="34" charset="-120"/>
              </a:rPr>
              <a:t> dictionary and </a:t>
            </a:r>
            <a:pPr indent="0" marL="0">
              <a:lnSpc>
                <a:spcPct val="110000"/>
              </a:lnSpc>
              <a:buNone/>
            </a:pPr>
            <a:r>
              <a:rPr lang="en-US" sz="1250" b="1" dirty="0">
                <a:solidFill>
                  <a:srgbClr val="2EC4B6"/>
                </a:solidFill>
                <a:latin typeface="Calibri" pitchFamily="34" charset="0"/>
                <a:ea typeface="Calibri" pitchFamily="34" charset="-122"/>
                <a:cs typeface="Calibri" pitchFamily="34" charset="-120"/>
              </a:rPr>
              <a:t>Account Reference</a:t>
            </a:r>
            <a:pPr indent="0" marL="0">
              <a:lnSpc>
                <a:spcPct val="110000"/>
              </a:lnSpc>
              <a:buNone/>
            </a:pPr>
            <a:r>
              <a:rPr lang="en-US" sz="1250" dirty="0">
                <a:solidFill>
                  <a:srgbClr val="C9DEE8"/>
                </a:solidFill>
                <a:latin typeface="Calibri" pitchFamily="34" charset="0"/>
                <a:ea typeface="Calibri" pitchFamily="34" charset="-122"/>
                <a:cs typeface="Calibri" pitchFamily="34" charset="-120"/>
              </a:rPr>
              <a:t> pattern. Apply, run, then review in the Data Canvas and Galaxy View.</a:t>
            </a:r>
            <a:endParaRPr lang="en-US" sz="1250" dirty="0"/>
          </a:p>
        </p:txBody>
      </p:sp>
      <p:sp>
        <p:nvSpPr>
          <p:cNvPr id="24" name="Text 19"/>
          <p:cNvSpPr/>
          <p:nvPr/>
        </p:nvSpPr>
        <p:spPr>
          <a:xfrm>
            <a:off x="8458200" y="4736592"/>
            <a:ext cx="365760" cy="274320"/>
          </a:xfrm>
          <a:prstGeom prst="rect">
            <a:avLst/>
          </a:prstGeom>
          <a:noFill/>
          <a:ln/>
        </p:spPr>
        <p:txBody>
          <a:bodyPr wrap="square" lIns="0" tIns="0" rIns="0" bIns="0" rtlCol="0" anchor="ctr"/>
          <a:lstStyle/>
          <a:p>
            <a:pPr algn="r" indent="0" marL="0">
              <a:buNone/>
            </a:pPr>
            <a:r>
              <a:rPr lang="en-US" sz="900" dirty="0">
                <a:solidFill>
                  <a:srgbClr val="C9DEE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512064" cy="512064"/>
          </a:xfrm>
          <a:prstGeom prst="ellipse">
            <a:avLst/>
          </a:prstGeom>
          <a:solidFill>
            <a:srgbClr val="1C7293"/>
          </a:solidFill>
          <a:ln/>
          <a:effectLst>
            <a:outerShdw sx="100000" sy="100000" kx="0" ky="0" algn="bl" rotWithShape="0" blurRad="88900" dist="38100" dir="5400000">
              <a:srgbClr val="0B1B2B">
                <a:alpha val="16000"/>
              </a:srgbClr>
            </a:outerShdw>
          </a:effectLst>
        </p:spPr>
      </p:sp>
      <p:pic>
        <p:nvPicPr>
          <p:cNvPr id="3" name="Image 0" descr="preencoded.png">    </p:cNvPr>
          <p:cNvPicPr>
            <a:picLocks noChangeAspect="1"/>
          </p:cNvPicPr>
          <p:nvPr/>
        </p:nvPicPr>
        <p:blipFill>
          <a:blip r:embed="rId1"/>
          <a:stretch>
            <a:fillRect/>
          </a:stretch>
        </p:blipFill>
        <p:spPr>
          <a:xfrm>
            <a:off x="686897" y="504017"/>
            <a:ext cx="235549" cy="235549"/>
          </a:xfrm>
          <a:prstGeom prst="rect">
            <a:avLst/>
          </a:prstGeom>
        </p:spPr>
      </p:pic>
      <p:sp>
        <p:nvSpPr>
          <p:cNvPr id="4" name="Text 1"/>
          <p:cNvSpPr/>
          <p:nvPr/>
        </p:nvSpPr>
        <p:spPr>
          <a:xfrm>
            <a:off x="1170432" y="365760"/>
            <a:ext cx="7315200" cy="292608"/>
          </a:xfrm>
          <a:prstGeom prst="rect">
            <a:avLst/>
          </a:prstGeom>
          <a:noFill/>
          <a:ln/>
        </p:spPr>
        <p:txBody>
          <a:bodyPr wrap="square" lIns="0" tIns="0" rIns="0" bIns="0" rtlCol="0" anchor="ctr"/>
          <a:lstStyle/>
          <a:p>
            <a:pPr algn="l" indent="0" marL="0">
              <a:buNone/>
            </a:pPr>
            <a:r>
              <a:rPr lang="en-US" sz="1150" b="1" spc="300" kern="0" dirty="0">
                <a:solidFill>
                  <a:srgbClr val="1C7293"/>
                </a:solidFill>
                <a:latin typeface="Calibri" pitchFamily="34" charset="0"/>
                <a:ea typeface="Calibri" pitchFamily="34" charset="-122"/>
                <a:cs typeface="Calibri" pitchFamily="34" charset="-120"/>
              </a:rPr>
              <a:t>ARIZONA WATER COMPANY · STRUCTURED DATA</a:t>
            </a:r>
            <a:endParaRPr lang="en-US" sz="1150" dirty="0"/>
          </a:p>
        </p:txBody>
      </p:sp>
      <p:sp>
        <p:nvSpPr>
          <p:cNvPr id="5" name="Text 2"/>
          <p:cNvSpPr/>
          <p:nvPr/>
        </p:nvSpPr>
        <p:spPr>
          <a:xfrm>
            <a:off x="548640" y="868680"/>
            <a:ext cx="8229600" cy="502920"/>
          </a:xfrm>
          <a:prstGeom prst="rect">
            <a:avLst/>
          </a:prstGeom>
          <a:noFill/>
          <a:ln/>
        </p:spPr>
        <p:txBody>
          <a:bodyPr wrap="square" lIns="0" tIns="0" rIns="0" bIns="0" rtlCol="0" anchor="ctr"/>
          <a:lstStyle/>
          <a:p>
            <a:pPr indent="0" marL="0">
              <a:buNone/>
            </a:pPr>
            <a:r>
              <a:rPr lang="en-US" sz="2700" b="1" dirty="0">
                <a:solidFill>
                  <a:srgbClr val="14333F"/>
                </a:solidFill>
                <a:latin typeface="Bookman Old Style" pitchFamily="34" charset="0"/>
                <a:ea typeface="Bookman Old Style" pitchFamily="34" charset="-122"/>
                <a:cs typeface="Bookman Old Style" pitchFamily="34" charset="-120"/>
              </a:rPr>
              <a:t>Identifying the customers table</a:t>
            </a:r>
            <a:endParaRPr lang="en-US" sz="2700" dirty="0"/>
          </a:p>
        </p:txBody>
      </p:sp>
      <p:sp>
        <p:nvSpPr>
          <p:cNvPr id="6" name="Text 3"/>
          <p:cNvSpPr/>
          <p:nvPr/>
        </p:nvSpPr>
        <p:spPr>
          <a:xfrm>
            <a:off x="548640" y="1389888"/>
            <a:ext cx="8138160" cy="566928"/>
          </a:xfrm>
          <a:prstGeom prst="rect">
            <a:avLst/>
          </a:prstGeom>
          <a:noFill/>
          <a:ln/>
        </p:spPr>
        <p:txBody>
          <a:bodyPr wrap="square" lIns="0" tIns="0" rIns="0" bIns="0" rtlCol="0" anchor="ctr"/>
          <a:lstStyle/>
          <a:p>
            <a:pPr indent="0" marL="0">
              <a:lnSpc>
                <a:spcPct val="105000"/>
              </a:lnSpc>
              <a:buNone/>
            </a:pPr>
            <a:r>
              <a:rPr lang="en-US" sz="1250" dirty="0">
                <a:solidFill>
                  <a:srgbClr val="5B7782"/>
                </a:solidFill>
                <a:latin typeface="Calibri" pitchFamily="34" charset="0"/>
                <a:ea typeface="Calibri" pitchFamily="34" charset="-122"/>
                <a:cs typeface="Calibri" pitchFamily="34" charset="-120"/>
              </a:rPr>
              <a:t>Run Data Identification on the profiled customers table (awc_operations), selecting the dictionaries and patterns that fit its columns. Each personal-data column is caught by the method that suits it, then tagged and linked to its Workshop 3 business term.</a:t>
            </a:r>
            <a:endParaRPr lang="en-US" sz="12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2121408"/>
          <a:ext cx="8046720" cy="914400"/>
        </p:xfrm>
        <a:graphic>
          <a:graphicData uri="http://schemas.openxmlformats.org/drawingml/2006/table">
            <a:tbl>
              <a:tblPr/>
              <a:tblGrid>
                <a:gridCol w="1783080"/>
                <a:gridCol w="1600200"/>
                <a:gridCol w="2743200"/>
                <a:gridCol w="1920240"/>
              </a:tblGrid>
              <a:tr h="384048">
                <a:tc>
                  <a:txBody>
                    <a:bodyPr/>
                    <a:lstStyle/>
                    <a:p>
                      <a:pPr algn="l" indent="0" marL="0">
                        <a:buNone/>
                      </a:pPr>
                      <a:r>
                        <a:rPr lang="en-US" sz="1150" b="1" dirty="0">
                          <a:solidFill>
                            <a:srgbClr val="FFFFFF"/>
                          </a:solidFill>
                          <a:latin typeface="Courier New" pitchFamily="34" charset="0"/>
                          <a:ea typeface="Courier New" pitchFamily="34" charset="-122"/>
                          <a:cs typeface="Courier New" pitchFamily="34" charset="-120"/>
                        </a:rPr>
                        <a:t>Column</a:t>
                      </a:r>
                      <a:endParaRPr lang="en-US" sz="1150" dirty="0">
                        <a:latin typeface="Courier New" charset="0"/>
                        <a:ea typeface="Courier New" charset="0"/>
                        <a:cs typeface="Courier New"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14333F"/>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Method</a:t>
                      </a:r>
                      <a:endParaRPr lang="en-US" sz="115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14333F"/>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Why it matches</a:t>
                      </a:r>
                      <a:endParaRPr lang="en-US" sz="115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14333F"/>
                    </a:solidFill>
                  </a:tcPr>
                </a:tc>
                <a:tc>
                  <a:txBody>
                    <a:bodyPr/>
                    <a:lstStyle/>
                    <a:p>
                      <a:pPr algn="l" indent="0" marL="0">
                        <a:buNone/>
                      </a:pPr>
                      <a:r>
                        <a:rPr lang="en-US" sz="1150" b="1" dirty="0">
                          <a:solidFill>
                            <a:srgbClr val="FFFFFF"/>
                          </a:solidFill>
                          <a:latin typeface="Calibri" pitchFamily="34" charset="0"/>
                          <a:ea typeface="Calibri" pitchFamily="34" charset="-122"/>
                          <a:cs typeface="Calibri" pitchFamily="34" charset="-120"/>
                        </a:rPr>
                        <a:t>Business term</a:t>
                      </a:r>
                      <a:endParaRPr lang="en-US" sz="115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14333F"/>
                    </a:solidFill>
                  </a:tcPr>
                </a:tc>
              </a:tr>
              <a:tr h="384048">
                <a:tc>
                  <a:txBody>
                    <a:bodyPr/>
                    <a:lstStyle/>
                    <a:p>
                      <a:pPr algn="l" indent="0" marL="0">
                        <a:buNone/>
                      </a:pPr>
                      <a:r>
                        <a:rPr lang="en-US" sz="1100" dirty="0">
                          <a:solidFill>
                            <a:srgbClr val="14333F"/>
                          </a:solidFill>
                          <a:latin typeface="Courier New" pitchFamily="34" charset="0"/>
                          <a:ea typeface="Courier New" pitchFamily="34" charset="-122"/>
                          <a:cs typeface="Courier New" pitchFamily="34" charset="-120"/>
                        </a:rPr>
                        <a:t>customer_name</a:t>
                      </a:r>
                      <a:endParaRPr lang="en-US" sz="1100" dirty="0">
                        <a:latin typeface="Courier New" charset="0"/>
                        <a:ea typeface="Courier New" charset="0"/>
                        <a:cs typeface="Courier New"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B7782"/>
                          </a:solidFill>
                          <a:latin typeface="Calibri" pitchFamily="34" charset="0"/>
                          <a:ea typeface="Calibri" pitchFamily="34" charset="-122"/>
                          <a:cs typeface="Calibri" pitchFamily="34" charset="-120"/>
                        </a:rPr>
                        <a:t>Dictionary</a:t>
                      </a:r>
                      <a:endParaRPr lang="en-US" sz="11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c>
                  <a:txBody>
                    <a:bodyPr/>
                    <a:lstStyle/>
                    <a:p>
                      <a:pPr algn="l" indent="0" marL="0">
                        <a:buNone/>
                      </a:pPr>
                      <a:r>
                        <a:rPr lang="en-US" sz="1100" i="1" dirty="0">
                          <a:solidFill>
                            <a:srgbClr val="5B7782"/>
                          </a:solidFill>
                          <a:latin typeface="Calibri" pitchFamily="34" charset="0"/>
                          <a:ea typeface="Calibri" pitchFamily="34" charset="-122"/>
                          <a:cs typeface="Calibri" pitchFamily="34" charset="-120"/>
                        </a:rPr>
                        <a:t>values match name word-lists</a:t>
                      </a:r>
                      <a:endParaRPr lang="en-US" sz="11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C7293"/>
                          </a:solidFill>
                          <a:latin typeface="Calibri" pitchFamily="34" charset="0"/>
                          <a:ea typeface="Calibri" pitchFamily="34" charset="-122"/>
                          <a:cs typeface="Calibri" pitchFamily="34" charset="-120"/>
                        </a:rPr>
                        <a:t>Customer Name</a:t>
                      </a:r>
                      <a:endParaRPr lang="en-US" sz="11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4333F"/>
                          </a:solidFill>
                          <a:latin typeface="Courier New" pitchFamily="34" charset="0"/>
                          <a:ea typeface="Courier New" pitchFamily="34" charset="-122"/>
                          <a:cs typeface="Courier New" pitchFamily="34" charset="-120"/>
                        </a:rPr>
                        <a:t>service_address</a:t>
                      </a:r>
                      <a:endParaRPr lang="en-US" sz="1100" dirty="0">
                        <a:latin typeface="Courier New" charset="0"/>
                        <a:ea typeface="Courier New" charset="0"/>
                        <a:cs typeface="Courier New"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EEF6FA"/>
                    </a:solidFill>
                  </a:tcPr>
                </a:tc>
                <a:tc>
                  <a:txBody>
                    <a:bodyPr/>
                    <a:lstStyle/>
                    <a:p>
                      <a:pPr algn="l" indent="0" marL="0">
                        <a:buNone/>
                      </a:pPr>
                      <a:r>
                        <a:rPr lang="en-US" sz="1100" dirty="0">
                          <a:solidFill>
                            <a:srgbClr val="5B7782"/>
                          </a:solidFill>
                          <a:latin typeface="Calibri" pitchFamily="34" charset="0"/>
                          <a:ea typeface="Calibri" pitchFamily="34" charset="-122"/>
                          <a:cs typeface="Calibri" pitchFamily="34" charset="-120"/>
                        </a:rPr>
                        <a:t>Dictionary + Pattern</a:t>
                      </a:r>
                      <a:endParaRPr lang="en-US" sz="11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EEF6FA"/>
                    </a:solidFill>
                  </a:tcPr>
                </a:tc>
                <a:tc>
                  <a:txBody>
                    <a:bodyPr/>
                    <a:lstStyle/>
                    <a:p>
                      <a:pPr algn="l" indent="0" marL="0">
                        <a:buNone/>
                      </a:pPr>
                      <a:r>
                        <a:rPr lang="en-US" sz="1100" i="1" dirty="0">
                          <a:solidFill>
                            <a:srgbClr val="5B7782"/>
                          </a:solidFill>
                          <a:latin typeface="Calibri" pitchFamily="34" charset="0"/>
                          <a:ea typeface="Calibri" pitchFamily="34" charset="-122"/>
                          <a:cs typeface="Calibri" pitchFamily="34" charset="-120"/>
                        </a:rPr>
                        <a:t>street-type words + house-number shape</a:t>
                      </a:r>
                      <a:endParaRPr lang="en-US" sz="11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EEF6FA"/>
                    </a:solidFill>
                  </a:tcPr>
                </a:tc>
                <a:tc>
                  <a:txBody>
                    <a:bodyPr/>
                    <a:lstStyle/>
                    <a:p>
                      <a:pPr algn="l" indent="0" marL="0">
                        <a:buNone/>
                      </a:pPr>
                      <a:r>
                        <a:rPr lang="en-US" sz="1100" b="1" dirty="0">
                          <a:solidFill>
                            <a:srgbClr val="1C7293"/>
                          </a:solidFill>
                          <a:latin typeface="Calibri" pitchFamily="34" charset="0"/>
                          <a:ea typeface="Calibri" pitchFamily="34" charset="-122"/>
                          <a:cs typeface="Calibri" pitchFamily="34" charset="-120"/>
                        </a:rPr>
                        <a:t>Service Address</a:t>
                      </a:r>
                      <a:endParaRPr lang="en-US" sz="11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EEF6FA"/>
                    </a:solidFill>
                  </a:tcPr>
                </a:tc>
              </a:tr>
              <a:tr h="384048">
                <a:tc>
                  <a:txBody>
                    <a:bodyPr/>
                    <a:lstStyle/>
                    <a:p>
                      <a:pPr algn="l" indent="0" marL="0">
                        <a:buNone/>
                      </a:pPr>
                      <a:r>
                        <a:rPr lang="en-US" sz="1100" dirty="0">
                          <a:solidFill>
                            <a:srgbClr val="14333F"/>
                          </a:solidFill>
                          <a:latin typeface="Courier New" pitchFamily="34" charset="0"/>
                          <a:ea typeface="Courier New" pitchFamily="34" charset="-122"/>
                          <a:cs typeface="Courier New" pitchFamily="34" charset="-120"/>
                        </a:rPr>
                        <a:t>email</a:t>
                      </a:r>
                      <a:endParaRPr lang="en-US" sz="1100" dirty="0">
                        <a:latin typeface="Courier New" charset="0"/>
                        <a:ea typeface="Courier New" charset="0"/>
                        <a:cs typeface="Courier New"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B7782"/>
                          </a:solidFill>
                          <a:latin typeface="Calibri" pitchFamily="34" charset="0"/>
                          <a:ea typeface="Calibri" pitchFamily="34" charset="-122"/>
                          <a:cs typeface="Calibri" pitchFamily="34" charset="-120"/>
                        </a:rPr>
                        <a:t>Pattern</a:t>
                      </a:r>
                      <a:endParaRPr lang="en-US" sz="11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c>
                  <a:txBody>
                    <a:bodyPr/>
                    <a:lstStyle/>
                    <a:p>
                      <a:pPr algn="l" indent="0" marL="0">
                        <a:buNone/>
                      </a:pPr>
                      <a:r>
                        <a:rPr lang="en-US" sz="1100" i="1" dirty="0">
                          <a:solidFill>
                            <a:srgbClr val="5B7782"/>
                          </a:solidFill>
                          <a:latin typeface="Calibri" pitchFamily="34" charset="0"/>
                          <a:ea typeface="Calibri" pitchFamily="34" charset="-122"/>
                          <a:cs typeface="Calibri" pitchFamily="34" charset="-120"/>
                        </a:rPr>
                        <a:t>value fits the email regex shape</a:t>
                      </a:r>
                      <a:endParaRPr lang="en-US" sz="11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C7293"/>
                          </a:solidFill>
                          <a:latin typeface="Calibri" pitchFamily="34" charset="0"/>
                          <a:ea typeface="Calibri" pitchFamily="34" charset="-122"/>
                          <a:cs typeface="Calibri" pitchFamily="34" charset="-120"/>
                        </a:rPr>
                        <a:t>Email Address</a:t>
                      </a:r>
                      <a:endParaRPr lang="en-US" sz="11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r>
              <a:tr h="384048">
                <a:tc>
                  <a:txBody>
                    <a:bodyPr/>
                    <a:lstStyle/>
                    <a:p>
                      <a:pPr algn="l" indent="0" marL="0">
                        <a:buNone/>
                      </a:pPr>
                      <a:r>
                        <a:rPr lang="en-US" sz="1100" dirty="0">
                          <a:solidFill>
                            <a:srgbClr val="14333F"/>
                          </a:solidFill>
                          <a:latin typeface="Courier New" pitchFamily="34" charset="0"/>
                          <a:ea typeface="Courier New" pitchFamily="34" charset="-122"/>
                          <a:cs typeface="Courier New" pitchFamily="34" charset="-120"/>
                        </a:rPr>
                        <a:t>phone</a:t>
                      </a:r>
                      <a:endParaRPr lang="en-US" sz="1100" dirty="0">
                        <a:latin typeface="Courier New" charset="0"/>
                        <a:ea typeface="Courier New" charset="0"/>
                        <a:cs typeface="Courier New"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EEF6FA"/>
                    </a:solidFill>
                  </a:tcPr>
                </a:tc>
                <a:tc>
                  <a:txBody>
                    <a:bodyPr/>
                    <a:lstStyle/>
                    <a:p>
                      <a:pPr algn="l" indent="0" marL="0">
                        <a:buNone/>
                      </a:pPr>
                      <a:r>
                        <a:rPr lang="en-US" sz="1100" dirty="0">
                          <a:solidFill>
                            <a:srgbClr val="5B7782"/>
                          </a:solidFill>
                          <a:latin typeface="Calibri" pitchFamily="34" charset="0"/>
                          <a:ea typeface="Calibri" pitchFamily="34" charset="-122"/>
                          <a:cs typeface="Calibri" pitchFamily="34" charset="-120"/>
                        </a:rPr>
                        <a:t>Pattern</a:t>
                      </a:r>
                      <a:endParaRPr lang="en-US" sz="11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EEF6FA"/>
                    </a:solidFill>
                  </a:tcPr>
                </a:tc>
                <a:tc>
                  <a:txBody>
                    <a:bodyPr/>
                    <a:lstStyle/>
                    <a:p>
                      <a:pPr algn="l" indent="0" marL="0">
                        <a:buNone/>
                      </a:pPr>
                      <a:r>
                        <a:rPr lang="en-US" sz="1100" i="1" dirty="0">
                          <a:solidFill>
                            <a:srgbClr val="5B7782"/>
                          </a:solidFill>
                          <a:latin typeface="Calibri" pitchFamily="34" charset="0"/>
                          <a:ea typeface="Calibri" pitchFamily="34" charset="-122"/>
                          <a:cs typeface="Calibri" pitchFamily="34" charset="-120"/>
                        </a:rPr>
                        <a:t>value fits the phone-number shape</a:t>
                      </a:r>
                      <a:endParaRPr lang="en-US" sz="11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EEF6FA"/>
                    </a:solidFill>
                  </a:tcPr>
                </a:tc>
                <a:tc>
                  <a:txBody>
                    <a:bodyPr/>
                    <a:lstStyle/>
                    <a:p>
                      <a:pPr algn="l" indent="0" marL="0">
                        <a:buNone/>
                      </a:pPr>
                      <a:r>
                        <a:rPr lang="en-US" sz="1100" b="1" dirty="0">
                          <a:solidFill>
                            <a:srgbClr val="1C7293"/>
                          </a:solidFill>
                          <a:latin typeface="Calibri" pitchFamily="34" charset="0"/>
                          <a:ea typeface="Calibri" pitchFamily="34" charset="-122"/>
                          <a:cs typeface="Calibri" pitchFamily="34" charset="-120"/>
                        </a:rPr>
                        <a:t>Phone Number</a:t>
                      </a:r>
                      <a:endParaRPr lang="en-US" sz="11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EEF6FA"/>
                    </a:solidFill>
                  </a:tcPr>
                </a:tc>
              </a:tr>
              <a:tr h="384048">
                <a:tc>
                  <a:txBody>
                    <a:bodyPr/>
                    <a:lstStyle/>
                    <a:p>
                      <a:pPr algn="l" indent="0" marL="0">
                        <a:buNone/>
                      </a:pPr>
                      <a:r>
                        <a:rPr lang="en-US" sz="1100" dirty="0">
                          <a:solidFill>
                            <a:srgbClr val="14333F"/>
                          </a:solidFill>
                          <a:latin typeface="Courier New" pitchFamily="34" charset="0"/>
                          <a:ea typeface="Courier New" pitchFamily="34" charset="-122"/>
                          <a:cs typeface="Courier New" pitchFamily="34" charset="-120"/>
                        </a:rPr>
                        <a:t>opted_out_marketing</a:t>
                      </a:r>
                      <a:endParaRPr lang="en-US" sz="1100" dirty="0">
                        <a:latin typeface="Courier New" charset="0"/>
                        <a:ea typeface="Courier New" charset="0"/>
                        <a:cs typeface="Courier New"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5B7782"/>
                          </a:solidFill>
                          <a:latin typeface="Calibri" pitchFamily="34" charset="0"/>
                          <a:ea typeface="Calibri" pitchFamily="34" charset="-122"/>
                          <a:cs typeface="Calibri" pitchFamily="34" charset="-120"/>
                        </a:rPr>
                        <a:t>Dictionary</a:t>
                      </a:r>
                      <a:endParaRPr lang="en-US" sz="11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c>
                  <a:txBody>
                    <a:bodyPr/>
                    <a:lstStyle/>
                    <a:p>
                      <a:pPr algn="l" indent="0" marL="0">
                        <a:buNone/>
                      </a:pPr>
                      <a:r>
                        <a:rPr lang="en-US" sz="1100" i="1" dirty="0">
                          <a:solidFill>
                            <a:srgbClr val="5B7782"/>
                          </a:solidFill>
                          <a:latin typeface="Calibri" pitchFamily="34" charset="0"/>
                          <a:ea typeface="Calibri" pitchFamily="34" charset="-122"/>
                          <a:cs typeface="Calibri" pitchFamily="34" charset="-120"/>
                        </a:rPr>
                        <a:t>small fixed value set (true / false)</a:t>
                      </a:r>
                      <a:endParaRPr lang="en-US" sz="11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c>
                  <a:txBody>
                    <a:bodyPr/>
                    <a:lstStyle/>
                    <a:p>
                      <a:pPr algn="l" indent="0" marL="0">
                        <a:buNone/>
                      </a:pPr>
                      <a:r>
                        <a:rPr lang="en-US" sz="1100" b="1" dirty="0">
                          <a:solidFill>
                            <a:srgbClr val="1C7293"/>
                          </a:solidFill>
                          <a:latin typeface="Calibri" pitchFamily="34" charset="0"/>
                          <a:ea typeface="Calibri" pitchFamily="34" charset="-122"/>
                          <a:cs typeface="Calibri" pitchFamily="34" charset="-120"/>
                        </a:rPr>
                        <a:t>Marketing Consent</a:t>
                      </a:r>
                      <a:endParaRPr lang="en-US" sz="11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r>
            </a:tbl>
          </a:graphicData>
        </a:graphic>
      </p:graphicFrame>
      <p:sp>
        <p:nvSpPr>
          <p:cNvPr id="8" name="Text 4"/>
          <p:cNvSpPr/>
          <p:nvPr/>
        </p:nvSpPr>
        <p:spPr>
          <a:xfrm>
            <a:off x="548640" y="4590288"/>
            <a:ext cx="8046720" cy="274320"/>
          </a:xfrm>
          <a:prstGeom prst="rect">
            <a:avLst/>
          </a:prstGeom>
          <a:noFill/>
          <a:ln/>
        </p:spPr>
        <p:txBody>
          <a:bodyPr wrap="square" lIns="0" tIns="0" rIns="0" bIns="0" rtlCol="0" anchor="ctr"/>
          <a:lstStyle/>
          <a:p>
            <a:pPr indent="0" marL="0">
              <a:buNone/>
            </a:pPr>
            <a:r>
              <a:rPr lang="en-US" sz="950" i="1" dirty="0">
                <a:solidFill>
                  <a:srgbClr val="5B7782"/>
                </a:solidFill>
                <a:latin typeface="Calibri" pitchFamily="34" charset="0"/>
                <a:ea typeface="Calibri" pitchFamily="34" charset="-122"/>
                <a:cs typeface="Calibri" pitchFamily="34" charset="-120"/>
              </a:rPr>
              <a:t>Illustrative method selection · customers, awc_operations — tags + linked terms shown on the column's Details tab.</a:t>
            </a:r>
            <a:endParaRPr lang="en-US" sz="950" dirty="0"/>
          </a:p>
        </p:txBody>
      </p:sp>
      <p:sp>
        <p:nvSpPr>
          <p:cNvPr id="9" name="Text 5"/>
          <p:cNvSpPr/>
          <p:nvPr/>
        </p:nvSpPr>
        <p:spPr>
          <a:xfrm>
            <a:off x="8458200" y="4736592"/>
            <a:ext cx="365760" cy="274320"/>
          </a:xfrm>
          <a:prstGeom prst="rect">
            <a:avLst/>
          </a:prstGeom>
          <a:noFill/>
          <a:ln/>
        </p:spPr>
        <p:txBody>
          <a:bodyPr wrap="square" lIns="0" tIns="0" rIns="0" bIns="0" rtlCol="0" anchor="ctr"/>
          <a:lstStyle/>
          <a:p>
            <a:pPr algn="r" indent="0" marL="0">
              <a:buNone/>
            </a:pPr>
            <a:r>
              <a:rPr lang="en-US" sz="900" dirty="0">
                <a:solidFill>
                  <a:srgbClr val="5B7782"/>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333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algn="l" indent="0" marL="0">
              <a:buNone/>
            </a:pPr>
            <a:r>
              <a:rPr lang="en-US" sz="1150" b="1" spc="300" kern="0" dirty="0">
                <a:solidFill>
                  <a:srgbClr val="2EC4B6"/>
                </a:solidFill>
                <a:latin typeface="Calibri" pitchFamily="34" charset="0"/>
                <a:ea typeface="Calibri" pitchFamily="34" charset="-122"/>
                <a:cs typeface="Calibri" pitchFamily="34" charset="-120"/>
              </a:rPr>
              <a:t>BEYOND STRUCTURED DATA</a:t>
            </a:r>
            <a:endParaRPr lang="en-US" sz="1150" dirty="0"/>
          </a:p>
        </p:txBody>
      </p:sp>
      <p:sp>
        <p:nvSpPr>
          <p:cNvPr id="3" name="Text 1"/>
          <p:cNvSpPr/>
          <p:nvPr/>
        </p:nvSpPr>
        <p:spPr>
          <a:xfrm>
            <a:off x="548640" y="658368"/>
            <a:ext cx="8229600" cy="548640"/>
          </a:xfrm>
          <a:prstGeom prst="rect">
            <a:avLst/>
          </a:prstGeom>
          <a:noFill/>
          <a:ln/>
        </p:spPr>
        <p:txBody>
          <a:bodyPr wrap="square" lIns="0" tIns="0" rIns="0" bIns="0" rtlCol="0" anchor="ctr"/>
          <a:lstStyle/>
          <a:p>
            <a:pPr indent="0" marL="0">
              <a:buNone/>
            </a:pPr>
            <a:r>
              <a:rPr lang="en-US" sz="2700" b="1" dirty="0">
                <a:solidFill>
                  <a:srgbClr val="FFFFFF"/>
                </a:solidFill>
                <a:latin typeface="Bookman Old Style" pitchFamily="34" charset="0"/>
                <a:ea typeface="Bookman Old Style" pitchFamily="34" charset="-122"/>
                <a:cs typeface="Bookman Old Style" pitchFamily="34" charset="-120"/>
              </a:rPr>
              <a:t>The same methods reach into documents</a:t>
            </a:r>
            <a:endParaRPr lang="en-US" sz="2700" dirty="0"/>
          </a:p>
        </p:txBody>
      </p:sp>
      <p:sp>
        <p:nvSpPr>
          <p:cNvPr id="4" name="Text 2"/>
          <p:cNvSpPr/>
          <p:nvPr/>
        </p:nvSpPr>
        <p:spPr>
          <a:xfrm>
            <a:off x="548640" y="1225296"/>
            <a:ext cx="8138160" cy="457200"/>
          </a:xfrm>
          <a:prstGeom prst="rect">
            <a:avLst/>
          </a:prstGeom>
          <a:noFill/>
          <a:ln/>
        </p:spPr>
        <p:txBody>
          <a:bodyPr wrap="square" lIns="0" tIns="0" rIns="0" bIns="0" rtlCol="0" anchor="ctr"/>
          <a:lstStyle/>
          <a:p>
            <a:pPr indent="0" marL="0">
              <a:lnSpc>
                <a:spcPct val="104000"/>
              </a:lnSpc>
              <a:buNone/>
            </a:pPr>
            <a:r>
              <a:rPr lang="en-US" sz="1300" dirty="0">
                <a:solidFill>
                  <a:srgbClr val="C9DEE8"/>
                </a:solidFill>
                <a:latin typeface="Calibri" pitchFamily="34" charset="0"/>
                <a:ea typeface="Calibri" pitchFamily="34" charset="-122"/>
                <a:cs typeface="Calibri" pitchFamily="34" charset="-120"/>
              </a:rPr>
              <a:t>Identification isn’t only for tables. PDC profiles documents too — and points the very same dictionaries and patterns at their content.</a:t>
            </a:r>
            <a:endParaRPr lang="en-US" sz="1300" dirty="0"/>
          </a:p>
        </p:txBody>
      </p:sp>
      <p:sp>
        <p:nvSpPr>
          <p:cNvPr id="5" name="Shape 3"/>
          <p:cNvSpPr/>
          <p:nvPr/>
        </p:nvSpPr>
        <p:spPr>
          <a:xfrm>
            <a:off x="548640" y="1792224"/>
            <a:ext cx="3913632" cy="2139696"/>
          </a:xfrm>
          <a:prstGeom prst="roundRect">
            <a:avLst>
              <a:gd name="adj" fmla="val 4274"/>
            </a:avLst>
          </a:prstGeom>
          <a:solidFill>
            <a:srgbClr val="FFFFFF"/>
          </a:solidFill>
          <a:ln/>
          <a:effectLst>
            <a:outerShdw sx="100000" sy="100000" kx="0" ky="0" algn="bl" rotWithShape="0" blurRad="88900" dist="38100" dir="5400000">
              <a:srgbClr val="0B1B2B">
                <a:alpha val="16000"/>
              </a:srgbClr>
            </a:outerShdw>
          </a:effectLst>
        </p:spPr>
      </p:sp>
      <p:sp>
        <p:nvSpPr>
          <p:cNvPr id="6" name="Shape 4"/>
          <p:cNvSpPr/>
          <p:nvPr/>
        </p:nvSpPr>
        <p:spPr>
          <a:xfrm>
            <a:off x="804672" y="2029968"/>
            <a:ext cx="512064" cy="512064"/>
          </a:xfrm>
          <a:prstGeom prst="ellipse">
            <a:avLst/>
          </a:prstGeom>
          <a:solidFill>
            <a:srgbClr val="1C7293"/>
          </a:solidFill>
          <a:ln/>
          <a:effectLst>
            <a:outerShdw sx="100000" sy="100000" kx="0" ky="0" algn="bl" rotWithShape="0" blurRad="88900" dist="38100" dir="5400000">
              <a:srgbClr val="0B1B2B">
                <a:alpha val="16000"/>
              </a:srgbClr>
            </a:outerShdw>
          </a:effectLst>
        </p:spPr>
      </p:sp>
      <p:pic>
        <p:nvPicPr>
          <p:cNvPr id="7" name="Image 0" descr="preencoded.png">    </p:cNvPr>
          <p:cNvPicPr>
            <a:picLocks noChangeAspect="1"/>
          </p:cNvPicPr>
          <p:nvPr/>
        </p:nvPicPr>
        <p:blipFill>
          <a:blip r:embed="rId1"/>
          <a:stretch>
            <a:fillRect/>
          </a:stretch>
        </p:blipFill>
        <p:spPr>
          <a:xfrm>
            <a:off x="942929" y="2168225"/>
            <a:ext cx="235549" cy="235549"/>
          </a:xfrm>
          <a:prstGeom prst="rect">
            <a:avLst/>
          </a:prstGeom>
        </p:spPr>
      </p:pic>
      <p:sp>
        <p:nvSpPr>
          <p:cNvPr id="8" name="Text 5"/>
          <p:cNvSpPr/>
          <p:nvPr/>
        </p:nvSpPr>
        <p:spPr>
          <a:xfrm>
            <a:off x="1463040" y="2048256"/>
            <a:ext cx="2816352" cy="457200"/>
          </a:xfrm>
          <a:prstGeom prst="rect">
            <a:avLst/>
          </a:prstGeom>
          <a:noFill/>
          <a:ln/>
        </p:spPr>
        <p:txBody>
          <a:bodyPr wrap="square" lIns="0" tIns="0" rIns="0" bIns="0" rtlCol="0" anchor="ctr"/>
          <a:lstStyle/>
          <a:p>
            <a:pPr indent="0" marL="0">
              <a:buNone/>
            </a:pPr>
            <a:r>
              <a:rPr lang="en-US" sz="1700" b="1" dirty="0">
                <a:solidFill>
                  <a:srgbClr val="14333F"/>
                </a:solidFill>
                <a:latin typeface="Bookman Old Style" pitchFamily="34" charset="0"/>
                <a:ea typeface="Bookman Old Style" pitchFamily="34" charset="-122"/>
                <a:cs typeface="Bookman Old Style" pitchFamily="34" charset="-120"/>
              </a:rPr>
              <a:t>Structured columns</a:t>
            </a:r>
            <a:endParaRPr lang="en-US" sz="1700" dirty="0"/>
          </a:p>
        </p:txBody>
      </p:sp>
      <p:sp>
        <p:nvSpPr>
          <p:cNvPr id="9" name="Text 6"/>
          <p:cNvSpPr/>
          <p:nvPr/>
        </p:nvSpPr>
        <p:spPr>
          <a:xfrm>
            <a:off x="822960" y="2633472"/>
            <a:ext cx="914400" cy="274320"/>
          </a:xfrm>
          <a:prstGeom prst="rect">
            <a:avLst/>
          </a:prstGeom>
          <a:noFill/>
          <a:ln/>
        </p:spPr>
        <p:txBody>
          <a:bodyPr wrap="square" lIns="0" tIns="0" rIns="0" bIns="0"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Process</a:t>
            </a:r>
            <a:endParaRPr lang="en-US" sz="1050" dirty="0"/>
          </a:p>
        </p:txBody>
      </p:sp>
      <p:sp>
        <p:nvSpPr>
          <p:cNvPr id="10" name="Text 7"/>
          <p:cNvSpPr/>
          <p:nvPr/>
        </p:nvSpPr>
        <p:spPr>
          <a:xfrm>
            <a:off x="1719072" y="2633472"/>
            <a:ext cx="2542032" cy="310896"/>
          </a:xfrm>
          <a:prstGeom prst="rect">
            <a:avLst/>
          </a:prstGeom>
          <a:noFill/>
          <a:ln/>
        </p:spPr>
        <p:txBody>
          <a:bodyPr wrap="square" lIns="0" tIns="0" rIns="0" bIns="0" rtlCol="0" anchor="ctr"/>
          <a:lstStyle/>
          <a:p>
            <a:pPr indent="0" marL="0">
              <a:lnSpc>
                <a:spcPct val="98000"/>
              </a:lnSpc>
              <a:buNone/>
            </a:pPr>
            <a:r>
              <a:rPr lang="en-US" sz="1050" dirty="0">
                <a:solidFill>
                  <a:srgbClr val="5B7782"/>
                </a:solidFill>
                <a:latin typeface="Calibri" pitchFamily="34" charset="0"/>
                <a:ea typeface="Calibri" pitchFamily="34" charset="-122"/>
                <a:cs typeface="Calibri" pitchFamily="34" charset="-120"/>
              </a:rPr>
              <a:t>Profiling → Data Identification</a:t>
            </a:r>
            <a:endParaRPr lang="en-US" sz="1050" dirty="0"/>
          </a:p>
        </p:txBody>
      </p:sp>
      <p:sp>
        <p:nvSpPr>
          <p:cNvPr id="11" name="Text 8"/>
          <p:cNvSpPr/>
          <p:nvPr/>
        </p:nvSpPr>
        <p:spPr>
          <a:xfrm>
            <a:off x="822960" y="2958084"/>
            <a:ext cx="914400" cy="274320"/>
          </a:xfrm>
          <a:prstGeom prst="rect">
            <a:avLst/>
          </a:prstGeom>
          <a:noFill/>
          <a:ln/>
        </p:spPr>
        <p:txBody>
          <a:bodyPr wrap="square" lIns="0" tIns="0" rIns="0" bIns="0"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Target</a:t>
            </a:r>
            <a:endParaRPr lang="en-US" sz="1050" dirty="0"/>
          </a:p>
        </p:txBody>
      </p:sp>
      <p:sp>
        <p:nvSpPr>
          <p:cNvPr id="12" name="Text 9"/>
          <p:cNvSpPr/>
          <p:nvPr/>
        </p:nvSpPr>
        <p:spPr>
          <a:xfrm>
            <a:off x="1719072" y="2958084"/>
            <a:ext cx="2542032" cy="310896"/>
          </a:xfrm>
          <a:prstGeom prst="rect">
            <a:avLst/>
          </a:prstGeom>
          <a:noFill/>
          <a:ln/>
        </p:spPr>
        <p:txBody>
          <a:bodyPr wrap="square" lIns="0" tIns="0" rIns="0" bIns="0" rtlCol="0" anchor="ctr"/>
          <a:lstStyle/>
          <a:p>
            <a:pPr indent="0" marL="0">
              <a:lnSpc>
                <a:spcPct val="98000"/>
              </a:lnSpc>
              <a:buNone/>
            </a:pPr>
            <a:r>
              <a:rPr lang="en-US" sz="1050" dirty="0">
                <a:solidFill>
                  <a:srgbClr val="5B7782"/>
                </a:solidFill>
                <a:latin typeface="Calibri" pitchFamily="34" charset="0"/>
                <a:ea typeface="Calibri" pitchFamily="34" charset="-122"/>
                <a:cs typeface="Calibri" pitchFamily="34" charset="-120"/>
              </a:rPr>
              <a:t>the values in each column</a:t>
            </a:r>
            <a:endParaRPr lang="en-US" sz="1050" dirty="0"/>
          </a:p>
        </p:txBody>
      </p:sp>
      <p:sp>
        <p:nvSpPr>
          <p:cNvPr id="13" name="Text 10"/>
          <p:cNvSpPr/>
          <p:nvPr/>
        </p:nvSpPr>
        <p:spPr>
          <a:xfrm>
            <a:off x="822960" y="3282696"/>
            <a:ext cx="914400" cy="274320"/>
          </a:xfrm>
          <a:prstGeom prst="rect">
            <a:avLst/>
          </a:prstGeom>
          <a:noFill/>
          <a:ln/>
        </p:spPr>
        <p:txBody>
          <a:bodyPr wrap="square" lIns="0" tIns="0" rIns="0" bIns="0"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Match</a:t>
            </a:r>
            <a:endParaRPr lang="en-US" sz="1050" dirty="0"/>
          </a:p>
        </p:txBody>
      </p:sp>
      <p:sp>
        <p:nvSpPr>
          <p:cNvPr id="14" name="Text 11"/>
          <p:cNvSpPr/>
          <p:nvPr/>
        </p:nvSpPr>
        <p:spPr>
          <a:xfrm>
            <a:off x="1719072" y="3282696"/>
            <a:ext cx="2542032" cy="310896"/>
          </a:xfrm>
          <a:prstGeom prst="rect">
            <a:avLst/>
          </a:prstGeom>
          <a:noFill/>
          <a:ln/>
        </p:spPr>
        <p:txBody>
          <a:bodyPr wrap="square" lIns="0" tIns="0" rIns="0" bIns="0" rtlCol="0" anchor="ctr"/>
          <a:lstStyle/>
          <a:p>
            <a:pPr indent="0" marL="0">
              <a:lnSpc>
                <a:spcPct val="98000"/>
              </a:lnSpc>
              <a:buNone/>
            </a:pPr>
            <a:r>
              <a:rPr lang="en-US" sz="1050" dirty="0">
                <a:solidFill>
                  <a:srgbClr val="5B7782"/>
                </a:solidFill>
                <a:latin typeface="Calibri" pitchFamily="34" charset="0"/>
                <a:ea typeface="Calibri" pitchFamily="34" charset="-122"/>
                <a:cs typeface="Calibri" pitchFamily="34" charset="-120"/>
              </a:rPr>
              <a:t>scored rule: confidence → condition → action</a:t>
            </a:r>
            <a:endParaRPr lang="en-US" sz="1050" dirty="0"/>
          </a:p>
        </p:txBody>
      </p:sp>
      <p:sp>
        <p:nvSpPr>
          <p:cNvPr id="15" name="Text 12"/>
          <p:cNvSpPr/>
          <p:nvPr/>
        </p:nvSpPr>
        <p:spPr>
          <a:xfrm>
            <a:off x="822960" y="3607308"/>
            <a:ext cx="914400" cy="274320"/>
          </a:xfrm>
          <a:prstGeom prst="rect">
            <a:avLst/>
          </a:prstGeom>
          <a:noFill/>
          <a:ln/>
        </p:spPr>
        <p:txBody>
          <a:bodyPr wrap="square" lIns="0" tIns="0" rIns="0" bIns="0"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Result</a:t>
            </a:r>
            <a:endParaRPr lang="en-US" sz="1050" dirty="0"/>
          </a:p>
        </p:txBody>
      </p:sp>
      <p:sp>
        <p:nvSpPr>
          <p:cNvPr id="16" name="Text 13"/>
          <p:cNvSpPr/>
          <p:nvPr/>
        </p:nvSpPr>
        <p:spPr>
          <a:xfrm>
            <a:off x="1719072" y="3607308"/>
            <a:ext cx="2542032" cy="310896"/>
          </a:xfrm>
          <a:prstGeom prst="rect">
            <a:avLst/>
          </a:prstGeom>
          <a:noFill/>
          <a:ln/>
        </p:spPr>
        <p:txBody>
          <a:bodyPr wrap="square" lIns="0" tIns="0" rIns="0" bIns="0" rtlCol="0" anchor="ctr"/>
          <a:lstStyle/>
          <a:p>
            <a:pPr indent="0" marL="0">
              <a:lnSpc>
                <a:spcPct val="98000"/>
              </a:lnSpc>
              <a:buNone/>
            </a:pPr>
            <a:r>
              <a:rPr lang="en-US" sz="1050" dirty="0">
                <a:solidFill>
                  <a:srgbClr val="5B7782"/>
                </a:solidFill>
                <a:latin typeface="Calibri" pitchFamily="34" charset="0"/>
                <a:ea typeface="Calibri" pitchFamily="34" charset="-122"/>
                <a:cs typeface="Calibri" pitchFamily="34" charset="-120"/>
              </a:rPr>
              <a:t>tags + terms on columns</a:t>
            </a:r>
            <a:endParaRPr lang="en-US" sz="1050" dirty="0"/>
          </a:p>
        </p:txBody>
      </p:sp>
      <p:sp>
        <p:nvSpPr>
          <p:cNvPr id="17" name="Shape 14"/>
          <p:cNvSpPr/>
          <p:nvPr/>
        </p:nvSpPr>
        <p:spPr>
          <a:xfrm>
            <a:off x="4681728" y="1792224"/>
            <a:ext cx="3913632" cy="2139696"/>
          </a:xfrm>
          <a:prstGeom prst="roundRect">
            <a:avLst>
              <a:gd name="adj" fmla="val 4274"/>
            </a:avLst>
          </a:prstGeom>
          <a:solidFill>
            <a:srgbClr val="FFFFFF"/>
          </a:solidFill>
          <a:ln/>
          <a:effectLst>
            <a:outerShdw sx="100000" sy="100000" kx="0" ky="0" algn="bl" rotWithShape="0" blurRad="88900" dist="38100" dir="5400000">
              <a:srgbClr val="0B1B2B">
                <a:alpha val="16000"/>
              </a:srgbClr>
            </a:outerShdw>
          </a:effectLst>
        </p:spPr>
      </p:sp>
      <p:sp>
        <p:nvSpPr>
          <p:cNvPr id="18" name="Shape 15"/>
          <p:cNvSpPr/>
          <p:nvPr/>
        </p:nvSpPr>
        <p:spPr>
          <a:xfrm>
            <a:off x="4937760" y="2029968"/>
            <a:ext cx="512064" cy="512064"/>
          </a:xfrm>
          <a:prstGeom prst="ellipse">
            <a:avLst/>
          </a:prstGeom>
          <a:solidFill>
            <a:srgbClr val="065A82"/>
          </a:solidFill>
          <a:ln/>
          <a:effectLst>
            <a:outerShdw sx="100000" sy="100000" kx="0" ky="0" algn="bl" rotWithShape="0" blurRad="88900" dist="38100" dir="5400000">
              <a:srgbClr val="0B1B2B">
                <a:alpha val="16000"/>
              </a:srgbClr>
            </a:outerShdw>
          </a:effectLst>
        </p:spPr>
      </p:sp>
      <p:pic>
        <p:nvPicPr>
          <p:cNvPr id="19" name="Image 1" descr="preencoded.png">    </p:cNvPr>
          <p:cNvPicPr>
            <a:picLocks noChangeAspect="1"/>
          </p:cNvPicPr>
          <p:nvPr/>
        </p:nvPicPr>
        <p:blipFill>
          <a:blip r:embed="rId2"/>
          <a:stretch>
            <a:fillRect/>
          </a:stretch>
        </p:blipFill>
        <p:spPr>
          <a:xfrm>
            <a:off x="5076017" y="2168225"/>
            <a:ext cx="235549" cy="235549"/>
          </a:xfrm>
          <a:prstGeom prst="rect">
            <a:avLst/>
          </a:prstGeom>
        </p:spPr>
      </p:pic>
      <p:sp>
        <p:nvSpPr>
          <p:cNvPr id="20" name="Text 16"/>
          <p:cNvSpPr/>
          <p:nvPr/>
        </p:nvSpPr>
        <p:spPr>
          <a:xfrm>
            <a:off x="5596128" y="2048256"/>
            <a:ext cx="2816352" cy="457200"/>
          </a:xfrm>
          <a:prstGeom prst="rect">
            <a:avLst/>
          </a:prstGeom>
          <a:noFill/>
          <a:ln/>
        </p:spPr>
        <p:txBody>
          <a:bodyPr wrap="square" lIns="0" tIns="0" rIns="0" bIns="0" rtlCol="0" anchor="ctr"/>
          <a:lstStyle/>
          <a:p>
            <a:pPr indent="0" marL="0">
              <a:buNone/>
            </a:pPr>
            <a:r>
              <a:rPr lang="en-US" sz="1700" b="1" dirty="0">
                <a:solidFill>
                  <a:srgbClr val="14333F"/>
                </a:solidFill>
                <a:latin typeface="Bookman Old Style" pitchFamily="34" charset="0"/>
                <a:ea typeface="Bookman Old Style" pitchFamily="34" charset="-122"/>
                <a:cs typeface="Bookman Old Style" pitchFamily="34" charset="-120"/>
              </a:rPr>
              <a:t>Unstructured documents</a:t>
            </a:r>
            <a:endParaRPr lang="en-US" sz="1700" dirty="0"/>
          </a:p>
        </p:txBody>
      </p:sp>
      <p:sp>
        <p:nvSpPr>
          <p:cNvPr id="21" name="Text 17"/>
          <p:cNvSpPr/>
          <p:nvPr/>
        </p:nvSpPr>
        <p:spPr>
          <a:xfrm>
            <a:off x="4956048" y="2633472"/>
            <a:ext cx="914400" cy="274320"/>
          </a:xfrm>
          <a:prstGeom prst="rect">
            <a:avLst/>
          </a:prstGeom>
          <a:noFill/>
          <a:ln/>
        </p:spPr>
        <p:txBody>
          <a:bodyPr wrap="square" lIns="0" tIns="0" rIns="0" bIns="0" rtlCol="0" anchor="ctr"/>
          <a:lstStyle/>
          <a:p>
            <a:pPr indent="0" marL="0">
              <a:buNone/>
            </a:pPr>
            <a:r>
              <a:rPr lang="en-US" sz="1050" b="1" dirty="0">
                <a:solidFill>
                  <a:srgbClr val="065A82"/>
                </a:solidFill>
                <a:latin typeface="Calibri" pitchFamily="34" charset="0"/>
                <a:ea typeface="Calibri" pitchFamily="34" charset="-122"/>
                <a:cs typeface="Calibri" pitchFamily="34" charset="-120"/>
              </a:rPr>
              <a:t>Process</a:t>
            </a:r>
            <a:endParaRPr lang="en-US" sz="1050" dirty="0"/>
          </a:p>
        </p:txBody>
      </p:sp>
      <p:sp>
        <p:nvSpPr>
          <p:cNvPr id="22" name="Text 18"/>
          <p:cNvSpPr/>
          <p:nvPr/>
        </p:nvSpPr>
        <p:spPr>
          <a:xfrm>
            <a:off x="5852160" y="2633472"/>
            <a:ext cx="2542032" cy="310896"/>
          </a:xfrm>
          <a:prstGeom prst="rect">
            <a:avLst/>
          </a:prstGeom>
          <a:noFill/>
          <a:ln/>
        </p:spPr>
        <p:txBody>
          <a:bodyPr wrap="square" lIns="0" tIns="0" rIns="0" bIns="0" rtlCol="0" anchor="ctr"/>
          <a:lstStyle/>
          <a:p>
            <a:pPr indent="0" marL="0">
              <a:lnSpc>
                <a:spcPct val="98000"/>
              </a:lnSpc>
              <a:buNone/>
            </a:pPr>
            <a:r>
              <a:rPr lang="en-US" sz="1050" dirty="0">
                <a:solidFill>
                  <a:srgbClr val="5B7782"/>
                </a:solidFill>
                <a:latin typeface="Calibri" pitchFamily="34" charset="0"/>
                <a:ea typeface="Calibri" pitchFamily="34" charset="-122"/>
                <a:cs typeface="Calibri" pitchFamily="34" charset="-120"/>
              </a:rPr>
              <a:t>Data Discovery → String Detection</a:t>
            </a:r>
            <a:endParaRPr lang="en-US" sz="1050" dirty="0"/>
          </a:p>
        </p:txBody>
      </p:sp>
      <p:sp>
        <p:nvSpPr>
          <p:cNvPr id="23" name="Text 19"/>
          <p:cNvSpPr/>
          <p:nvPr/>
        </p:nvSpPr>
        <p:spPr>
          <a:xfrm>
            <a:off x="4956048" y="2958084"/>
            <a:ext cx="914400" cy="274320"/>
          </a:xfrm>
          <a:prstGeom prst="rect">
            <a:avLst/>
          </a:prstGeom>
          <a:noFill/>
          <a:ln/>
        </p:spPr>
        <p:txBody>
          <a:bodyPr wrap="square" lIns="0" tIns="0" rIns="0" bIns="0" rtlCol="0" anchor="ctr"/>
          <a:lstStyle/>
          <a:p>
            <a:pPr indent="0" marL="0">
              <a:buNone/>
            </a:pPr>
            <a:r>
              <a:rPr lang="en-US" sz="1050" b="1" dirty="0">
                <a:solidFill>
                  <a:srgbClr val="065A82"/>
                </a:solidFill>
                <a:latin typeface="Calibri" pitchFamily="34" charset="0"/>
                <a:ea typeface="Calibri" pitchFamily="34" charset="-122"/>
                <a:cs typeface="Calibri" pitchFamily="34" charset="-120"/>
              </a:rPr>
              <a:t>Target</a:t>
            </a:r>
            <a:endParaRPr lang="en-US" sz="1050" dirty="0"/>
          </a:p>
        </p:txBody>
      </p:sp>
      <p:sp>
        <p:nvSpPr>
          <p:cNvPr id="24" name="Text 20"/>
          <p:cNvSpPr/>
          <p:nvPr/>
        </p:nvSpPr>
        <p:spPr>
          <a:xfrm>
            <a:off x="5852160" y="2958084"/>
            <a:ext cx="2542032" cy="310896"/>
          </a:xfrm>
          <a:prstGeom prst="rect">
            <a:avLst/>
          </a:prstGeom>
          <a:noFill/>
          <a:ln/>
        </p:spPr>
        <p:txBody>
          <a:bodyPr wrap="square" lIns="0" tIns="0" rIns="0" bIns="0" rtlCol="0" anchor="ctr"/>
          <a:lstStyle/>
          <a:p>
            <a:pPr indent="0" marL="0">
              <a:lnSpc>
                <a:spcPct val="98000"/>
              </a:lnSpc>
              <a:buNone/>
            </a:pPr>
            <a:r>
              <a:rPr lang="en-US" sz="1050" dirty="0">
                <a:solidFill>
                  <a:srgbClr val="5B7782"/>
                </a:solidFill>
                <a:latin typeface="Calibri" pitchFamily="34" charset="0"/>
                <a:ea typeface="Calibri" pitchFamily="34" charset="-122"/>
                <a:cs typeface="Calibri" pitchFamily="34" charset="-120"/>
              </a:rPr>
              <a:t>the text inside each document</a:t>
            </a:r>
            <a:endParaRPr lang="en-US" sz="1050" dirty="0"/>
          </a:p>
        </p:txBody>
      </p:sp>
      <p:sp>
        <p:nvSpPr>
          <p:cNvPr id="25" name="Text 21"/>
          <p:cNvSpPr/>
          <p:nvPr/>
        </p:nvSpPr>
        <p:spPr>
          <a:xfrm>
            <a:off x="4956048" y="3282696"/>
            <a:ext cx="914400" cy="274320"/>
          </a:xfrm>
          <a:prstGeom prst="rect">
            <a:avLst/>
          </a:prstGeom>
          <a:noFill/>
          <a:ln/>
        </p:spPr>
        <p:txBody>
          <a:bodyPr wrap="square" lIns="0" tIns="0" rIns="0" bIns="0" rtlCol="0" anchor="ctr"/>
          <a:lstStyle/>
          <a:p>
            <a:pPr indent="0" marL="0">
              <a:buNone/>
            </a:pPr>
            <a:r>
              <a:rPr lang="en-US" sz="1050" b="1" dirty="0">
                <a:solidFill>
                  <a:srgbClr val="065A82"/>
                </a:solidFill>
                <a:latin typeface="Calibri" pitchFamily="34" charset="0"/>
                <a:ea typeface="Calibri" pitchFamily="34" charset="-122"/>
                <a:cs typeface="Calibri" pitchFamily="34" charset="-120"/>
              </a:rPr>
              <a:t>Match</a:t>
            </a:r>
            <a:endParaRPr lang="en-US" sz="1050" dirty="0"/>
          </a:p>
        </p:txBody>
      </p:sp>
      <p:sp>
        <p:nvSpPr>
          <p:cNvPr id="26" name="Text 22"/>
          <p:cNvSpPr/>
          <p:nvPr/>
        </p:nvSpPr>
        <p:spPr>
          <a:xfrm>
            <a:off x="5852160" y="3282696"/>
            <a:ext cx="2542032" cy="310896"/>
          </a:xfrm>
          <a:prstGeom prst="rect">
            <a:avLst/>
          </a:prstGeom>
          <a:noFill/>
          <a:ln/>
        </p:spPr>
        <p:txBody>
          <a:bodyPr wrap="square" lIns="0" tIns="0" rIns="0" bIns="0" rtlCol="0" anchor="ctr"/>
          <a:lstStyle/>
          <a:p>
            <a:pPr indent="0" marL="0">
              <a:lnSpc>
                <a:spcPct val="98000"/>
              </a:lnSpc>
              <a:buNone/>
            </a:pPr>
            <a:r>
              <a:rPr lang="en-US" sz="1050" dirty="0">
                <a:solidFill>
                  <a:srgbClr val="5B7782"/>
                </a:solidFill>
                <a:latin typeface="Calibri" pitchFamily="34" charset="0"/>
                <a:ea typeface="Calibri" pitchFamily="34" charset="-122"/>
                <a:cs typeface="Calibri" pitchFamily="34" charset="-120"/>
              </a:rPr>
              <a:t>presence — and optional count — of values</a:t>
            </a:r>
            <a:endParaRPr lang="en-US" sz="1050" dirty="0"/>
          </a:p>
        </p:txBody>
      </p:sp>
      <p:sp>
        <p:nvSpPr>
          <p:cNvPr id="27" name="Text 23"/>
          <p:cNvSpPr/>
          <p:nvPr/>
        </p:nvSpPr>
        <p:spPr>
          <a:xfrm>
            <a:off x="4956048" y="3607308"/>
            <a:ext cx="914400" cy="274320"/>
          </a:xfrm>
          <a:prstGeom prst="rect">
            <a:avLst/>
          </a:prstGeom>
          <a:noFill/>
          <a:ln/>
        </p:spPr>
        <p:txBody>
          <a:bodyPr wrap="square" lIns="0" tIns="0" rIns="0" bIns="0" rtlCol="0" anchor="ctr"/>
          <a:lstStyle/>
          <a:p>
            <a:pPr indent="0" marL="0">
              <a:buNone/>
            </a:pPr>
            <a:r>
              <a:rPr lang="en-US" sz="1050" b="1" dirty="0">
                <a:solidFill>
                  <a:srgbClr val="065A82"/>
                </a:solidFill>
                <a:latin typeface="Calibri" pitchFamily="34" charset="0"/>
                <a:ea typeface="Calibri" pitchFamily="34" charset="-122"/>
                <a:cs typeface="Calibri" pitchFamily="34" charset="-120"/>
              </a:rPr>
              <a:t>Result</a:t>
            </a:r>
            <a:endParaRPr lang="en-US" sz="1050" dirty="0"/>
          </a:p>
        </p:txBody>
      </p:sp>
      <p:sp>
        <p:nvSpPr>
          <p:cNvPr id="28" name="Text 24"/>
          <p:cNvSpPr/>
          <p:nvPr/>
        </p:nvSpPr>
        <p:spPr>
          <a:xfrm>
            <a:off x="5852160" y="3607308"/>
            <a:ext cx="2542032" cy="310896"/>
          </a:xfrm>
          <a:prstGeom prst="rect">
            <a:avLst/>
          </a:prstGeom>
          <a:noFill/>
          <a:ln/>
        </p:spPr>
        <p:txBody>
          <a:bodyPr wrap="square" lIns="0" tIns="0" rIns="0" bIns="0" rtlCol="0" anchor="ctr"/>
          <a:lstStyle/>
          <a:p>
            <a:pPr indent="0" marL="0">
              <a:lnSpc>
                <a:spcPct val="98000"/>
              </a:lnSpc>
              <a:buNone/>
            </a:pPr>
            <a:r>
              <a:rPr lang="en-US" sz="1050" dirty="0">
                <a:solidFill>
                  <a:srgbClr val="5B7782"/>
                </a:solidFill>
                <a:latin typeface="Calibri" pitchFamily="34" charset="0"/>
                <a:ea typeface="Calibri" pitchFamily="34" charset="-122"/>
                <a:cs typeface="Calibri" pitchFamily="34" charset="-120"/>
              </a:rPr>
              <a:t>tags + terms on documents</a:t>
            </a:r>
            <a:endParaRPr lang="en-US" sz="1050" dirty="0"/>
          </a:p>
        </p:txBody>
      </p:sp>
      <p:sp>
        <p:nvSpPr>
          <p:cNvPr id="29" name="Text 25"/>
          <p:cNvSpPr/>
          <p:nvPr/>
        </p:nvSpPr>
        <p:spPr>
          <a:xfrm>
            <a:off x="4224528" y="2615184"/>
            <a:ext cx="457200" cy="457200"/>
          </a:xfrm>
          <a:prstGeom prst="rect">
            <a:avLst/>
          </a:prstGeom>
          <a:noFill/>
          <a:ln/>
        </p:spPr>
        <p:txBody>
          <a:bodyPr wrap="square" lIns="0" tIns="0" rIns="0" bIns="0" rtlCol="0" anchor="ctr"/>
          <a:lstStyle/>
          <a:p>
            <a:pPr algn="ctr" indent="0" marL="0">
              <a:buNone/>
            </a:pPr>
            <a:r>
              <a:rPr lang="en-US" sz="2600" b="1" dirty="0">
                <a:solidFill>
                  <a:srgbClr val="2EC4B6"/>
                </a:solidFill>
                <a:latin typeface="Bookman Old Style" pitchFamily="34" charset="0"/>
                <a:ea typeface="Bookman Old Style" pitchFamily="34" charset="-122"/>
                <a:cs typeface="Bookman Old Style" pitchFamily="34" charset="-120"/>
              </a:rPr>
              <a:t>=</a:t>
            </a:r>
            <a:endParaRPr lang="en-US" sz="2600" dirty="0"/>
          </a:p>
        </p:txBody>
      </p:sp>
      <p:sp>
        <p:nvSpPr>
          <p:cNvPr id="30" name="Shape 26"/>
          <p:cNvSpPr/>
          <p:nvPr/>
        </p:nvSpPr>
        <p:spPr>
          <a:xfrm>
            <a:off x="548640" y="4160520"/>
            <a:ext cx="8046720" cy="566928"/>
          </a:xfrm>
          <a:prstGeom prst="roundRect">
            <a:avLst>
              <a:gd name="adj" fmla="val 14516"/>
            </a:avLst>
          </a:prstGeom>
          <a:solidFill>
            <a:srgbClr val="0B1B2B"/>
          </a:solidFill>
          <a:ln/>
        </p:spPr>
      </p:sp>
      <p:sp>
        <p:nvSpPr>
          <p:cNvPr id="31" name="Text 27"/>
          <p:cNvSpPr/>
          <p:nvPr/>
        </p:nvSpPr>
        <p:spPr>
          <a:xfrm>
            <a:off x="640080" y="4160520"/>
            <a:ext cx="7863840" cy="566928"/>
          </a:xfrm>
          <a:prstGeom prst="rect">
            <a:avLst/>
          </a:prstGeom>
          <a:noFill/>
          <a:ln/>
        </p:spPr>
        <p:txBody>
          <a:bodyPr wrap="square" lIns="0" tIns="0" rIns="0" bIns="0" rtlCol="0" anchor="ctr"/>
          <a:lstStyle/>
          <a:p>
            <a:pPr algn="ctr" indent="0" marL="0">
              <a:buNone/>
            </a:pPr>
            <a:r>
              <a:rPr lang="en-US" sz="1050" dirty="0">
                <a:solidFill>
                  <a:srgbClr val="C9DEE8"/>
                </a:solidFill>
                <a:latin typeface="Calibri" pitchFamily="34" charset="0"/>
                <a:ea typeface="Calibri" pitchFamily="34" charset="-122"/>
                <a:cs typeface="Calibri" pitchFamily="34" charset="-120"/>
              </a:rPr>
              <a:t>Documents also add  </a:t>
            </a:r>
            <a:pPr algn="ctr" indent="0" marL="0">
              <a:buNone/>
            </a:pPr>
            <a:r>
              <a:rPr lang="en-US" sz="1050" b="1" dirty="0">
                <a:solidFill>
                  <a:srgbClr val="2EC4B6"/>
                </a:solidFill>
                <a:latin typeface="Calibri" pitchFamily="34" charset="0"/>
                <a:ea typeface="Calibri" pitchFamily="34" charset="-122"/>
                <a:cs typeface="Calibri" pitchFamily="34" charset="-120"/>
              </a:rPr>
              <a:t>Address Detection</a:t>
            </a:r>
            <a:pPr algn="ctr" indent="0" marL="0">
              <a:buNone/>
            </a:pPr>
            <a:r>
              <a:rPr lang="en-US" sz="1050" dirty="0">
                <a:solidFill>
                  <a:srgbClr val="5B7782"/>
                </a:solidFill>
                <a:latin typeface="Calibri" pitchFamily="34" charset="0"/>
                <a:ea typeface="Calibri" pitchFamily="34" charset="-122"/>
                <a:cs typeface="Calibri" pitchFamily="34" charset="-120"/>
              </a:rPr>
              <a:t> · </a:t>
            </a:r>
            <a:pPr algn="ctr" indent="0" marL="0">
              <a:buNone/>
            </a:pPr>
            <a:r>
              <a:rPr lang="en-US" sz="1050" b="1" dirty="0">
                <a:solidFill>
                  <a:srgbClr val="2EC4B6"/>
                </a:solidFill>
                <a:latin typeface="Calibri" pitchFamily="34" charset="0"/>
                <a:ea typeface="Calibri" pitchFamily="34" charset="-122"/>
                <a:cs typeface="Calibri" pitchFamily="34" charset="-120"/>
              </a:rPr>
              <a:t>Data Classification</a:t>
            </a:r>
            <a:pPr algn="ctr" indent="0" marL="0">
              <a:buNone/>
            </a:pPr>
            <a:r>
              <a:rPr lang="en-US" sz="1050" dirty="0">
                <a:solidFill>
                  <a:srgbClr val="5B7782"/>
                </a:solidFill>
                <a:latin typeface="Calibri" pitchFamily="34" charset="0"/>
                <a:ea typeface="Calibri" pitchFamily="34" charset="-122"/>
                <a:cs typeface="Calibri" pitchFamily="34" charset="-120"/>
              </a:rPr>
              <a:t> · </a:t>
            </a:r>
            <a:pPr algn="ctr" indent="0" marL="0">
              <a:buNone/>
            </a:pPr>
            <a:r>
              <a:rPr lang="en-US" sz="1050" b="1" dirty="0">
                <a:solidFill>
                  <a:srgbClr val="2EC4B6"/>
                </a:solidFill>
                <a:latin typeface="Calibri" pitchFamily="34" charset="0"/>
                <a:ea typeface="Calibri" pitchFamily="34" charset="-122"/>
                <a:cs typeface="Calibri" pitchFamily="34" charset="-120"/>
              </a:rPr>
              <a:t>Summaries &amp; sentiment</a:t>
            </a:r>
            <a:pPr algn="ctr" indent="0" marL="0">
              <a:buNone/>
            </a:pPr>
            <a:r>
              <a:rPr lang="en-US" sz="1050" i="1" dirty="0">
                <a:solidFill>
                  <a:srgbClr val="C9DEE8"/>
                </a:solidFill>
                <a:latin typeface="Calibri" pitchFamily="34" charset="0"/>
                <a:ea typeface="Calibri" pitchFamily="34" charset="-122"/>
                <a:cs typeface="Calibri" pitchFamily="34" charset="-120"/>
              </a:rPr>
              <a:t>     Supports .pdf · .docx · .txt · .rtf</a:t>
            </a:r>
            <a:endParaRPr lang="en-US" sz="1050" dirty="0"/>
          </a:p>
        </p:txBody>
      </p:sp>
      <p:sp>
        <p:nvSpPr>
          <p:cNvPr id="32" name="Text 28"/>
          <p:cNvSpPr/>
          <p:nvPr/>
        </p:nvSpPr>
        <p:spPr>
          <a:xfrm>
            <a:off x="8458200" y="4736592"/>
            <a:ext cx="365760" cy="274320"/>
          </a:xfrm>
          <a:prstGeom prst="rect">
            <a:avLst/>
          </a:prstGeom>
          <a:noFill/>
          <a:ln/>
        </p:spPr>
        <p:txBody>
          <a:bodyPr wrap="square" lIns="0" tIns="0" rIns="0" bIns="0" rtlCol="0" anchor="ctr"/>
          <a:lstStyle/>
          <a:p>
            <a:pPr algn="r" indent="0" marL="0">
              <a:buNone/>
            </a:pPr>
            <a:r>
              <a:rPr lang="en-US" sz="900" dirty="0">
                <a:solidFill>
                  <a:srgbClr val="C9DEE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48640" y="365760"/>
            <a:ext cx="512064" cy="512064"/>
          </a:xfrm>
          <a:prstGeom prst="ellipse">
            <a:avLst/>
          </a:prstGeom>
          <a:solidFill>
            <a:srgbClr val="065A82"/>
          </a:solidFill>
          <a:ln/>
          <a:effectLst>
            <a:outerShdw sx="100000" sy="100000" kx="0" ky="0" algn="bl" rotWithShape="0" blurRad="88900" dist="38100" dir="5400000">
              <a:srgbClr val="0B1B2B">
                <a:alpha val="16000"/>
              </a:srgbClr>
            </a:outerShdw>
          </a:effectLst>
        </p:spPr>
      </p:sp>
      <p:pic>
        <p:nvPicPr>
          <p:cNvPr id="3" name="Image 0" descr="preencoded.png">    </p:cNvPr>
          <p:cNvPicPr>
            <a:picLocks noChangeAspect="1"/>
          </p:cNvPicPr>
          <p:nvPr/>
        </p:nvPicPr>
        <p:blipFill>
          <a:blip r:embed="rId1"/>
          <a:stretch>
            <a:fillRect/>
          </a:stretch>
        </p:blipFill>
        <p:spPr>
          <a:xfrm>
            <a:off x="686897" y="504017"/>
            <a:ext cx="235549" cy="235549"/>
          </a:xfrm>
          <a:prstGeom prst="rect">
            <a:avLst/>
          </a:prstGeom>
        </p:spPr>
      </p:pic>
      <p:sp>
        <p:nvSpPr>
          <p:cNvPr id="4" name="Text 1"/>
          <p:cNvSpPr/>
          <p:nvPr/>
        </p:nvSpPr>
        <p:spPr>
          <a:xfrm>
            <a:off x="1170432" y="365760"/>
            <a:ext cx="7498080" cy="292608"/>
          </a:xfrm>
          <a:prstGeom prst="rect">
            <a:avLst/>
          </a:prstGeom>
          <a:noFill/>
          <a:ln/>
        </p:spPr>
        <p:txBody>
          <a:bodyPr wrap="square" lIns="0" tIns="0" rIns="0" bIns="0" rtlCol="0" anchor="ctr"/>
          <a:lstStyle/>
          <a:p>
            <a:pPr algn="l" indent="0" marL="0">
              <a:buNone/>
            </a:pPr>
            <a:r>
              <a:rPr lang="en-US" sz="1150" b="1" spc="300" kern="0" dirty="0">
                <a:solidFill>
                  <a:srgbClr val="065A82"/>
                </a:solidFill>
                <a:latin typeface="Calibri" pitchFamily="34" charset="0"/>
                <a:ea typeface="Calibri" pitchFamily="34" charset="-122"/>
                <a:cs typeface="Calibri" pitchFamily="34" charset="-120"/>
              </a:rPr>
              <a:t>ARIZONA WATER COMPANY · UNSTRUCTURED DOCUMENTS</a:t>
            </a:r>
            <a:endParaRPr lang="en-US" sz="1150" dirty="0"/>
          </a:p>
        </p:txBody>
      </p:sp>
      <p:sp>
        <p:nvSpPr>
          <p:cNvPr id="5" name="Text 2"/>
          <p:cNvSpPr/>
          <p:nvPr/>
        </p:nvSpPr>
        <p:spPr>
          <a:xfrm>
            <a:off x="548640" y="868680"/>
            <a:ext cx="8229600" cy="502920"/>
          </a:xfrm>
          <a:prstGeom prst="rect">
            <a:avLst/>
          </a:prstGeom>
          <a:noFill/>
          <a:ln/>
        </p:spPr>
        <p:txBody>
          <a:bodyPr wrap="square" lIns="0" tIns="0" rIns="0" bIns="0" rtlCol="0" anchor="ctr"/>
          <a:lstStyle/>
          <a:p>
            <a:pPr indent="0" marL="0">
              <a:buNone/>
            </a:pPr>
            <a:r>
              <a:rPr lang="en-US" sz="2600" b="1" dirty="0">
                <a:solidFill>
                  <a:srgbClr val="14333F"/>
                </a:solidFill>
                <a:latin typeface="Bookman Old Style" pitchFamily="34" charset="0"/>
                <a:ea typeface="Bookman Old Style" pitchFamily="34" charset="-122"/>
                <a:cs typeface="Bookman Old Style" pitchFamily="34" charset="-120"/>
              </a:rPr>
              <a:t>Finding PII in the correspondence folder</a:t>
            </a:r>
            <a:endParaRPr lang="en-US" sz="2600" dirty="0"/>
          </a:p>
        </p:txBody>
      </p:sp>
      <p:sp>
        <p:nvSpPr>
          <p:cNvPr id="6" name="Text 3"/>
          <p:cNvSpPr/>
          <p:nvPr/>
        </p:nvSpPr>
        <p:spPr>
          <a:xfrm>
            <a:off x="548640" y="1371600"/>
            <a:ext cx="8138160" cy="603504"/>
          </a:xfrm>
          <a:prstGeom prst="rect">
            <a:avLst/>
          </a:prstGeom>
          <a:noFill/>
          <a:ln/>
        </p:spPr>
        <p:txBody>
          <a:bodyPr wrap="square" lIns="0" tIns="0" rIns="0" bIns="0" rtlCol="0" anchor="ctr"/>
          <a:lstStyle/>
          <a:p>
            <a:pPr indent="0" marL="0">
              <a:lnSpc>
                <a:spcPct val="104000"/>
              </a:lnSpc>
              <a:buNone/>
            </a:pPr>
            <a:r>
              <a:rPr lang="en-US" sz="1200" dirty="0">
                <a:solidFill>
                  <a:srgbClr val="5B7782"/>
                </a:solidFill>
                <a:latin typeface="Calibri" pitchFamily="34" charset="0"/>
                <a:ea typeface="Calibri" pitchFamily="34" charset="-122"/>
                <a:cs typeface="Calibri" pitchFamily="34" charset="-120"/>
              </a:rPr>
              <a:t>The awc-documents correspondence folder holds emails and letters about customers. Run Data Discovery on the folder with String Detection switched on, using the same PII dictionaries and patterns — and every document that carries personal data is flagged.</a:t>
            </a:r>
            <a:endParaRPr lang="en-US" sz="1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2139696"/>
          <a:ext cx="5486400" cy="914400"/>
        </p:xfrm>
        <a:graphic>
          <a:graphicData uri="http://schemas.openxmlformats.org/drawingml/2006/table">
            <a:tbl>
              <a:tblPr/>
              <a:tblGrid>
                <a:gridCol w="2331720"/>
                <a:gridCol w="731520"/>
                <a:gridCol w="2423160"/>
              </a:tblGrid>
              <a:tr h="365760">
                <a:tc>
                  <a:txBody>
                    <a:bodyPr/>
                    <a:lstStyle/>
                    <a:p>
                      <a:pPr algn="l" indent="0" marL="0">
                        <a:buNone/>
                      </a:pPr>
                      <a:r>
                        <a:rPr lang="en-US" sz="1100" b="1" dirty="0">
                          <a:solidFill>
                            <a:srgbClr val="FFFFFF"/>
                          </a:solidFill>
                          <a:latin typeface="Courier New" pitchFamily="34" charset="0"/>
                          <a:ea typeface="Courier New" pitchFamily="34" charset="-122"/>
                          <a:cs typeface="Courier New" pitchFamily="34" charset="-120"/>
                        </a:rPr>
                        <a:t>Document</a:t>
                      </a:r>
                      <a:endParaRPr lang="en-US" sz="1100" dirty="0">
                        <a:latin typeface="Courier New" charset="0"/>
                        <a:ea typeface="Courier New" charset="0"/>
                        <a:cs typeface="Courier New"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14333F"/>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Type</a:t>
                      </a:r>
                      <a:endParaRPr lang="en-US" sz="11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14333F"/>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Personal data it surfaces</a:t>
                      </a:r>
                      <a:endParaRPr lang="en-US" sz="11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14333F"/>
                    </a:solidFill>
                  </a:tcPr>
                </a:tc>
              </a:tr>
              <a:tr h="402336">
                <a:tc>
                  <a:txBody>
                    <a:bodyPr/>
                    <a:lstStyle/>
                    <a:p>
                      <a:pPr algn="l" indent="0" marL="0">
                        <a:buNone/>
                      </a:pPr>
                      <a:r>
                        <a:rPr lang="en-US" sz="900" dirty="0">
                          <a:solidFill>
                            <a:srgbClr val="14333F"/>
                          </a:solidFill>
                          <a:latin typeface="Courier New" pitchFamily="34" charset="0"/>
                          <a:ea typeface="Courier New" pitchFamily="34" charset="-122"/>
                          <a:cs typeface="Courier New" pitchFamily="34" charset="-120"/>
                        </a:rPr>
                        <a:t>letter_overdue_notice</a:t>
                      </a:r>
                      <a:endParaRPr lang="en-US" sz="900" dirty="0">
                        <a:latin typeface="Courier New" charset="0"/>
                        <a:ea typeface="Courier New" charset="0"/>
                        <a:cs typeface="Courier New"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7782"/>
                          </a:solidFill>
                          <a:latin typeface="Calibri" pitchFamily="34" charset="0"/>
                          <a:ea typeface="Calibri" pitchFamily="34" charset="-122"/>
                          <a:cs typeface="Calibri" pitchFamily="34" charset="-120"/>
                        </a:rPr>
                        <a:t>Letter</a:t>
                      </a:r>
                      <a:endParaRPr lang="en-US" sz="10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c>
                  <a:txBody>
                    <a:bodyPr/>
                    <a:lstStyle/>
                    <a:p>
                      <a:pPr algn="l" indent="0" marL="0">
                        <a:buNone/>
                      </a:pPr>
                      <a:r>
                        <a:rPr lang="en-US" sz="1000" i="1" dirty="0">
                          <a:solidFill>
                            <a:srgbClr val="5B7782"/>
                          </a:solidFill>
                          <a:latin typeface="Calibri" pitchFamily="34" charset="0"/>
                          <a:ea typeface="Calibri" pitchFamily="34" charset="-122"/>
                          <a:cs typeface="Calibri" pitchFamily="34" charset="-120"/>
                        </a:rPr>
                        <a:t>name · address · account ref · amount</a:t>
                      </a:r>
                      <a:endParaRPr lang="en-US" sz="10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r>
              <a:tr h="402336">
                <a:tc>
                  <a:txBody>
                    <a:bodyPr/>
                    <a:lstStyle/>
                    <a:p>
                      <a:pPr algn="l" indent="0" marL="0">
                        <a:buNone/>
                      </a:pPr>
                      <a:r>
                        <a:rPr lang="en-US" sz="900" dirty="0">
                          <a:solidFill>
                            <a:srgbClr val="14333F"/>
                          </a:solidFill>
                          <a:latin typeface="Courier New" pitchFamily="34" charset="0"/>
                          <a:ea typeface="Courier New" pitchFamily="34" charset="-122"/>
                          <a:cs typeface="Courier New" pitchFamily="34" charset="-120"/>
                        </a:rPr>
                        <a:t>letter_dispute_response</a:t>
                      </a:r>
                      <a:endParaRPr lang="en-US" sz="900" dirty="0">
                        <a:latin typeface="Courier New" charset="0"/>
                        <a:ea typeface="Courier New" charset="0"/>
                        <a:cs typeface="Courier New"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EEF6FA"/>
                    </a:solidFill>
                  </a:tcPr>
                </a:tc>
                <a:tc>
                  <a:txBody>
                    <a:bodyPr/>
                    <a:lstStyle/>
                    <a:p>
                      <a:pPr algn="l" indent="0" marL="0">
                        <a:buNone/>
                      </a:pPr>
                      <a:r>
                        <a:rPr lang="en-US" sz="1000" dirty="0">
                          <a:solidFill>
                            <a:srgbClr val="5B7782"/>
                          </a:solidFill>
                          <a:latin typeface="Calibri" pitchFamily="34" charset="0"/>
                          <a:ea typeface="Calibri" pitchFamily="34" charset="-122"/>
                          <a:cs typeface="Calibri" pitchFamily="34" charset="-120"/>
                        </a:rPr>
                        <a:t>Letter</a:t>
                      </a:r>
                      <a:endParaRPr lang="en-US" sz="10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EEF6FA"/>
                    </a:solidFill>
                  </a:tcPr>
                </a:tc>
                <a:tc>
                  <a:txBody>
                    <a:bodyPr/>
                    <a:lstStyle/>
                    <a:p>
                      <a:pPr algn="l" indent="0" marL="0">
                        <a:buNone/>
                      </a:pPr>
                      <a:r>
                        <a:rPr lang="en-US" sz="1000" i="1" dirty="0">
                          <a:solidFill>
                            <a:srgbClr val="5B7782"/>
                          </a:solidFill>
                          <a:latin typeface="Calibri" pitchFamily="34" charset="0"/>
                          <a:ea typeface="Calibri" pitchFamily="34" charset="-122"/>
                          <a:cs typeface="Calibri" pitchFamily="34" charset="-120"/>
                        </a:rPr>
                        <a:t>name · address · account ref</a:t>
                      </a:r>
                      <a:endParaRPr lang="en-US" sz="10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EEF6FA"/>
                    </a:solidFill>
                  </a:tcPr>
                </a:tc>
              </a:tr>
              <a:tr h="402336">
                <a:tc>
                  <a:txBody>
                    <a:bodyPr/>
                    <a:lstStyle/>
                    <a:p>
                      <a:pPr algn="l" indent="0" marL="0">
                        <a:buNone/>
                      </a:pPr>
                      <a:r>
                        <a:rPr lang="en-US" sz="900" dirty="0">
                          <a:solidFill>
                            <a:srgbClr val="14333F"/>
                          </a:solidFill>
                          <a:latin typeface="Courier New" pitchFamily="34" charset="0"/>
                          <a:ea typeface="Courier New" pitchFamily="34" charset="-122"/>
                          <a:cs typeface="Courier New" pitchFamily="34" charset="-120"/>
                        </a:rPr>
                        <a:t>letter_optout_confirmation</a:t>
                      </a:r>
                      <a:endParaRPr lang="en-US" sz="900" dirty="0">
                        <a:latin typeface="Courier New" charset="0"/>
                        <a:ea typeface="Courier New" charset="0"/>
                        <a:cs typeface="Courier New"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7782"/>
                          </a:solidFill>
                          <a:latin typeface="Calibri" pitchFamily="34" charset="0"/>
                          <a:ea typeface="Calibri" pitchFamily="34" charset="-122"/>
                          <a:cs typeface="Calibri" pitchFamily="34" charset="-120"/>
                        </a:rPr>
                        <a:t>Letter</a:t>
                      </a:r>
                      <a:endParaRPr lang="en-US" sz="10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c>
                  <a:txBody>
                    <a:bodyPr/>
                    <a:lstStyle/>
                    <a:p>
                      <a:pPr algn="l" indent="0" marL="0">
                        <a:buNone/>
                      </a:pPr>
                      <a:r>
                        <a:rPr lang="en-US" sz="1000" i="1" dirty="0">
                          <a:solidFill>
                            <a:srgbClr val="5B7782"/>
                          </a:solidFill>
                          <a:latin typeface="Calibri" pitchFamily="34" charset="0"/>
                          <a:ea typeface="Calibri" pitchFamily="34" charset="-122"/>
                          <a:cs typeface="Calibri" pitchFamily="34" charset="-120"/>
                        </a:rPr>
                        <a:t>name · marketing-consent status</a:t>
                      </a:r>
                      <a:endParaRPr lang="en-US" sz="10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r>
              <a:tr h="402336">
                <a:tc>
                  <a:txBody>
                    <a:bodyPr/>
                    <a:lstStyle/>
                    <a:p>
                      <a:pPr algn="l" indent="0" marL="0">
                        <a:buNone/>
                      </a:pPr>
                      <a:r>
                        <a:rPr lang="en-US" sz="900" dirty="0">
                          <a:solidFill>
                            <a:srgbClr val="14333F"/>
                          </a:solidFill>
                          <a:latin typeface="Courier New" pitchFamily="34" charset="0"/>
                          <a:ea typeface="Courier New" pitchFamily="34" charset="-122"/>
                          <a:cs typeface="Courier New" pitchFamily="34" charset="-120"/>
                        </a:rPr>
                        <a:t>email_service_request</a:t>
                      </a:r>
                      <a:endParaRPr lang="en-US" sz="900" dirty="0">
                        <a:latin typeface="Courier New" charset="0"/>
                        <a:ea typeface="Courier New" charset="0"/>
                        <a:cs typeface="Courier New"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EEF6FA"/>
                    </a:solidFill>
                  </a:tcPr>
                </a:tc>
                <a:tc>
                  <a:txBody>
                    <a:bodyPr/>
                    <a:lstStyle/>
                    <a:p>
                      <a:pPr algn="l" indent="0" marL="0">
                        <a:buNone/>
                      </a:pPr>
                      <a:r>
                        <a:rPr lang="en-US" sz="1000" dirty="0">
                          <a:solidFill>
                            <a:srgbClr val="5B7782"/>
                          </a:solidFill>
                          <a:latin typeface="Calibri" pitchFamily="34" charset="0"/>
                          <a:ea typeface="Calibri" pitchFamily="34" charset="-122"/>
                          <a:cs typeface="Calibri" pitchFamily="34" charset="-120"/>
                        </a:rPr>
                        <a:t>Email</a:t>
                      </a:r>
                      <a:endParaRPr lang="en-US" sz="10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EEF6FA"/>
                    </a:solidFill>
                  </a:tcPr>
                </a:tc>
                <a:tc>
                  <a:txBody>
                    <a:bodyPr/>
                    <a:lstStyle/>
                    <a:p>
                      <a:pPr algn="l" indent="0" marL="0">
                        <a:buNone/>
                      </a:pPr>
                      <a:r>
                        <a:rPr lang="en-US" sz="1000" i="1" dirty="0">
                          <a:solidFill>
                            <a:srgbClr val="5B7782"/>
                          </a:solidFill>
                          <a:latin typeface="Calibri" pitchFamily="34" charset="0"/>
                          <a:ea typeface="Calibri" pitchFamily="34" charset="-122"/>
                          <a:cs typeface="Calibri" pitchFamily="34" charset="-120"/>
                        </a:rPr>
                        <a:t>name · email · phone · address</a:t>
                      </a:r>
                      <a:endParaRPr lang="en-US" sz="10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EEF6FA"/>
                    </a:solidFill>
                  </a:tcPr>
                </a:tc>
              </a:tr>
              <a:tr h="402336">
                <a:tc>
                  <a:txBody>
                    <a:bodyPr/>
                    <a:lstStyle/>
                    <a:p>
                      <a:pPr algn="l" indent="0" marL="0">
                        <a:buNone/>
                      </a:pPr>
                      <a:r>
                        <a:rPr lang="en-US" sz="900" dirty="0">
                          <a:solidFill>
                            <a:srgbClr val="14333F"/>
                          </a:solidFill>
                          <a:latin typeface="Courier New" pitchFamily="34" charset="0"/>
                          <a:ea typeface="Courier New" pitchFamily="34" charset="-122"/>
                          <a:cs typeface="Courier New" pitchFamily="34" charset="-120"/>
                        </a:rPr>
                        <a:t>email_conservation_inquiry</a:t>
                      </a:r>
                      <a:endParaRPr lang="en-US" sz="900" dirty="0">
                        <a:latin typeface="Courier New" charset="0"/>
                        <a:ea typeface="Courier New" charset="0"/>
                        <a:cs typeface="Courier New"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c>
                  <a:txBody>
                    <a:bodyPr/>
                    <a:lstStyle/>
                    <a:p>
                      <a:pPr algn="l" indent="0" marL="0">
                        <a:buNone/>
                      </a:pPr>
                      <a:r>
                        <a:rPr lang="en-US" sz="1000" dirty="0">
                          <a:solidFill>
                            <a:srgbClr val="5B7782"/>
                          </a:solidFill>
                          <a:latin typeface="Calibri" pitchFamily="34" charset="0"/>
                          <a:ea typeface="Calibri" pitchFamily="34" charset="-122"/>
                          <a:cs typeface="Calibri" pitchFamily="34" charset="-120"/>
                        </a:rPr>
                        <a:t>Email</a:t>
                      </a:r>
                      <a:endParaRPr lang="en-US" sz="10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c>
                  <a:txBody>
                    <a:bodyPr/>
                    <a:lstStyle/>
                    <a:p>
                      <a:pPr algn="l" indent="0" marL="0">
                        <a:buNone/>
                      </a:pPr>
                      <a:r>
                        <a:rPr lang="en-US" sz="1000" i="1" dirty="0">
                          <a:solidFill>
                            <a:srgbClr val="5B7782"/>
                          </a:solidFill>
                          <a:latin typeface="Calibri" pitchFamily="34" charset="0"/>
                          <a:ea typeface="Calibri" pitchFamily="34" charset="-122"/>
                          <a:cs typeface="Calibri" pitchFamily="34" charset="-120"/>
                        </a:rPr>
                        <a:t>name · email · address</a:t>
                      </a:r>
                      <a:endParaRPr lang="en-US" sz="1000" dirty="0">
                        <a:latin typeface="Calibri" charset="0"/>
                        <a:ea typeface="Calibri" charset="0"/>
                        <a:cs typeface="Calibri" charset="0"/>
                      </a:endParaRPr>
                    </a:p>
                  </a:txBody>
                  <a:tcPr marL="76200" marR="76200" marT="38100" marB="38100" anchor="ctr">
                    <a:lnL w="6350" cap="flat" cmpd="sng" algn="ctr">
                      <a:solidFill>
                        <a:srgbClr val="DCEEF5"/>
                      </a:solidFill>
                      <a:prstDash val="solid"/>
                      <a:round/>
                      <a:headEnd type="none" w="med" len="med"/>
                      <a:tailEnd type="none" w="med" len="med"/>
                    </a:lnL>
                    <a:lnR w="6350" cap="flat" cmpd="sng" algn="ctr">
                      <a:solidFill>
                        <a:srgbClr val="DCEEF5"/>
                      </a:solidFill>
                      <a:prstDash val="solid"/>
                      <a:round/>
                      <a:headEnd type="none" w="med" len="med"/>
                      <a:tailEnd type="none" w="med" len="med"/>
                    </a:lnR>
                    <a:lnT w="6350" cap="flat" cmpd="sng" algn="ctr">
                      <a:solidFill>
                        <a:srgbClr val="DCEEF5"/>
                      </a:solidFill>
                      <a:prstDash val="solid"/>
                      <a:round/>
                      <a:headEnd type="none" w="med" len="med"/>
                      <a:tailEnd type="none" w="med" len="med"/>
                    </a:lnT>
                    <a:lnB w="6350" cap="flat" cmpd="sng" algn="ctr">
                      <a:solidFill>
                        <a:srgbClr val="DCEEF5"/>
                      </a:solidFill>
                      <a:prstDash val="solid"/>
                      <a:round/>
                      <a:headEnd type="none" w="med" len="med"/>
                      <a:tailEnd type="none" w="med" len="med"/>
                    </a:lnB>
                    <a:solidFill>
                      <a:srgbClr val="FFFFFF"/>
                    </a:solidFill>
                  </a:tcPr>
                </a:tc>
              </a:tr>
            </a:tbl>
          </a:graphicData>
        </a:graphic>
      </p:graphicFrame>
      <p:sp>
        <p:nvSpPr>
          <p:cNvPr id="8" name="Shape 4"/>
          <p:cNvSpPr/>
          <p:nvPr/>
        </p:nvSpPr>
        <p:spPr>
          <a:xfrm>
            <a:off x="6172200" y="2139696"/>
            <a:ext cx="2423160" cy="2286000"/>
          </a:xfrm>
          <a:prstGeom prst="roundRect">
            <a:avLst>
              <a:gd name="adj" fmla="val 4000"/>
            </a:avLst>
          </a:prstGeom>
          <a:solidFill>
            <a:srgbClr val="14333F"/>
          </a:solidFill>
          <a:ln/>
          <a:effectLst>
            <a:outerShdw sx="100000" sy="100000" kx="0" ky="0" algn="bl" rotWithShape="0" blurRad="88900" dist="38100" dir="5400000">
              <a:srgbClr val="0B1B2B">
                <a:alpha val="16000"/>
              </a:srgbClr>
            </a:outerShdw>
          </a:effectLst>
        </p:spPr>
      </p:sp>
      <p:sp>
        <p:nvSpPr>
          <p:cNvPr id="9" name="Text 5"/>
          <p:cNvSpPr/>
          <p:nvPr/>
        </p:nvSpPr>
        <p:spPr>
          <a:xfrm>
            <a:off x="6409944" y="2331720"/>
            <a:ext cx="1965960" cy="237744"/>
          </a:xfrm>
          <a:prstGeom prst="rect">
            <a:avLst/>
          </a:prstGeom>
          <a:noFill/>
          <a:ln/>
        </p:spPr>
        <p:txBody>
          <a:bodyPr wrap="square" lIns="0" tIns="0" rIns="0" bIns="0" rtlCol="0" anchor="ctr"/>
          <a:lstStyle/>
          <a:p>
            <a:pPr indent="0" marL="0">
              <a:buNone/>
            </a:pPr>
            <a:r>
              <a:rPr lang="en-US" sz="950" b="1" spc="150" kern="0" dirty="0">
                <a:solidFill>
                  <a:srgbClr val="2EC4B6"/>
                </a:solidFill>
                <a:latin typeface="Calibri" pitchFamily="34" charset="0"/>
                <a:ea typeface="Calibri" pitchFamily="34" charset="-122"/>
                <a:cs typeface="Calibri" pitchFamily="34" charset="-120"/>
              </a:rPr>
              <a:t>A PATTERN CATCHES REFS</a:t>
            </a:r>
            <a:endParaRPr lang="en-US" sz="950" dirty="0"/>
          </a:p>
        </p:txBody>
      </p:sp>
      <p:sp>
        <p:nvSpPr>
          <p:cNvPr id="10" name="Text 6"/>
          <p:cNvSpPr/>
          <p:nvPr/>
        </p:nvSpPr>
        <p:spPr>
          <a:xfrm>
            <a:off x="6409944" y="2578608"/>
            <a:ext cx="1965960" cy="347472"/>
          </a:xfrm>
          <a:prstGeom prst="rect">
            <a:avLst/>
          </a:prstGeom>
          <a:noFill/>
          <a:ln/>
        </p:spPr>
        <p:txBody>
          <a:bodyPr wrap="square" lIns="0" tIns="0" rIns="0" bIns="0" rtlCol="0" anchor="ctr"/>
          <a:lstStyle/>
          <a:p>
            <a:pPr indent="0" marL="0">
              <a:buNone/>
            </a:pPr>
            <a:r>
              <a:rPr lang="en-US" sz="1600" b="1" dirty="0">
                <a:solidFill>
                  <a:srgbClr val="FFFFFF"/>
                </a:solidFill>
                <a:latin typeface="Courier New" pitchFamily="34" charset="0"/>
                <a:ea typeface="Courier New" pitchFamily="34" charset="-122"/>
                <a:cs typeface="Courier New" pitchFamily="34" charset="-120"/>
              </a:rPr>
              <a:t>AWC-AJ-100118</a:t>
            </a:r>
            <a:endParaRPr lang="en-US" sz="1600" dirty="0"/>
          </a:p>
        </p:txBody>
      </p:sp>
      <p:sp>
        <p:nvSpPr>
          <p:cNvPr id="11" name="Text 7"/>
          <p:cNvSpPr/>
          <p:nvPr/>
        </p:nvSpPr>
        <p:spPr>
          <a:xfrm>
            <a:off x="6409944" y="2962656"/>
            <a:ext cx="1965960" cy="237744"/>
          </a:xfrm>
          <a:prstGeom prst="rect">
            <a:avLst/>
          </a:prstGeom>
          <a:noFill/>
          <a:ln/>
        </p:spPr>
        <p:txBody>
          <a:bodyPr wrap="square" lIns="0" tIns="0" rIns="0" bIns="0" rtlCol="0" anchor="ctr"/>
          <a:lstStyle/>
          <a:p>
            <a:pPr indent="0" marL="0">
              <a:buNone/>
            </a:pPr>
            <a:r>
              <a:rPr lang="en-US" sz="1000" i="1" dirty="0">
                <a:solidFill>
                  <a:srgbClr val="C9DEE8"/>
                </a:solidFill>
                <a:latin typeface="Calibri" pitchFamily="34" charset="0"/>
                <a:ea typeface="Calibri" pitchFamily="34" charset="-122"/>
                <a:cs typeface="Calibri" pitchFamily="34" charset="-120"/>
              </a:rPr>
              <a:t>reduces to</a:t>
            </a:r>
            <a:endParaRPr lang="en-US" sz="1000" dirty="0"/>
          </a:p>
        </p:txBody>
      </p:sp>
      <p:sp>
        <p:nvSpPr>
          <p:cNvPr id="12" name="Text 8"/>
          <p:cNvSpPr/>
          <p:nvPr/>
        </p:nvSpPr>
        <p:spPr>
          <a:xfrm>
            <a:off x="6409944" y="3182112"/>
            <a:ext cx="1965960" cy="347472"/>
          </a:xfrm>
          <a:prstGeom prst="rect">
            <a:avLst/>
          </a:prstGeom>
          <a:noFill/>
          <a:ln/>
        </p:spPr>
        <p:txBody>
          <a:bodyPr wrap="square" lIns="0" tIns="0" rIns="0" bIns="0" rtlCol="0" anchor="ctr"/>
          <a:lstStyle/>
          <a:p>
            <a:pPr indent="0" marL="0">
              <a:buNone/>
            </a:pPr>
            <a:r>
              <a:rPr lang="en-US" sz="1600" b="1" dirty="0">
                <a:solidFill>
                  <a:srgbClr val="2EC4B6"/>
                </a:solidFill>
                <a:latin typeface="Courier New" pitchFamily="34" charset="0"/>
                <a:ea typeface="Courier New" pitchFamily="34" charset="-122"/>
                <a:cs typeface="Courier New" pitchFamily="34" charset="-120"/>
              </a:rPr>
              <a:t>AAA-AA-nnnnnn</a:t>
            </a:r>
            <a:endParaRPr lang="en-US" sz="1600" dirty="0"/>
          </a:p>
        </p:txBody>
      </p:sp>
      <p:sp>
        <p:nvSpPr>
          <p:cNvPr id="13" name="Text 9"/>
          <p:cNvSpPr/>
          <p:nvPr/>
        </p:nvSpPr>
        <p:spPr>
          <a:xfrm>
            <a:off x="6409944" y="3602736"/>
            <a:ext cx="1965960" cy="731520"/>
          </a:xfrm>
          <a:prstGeom prst="rect">
            <a:avLst/>
          </a:prstGeom>
          <a:noFill/>
          <a:ln/>
        </p:spPr>
        <p:txBody>
          <a:bodyPr wrap="square" lIns="0" tIns="0" rIns="0" bIns="0" rtlCol="0" anchor="ctr"/>
          <a:lstStyle/>
          <a:p>
            <a:pPr indent="0" marL="0">
              <a:lnSpc>
                <a:spcPct val="103000"/>
              </a:lnSpc>
              <a:buNone/>
            </a:pPr>
            <a:r>
              <a:rPr lang="en-US" sz="970" dirty="0">
                <a:solidFill>
                  <a:srgbClr val="C9DEE8"/>
                </a:solidFill>
                <a:latin typeface="Calibri" pitchFamily="34" charset="0"/>
                <a:ea typeface="Calibri" pitchFamily="34" charset="-122"/>
                <a:cs typeface="Calibri" pitchFamily="34" charset="-120"/>
              </a:rPr>
              <a:t>A custom pattern flags AWC account / case references wherever they appear in a letter — not just in a column.</a:t>
            </a:r>
            <a:endParaRPr lang="en-US" sz="970" dirty="0"/>
          </a:p>
        </p:txBody>
      </p:sp>
      <p:sp>
        <p:nvSpPr>
          <p:cNvPr id="14" name="Text 10"/>
          <p:cNvSpPr/>
          <p:nvPr/>
        </p:nvSpPr>
        <p:spPr>
          <a:xfrm>
            <a:off x="548640" y="4572000"/>
            <a:ext cx="8046720" cy="292608"/>
          </a:xfrm>
          <a:prstGeom prst="rect">
            <a:avLst/>
          </a:prstGeom>
          <a:noFill/>
          <a:ln/>
        </p:spPr>
        <p:txBody>
          <a:bodyPr wrap="square" lIns="0" tIns="0" rIns="0" bIns="0" rtlCol="0" anchor="ctr"/>
          <a:lstStyle/>
          <a:p>
            <a:pPr indent="0" marL="0">
              <a:buNone/>
            </a:pPr>
            <a:r>
              <a:rPr lang="en-US" sz="900" i="1" dirty="0">
                <a:solidFill>
                  <a:srgbClr val="5B7782"/>
                </a:solidFill>
                <a:latin typeface="Calibri" pitchFamily="34" charset="0"/>
                <a:ea typeface="Calibri" pitchFamily="34" charset="-122"/>
                <a:cs typeface="Calibri" pitchFamily="34" charset="-120"/>
              </a:rPr>
              <a:t>Illustrative · contents inferred from file names. String Detection flags presence (and optional count) of each value in the document.</a:t>
            </a:r>
            <a:endParaRPr lang="en-US" sz="900" dirty="0"/>
          </a:p>
        </p:txBody>
      </p:sp>
      <p:sp>
        <p:nvSpPr>
          <p:cNvPr id="15" name="Text 11"/>
          <p:cNvSpPr/>
          <p:nvPr/>
        </p:nvSpPr>
        <p:spPr>
          <a:xfrm>
            <a:off x="8458200" y="4736592"/>
            <a:ext cx="365760" cy="274320"/>
          </a:xfrm>
          <a:prstGeom prst="rect">
            <a:avLst/>
          </a:prstGeom>
          <a:noFill/>
          <a:ln/>
        </p:spPr>
        <p:txBody>
          <a:bodyPr wrap="square" lIns="0" tIns="0" rIns="0" bIns="0" rtlCol="0" anchor="ctr"/>
          <a:lstStyle/>
          <a:p>
            <a:pPr algn="r" indent="0" marL="0">
              <a:buNone/>
            </a:pPr>
            <a:r>
              <a:rPr lang="en-US" sz="900" dirty="0">
                <a:solidFill>
                  <a:srgbClr val="5B7782"/>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046720" cy="292608"/>
          </a:xfrm>
          <a:prstGeom prst="rect">
            <a:avLst/>
          </a:prstGeom>
          <a:noFill/>
          <a:ln/>
        </p:spPr>
        <p:txBody>
          <a:bodyPr wrap="square" lIns="0" tIns="0" rIns="0" bIns="0" rtlCol="0" anchor="ctr"/>
          <a:lstStyle/>
          <a:p>
            <a:pPr algn="l" indent="0" marL="0">
              <a:buNone/>
            </a:pPr>
            <a:r>
              <a:rPr lang="en-US" sz="1150" b="1" spc="300" kern="0" dirty="0">
                <a:solidFill>
                  <a:srgbClr val="1C7293"/>
                </a:solidFill>
                <a:latin typeface="Calibri" pitchFamily="34" charset="0"/>
                <a:ea typeface="Calibri" pitchFamily="34" charset="-122"/>
                <a:cs typeface="Calibri" pitchFamily="34" charset="-120"/>
              </a:rPr>
              <a:t>PUTTING IT TO WORK · AWC</a:t>
            </a:r>
            <a:endParaRPr lang="en-US" sz="1150" dirty="0"/>
          </a:p>
        </p:txBody>
      </p:sp>
      <p:sp>
        <p:nvSpPr>
          <p:cNvPr id="3" name="Text 1"/>
          <p:cNvSpPr/>
          <p:nvPr/>
        </p:nvSpPr>
        <p:spPr>
          <a:xfrm>
            <a:off x="548640" y="658368"/>
            <a:ext cx="8229600" cy="548640"/>
          </a:xfrm>
          <a:prstGeom prst="rect">
            <a:avLst/>
          </a:prstGeom>
          <a:noFill/>
          <a:ln/>
        </p:spPr>
        <p:txBody>
          <a:bodyPr wrap="square" lIns="0" tIns="0" rIns="0" bIns="0" rtlCol="0" anchor="ctr"/>
          <a:lstStyle/>
          <a:p>
            <a:pPr indent="0" marL="0">
              <a:buNone/>
            </a:pPr>
            <a:r>
              <a:rPr lang="en-US" sz="2800" b="1" dirty="0">
                <a:solidFill>
                  <a:srgbClr val="14333F"/>
                </a:solidFill>
                <a:latin typeface="Bookman Old Style" pitchFamily="34" charset="0"/>
                <a:ea typeface="Bookman Old Style" pitchFamily="34" charset="-122"/>
                <a:cs typeface="Bookman Old Style" pitchFamily="34" charset="-120"/>
              </a:rPr>
              <a:t>Methods to apply at AWC</a:t>
            </a:r>
            <a:endParaRPr lang="en-US" sz="2800" dirty="0"/>
          </a:p>
        </p:txBody>
      </p:sp>
      <p:sp>
        <p:nvSpPr>
          <p:cNvPr id="4" name="Text 2"/>
          <p:cNvSpPr/>
          <p:nvPr/>
        </p:nvSpPr>
        <p:spPr>
          <a:xfrm>
            <a:off x="548640" y="1225296"/>
            <a:ext cx="8138160" cy="457200"/>
          </a:xfrm>
          <a:prstGeom prst="rect">
            <a:avLst/>
          </a:prstGeom>
          <a:noFill/>
          <a:ln/>
        </p:spPr>
        <p:txBody>
          <a:bodyPr wrap="square" lIns="0" tIns="0" rIns="0" bIns="0" rtlCol="0" anchor="ctr"/>
          <a:lstStyle/>
          <a:p>
            <a:pPr indent="0" marL="0">
              <a:lnSpc>
                <a:spcPct val="104000"/>
              </a:lnSpc>
              <a:buNone/>
            </a:pPr>
            <a:r>
              <a:rPr lang="en-US" sz="1250" dirty="0">
                <a:solidFill>
                  <a:srgbClr val="5B7782"/>
                </a:solidFill>
                <a:latin typeface="Calibri" pitchFamily="34" charset="0"/>
                <a:ea typeface="Calibri" pitchFamily="34" charset="-122"/>
                <a:cs typeface="Calibri" pitchFamily="34" charset="-120"/>
              </a:rPr>
              <a:t>Most of AWC’s data is covered by methods that already ship with the catalog — select the built-in dictionaries and patterns that fit, then add two custom AWC methods for what the built-ins don’t know.</a:t>
            </a:r>
            <a:endParaRPr lang="en-US" sz="1250" dirty="0"/>
          </a:p>
        </p:txBody>
      </p:sp>
      <p:sp>
        <p:nvSpPr>
          <p:cNvPr id="5" name="Shape 3"/>
          <p:cNvSpPr/>
          <p:nvPr/>
        </p:nvSpPr>
        <p:spPr>
          <a:xfrm>
            <a:off x="548640" y="1792224"/>
            <a:ext cx="3913632" cy="2286000"/>
          </a:xfrm>
          <a:prstGeom prst="roundRect">
            <a:avLst>
              <a:gd name="adj" fmla="val 4000"/>
            </a:avLst>
          </a:prstGeom>
          <a:solidFill>
            <a:srgbClr val="EEF6FA"/>
          </a:solidFill>
          <a:ln w="12700">
            <a:solidFill>
              <a:srgbClr val="DCEEF5"/>
            </a:solidFill>
            <a:prstDash val="solid"/>
          </a:ln>
        </p:spPr>
      </p:sp>
      <p:sp>
        <p:nvSpPr>
          <p:cNvPr id="6" name="Shape 4"/>
          <p:cNvSpPr/>
          <p:nvPr/>
        </p:nvSpPr>
        <p:spPr>
          <a:xfrm>
            <a:off x="804672" y="2011680"/>
            <a:ext cx="493776" cy="493776"/>
          </a:xfrm>
          <a:prstGeom prst="ellipse">
            <a:avLst/>
          </a:prstGeom>
          <a:solidFill>
            <a:srgbClr val="1C7293"/>
          </a:solidFill>
          <a:ln/>
          <a:effectLst>
            <a:outerShdw sx="100000" sy="100000" kx="0" ky="0" algn="bl" rotWithShape="0" blurRad="88900" dist="38100" dir="5400000">
              <a:srgbClr val="0B1B2B">
                <a:alpha val="16000"/>
              </a:srgbClr>
            </a:outerShdw>
          </a:effectLst>
        </p:spPr>
      </p:sp>
      <p:pic>
        <p:nvPicPr>
          <p:cNvPr id="7" name="Image 0" descr="preencoded.png">    </p:cNvPr>
          <p:cNvPicPr>
            <a:picLocks noChangeAspect="1"/>
          </p:cNvPicPr>
          <p:nvPr/>
        </p:nvPicPr>
        <p:blipFill>
          <a:blip r:embed="rId1"/>
          <a:stretch>
            <a:fillRect/>
          </a:stretch>
        </p:blipFill>
        <p:spPr>
          <a:xfrm>
            <a:off x="937992" y="2145000"/>
            <a:ext cx="227137" cy="227137"/>
          </a:xfrm>
          <a:prstGeom prst="rect">
            <a:avLst/>
          </a:prstGeom>
        </p:spPr>
      </p:pic>
      <p:sp>
        <p:nvSpPr>
          <p:cNvPr id="8" name="Text 5"/>
          <p:cNvSpPr/>
          <p:nvPr/>
        </p:nvSpPr>
        <p:spPr>
          <a:xfrm>
            <a:off x="1426464" y="2011680"/>
            <a:ext cx="2944368" cy="274320"/>
          </a:xfrm>
          <a:prstGeom prst="rect">
            <a:avLst/>
          </a:prstGeom>
          <a:noFill/>
          <a:ln/>
        </p:spPr>
        <p:txBody>
          <a:bodyPr wrap="square" lIns="0" tIns="0" rIns="0" bIns="0" rtlCol="0" anchor="ctr"/>
          <a:lstStyle/>
          <a:p>
            <a:pPr indent="0" marL="0">
              <a:buNone/>
            </a:pPr>
            <a:r>
              <a:rPr lang="en-US" sz="1400" b="1" dirty="0">
                <a:solidFill>
                  <a:srgbClr val="14333F"/>
                </a:solidFill>
                <a:latin typeface="Bookman Old Style" pitchFamily="34" charset="0"/>
                <a:ea typeface="Bookman Old Style" pitchFamily="34" charset="-122"/>
                <a:cs typeface="Bookman Old Style" pitchFamily="34" charset="-120"/>
              </a:rPr>
              <a:t>Structured · customers</a:t>
            </a:r>
            <a:endParaRPr lang="en-US" sz="1400" dirty="0"/>
          </a:p>
        </p:txBody>
      </p:sp>
      <p:sp>
        <p:nvSpPr>
          <p:cNvPr id="9" name="Text 6"/>
          <p:cNvSpPr/>
          <p:nvPr/>
        </p:nvSpPr>
        <p:spPr>
          <a:xfrm>
            <a:off x="1426464" y="2267712"/>
            <a:ext cx="2907792" cy="237744"/>
          </a:xfrm>
          <a:prstGeom prst="rect">
            <a:avLst/>
          </a:prstGeom>
          <a:noFill/>
          <a:ln/>
        </p:spPr>
        <p:txBody>
          <a:bodyPr wrap="square" lIns="0" tIns="0" rIns="0" bIns="0" rtlCol="0" anchor="ctr"/>
          <a:lstStyle/>
          <a:p>
            <a:pPr indent="0" marL="0">
              <a:buNone/>
            </a:pPr>
            <a:r>
              <a:rPr lang="en-US" sz="1050" b="1" dirty="0">
                <a:solidFill>
                  <a:srgbClr val="1C7293"/>
                </a:solidFill>
                <a:latin typeface="Calibri" pitchFamily="34" charset="0"/>
                <a:ea typeface="Calibri" pitchFamily="34" charset="-122"/>
                <a:cs typeface="Calibri" pitchFamily="34" charset="-120"/>
              </a:rPr>
              <a:t>Select built-in dictionaries + patterns</a:t>
            </a:r>
            <a:endParaRPr lang="en-US" sz="1050" dirty="0"/>
          </a:p>
        </p:txBody>
      </p:sp>
      <p:sp>
        <p:nvSpPr>
          <p:cNvPr id="10" name="Text 7"/>
          <p:cNvSpPr/>
          <p:nvPr/>
        </p:nvSpPr>
        <p:spPr>
          <a:xfrm>
            <a:off x="822960" y="2670048"/>
            <a:ext cx="1481328" cy="292608"/>
          </a:xfrm>
          <a:prstGeom prst="rect">
            <a:avLst/>
          </a:prstGeom>
          <a:noFill/>
          <a:ln/>
        </p:spPr>
        <p:txBody>
          <a:bodyPr wrap="square" lIns="0" tIns="0" rIns="0" bIns="0" rtlCol="0" anchor="ctr"/>
          <a:lstStyle/>
          <a:p>
            <a:pPr indent="0" marL="0">
              <a:buNone/>
            </a:pPr>
            <a:r>
              <a:rPr lang="en-US" sz="1050" b="1" dirty="0">
                <a:solidFill>
                  <a:srgbClr val="14333F"/>
                </a:solidFill>
                <a:latin typeface="Calibri" pitchFamily="34" charset="0"/>
                <a:ea typeface="Calibri" pitchFamily="34" charset="-122"/>
                <a:cs typeface="Calibri" pitchFamily="34" charset="-120"/>
              </a:rPr>
              <a:t>name</a:t>
            </a:r>
            <a:endParaRPr lang="en-US" sz="1050" dirty="0"/>
          </a:p>
        </p:txBody>
      </p:sp>
      <p:sp>
        <p:nvSpPr>
          <p:cNvPr id="11" name="Text 8"/>
          <p:cNvSpPr/>
          <p:nvPr/>
        </p:nvSpPr>
        <p:spPr>
          <a:xfrm>
            <a:off x="2267712" y="2670048"/>
            <a:ext cx="201168" cy="292608"/>
          </a:xfrm>
          <a:prstGeom prst="rect">
            <a:avLst/>
          </a:prstGeom>
          <a:noFill/>
          <a:ln/>
        </p:spPr>
        <p:txBody>
          <a:bodyPr wrap="square" lIns="0" tIns="0" rIns="0" bIns="0" rtlCol="0" anchor="ctr"/>
          <a:lstStyle/>
          <a:p>
            <a:pPr indent="0" marL="0">
              <a:buNone/>
            </a:pPr>
            <a:r>
              <a:rPr lang="en-US" sz="1050" dirty="0">
                <a:solidFill>
                  <a:srgbClr val="1C7293"/>
                </a:solidFill>
                <a:latin typeface="Calibri" pitchFamily="34" charset="0"/>
                <a:ea typeface="Calibri" pitchFamily="34" charset="-122"/>
                <a:cs typeface="Calibri" pitchFamily="34" charset="-120"/>
              </a:rPr>
              <a:t>→</a:t>
            </a:r>
            <a:endParaRPr lang="en-US" sz="1050" dirty="0"/>
          </a:p>
        </p:txBody>
      </p:sp>
      <p:sp>
        <p:nvSpPr>
          <p:cNvPr id="12" name="Text 9"/>
          <p:cNvSpPr/>
          <p:nvPr/>
        </p:nvSpPr>
        <p:spPr>
          <a:xfrm>
            <a:off x="2505456" y="2670048"/>
            <a:ext cx="1773936" cy="310896"/>
          </a:xfrm>
          <a:prstGeom prst="rect">
            <a:avLst/>
          </a:prstGeom>
          <a:noFill/>
          <a:ln/>
        </p:spPr>
        <p:txBody>
          <a:bodyPr wrap="square" lIns="0" tIns="0" rIns="0" bIns="0" rtlCol="0" anchor="ctr"/>
          <a:lstStyle/>
          <a:p>
            <a:pPr indent="0" marL="0">
              <a:lnSpc>
                <a:spcPct val="98000"/>
              </a:lnSpc>
              <a:buNone/>
            </a:pPr>
            <a:r>
              <a:rPr lang="en-US" sz="1050" dirty="0">
                <a:solidFill>
                  <a:srgbClr val="5B7782"/>
                </a:solidFill>
                <a:latin typeface="Calibri" pitchFamily="34" charset="0"/>
                <a:ea typeface="Calibri" pitchFamily="34" charset="-122"/>
                <a:cs typeface="Calibri" pitchFamily="34" charset="-120"/>
              </a:rPr>
              <a:t>person-name dictionary</a:t>
            </a:r>
            <a:endParaRPr lang="en-US" sz="1050" dirty="0"/>
          </a:p>
        </p:txBody>
      </p:sp>
      <p:sp>
        <p:nvSpPr>
          <p:cNvPr id="13" name="Text 10"/>
          <p:cNvSpPr/>
          <p:nvPr/>
        </p:nvSpPr>
        <p:spPr>
          <a:xfrm>
            <a:off x="822960" y="3012948"/>
            <a:ext cx="1481328" cy="292608"/>
          </a:xfrm>
          <a:prstGeom prst="rect">
            <a:avLst/>
          </a:prstGeom>
          <a:noFill/>
          <a:ln/>
        </p:spPr>
        <p:txBody>
          <a:bodyPr wrap="square" lIns="0" tIns="0" rIns="0" bIns="0" rtlCol="0" anchor="ctr"/>
          <a:lstStyle/>
          <a:p>
            <a:pPr indent="0" marL="0">
              <a:buNone/>
            </a:pPr>
            <a:r>
              <a:rPr lang="en-US" sz="1050" b="1" dirty="0">
                <a:solidFill>
                  <a:srgbClr val="14333F"/>
                </a:solidFill>
                <a:latin typeface="Calibri" pitchFamily="34" charset="0"/>
                <a:ea typeface="Calibri" pitchFamily="34" charset="-122"/>
                <a:cs typeface="Calibri" pitchFamily="34" charset="-120"/>
              </a:rPr>
              <a:t>email</a:t>
            </a:r>
            <a:endParaRPr lang="en-US" sz="1050" dirty="0"/>
          </a:p>
        </p:txBody>
      </p:sp>
      <p:sp>
        <p:nvSpPr>
          <p:cNvPr id="14" name="Text 11"/>
          <p:cNvSpPr/>
          <p:nvPr/>
        </p:nvSpPr>
        <p:spPr>
          <a:xfrm>
            <a:off x="2267712" y="3012948"/>
            <a:ext cx="201168" cy="292608"/>
          </a:xfrm>
          <a:prstGeom prst="rect">
            <a:avLst/>
          </a:prstGeom>
          <a:noFill/>
          <a:ln/>
        </p:spPr>
        <p:txBody>
          <a:bodyPr wrap="square" lIns="0" tIns="0" rIns="0" bIns="0" rtlCol="0" anchor="ctr"/>
          <a:lstStyle/>
          <a:p>
            <a:pPr indent="0" marL="0">
              <a:buNone/>
            </a:pPr>
            <a:r>
              <a:rPr lang="en-US" sz="1050" dirty="0">
                <a:solidFill>
                  <a:srgbClr val="1C7293"/>
                </a:solidFill>
                <a:latin typeface="Calibri" pitchFamily="34" charset="0"/>
                <a:ea typeface="Calibri" pitchFamily="34" charset="-122"/>
                <a:cs typeface="Calibri" pitchFamily="34" charset="-120"/>
              </a:rPr>
              <a:t>→</a:t>
            </a:r>
            <a:endParaRPr lang="en-US" sz="1050" dirty="0"/>
          </a:p>
        </p:txBody>
      </p:sp>
      <p:sp>
        <p:nvSpPr>
          <p:cNvPr id="15" name="Text 12"/>
          <p:cNvSpPr/>
          <p:nvPr/>
        </p:nvSpPr>
        <p:spPr>
          <a:xfrm>
            <a:off x="2505456" y="3012948"/>
            <a:ext cx="1773936" cy="310896"/>
          </a:xfrm>
          <a:prstGeom prst="rect">
            <a:avLst/>
          </a:prstGeom>
          <a:noFill/>
          <a:ln/>
        </p:spPr>
        <p:txBody>
          <a:bodyPr wrap="square" lIns="0" tIns="0" rIns="0" bIns="0" rtlCol="0" anchor="ctr"/>
          <a:lstStyle/>
          <a:p>
            <a:pPr indent="0" marL="0">
              <a:lnSpc>
                <a:spcPct val="98000"/>
              </a:lnSpc>
              <a:buNone/>
            </a:pPr>
            <a:r>
              <a:rPr lang="en-US" sz="1050" dirty="0">
                <a:solidFill>
                  <a:srgbClr val="5B7782"/>
                </a:solidFill>
                <a:latin typeface="Calibri" pitchFamily="34" charset="0"/>
                <a:ea typeface="Calibri" pitchFamily="34" charset="-122"/>
                <a:cs typeface="Calibri" pitchFamily="34" charset="-120"/>
              </a:rPr>
              <a:t>Email pattern</a:t>
            </a:r>
            <a:endParaRPr lang="en-US" sz="1050" dirty="0"/>
          </a:p>
        </p:txBody>
      </p:sp>
      <p:sp>
        <p:nvSpPr>
          <p:cNvPr id="16" name="Text 13"/>
          <p:cNvSpPr/>
          <p:nvPr/>
        </p:nvSpPr>
        <p:spPr>
          <a:xfrm>
            <a:off x="822960" y="3355848"/>
            <a:ext cx="1481328" cy="292608"/>
          </a:xfrm>
          <a:prstGeom prst="rect">
            <a:avLst/>
          </a:prstGeom>
          <a:noFill/>
          <a:ln/>
        </p:spPr>
        <p:txBody>
          <a:bodyPr wrap="square" lIns="0" tIns="0" rIns="0" bIns="0" rtlCol="0" anchor="ctr"/>
          <a:lstStyle/>
          <a:p>
            <a:pPr indent="0" marL="0">
              <a:buNone/>
            </a:pPr>
            <a:r>
              <a:rPr lang="en-US" sz="1050" b="1" dirty="0">
                <a:solidFill>
                  <a:srgbClr val="14333F"/>
                </a:solidFill>
                <a:latin typeface="Calibri" pitchFamily="34" charset="0"/>
                <a:ea typeface="Calibri" pitchFamily="34" charset="-122"/>
                <a:cs typeface="Calibri" pitchFamily="34" charset="-120"/>
              </a:rPr>
              <a:t>phone</a:t>
            </a:r>
            <a:endParaRPr lang="en-US" sz="1050" dirty="0"/>
          </a:p>
        </p:txBody>
      </p:sp>
      <p:sp>
        <p:nvSpPr>
          <p:cNvPr id="17" name="Text 14"/>
          <p:cNvSpPr/>
          <p:nvPr/>
        </p:nvSpPr>
        <p:spPr>
          <a:xfrm>
            <a:off x="2267712" y="3355848"/>
            <a:ext cx="201168" cy="292608"/>
          </a:xfrm>
          <a:prstGeom prst="rect">
            <a:avLst/>
          </a:prstGeom>
          <a:noFill/>
          <a:ln/>
        </p:spPr>
        <p:txBody>
          <a:bodyPr wrap="square" lIns="0" tIns="0" rIns="0" bIns="0" rtlCol="0" anchor="ctr"/>
          <a:lstStyle/>
          <a:p>
            <a:pPr indent="0" marL="0">
              <a:buNone/>
            </a:pPr>
            <a:r>
              <a:rPr lang="en-US" sz="1050" dirty="0">
                <a:solidFill>
                  <a:srgbClr val="1C7293"/>
                </a:solidFill>
                <a:latin typeface="Calibri" pitchFamily="34" charset="0"/>
                <a:ea typeface="Calibri" pitchFamily="34" charset="-122"/>
                <a:cs typeface="Calibri" pitchFamily="34" charset="-120"/>
              </a:rPr>
              <a:t>→</a:t>
            </a:r>
            <a:endParaRPr lang="en-US" sz="1050" dirty="0"/>
          </a:p>
        </p:txBody>
      </p:sp>
      <p:sp>
        <p:nvSpPr>
          <p:cNvPr id="18" name="Text 15"/>
          <p:cNvSpPr/>
          <p:nvPr/>
        </p:nvSpPr>
        <p:spPr>
          <a:xfrm>
            <a:off x="2505456" y="3355848"/>
            <a:ext cx="1773936" cy="310896"/>
          </a:xfrm>
          <a:prstGeom prst="rect">
            <a:avLst/>
          </a:prstGeom>
          <a:noFill/>
          <a:ln/>
        </p:spPr>
        <p:txBody>
          <a:bodyPr wrap="square" lIns="0" tIns="0" rIns="0" bIns="0" rtlCol="0" anchor="ctr"/>
          <a:lstStyle/>
          <a:p>
            <a:pPr indent="0" marL="0">
              <a:lnSpc>
                <a:spcPct val="98000"/>
              </a:lnSpc>
              <a:buNone/>
            </a:pPr>
            <a:r>
              <a:rPr lang="en-US" sz="1050" dirty="0">
                <a:solidFill>
                  <a:srgbClr val="5B7782"/>
                </a:solidFill>
                <a:latin typeface="Calibri" pitchFamily="34" charset="0"/>
                <a:ea typeface="Calibri" pitchFamily="34" charset="-122"/>
                <a:cs typeface="Calibri" pitchFamily="34" charset="-120"/>
              </a:rPr>
              <a:t>Phone Number pattern</a:t>
            </a:r>
            <a:endParaRPr lang="en-US" sz="1050" dirty="0"/>
          </a:p>
        </p:txBody>
      </p:sp>
      <p:sp>
        <p:nvSpPr>
          <p:cNvPr id="19" name="Text 16"/>
          <p:cNvSpPr/>
          <p:nvPr/>
        </p:nvSpPr>
        <p:spPr>
          <a:xfrm>
            <a:off x="822960" y="3698748"/>
            <a:ext cx="1481328" cy="292608"/>
          </a:xfrm>
          <a:prstGeom prst="rect">
            <a:avLst/>
          </a:prstGeom>
          <a:noFill/>
          <a:ln/>
        </p:spPr>
        <p:txBody>
          <a:bodyPr wrap="square" lIns="0" tIns="0" rIns="0" bIns="0" rtlCol="0" anchor="ctr"/>
          <a:lstStyle/>
          <a:p>
            <a:pPr indent="0" marL="0">
              <a:buNone/>
            </a:pPr>
            <a:r>
              <a:rPr lang="en-US" sz="1050" b="1" dirty="0">
                <a:solidFill>
                  <a:srgbClr val="14333F"/>
                </a:solidFill>
                <a:latin typeface="Calibri" pitchFamily="34" charset="0"/>
                <a:ea typeface="Calibri" pitchFamily="34" charset="-122"/>
                <a:cs typeface="Calibri" pitchFamily="34" charset="-120"/>
              </a:rPr>
              <a:t>address</a:t>
            </a:r>
            <a:endParaRPr lang="en-US" sz="1050" dirty="0"/>
          </a:p>
        </p:txBody>
      </p:sp>
      <p:sp>
        <p:nvSpPr>
          <p:cNvPr id="20" name="Text 17"/>
          <p:cNvSpPr/>
          <p:nvPr/>
        </p:nvSpPr>
        <p:spPr>
          <a:xfrm>
            <a:off x="2267712" y="3698748"/>
            <a:ext cx="201168" cy="292608"/>
          </a:xfrm>
          <a:prstGeom prst="rect">
            <a:avLst/>
          </a:prstGeom>
          <a:noFill/>
          <a:ln/>
        </p:spPr>
        <p:txBody>
          <a:bodyPr wrap="square" lIns="0" tIns="0" rIns="0" bIns="0" rtlCol="0" anchor="ctr"/>
          <a:lstStyle/>
          <a:p>
            <a:pPr indent="0" marL="0">
              <a:buNone/>
            </a:pPr>
            <a:r>
              <a:rPr lang="en-US" sz="1050" dirty="0">
                <a:solidFill>
                  <a:srgbClr val="1C7293"/>
                </a:solidFill>
                <a:latin typeface="Calibri" pitchFamily="34" charset="0"/>
                <a:ea typeface="Calibri" pitchFamily="34" charset="-122"/>
                <a:cs typeface="Calibri" pitchFamily="34" charset="-120"/>
              </a:rPr>
              <a:t>→</a:t>
            </a:r>
            <a:endParaRPr lang="en-US" sz="1050" dirty="0"/>
          </a:p>
        </p:txBody>
      </p:sp>
      <p:sp>
        <p:nvSpPr>
          <p:cNvPr id="21" name="Text 18"/>
          <p:cNvSpPr/>
          <p:nvPr/>
        </p:nvSpPr>
        <p:spPr>
          <a:xfrm>
            <a:off x="2505456" y="3698748"/>
            <a:ext cx="1773936" cy="310896"/>
          </a:xfrm>
          <a:prstGeom prst="rect">
            <a:avLst/>
          </a:prstGeom>
          <a:noFill/>
          <a:ln/>
        </p:spPr>
        <p:txBody>
          <a:bodyPr wrap="square" lIns="0" tIns="0" rIns="0" bIns="0" rtlCol="0" anchor="ctr"/>
          <a:lstStyle/>
          <a:p>
            <a:pPr indent="0" marL="0">
              <a:lnSpc>
                <a:spcPct val="98000"/>
              </a:lnSpc>
              <a:buNone/>
            </a:pPr>
            <a:r>
              <a:rPr lang="en-US" sz="1050" dirty="0">
                <a:solidFill>
                  <a:srgbClr val="5B7782"/>
                </a:solidFill>
                <a:latin typeface="Calibri" pitchFamily="34" charset="0"/>
                <a:ea typeface="Calibri" pitchFamily="34" charset="-122"/>
                <a:cs typeface="Calibri" pitchFamily="34" charset="-120"/>
              </a:rPr>
              <a:t>US States dictionary + ZIP pattern</a:t>
            </a:r>
            <a:endParaRPr lang="en-US" sz="1050" dirty="0"/>
          </a:p>
        </p:txBody>
      </p:sp>
      <p:sp>
        <p:nvSpPr>
          <p:cNvPr id="22" name="Shape 19"/>
          <p:cNvSpPr/>
          <p:nvPr/>
        </p:nvSpPr>
        <p:spPr>
          <a:xfrm>
            <a:off x="4681728" y="1792224"/>
            <a:ext cx="3913632" cy="2286000"/>
          </a:xfrm>
          <a:prstGeom prst="roundRect">
            <a:avLst>
              <a:gd name="adj" fmla="val 4000"/>
            </a:avLst>
          </a:prstGeom>
          <a:solidFill>
            <a:srgbClr val="EEF6FA"/>
          </a:solidFill>
          <a:ln w="12700">
            <a:solidFill>
              <a:srgbClr val="DCEEF5"/>
            </a:solidFill>
            <a:prstDash val="solid"/>
          </a:ln>
        </p:spPr>
      </p:sp>
      <p:sp>
        <p:nvSpPr>
          <p:cNvPr id="23" name="Shape 20"/>
          <p:cNvSpPr/>
          <p:nvPr/>
        </p:nvSpPr>
        <p:spPr>
          <a:xfrm>
            <a:off x="4937760" y="2011680"/>
            <a:ext cx="493776" cy="493776"/>
          </a:xfrm>
          <a:prstGeom prst="ellipse">
            <a:avLst/>
          </a:prstGeom>
          <a:solidFill>
            <a:srgbClr val="065A82"/>
          </a:solidFill>
          <a:ln/>
          <a:effectLst>
            <a:outerShdw sx="100000" sy="100000" kx="0" ky="0" algn="bl" rotWithShape="0" blurRad="88900" dist="38100" dir="5400000">
              <a:srgbClr val="0B1B2B">
                <a:alpha val="16000"/>
              </a:srgbClr>
            </a:outerShdw>
          </a:effectLst>
        </p:spPr>
      </p:sp>
      <p:pic>
        <p:nvPicPr>
          <p:cNvPr id="24" name="Image 1" descr="preencoded.png">    </p:cNvPr>
          <p:cNvPicPr>
            <a:picLocks noChangeAspect="1"/>
          </p:cNvPicPr>
          <p:nvPr/>
        </p:nvPicPr>
        <p:blipFill>
          <a:blip r:embed="rId2"/>
          <a:stretch>
            <a:fillRect/>
          </a:stretch>
        </p:blipFill>
        <p:spPr>
          <a:xfrm>
            <a:off x="5071080" y="2145000"/>
            <a:ext cx="227137" cy="227137"/>
          </a:xfrm>
          <a:prstGeom prst="rect">
            <a:avLst/>
          </a:prstGeom>
        </p:spPr>
      </p:pic>
      <p:sp>
        <p:nvSpPr>
          <p:cNvPr id="25" name="Text 21"/>
          <p:cNvSpPr/>
          <p:nvPr/>
        </p:nvSpPr>
        <p:spPr>
          <a:xfrm>
            <a:off x="5559552" y="2011680"/>
            <a:ext cx="2944368" cy="274320"/>
          </a:xfrm>
          <a:prstGeom prst="rect">
            <a:avLst/>
          </a:prstGeom>
          <a:noFill/>
          <a:ln/>
        </p:spPr>
        <p:txBody>
          <a:bodyPr wrap="square" lIns="0" tIns="0" rIns="0" bIns="0" rtlCol="0" anchor="ctr"/>
          <a:lstStyle/>
          <a:p>
            <a:pPr indent="0" marL="0">
              <a:buNone/>
            </a:pPr>
            <a:r>
              <a:rPr lang="en-US" sz="1400" b="1" dirty="0">
                <a:solidFill>
                  <a:srgbClr val="14333F"/>
                </a:solidFill>
                <a:latin typeface="Bookman Old Style" pitchFamily="34" charset="0"/>
                <a:ea typeface="Bookman Old Style" pitchFamily="34" charset="-122"/>
                <a:cs typeface="Bookman Old Style" pitchFamily="34" charset="-120"/>
              </a:rPr>
              <a:t>Unstructured · documents</a:t>
            </a:r>
            <a:endParaRPr lang="en-US" sz="1400" dirty="0"/>
          </a:p>
        </p:txBody>
      </p:sp>
      <p:sp>
        <p:nvSpPr>
          <p:cNvPr id="26" name="Text 22"/>
          <p:cNvSpPr/>
          <p:nvPr/>
        </p:nvSpPr>
        <p:spPr>
          <a:xfrm>
            <a:off x="5559552" y="2267712"/>
            <a:ext cx="2907792" cy="237744"/>
          </a:xfrm>
          <a:prstGeom prst="rect">
            <a:avLst/>
          </a:prstGeom>
          <a:noFill/>
          <a:ln/>
        </p:spPr>
        <p:txBody>
          <a:bodyPr wrap="square" lIns="0" tIns="0" rIns="0" bIns="0" rtlCol="0" anchor="ctr"/>
          <a:lstStyle/>
          <a:p>
            <a:pPr indent="0" marL="0">
              <a:buNone/>
            </a:pPr>
            <a:r>
              <a:rPr lang="en-US" sz="1050" b="1" dirty="0">
                <a:solidFill>
                  <a:srgbClr val="065A82"/>
                </a:solidFill>
                <a:latin typeface="Calibri" pitchFamily="34" charset="0"/>
                <a:ea typeface="Calibri" pitchFamily="34" charset="-122"/>
                <a:cs typeface="Calibri" pitchFamily="34" charset="-120"/>
              </a:rPr>
              <a:t>Data Discovery → String Detection</a:t>
            </a:r>
            <a:endParaRPr lang="en-US" sz="1050" dirty="0"/>
          </a:p>
        </p:txBody>
      </p:sp>
      <p:sp>
        <p:nvSpPr>
          <p:cNvPr id="27" name="Text 23"/>
          <p:cNvSpPr/>
          <p:nvPr/>
        </p:nvSpPr>
        <p:spPr>
          <a:xfrm>
            <a:off x="4956048" y="2670048"/>
            <a:ext cx="1481328" cy="292608"/>
          </a:xfrm>
          <a:prstGeom prst="rect">
            <a:avLst/>
          </a:prstGeom>
          <a:noFill/>
          <a:ln/>
        </p:spPr>
        <p:txBody>
          <a:bodyPr wrap="square" lIns="0" tIns="0" rIns="0" bIns="0" rtlCol="0" anchor="ctr"/>
          <a:lstStyle/>
          <a:p>
            <a:pPr indent="0" marL="0">
              <a:buNone/>
            </a:pPr>
            <a:r>
              <a:rPr lang="en-US" sz="1050" b="1" dirty="0">
                <a:solidFill>
                  <a:srgbClr val="14333F"/>
                </a:solidFill>
                <a:latin typeface="Calibri" pitchFamily="34" charset="0"/>
                <a:ea typeface="Calibri" pitchFamily="34" charset="-122"/>
                <a:cs typeface="Calibri" pitchFamily="34" charset="-120"/>
              </a:rPr>
              <a:t>name / email / phone</a:t>
            </a:r>
            <a:endParaRPr lang="en-US" sz="1050" dirty="0"/>
          </a:p>
        </p:txBody>
      </p:sp>
      <p:sp>
        <p:nvSpPr>
          <p:cNvPr id="28" name="Text 24"/>
          <p:cNvSpPr/>
          <p:nvPr/>
        </p:nvSpPr>
        <p:spPr>
          <a:xfrm>
            <a:off x="6400800" y="2670048"/>
            <a:ext cx="201168" cy="292608"/>
          </a:xfrm>
          <a:prstGeom prst="rect">
            <a:avLst/>
          </a:prstGeom>
          <a:noFill/>
          <a:ln/>
        </p:spPr>
        <p:txBody>
          <a:bodyPr wrap="square" lIns="0" tIns="0" rIns="0" bIns="0" rtlCol="0" anchor="ctr"/>
          <a:lstStyle/>
          <a:p>
            <a:pPr indent="0" marL="0">
              <a:buNone/>
            </a:pPr>
            <a:r>
              <a:rPr lang="en-US" sz="1050" dirty="0">
                <a:solidFill>
                  <a:srgbClr val="065A82"/>
                </a:solidFill>
                <a:latin typeface="Calibri" pitchFamily="34" charset="0"/>
                <a:ea typeface="Calibri" pitchFamily="34" charset="-122"/>
                <a:cs typeface="Calibri" pitchFamily="34" charset="-120"/>
              </a:rPr>
              <a:t>→</a:t>
            </a:r>
            <a:endParaRPr lang="en-US" sz="1050" dirty="0"/>
          </a:p>
        </p:txBody>
      </p:sp>
      <p:sp>
        <p:nvSpPr>
          <p:cNvPr id="29" name="Text 25"/>
          <p:cNvSpPr/>
          <p:nvPr/>
        </p:nvSpPr>
        <p:spPr>
          <a:xfrm>
            <a:off x="6638544" y="2670048"/>
            <a:ext cx="1773936" cy="310896"/>
          </a:xfrm>
          <a:prstGeom prst="rect">
            <a:avLst/>
          </a:prstGeom>
          <a:noFill/>
          <a:ln/>
        </p:spPr>
        <p:txBody>
          <a:bodyPr wrap="square" lIns="0" tIns="0" rIns="0" bIns="0" rtlCol="0" anchor="ctr"/>
          <a:lstStyle/>
          <a:p>
            <a:pPr indent="0" marL="0">
              <a:lnSpc>
                <a:spcPct val="98000"/>
              </a:lnSpc>
              <a:buNone/>
            </a:pPr>
            <a:r>
              <a:rPr lang="en-US" sz="1050" dirty="0">
                <a:solidFill>
                  <a:srgbClr val="5B7782"/>
                </a:solidFill>
                <a:latin typeface="Calibri" pitchFamily="34" charset="0"/>
                <a:ea typeface="Calibri" pitchFamily="34" charset="-122"/>
                <a:cs typeface="Calibri" pitchFamily="34" charset="-120"/>
              </a:rPr>
              <a:t>same dictionary + patterns</a:t>
            </a:r>
            <a:endParaRPr lang="en-US" sz="1050" dirty="0"/>
          </a:p>
        </p:txBody>
      </p:sp>
      <p:sp>
        <p:nvSpPr>
          <p:cNvPr id="30" name="Text 26"/>
          <p:cNvSpPr/>
          <p:nvPr/>
        </p:nvSpPr>
        <p:spPr>
          <a:xfrm>
            <a:off x="4956048" y="3012948"/>
            <a:ext cx="1481328" cy="292608"/>
          </a:xfrm>
          <a:prstGeom prst="rect">
            <a:avLst/>
          </a:prstGeom>
          <a:noFill/>
          <a:ln/>
        </p:spPr>
        <p:txBody>
          <a:bodyPr wrap="square" lIns="0" tIns="0" rIns="0" bIns="0" rtlCol="0" anchor="ctr"/>
          <a:lstStyle/>
          <a:p>
            <a:pPr indent="0" marL="0">
              <a:buNone/>
            </a:pPr>
            <a:r>
              <a:rPr lang="en-US" sz="1050" b="1" dirty="0">
                <a:solidFill>
                  <a:srgbClr val="14333F"/>
                </a:solidFill>
                <a:latin typeface="Calibri" pitchFamily="34" charset="0"/>
                <a:ea typeface="Calibri" pitchFamily="34" charset="-122"/>
                <a:cs typeface="Calibri" pitchFamily="34" charset="-120"/>
              </a:rPr>
              <a:t>postal address</a:t>
            </a:r>
            <a:endParaRPr lang="en-US" sz="1050" dirty="0"/>
          </a:p>
        </p:txBody>
      </p:sp>
      <p:sp>
        <p:nvSpPr>
          <p:cNvPr id="31" name="Text 27"/>
          <p:cNvSpPr/>
          <p:nvPr/>
        </p:nvSpPr>
        <p:spPr>
          <a:xfrm>
            <a:off x="6400800" y="3012948"/>
            <a:ext cx="201168" cy="292608"/>
          </a:xfrm>
          <a:prstGeom prst="rect">
            <a:avLst/>
          </a:prstGeom>
          <a:noFill/>
          <a:ln/>
        </p:spPr>
        <p:txBody>
          <a:bodyPr wrap="square" lIns="0" tIns="0" rIns="0" bIns="0" rtlCol="0" anchor="ctr"/>
          <a:lstStyle/>
          <a:p>
            <a:pPr indent="0" marL="0">
              <a:buNone/>
            </a:pPr>
            <a:r>
              <a:rPr lang="en-US" sz="1050" dirty="0">
                <a:solidFill>
                  <a:srgbClr val="065A82"/>
                </a:solidFill>
                <a:latin typeface="Calibri" pitchFamily="34" charset="0"/>
                <a:ea typeface="Calibri" pitchFamily="34" charset="-122"/>
                <a:cs typeface="Calibri" pitchFamily="34" charset="-120"/>
              </a:rPr>
              <a:t>→</a:t>
            </a:r>
            <a:endParaRPr lang="en-US" sz="1050" dirty="0"/>
          </a:p>
        </p:txBody>
      </p:sp>
      <p:sp>
        <p:nvSpPr>
          <p:cNvPr id="32" name="Text 28"/>
          <p:cNvSpPr/>
          <p:nvPr/>
        </p:nvSpPr>
        <p:spPr>
          <a:xfrm>
            <a:off x="6638544" y="3012948"/>
            <a:ext cx="1773936" cy="310896"/>
          </a:xfrm>
          <a:prstGeom prst="rect">
            <a:avLst/>
          </a:prstGeom>
          <a:noFill/>
          <a:ln/>
        </p:spPr>
        <p:txBody>
          <a:bodyPr wrap="square" lIns="0" tIns="0" rIns="0" bIns="0" rtlCol="0" anchor="ctr"/>
          <a:lstStyle/>
          <a:p>
            <a:pPr indent="0" marL="0">
              <a:lnSpc>
                <a:spcPct val="98000"/>
              </a:lnSpc>
              <a:buNone/>
            </a:pPr>
            <a:r>
              <a:rPr lang="en-US" sz="1050" dirty="0">
                <a:solidFill>
                  <a:srgbClr val="5B7782"/>
                </a:solidFill>
                <a:latin typeface="Calibri" pitchFamily="34" charset="0"/>
                <a:ea typeface="Calibri" pitchFamily="34" charset="-122"/>
                <a:cs typeface="Calibri" pitchFamily="34" charset="-120"/>
              </a:rPr>
              <a:t>Address Detection (ML)</a:t>
            </a:r>
            <a:endParaRPr lang="en-US" sz="1050" dirty="0"/>
          </a:p>
        </p:txBody>
      </p:sp>
      <p:sp>
        <p:nvSpPr>
          <p:cNvPr id="33" name="Text 29"/>
          <p:cNvSpPr/>
          <p:nvPr/>
        </p:nvSpPr>
        <p:spPr>
          <a:xfrm>
            <a:off x="4956048" y="3355848"/>
            <a:ext cx="1481328" cy="292608"/>
          </a:xfrm>
          <a:prstGeom prst="rect">
            <a:avLst/>
          </a:prstGeom>
          <a:noFill/>
          <a:ln/>
        </p:spPr>
        <p:txBody>
          <a:bodyPr wrap="square" lIns="0" tIns="0" rIns="0" bIns="0" rtlCol="0" anchor="ctr"/>
          <a:lstStyle/>
          <a:p>
            <a:pPr indent="0" marL="0">
              <a:buNone/>
            </a:pPr>
            <a:r>
              <a:rPr lang="en-US" sz="1050" b="1" dirty="0">
                <a:solidFill>
                  <a:srgbClr val="14333F"/>
                </a:solidFill>
                <a:latin typeface="Calibri" pitchFamily="34" charset="0"/>
                <a:ea typeface="Calibri" pitchFamily="34" charset="-122"/>
                <a:cs typeface="Calibri" pitchFamily="34" charset="-120"/>
              </a:rPr>
              <a:t>letter type</a:t>
            </a:r>
            <a:endParaRPr lang="en-US" sz="1050" dirty="0"/>
          </a:p>
        </p:txBody>
      </p:sp>
      <p:sp>
        <p:nvSpPr>
          <p:cNvPr id="34" name="Text 30"/>
          <p:cNvSpPr/>
          <p:nvPr/>
        </p:nvSpPr>
        <p:spPr>
          <a:xfrm>
            <a:off x="6400800" y="3355848"/>
            <a:ext cx="201168" cy="292608"/>
          </a:xfrm>
          <a:prstGeom prst="rect">
            <a:avLst/>
          </a:prstGeom>
          <a:noFill/>
          <a:ln/>
        </p:spPr>
        <p:txBody>
          <a:bodyPr wrap="square" lIns="0" tIns="0" rIns="0" bIns="0" rtlCol="0" anchor="ctr"/>
          <a:lstStyle/>
          <a:p>
            <a:pPr indent="0" marL="0">
              <a:buNone/>
            </a:pPr>
            <a:r>
              <a:rPr lang="en-US" sz="1050" dirty="0">
                <a:solidFill>
                  <a:srgbClr val="065A82"/>
                </a:solidFill>
                <a:latin typeface="Calibri" pitchFamily="34" charset="0"/>
                <a:ea typeface="Calibri" pitchFamily="34" charset="-122"/>
                <a:cs typeface="Calibri" pitchFamily="34" charset="-120"/>
              </a:rPr>
              <a:t>→</a:t>
            </a:r>
            <a:endParaRPr lang="en-US" sz="1050" dirty="0"/>
          </a:p>
        </p:txBody>
      </p:sp>
      <p:sp>
        <p:nvSpPr>
          <p:cNvPr id="35" name="Text 31"/>
          <p:cNvSpPr/>
          <p:nvPr/>
        </p:nvSpPr>
        <p:spPr>
          <a:xfrm>
            <a:off x="6638544" y="3355848"/>
            <a:ext cx="1773936" cy="310896"/>
          </a:xfrm>
          <a:prstGeom prst="rect">
            <a:avLst/>
          </a:prstGeom>
          <a:noFill/>
          <a:ln/>
        </p:spPr>
        <p:txBody>
          <a:bodyPr wrap="square" lIns="0" tIns="0" rIns="0" bIns="0" rtlCol="0" anchor="ctr"/>
          <a:lstStyle/>
          <a:p>
            <a:pPr indent="0" marL="0">
              <a:lnSpc>
                <a:spcPct val="98000"/>
              </a:lnSpc>
              <a:buNone/>
            </a:pPr>
            <a:r>
              <a:rPr lang="en-US" sz="1050" dirty="0">
                <a:solidFill>
                  <a:srgbClr val="5B7782"/>
                </a:solidFill>
                <a:latin typeface="Calibri" pitchFamily="34" charset="0"/>
                <a:ea typeface="Calibri" pitchFamily="34" charset="-122"/>
                <a:cs typeface="Calibri" pitchFamily="34" charset="-120"/>
              </a:rPr>
              <a:t>Data Classification (ML)</a:t>
            </a:r>
            <a:endParaRPr lang="en-US" sz="1050" dirty="0"/>
          </a:p>
        </p:txBody>
      </p:sp>
      <p:sp>
        <p:nvSpPr>
          <p:cNvPr id="36" name="Text 32"/>
          <p:cNvSpPr/>
          <p:nvPr/>
        </p:nvSpPr>
        <p:spPr>
          <a:xfrm>
            <a:off x="4956048" y="3698748"/>
            <a:ext cx="1481328" cy="292608"/>
          </a:xfrm>
          <a:prstGeom prst="rect">
            <a:avLst/>
          </a:prstGeom>
          <a:noFill/>
          <a:ln/>
        </p:spPr>
        <p:txBody>
          <a:bodyPr wrap="square" lIns="0" tIns="0" rIns="0" bIns="0" rtlCol="0" anchor="ctr"/>
          <a:lstStyle/>
          <a:p>
            <a:pPr indent="0" marL="0">
              <a:buNone/>
            </a:pPr>
            <a:r>
              <a:rPr lang="en-US" sz="1050" b="1" dirty="0">
                <a:solidFill>
                  <a:srgbClr val="14333F"/>
                </a:solidFill>
                <a:latin typeface="Calibri" pitchFamily="34" charset="0"/>
                <a:ea typeface="Calibri" pitchFamily="34" charset="-122"/>
                <a:cs typeface="Calibri" pitchFamily="34" charset="-120"/>
              </a:rPr>
              <a:t>account refs</a:t>
            </a:r>
            <a:endParaRPr lang="en-US" sz="1050" dirty="0"/>
          </a:p>
        </p:txBody>
      </p:sp>
      <p:sp>
        <p:nvSpPr>
          <p:cNvPr id="37" name="Text 33"/>
          <p:cNvSpPr/>
          <p:nvPr/>
        </p:nvSpPr>
        <p:spPr>
          <a:xfrm>
            <a:off x="6400800" y="3698748"/>
            <a:ext cx="201168" cy="292608"/>
          </a:xfrm>
          <a:prstGeom prst="rect">
            <a:avLst/>
          </a:prstGeom>
          <a:noFill/>
          <a:ln/>
        </p:spPr>
        <p:txBody>
          <a:bodyPr wrap="square" lIns="0" tIns="0" rIns="0" bIns="0" rtlCol="0" anchor="ctr"/>
          <a:lstStyle/>
          <a:p>
            <a:pPr indent="0" marL="0">
              <a:buNone/>
            </a:pPr>
            <a:r>
              <a:rPr lang="en-US" sz="1050" dirty="0">
                <a:solidFill>
                  <a:srgbClr val="065A82"/>
                </a:solidFill>
                <a:latin typeface="Calibri" pitchFamily="34" charset="0"/>
                <a:ea typeface="Calibri" pitchFamily="34" charset="-122"/>
                <a:cs typeface="Calibri" pitchFamily="34" charset="-120"/>
              </a:rPr>
              <a:t>→</a:t>
            </a:r>
            <a:endParaRPr lang="en-US" sz="1050" dirty="0"/>
          </a:p>
        </p:txBody>
      </p:sp>
      <p:sp>
        <p:nvSpPr>
          <p:cNvPr id="38" name="Text 34"/>
          <p:cNvSpPr/>
          <p:nvPr/>
        </p:nvSpPr>
        <p:spPr>
          <a:xfrm>
            <a:off x="6638544" y="3698748"/>
            <a:ext cx="1773936" cy="310896"/>
          </a:xfrm>
          <a:prstGeom prst="rect">
            <a:avLst/>
          </a:prstGeom>
          <a:noFill/>
          <a:ln/>
        </p:spPr>
        <p:txBody>
          <a:bodyPr wrap="square" lIns="0" tIns="0" rIns="0" bIns="0" rtlCol="0" anchor="ctr"/>
          <a:lstStyle/>
          <a:p>
            <a:pPr indent="0" marL="0">
              <a:lnSpc>
                <a:spcPct val="98000"/>
              </a:lnSpc>
              <a:buNone/>
            </a:pPr>
            <a:r>
              <a:rPr lang="en-US" sz="1050" dirty="0">
                <a:solidFill>
                  <a:srgbClr val="5B7782"/>
                </a:solidFill>
                <a:latin typeface="Calibri" pitchFamily="34" charset="0"/>
                <a:ea typeface="Calibri" pitchFamily="34" charset="-122"/>
                <a:cs typeface="Calibri" pitchFamily="34" charset="-120"/>
              </a:rPr>
              <a:t>AWC pattern (below)</a:t>
            </a:r>
            <a:endParaRPr lang="en-US" sz="1050" dirty="0"/>
          </a:p>
        </p:txBody>
      </p:sp>
      <p:sp>
        <p:nvSpPr>
          <p:cNvPr id="39" name="Shape 35"/>
          <p:cNvSpPr/>
          <p:nvPr/>
        </p:nvSpPr>
        <p:spPr>
          <a:xfrm>
            <a:off x="548640" y="4224528"/>
            <a:ext cx="8046720" cy="512064"/>
          </a:xfrm>
          <a:prstGeom prst="roundRect">
            <a:avLst>
              <a:gd name="adj" fmla="val 16071"/>
            </a:avLst>
          </a:prstGeom>
          <a:solidFill>
            <a:srgbClr val="14333F"/>
          </a:solidFill>
          <a:ln/>
          <a:effectLst>
            <a:outerShdw sx="100000" sy="100000" kx="0" ky="0" algn="bl" rotWithShape="0" blurRad="88900" dist="38100" dir="5400000">
              <a:srgbClr val="0B1B2B">
                <a:alpha val="16000"/>
              </a:srgbClr>
            </a:outerShdw>
          </a:effectLst>
        </p:spPr>
      </p:sp>
      <p:sp>
        <p:nvSpPr>
          <p:cNvPr id="40" name="Text 36"/>
          <p:cNvSpPr/>
          <p:nvPr/>
        </p:nvSpPr>
        <p:spPr>
          <a:xfrm>
            <a:off x="731520" y="4224528"/>
            <a:ext cx="7680960" cy="512064"/>
          </a:xfrm>
          <a:prstGeom prst="rect">
            <a:avLst/>
          </a:prstGeom>
          <a:noFill/>
          <a:ln/>
        </p:spPr>
        <p:txBody>
          <a:bodyPr wrap="square" lIns="0" tIns="0" rIns="0" bIns="0" rtlCol="0" anchor="ctr"/>
          <a:lstStyle/>
          <a:p>
            <a:pPr algn="ctr" indent="0" marL="0">
              <a:buNone/>
            </a:pPr>
            <a:r>
              <a:rPr lang="en-US" sz="1050" b="1" dirty="0">
                <a:solidFill>
                  <a:srgbClr val="2EC4B6"/>
                </a:solidFill>
                <a:latin typeface="Calibri" pitchFamily="34" charset="0"/>
                <a:ea typeface="Calibri" pitchFamily="34" charset="-122"/>
                <a:cs typeface="Calibri" pitchFamily="34" charset="-120"/>
              </a:rPr>
              <a:t>Custom AWC methods    </a:t>
            </a:r>
            <a:pPr algn="ctr" indent="0" marL="0">
              <a:buNone/>
            </a:pPr>
            <a:r>
              <a:rPr lang="en-US" sz="1050" b="1" dirty="0">
                <a:solidFill>
                  <a:srgbClr val="FFFFFF"/>
                </a:solidFill>
                <a:latin typeface="Calibri" pitchFamily="34" charset="0"/>
                <a:ea typeface="Calibri" pitchFamily="34" charset="-122"/>
                <a:cs typeface="Calibri" pitchFamily="34" charset="-120"/>
              </a:rPr>
              <a:t>Service Cities</a:t>
            </a:r>
            <a:pPr algn="ctr" indent="0" marL="0">
              <a:buNone/>
            </a:pPr>
            <a:r>
              <a:rPr lang="en-US" sz="1050" dirty="0">
                <a:solidFill>
                  <a:srgbClr val="C9DEE8"/>
                </a:solidFill>
                <a:latin typeface="Calibri" pitchFamily="34" charset="0"/>
                <a:ea typeface="Calibri" pitchFamily="34" charset="-122"/>
                <a:cs typeface="Calibri" pitchFamily="34" charset="-120"/>
              </a:rPr>
              <a:t> dictionary — upload the CSV   ·   </a:t>
            </a:r>
            <a:pPr algn="ctr" indent="0" marL="0">
              <a:buNone/>
            </a:pPr>
            <a:r>
              <a:rPr lang="en-US" sz="1050" b="1" dirty="0">
                <a:solidFill>
                  <a:srgbClr val="FFFFFF"/>
                </a:solidFill>
                <a:latin typeface="Calibri" pitchFamily="34" charset="0"/>
                <a:ea typeface="Calibri" pitchFamily="34" charset="-122"/>
                <a:cs typeface="Calibri" pitchFamily="34" charset="-120"/>
              </a:rPr>
              <a:t>Account Reference</a:t>
            </a:r>
            <a:pPr algn="ctr" indent="0" marL="0">
              <a:buNone/>
            </a:pPr>
            <a:r>
              <a:rPr lang="en-US" sz="1050" dirty="0">
                <a:solidFill>
                  <a:srgbClr val="C9DEE8"/>
                </a:solidFill>
                <a:latin typeface="Calibri" pitchFamily="34" charset="0"/>
                <a:ea typeface="Calibri" pitchFamily="34" charset="-122"/>
                <a:cs typeface="Calibri" pitchFamily="34" charset="-120"/>
              </a:rPr>
              <a:t> pattern  AWC-XX-NNNNNN  — technical track</a:t>
            </a:r>
            <a:endParaRPr lang="en-US" sz="1050" dirty="0"/>
          </a:p>
        </p:txBody>
      </p:sp>
      <p:sp>
        <p:nvSpPr>
          <p:cNvPr id="41" name="Text 37"/>
          <p:cNvSpPr/>
          <p:nvPr/>
        </p:nvSpPr>
        <p:spPr>
          <a:xfrm>
            <a:off x="8458200" y="4736592"/>
            <a:ext cx="365760" cy="274320"/>
          </a:xfrm>
          <a:prstGeom prst="rect">
            <a:avLst/>
          </a:prstGeom>
          <a:noFill/>
          <a:ln/>
        </p:spPr>
        <p:txBody>
          <a:bodyPr wrap="square" lIns="0" tIns="0" rIns="0" bIns="0" rtlCol="0" anchor="ctr"/>
          <a:lstStyle/>
          <a:p>
            <a:pPr algn="r" indent="0" marL="0">
              <a:buNone/>
            </a:pPr>
            <a:r>
              <a:rPr lang="en-US" sz="900" dirty="0">
                <a:solidFill>
                  <a:srgbClr val="5B7782"/>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333F"/>
        </a:solidFill>
      </p:bgPr>
    </p:bg>
    <p:spTree>
      <p:nvGrpSpPr>
        <p:cNvPr id="1" name=""/>
        <p:cNvGrpSpPr/>
        <p:nvPr/>
      </p:nvGrpSpPr>
      <p:grpSpPr>
        <a:xfrm>
          <a:off x="0" y="0"/>
          <a:ext cx="0" cy="0"/>
          <a:chOff x="0" y="0"/>
          <a:chExt cx="0" cy="0"/>
        </a:xfrm>
      </p:grpSpPr>
      <p:sp>
        <p:nvSpPr>
          <p:cNvPr id="2" name="Shape 0"/>
          <p:cNvSpPr/>
          <p:nvPr/>
        </p:nvSpPr>
        <p:spPr>
          <a:xfrm>
            <a:off x="6675120" y="-1554480"/>
            <a:ext cx="4206240" cy="4206240"/>
          </a:xfrm>
          <a:prstGeom prst="ellipse">
            <a:avLst/>
          </a:prstGeom>
          <a:solidFill>
            <a:srgbClr val="0A3D52"/>
          </a:solidFill>
          <a:ln/>
        </p:spPr>
      </p:sp>
      <p:sp>
        <p:nvSpPr>
          <p:cNvPr id="3" name="Shape 1"/>
          <p:cNvSpPr/>
          <p:nvPr/>
        </p:nvSpPr>
        <p:spPr>
          <a:xfrm>
            <a:off x="7452360" y="-868680"/>
            <a:ext cx="2834640" cy="2834640"/>
          </a:xfrm>
          <a:prstGeom prst="ellipse">
            <a:avLst/>
          </a:prstGeom>
          <a:solidFill>
            <a:srgbClr val="1C7293"/>
          </a:solidFill>
          <a:ln w="12700">
            <a:solidFill>
              <a:srgbClr val="1C7293"/>
            </a:solidFill>
            <a:prstDash val="solid"/>
          </a:ln>
        </p:spPr>
      </p:sp>
      <p:sp>
        <p:nvSpPr>
          <p:cNvPr id="4" name="Shape 2"/>
          <p:cNvSpPr/>
          <p:nvPr/>
        </p:nvSpPr>
        <p:spPr>
          <a:xfrm>
            <a:off x="8138160" y="-320040"/>
            <a:ext cx="1554480" cy="1554480"/>
          </a:xfrm>
          <a:prstGeom prst="ellipse">
            <a:avLst/>
          </a:prstGeom>
          <a:solidFill>
            <a:srgbClr val="2EC4B6"/>
          </a:solidFill>
          <a:ln/>
        </p:spPr>
      </p:sp>
      <p:sp>
        <p:nvSpPr>
          <p:cNvPr id="5" name="Shape 3"/>
          <p:cNvSpPr/>
          <p:nvPr/>
        </p:nvSpPr>
        <p:spPr>
          <a:xfrm>
            <a:off x="548640" y="457200"/>
            <a:ext cx="640080" cy="640080"/>
          </a:xfrm>
          <a:prstGeom prst="ellipse">
            <a:avLst/>
          </a:prstGeom>
          <a:solidFill>
            <a:srgbClr val="2EC4B6"/>
          </a:solidFill>
          <a:ln/>
          <a:effectLst>
            <a:outerShdw sx="100000" sy="100000" kx="0" ky="0" algn="bl" rotWithShape="0" blurRad="88900" dist="38100" dir="5400000">
              <a:srgbClr val="0B1B2B">
                <a:alpha val="16000"/>
              </a:srgbClr>
            </a:outerShdw>
          </a:effectLst>
        </p:spPr>
      </p:sp>
      <p:pic>
        <p:nvPicPr>
          <p:cNvPr id="6" name="Image 0" descr="preencoded.png">    </p:cNvPr>
          <p:cNvPicPr>
            <a:picLocks noChangeAspect="1"/>
          </p:cNvPicPr>
          <p:nvPr/>
        </p:nvPicPr>
        <p:blipFill>
          <a:blip r:embed="rId1"/>
          <a:stretch>
            <a:fillRect/>
          </a:stretch>
        </p:blipFill>
        <p:spPr>
          <a:xfrm>
            <a:off x="704088" y="612648"/>
            <a:ext cx="329184" cy="329184"/>
          </a:xfrm>
          <a:prstGeom prst="rect">
            <a:avLst/>
          </a:prstGeom>
        </p:spPr>
      </p:pic>
      <p:sp>
        <p:nvSpPr>
          <p:cNvPr id="7" name="Text 4"/>
          <p:cNvSpPr/>
          <p:nvPr/>
        </p:nvSpPr>
        <p:spPr>
          <a:xfrm>
            <a:off x="1298448" y="566928"/>
            <a:ext cx="6400800" cy="292608"/>
          </a:xfrm>
          <a:prstGeom prst="rect">
            <a:avLst/>
          </a:prstGeom>
          <a:noFill/>
          <a:ln/>
        </p:spPr>
        <p:txBody>
          <a:bodyPr wrap="square" lIns="0" tIns="0" rIns="0" bIns="0" rtlCol="0" anchor="ctr"/>
          <a:lstStyle/>
          <a:p>
            <a:pPr algn="l" indent="0" marL="0">
              <a:buNone/>
            </a:pPr>
            <a:r>
              <a:rPr lang="en-US" sz="1150" b="1" spc="300" kern="0" dirty="0">
                <a:solidFill>
                  <a:srgbClr val="2EC4B6"/>
                </a:solidFill>
                <a:latin typeface="Calibri" pitchFamily="34" charset="0"/>
                <a:ea typeface="Calibri" pitchFamily="34" charset="-122"/>
                <a:cs typeface="Calibri" pitchFamily="34" charset="-120"/>
              </a:rPr>
              <a:t>WHY IT MATTERS</a:t>
            </a:r>
            <a:endParaRPr lang="en-US" sz="1150" dirty="0"/>
          </a:p>
        </p:txBody>
      </p:sp>
      <p:sp>
        <p:nvSpPr>
          <p:cNvPr id="8" name="Text 5"/>
          <p:cNvSpPr/>
          <p:nvPr/>
        </p:nvSpPr>
        <p:spPr>
          <a:xfrm>
            <a:off x="548640" y="1234440"/>
            <a:ext cx="8229600" cy="548640"/>
          </a:xfrm>
          <a:prstGeom prst="rect">
            <a:avLst/>
          </a:prstGeom>
          <a:noFill/>
          <a:ln/>
        </p:spPr>
        <p:txBody>
          <a:bodyPr wrap="square" lIns="0" tIns="0" rIns="0" bIns="0" rtlCol="0" anchor="ctr"/>
          <a:lstStyle/>
          <a:p>
            <a:pPr indent="0" marL="0">
              <a:buNone/>
            </a:pPr>
            <a:r>
              <a:rPr lang="en-US" sz="3000" b="1" dirty="0">
                <a:solidFill>
                  <a:srgbClr val="FFFFFF"/>
                </a:solidFill>
                <a:latin typeface="Bookman Old Style" pitchFamily="34" charset="0"/>
                <a:ea typeface="Bookman Old Style" pitchFamily="34" charset="-122"/>
                <a:cs typeface="Bookman Old Style" pitchFamily="34" charset="-120"/>
              </a:rPr>
              <a:t>Classification becomes automatic</a:t>
            </a:r>
            <a:endParaRPr lang="en-US" sz="3000" dirty="0"/>
          </a:p>
        </p:txBody>
      </p:sp>
      <p:sp>
        <p:nvSpPr>
          <p:cNvPr id="9" name="Shape 6"/>
          <p:cNvSpPr/>
          <p:nvPr/>
        </p:nvSpPr>
        <p:spPr>
          <a:xfrm>
            <a:off x="548640" y="2148840"/>
            <a:ext cx="2615184" cy="1554480"/>
          </a:xfrm>
          <a:prstGeom prst="roundRect">
            <a:avLst>
              <a:gd name="adj" fmla="val 5882"/>
            </a:avLst>
          </a:prstGeom>
          <a:solidFill>
            <a:srgbClr val="0B1B2B"/>
          </a:solidFill>
          <a:ln w="12700">
            <a:solidFill>
              <a:srgbClr val="1C7293"/>
            </a:solidFill>
            <a:prstDash val="solid"/>
          </a:ln>
        </p:spPr>
      </p:sp>
      <p:sp>
        <p:nvSpPr>
          <p:cNvPr id="10" name="Text 7"/>
          <p:cNvSpPr/>
          <p:nvPr/>
        </p:nvSpPr>
        <p:spPr>
          <a:xfrm>
            <a:off x="777240" y="2295144"/>
            <a:ext cx="2157984" cy="640080"/>
          </a:xfrm>
          <a:prstGeom prst="rect">
            <a:avLst/>
          </a:prstGeom>
          <a:noFill/>
          <a:ln/>
        </p:spPr>
        <p:txBody>
          <a:bodyPr wrap="square" lIns="0" tIns="0" rIns="0" bIns="0" rtlCol="0" anchor="ctr"/>
          <a:lstStyle/>
          <a:p>
            <a:pPr indent="0" marL="0">
              <a:buNone/>
            </a:pPr>
            <a:r>
              <a:rPr lang="en-US" sz="4600" b="1" dirty="0">
                <a:solidFill>
                  <a:srgbClr val="2EC4B6"/>
                </a:solidFill>
                <a:latin typeface="Bookman Old Style" pitchFamily="34" charset="0"/>
                <a:ea typeface="Bookman Old Style" pitchFamily="34" charset="-122"/>
                <a:cs typeface="Bookman Old Style" pitchFamily="34" charset="-120"/>
              </a:rPr>
              <a:t>2</a:t>
            </a:r>
            <a:endParaRPr lang="en-US" sz="4600" dirty="0"/>
          </a:p>
        </p:txBody>
      </p:sp>
      <p:sp>
        <p:nvSpPr>
          <p:cNvPr id="11" name="Text 8"/>
          <p:cNvSpPr/>
          <p:nvPr/>
        </p:nvSpPr>
        <p:spPr>
          <a:xfrm>
            <a:off x="795528" y="2990088"/>
            <a:ext cx="2157984" cy="256032"/>
          </a:xfrm>
          <a:prstGeom prst="rect">
            <a:avLst/>
          </a:prstGeom>
          <a:noFill/>
          <a:ln/>
        </p:spPr>
        <p:txBody>
          <a:bodyPr wrap="square" lIns="0" tIns="0" rIns="0" bIns="0" rtlCol="0" anchor="ctr"/>
          <a:lstStyle/>
          <a:p>
            <a:pPr indent="0" marL="0">
              <a:buNone/>
            </a:pPr>
            <a:r>
              <a:rPr lang="en-US" sz="1200" b="1" spc="150" kern="0" dirty="0">
                <a:solidFill>
                  <a:srgbClr val="FFFFFF"/>
                </a:solidFill>
                <a:latin typeface="Calibri" pitchFamily="34" charset="0"/>
                <a:ea typeface="Calibri" pitchFamily="34" charset="-122"/>
                <a:cs typeface="Calibri" pitchFamily="34" charset="-120"/>
              </a:rPr>
              <a:t>METHODS</a:t>
            </a:r>
            <a:endParaRPr lang="en-US" sz="1200" dirty="0"/>
          </a:p>
        </p:txBody>
      </p:sp>
      <p:sp>
        <p:nvSpPr>
          <p:cNvPr id="12" name="Text 9"/>
          <p:cNvSpPr/>
          <p:nvPr/>
        </p:nvSpPr>
        <p:spPr>
          <a:xfrm>
            <a:off x="795528" y="3246120"/>
            <a:ext cx="2157984" cy="411480"/>
          </a:xfrm>
          <a:prstGeom prst="rect">
            <a:avLst/>
          </a:prstGeom>
          <a:noFill/>
          <a:ln/>
        </p:spPr>
        <p:txBody>
          <a:bodyPr wrap="square" lIns="0" tIns="0" rIns="0" bIns="0" rtlCol="0" anchor="ctr"/>
          <a:lstStyle/>
          <a:p>
            <a:pPr indent="0" marL="0">
              <a:lnSpc>
                <a:spcPct val="100000"/>
              </a:lnSpc>
              <a:buNone/>
            </a:pPr>
            <a:r>
              <a:rPr lang="en-US" sz="1000" dirty="0">
                <a:solidFill>
                  <a:srgbClr val="C9DEE8"/>
                </a:solidFill>
                <a:latin typeface="Calibri" pitchFamily="34" charset="0"/>
                <a:ea typeface="Calibri" pitchFamily="34" charset="-122"/>
                <a:cs typeface="Calibri" pitchFamily="34" charset="-120"/>
              </a:rPr>
              <a:t>dictionaries match values, patterns match shape</a:t>
            </a:r>
            <a:endParaRPr lang="en-US" sz="1000" dirty="0"/>
          </a:p>
        </p:txBody>
      </p:sp>
      <p:sp>
        <p:nvSpPr>
          <p:cNvPr id="13" name="Shape 10"/>
          <p:cNvSpPr/>
          <p:nvPr/>
        </p:nvSpPr>
        <p:spPr>
          <a:xfrm>
            <a:off x="3447288" y="2148840"/>
            <a:ext cx="2615184" cy="1554480"/>
          </a:xfrm>
          <a:prstGeom prst="roundRect">
            <a:avLst>
              <a:gd name="adj" fmla="val 5882"/>
            </a:avLst>
          </a:prstGeom>
          <a:solidFill>
            <a:srgbClr val="0B1B2B"/>
          </a:solidFill>
          <a:ln w="12700">
            <a:solidFill>
              <a:srgbClr val="1C7293"/>
            </a:solidFill>
            <a:prstDash val="solid"/>
          </a:ln>
        </p:spPr>
      </p:sp>
      <p:sp>
        <p:nvSpPr>
          <p:cNvPr id="14" name="Text 11"/>
          <p:cNvSpPr/>
          <p:nvPr/>
        </p:nvSpPr>
        <p:spPr>
          <a:xfrm>
            <a:off x="3675888" y="2295144"/>
            <a:ext cx="2157984" cy="640080"/>
          </a:xfrm>
          <a:prstGeom prst="rect">
            <a:avLst/>
          </a:prstGeom>
          <a:noFill/>
          <a:ln/>
        </p:spPr>
        <p:txBody>
          <a:bodyPr wrap="square" lIns="0" tIns="0" rIns="0" bIns="0" rtlCol="0" anchor="ctr"/>
          <a:lstStyle/>
          <a:p>
            <a:pPr indent="0" marL="0">
              <a:buNone/>
            </a:pPr>
            <a:r>
              <a:rPr lang="en-US" sz="4600" b="1" dirty="0">
                <a:solidFill>
                  <a:srgbClr val="2EC4B6"/>
                </a:solidFill>
                <a:latin typeface="Bookman Old Style" pitchFamily="34" charset="0"/>
                <a:ea typeface="Bookman Old Style" pitchFamily="34" charset="-122"/>
                <a:cs typeface="Bookman Old Style" pitchFamily="34" charset="-120"/>
              </a:rPr>
              <a:t>95+</a:t>
            </a:r>
            <a:endParaRPr lang="en-US" sz="4600" dirty="0"/>
          </a:p>
        </p:txBody>
      </p:sp>
      <p:sp>
        <p:nvSpPr>
          <p:cNvPr id="15" name="Text 12"/>
          <p:cNvSpPr/>
          <p:nvPr/>
        </p:nvSpPr>
        <p:spPr>
          <a:xfrm>
            <a:off x="3694176" y="2990088"/>
            <a:ext cx="2157984" cy="256032"/>
          </a:xfrm>
          <a:prstGeom prst="rect">
            <a:avLst/>
          </a:prstGeom>
          <a:noFill/>
          <a:ln/>
        </p:spPr>
        <p:txBody>
          <a:bodyPr wrap="square" lIns="0" tIns="0" rIns="0" bIns="0" rtlCol="0" anchor="ctr"/>
          <a:lstStyle/>
          <a:p>
            <a:pPr indent="0" marL="0">
              <a:buNone/>
            </a:pPr>
            <a:r>
              <a:rPr lang="en-US" sz="1200" b="1" spc="150" kern="0" dirty="0">
                <a:solidFill>
                  <a:srgbClr val="FFFFFF"/>
                </a:solidFill>
                <a:latin typeface="Calibri" pitchFamily="34" charset="0"/>
                <a:ea typeface="Calibri" pitchFamily="34" charset="-122"/>
                <a:cs typeface="Calibri" pitchFamily="34" charset="-120"/>
              </a:rPr>
              <a:t>BUILT-IN DICTIONARIES</a:t>
            </a:r>
            <a:endParaRPr lang="en-US" sz="1200" dirty="0"/>
          </a:p>
        </p:txBody>
      </p:sp>
      <p:sp>
        <p:nvSpPr>
          <p:cNvPr id="16" name="Text 13"/>
          <p:cNvSpPr/>
          <p:nvPr/>
        </p:nvSpPr>
        <p:spPr>
          <a:xfrm>
            <a:off x="3694176" y="3246120"/>
            <a:ext cx="2157984" cy="411480"/>
          </a:xfrm>
          <a:prstGeom prst="rect">
            <a:avLst/>
          </a:prstGeom>
          <a:noFill/>
          <a:ln/>
        </p:spPr>
        <p:txBody>
          <a:bodyPr wrap="square" lIns="0" tIns="0" rIns="0" bIns="0" rtlCol="0" anchor="ctr"/>
          <a:lstStyle/>
          <a:p>
            <a:pPr indent="0" marL="0">
              <a:lnSpc>
                <a:spcPct val="100000"/>
              </a:lnSpc>
              <a:buNone/>
            </a:pPr>
            <a:r>
              <a:rPr lang="en-US" sz="1000" dirty="0">
                <a:solidFill>
                  <a:srgbClr val="C9DEE8"/>
                </a:solidFill>
                <a:latin typeface="Calibri" pitchFamily="34" charset="0"/>
                <a:ea typeface="Calibri" pitchFamily="34" charset="-122"/>
                <a:cs typeface="Calibri" pitchFamily="34" charset="-120"/>
              </a:rPr>
              <a:t>before you author a single rule</a:t>
            </a:r>
            <a:endParaRPr lang="en-US" sz="1000" dirty="0"/>
          </a:p>
        </p:txBody>
      </p:sp>
      <p:sp>
        <p:nvSpPr>
          <p:cNvPr id="17" name="Shape 14"/>
          <p:cNvSpPr/>
          <p:nvPr/>
        </p:nvSpPr>
        <p:spPr>
          <a:xfrm>
            <a:off x="6345936" y="2148840"/>
            <a:ext cx="2615184" cy="1554480"/>
          </a:xfrm>
          <a:prstGeom prst="roundRect">
            <a:avLst>
              <a:gd name="adj" fmla="val 5882"/>
            </a:avLst>
          </a:prstGeom>
          <a:solidFill>
            <a:srgbClr val="0B1B2B"/>
          </a:solidFill>
          <a:ln w="12700">
            <a:solidFill>
              <a:srgbClr val="1C7293"/>
            </a:solidFill>
            <a:prstDash val="solid"/>
          </a:ln>
        </p:spPr>
      </p:sp>
      <p:sp>
        <p:nvSpPr>
          <p:cNvPr id="18" name="Text 15"/>
          <p:cNvSpPr/>
          <p:nvPr/>
        </p:nvSpPr>
        <p:spPr>
          <a:xfrm>
            <a:off x="6574536" y="2295144"/>
            <a:ext cx="2157984" cy="640080"/>
          </a:xfrm>
          <a:prstGeom prst="rect">
            <a:avLst/>
          </a:prstGeom>
          <a:noFill/>
          <a:ln/>
        </p:spPr>
        <p:txBody>
          <a:bodyPr wrap="square" lIns="0" tIns="0" rIns="0" bIns="0" rtlCol="0" anchor="ctr"/>
          <a:lstStyle/>
          <a:p>
            <a:pPr indent="0" marL="0">
              <a:buNone/>
            </a:pPr>
            <a:r>
              <a:rPr lang="en-US" sz="4600" b="1" dirty="0">
                <a:solidFill>
                  <a:srgbClr val="2EC4B6"/>
                </a:solidFill>
                <a:latin typeface="Bookman Old Style" pitchFamily="34" charset="0"/>
                <a:ea typeface="Bookman Old Style" pitchFamily="34" charset="-122"/>
                <a:cs typeface="Bookman Old Style" pitchFamily="34" charset="-120"/>
              </a:rPr>
              <a:t>1</a:t>
            </a:r>
            <a:endParaRPr lang="en-US" sz="4600" dirty="0"/>
          </a:p>
        </p:txBody>
      </p:sp>
      <p:sp>
        <p:nvSpPr>
          <p:cNvPr id="19" name="Text 16"/>
          <p:cNvSpPr/>
          <p:nvPr/>
        </p:nvSpPr>
        <p:spPr>
          <a:xfrm>
            <a:off x="6592824" y="2990088"/>
            <a:ext cx="2157984" cy="256032"/>
          </a:xfrm>
          <a:prstGeom prst="rect">
            <a:avLst/>
          </a:prstGeom>
          <a:noFill/>
          <a:ln/>
        </p:spPr>
        <p:txBody>
          <a:bodyPr wrap="square" lIns="0" tIns="0" rIns="0" bIns="0" rtlCol="0" anchor="ctr"/>
          <a:lstStyle/>
          <a:p>
            <a:pPr indent="0" marL="0">
              <a:buNone/>
            </a:pPr>
            <a:r>
              <a:rPr lang="en-US" sz="1200" b="1" spc="150" kern="0" dirty="0">
                <a:solidFill>
                  <a:srgbClr val="FFFFFF"/>
                </a:solidFill>
                <a:latin typeface="Calibri" pitchFamily="34" charset="0"/>
                <a:ea typeface="Calibri" pitchFamily="34" charset="-122"/>
                <a:cs typeface="Calibri" pitchFamily="34" charset="-120"/>
              </a:rPr>
              <a:t>SCAN</a:t>
            </a:r>
            <a:endParaRPr lang="en-US" sz="1200" dirty="0"/>
          </a:p>
        </p:txBody>
      </p:sp>
      <p:sp>
        <p:nvSpPr>
          <p:cNvPr id="20" name="Text 17"/>
          <p:cNvSpPr/>
          <p:nvPr/>
        </p:nvSpPr>
        <p:spPr>
          <a:xfrm>
            <a:off x="6592824" y="3246120"/>
            <a:ext cx="2157984" cy="411480"/>
          </a:xfrm>
          <a:prstGeom prst="rect">
            <a:avLst/>
          </a:prstGeom>
          <a:noFill/>
          <a:ln/>
        </p:spPr>
        <p:txBody>
          <a:bodyPr wrap="square" lIns="0" tIns="0" rIns="0" bIns="0" rtlCol="0" anchor="ctr"/>
          <a:lstStyle/>
          <a:p>
            <a:pPr indent="0" marL="0">
              <a:lnSpc>
                <a:spcPct val="100000"/>
              </a:lnSpc>
              <a:buNone/>
            </a:pPr>
            <a:r>
              <a:rPr lang="en-US" sz="1000" dirty="0">
                <a:solidFill>
                  <a:srgbClr val="C9DEE8"/>
                </a:solidFill>
                <a:latin typeface="Calibri" pitchFamily="34" charset="0"/>
                <a:ea typeface="Calibri" pitchFamily="34" charset="-122"/>
                <a:cs typeface="Calibri" pitchFamily="34" charset="-120"/>
              </a:rPr>
              <a:t>every matched column or document tagged &amp; termed</a:t>
            </a:r>
            <a:endParaRPr lang="en-US" sz="1000" dirty="0"/>
          </a:p>
        </p:txBody>
      </p:sp>
      <p:sp>
        <p:nvSpPr>
          <p:cNvPr id="21" name="Shape 18"/>
          <p:cNvSpPr/>
          <p:nvPr/>
        </p:nvSpPr>
        <p:spPr>
          <a:xfrm>
            <a:off x="548640" y="3977640"/>
            <a:ext cx="8046720" cy="713232"/>
          </a:xfrm>
          <a:prstGeom prst="roundRect">
            <a:avLst>
              <a:gd name="adj" fmla="val 12821"/>
            </a:avLst>
          </a:prstGeom>
          <a:solidFill>
            <a:srgbClr val="1C7293"/>
          </a:solidFill>
          <a:ln/>
          <a:effectLst>
            <a:outerShdw sx="100000" sy="100000" kx="0" ky="0" algn="bl" rotWithShape="0" blurRad="88900" dist="38100" dir="5400000">
              <a:srgbClr val="0B1B2B">
                <a:alpha val="16000"/>
              </a:srgbClr>
            </a:outerShdw>
          </a:effectLst>
        </p:spPr>
      </p:sp>
      <p:sp>
        <p:nvSpPr>
          <p:cNvPr id="22" name="Text 19"/>
          <p:cNvSpPr/>
          <p:nvPr/>
        </p:nvSpPr>
        <p:spPr>
          <a:xfrm>
            <a:off x="868680" y="3977640"/>
            <a:ext cx="7406640" cy="713232"/>
          </a:xfrm>
          <a:prstGeom prst="rect">
            <a:avLst/>
          </a:prstGeom>
          <a:noFill/>
          <a:ln/>
        </p:spPr>
        <p:txBody>
          <a:bodyPr wrap="square" lIns="0" tIns="0" rIns="0" bIns="0" rtlCol="0" anchor="ctr"/>
          <a:lstStyle/>
          <a:p>
            <a:pPr indent="0" marL="0">
              <a:lnSpc>
                <a:spcPct val="102000"/>
              </a:lnSpc>
              <a:buNone/>
            </a:pPr>
            <a:r>
              <a:rPr lang="en-US" sz="1300" b="1" dirty="0">
                <a:solidFill>
                  <a:srgbClr val="FFFFFF"/>
                </a:solidFill>
                <a:latin typeface="Calibri" pitchFamily="34" charset="0"/>
                <a:ea typeface="Calibri" pitchFamily="34" charset="-122"/>
                <a:cs typeface="Calibri" pitchFamily="34" charset="-120"/>
              </a:rPr>
              <a:t>Next — the technical workshop:  </a:t>
            </a:r>
            <a:pPr indent="0" marL="0">
              <a:lnSpc>
                <a:spcPct val="102000"/>
              </a:lnSpc>
              <a:buNone/>
            </a:pPr>
            <a:r>
              <a:rPr lang="en-US" sz="1300" dirty="0">
                <a:solidFill>
                  <a:srgbClr val="C9DEE8"/>
                </a:solidFill>
                <a:latin typeface="Calibri" pitchFamily="34" charset="0"/>
                <a:ea typeface="Calibri" pitchFamily="34" charset="-122"/>
                <a:cs typeface="Calibri" pitchFamily="34" charset="-120"/>
              </a:rPr>
              <a:t>build custom dictionaries &amp; patterns, tune confidence scores, and write the rules behind a policy.</a:t>
            </a:r>
            <a:endParaRPr lang="en-US" sz="1300" dirty="0"/>
          </a:p>
        </p:txBody>
      </p:sp>
      <p:sp>
        <p:nvSpPr>
          <p:cNvPr id="23" name="Text 20"/>
          <p:cNvSpPr/>
          <p:nvPr/>
        </p:nvSpPr>
        <p:spPr>
          <a:xfrm>
            <a:off x="8458200" y="4736592"/>
            <a:ext cx="365760" cy="274320"/>
          </a:xfrm>
          <a:prstGeom prst="rect">
            <a:avLst/>
          </a:prstGeom>
          <a:noFill/>
          <a:ln/>
        </p:spPr>
        <p:txBody>
          <a:bodyPr wrap="square" lIns="0" tIns="0" rIns="0" bIns="0" rtlCol="0" anchor="ctr"/>
          <a:lstStyle/>
          <a:p>
            <a:pPr algn="r" indent="0" marL="0">
              <a:buNone/>
            </a:pPr>
            <a:r>
              <a:rPr lang="en-US" sz="900" dirty="0">
                <a:solidFill>
                  <a:srgbClr val="C9DEE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Workshop 5 — Data Identification</dc:title>
  <dc:subject>PptxGenJS Presentation</dc:subject>
  <dc:creator>Pentaho Academy</dc:creator>
  <cp:lastModifiedBy>Pentaho Academy</cp:lastModifiedBy>
  <cp:revision>1</cp:revision>
  <dcterms:created xsi:type="dcterms:W3CDTF">2026-06-26T16:48:26Z</dcterms:created>
  <dcterms:modified xsi:type="dcterms:W3CDTF">2026-06-26T16:48:26Z</dcterms:modified>
</cp:coreProperties>
</file>