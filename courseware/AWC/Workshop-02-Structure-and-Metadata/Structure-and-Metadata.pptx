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Workshop 2. The skill here is reading metadata fluently - the core literacy of a catalog-aware analyst. Frame it: they didn't create this data, so how do they learn to trust and understand it? Through the three layers of metadata PDC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idea of the whole workshop - the three layers. Technical is what the database knows: types, keys, sizes. Business is what humans need: definitions, owner, domain. Operational is how the data behaves: quality, freshness, lineage. Give the opted_out_marketing example - technically a boolean, but its business meaning is a GDPR consent flag. Same column, three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asset tabs. Every tab they open maps to one of those three layers. Summary gives business and operational at a glance; Data Elements is the technical layer column by column; Related previews lineage; Custom Properties and Comments add organisational context. Tell them to navigate these on the customers table as you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worked example. These six columns each tell all three stories at once. Linger on the sensitivity column - PII and Confidential. This is the bridge to Workshop 4, where these flags become the basis for compliance. Have them find one column whose business meaning isn't obvious from its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why a BA cares: metadata is how you trust data you didn't create. Use the stats to recap - 6 tables, 3 layers, 5 tabs. Then the discussion: the 'can I email everyone?' question, whose answer is a single column, opted_out_marketing. Transition to profiling in Workshop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1"/>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WORKSHOP 2 · 30 MINUTES  ·  PDC · METADATA &amp; 3 LAYERS</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Exploring Data Structure</a:t>
            </a:r>
            <a:endParaRPr lang="en-US" sz="4000" dirty="0"/>
          </a:p>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&amp; Metadata</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indent="0" marL="0">
              <a:lnSpc>
                <a:spcPct val="105000"/>
              </a:lnSpc>
              <a:buNone/>
            </a:pPr>
            <a:r>
              <a:rPr lang="en-US" sz="1800" dirty="0">
                <a:solidFill>
                  <a:srgbClr val="DCEEF5"/>
                </a:solidFill>
                <a:latin typeface="Calibri" pitchFamily="34" charset="0"/>
                <a:ea typeface="Calibri" pitchFamily="34" charset="-122"/>
                <a:cs typeface="Calibri" pitchFamily="34" charset="-120"/>
              </a:rPr>
              <a:t>Read the three layers of metadata PDC captures about the AWC schema — technical, business, and operational — and learn to navigate every tab.</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indent="0" marL="0">
              <a:buNone/>
            </a:pPr>
            <a:r>
              <a:rPr lang="en-US" sz="1200" dirty="0">
                <a:solidFill>
                  <a:srgbClr val="5B7782"/>
                </a:solidFill>
                <a:latin typeface="Calibri" pitchFamily="34" charset="0"/>
                <a:ea typeface="Calibri" pitchFamily="34" charset="-122"/>
                <a:cs typeface="Calibri" pitchFamily="34" charset="-120"/>
              </a:rPr>
              <a:t>Pentaho Data Catalog 10.2.11  ·  Focus table: customers  ·  awc_operations schema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BIG IDEA</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Three layers of metadata</a:t>
            </a:r>
            <a:endParaRPr lang="en-US" sz="2700" dirty="0"/>
          </a:p>
        </p:txBody>
      </p:sp>
      <p:sp>
        <p:nvSpPr>
          <p:cNvPr id="4" name="Shape 2"/>
          <p:cNvSpPr/>
          <p:nvPr/>
        </p:nvSpPr>
        <p:spPr>
          <a:xfrm>
            <a:off x="548640" y="1517904"/>
            <a:ext cx="2587752" cy="3017520"/>
          </a:xfrm>
          <a:prstGeom prst="roundRect">
            <a:avLst>
              <a:gd name="adj" fmla="val 3180"/>
            </a:avLst>
          </a:prstGeom>
          <a:solidFill>
            <a:srgbClr val="EEF6FA"/>
          </a:solidFill>
          <a:ln/>
          <a:effectLst>
            <a:outerShdw sx="100000" sy="100000" kx="0" ky="0" algn="bl" rotWithShape="0" blurRad="101600" dist="25400" dir="5400000">
              <a:srgbClr val="0A3D52">
                <a:alpha val="12000"/>
              </a:srgbClr>
            </a:outerShdw>
          </a:effectLst>
        </p:spPr>
      </p:sp>
      <p:sp>
        <p:nvSpPr>
          <p:cNvPr id="5" name="Shape 3"/>
          <p:cNvSpPr/>
          <p:nvPr/>
        </p:nvSpPr>
        <p:spPr>
          <a:xfrm>
            <a:off x="804672" y="1792224"/>
            <a:ext cx="713232" cy="713232"/>
          </a:xfrm>
          <a:prstGeom prst="ellipse">
            <a:avLst/>
          </a:prstGeom>
          <a:solidFill>
            <a:srgbClr val="065A82"/>
          </a:solidFill>
          <a:ln/>
        </p:spPr>
      </p:sp>
      <p:pic>
        <p:nvPicPr>
          <p:cNvPr id="6" name="Image 0" descr="preencoded.png"/>
          <p:cNvPicPr>
            <a:picLocks noChangeAspect="1"/>
          </p:cNvPicPr>
          <p:nvPr/>
        </p:nvPicPr>
        <p:blipFill>
          <a:blip r:embed="rId1"/>
          <a:stretch>
            <a:fillRect/>
          </a:stretch>
        </p:blipFill>
        <p:spPr>
          <a:xfrm>
            <a:off x="996696" y="1984248"/>
            <a:ext cx="329184" cy="329184"/>
          </a:xfrm>
          <a:prstGeom prst="rect">
            <a:avLst/>
          </a:prstGeom>
        </p:spPr>
      </p:pic>
      <p:sp>
        <p:nvSpPr>
          <p:cNvPr id="7" name="Text 4"/>
          <p:cNvSpPr/>
          <p:nvPr/>
        </p:nvSpPr>
        <p:spPr>
          <a:xfrm>
            <a:off x="804672" y="2651760"/>
            <a:ext cx="2130552" cy="384048"/>
          </a:xfrm>
          <a:prstGeom prst="rect">
            <a:avLst/>
          </a:prstGeom>
          <a:noFill/>
          <a:ln/>
        </p:spPr>
        <p:txBody>
          <a:bodyPr wrap="square" lIns="0" tIns="0" rIns="0" bIns="0" rtlCol="0" anchor="ctr"/>
          <a:lstStyle/>
          <a:p>
            <a:pPr indent="0" marL="0">
              <a:buNone/>
            </a:pPr>
            <a:r>
              <a:rPr lang="en-US" sz="2000" b="1" dirty="0">
                <a:solidFill>
                  <a:srgbClr val="14333F"/>
                </a:solidFill>
                <a:latin typeface="Bookman Old Style" pitchFamily="34" charset="0"/>
                <a:ea typeface="Bookman Old Style" pitchFamily="34" charset="-122"/>
                <a:cs typeface="Bookman Old Style" pitchFamily="34" charset="-120"/>
              </a:rPr>
              <a:t>Technical</a:t>
            </a:r>
            <a:endParaRPr lang="en-US" sz="2000" dirty="0"/>
          </a:p>
        </p:txBody>
      </p:sp>
      <p:sp>
        <p:nvSpPr>
          <p:cNvPr id="8" name="Text 5"/>
          <p:cNvSpPr/>
          <p:nvPr/>
        </p:nvSpPr>
        <p:spPr>
          <a:xfrm>
            <a:off x="804672" y="3035808"/>
            <a:ext cx="2130552" cy="292608"/>
          </a:xfrm>
          <a:prstGeom prst="rect">
            <a:avLst/>
          </a:prstGeom>
          <a:noFill/>
          <a:ln/>
        </p:spPr>
        <p:txBody>
          <a:bodyPr wrap="square" lIns="0" tIns="0" rIns="0" bIns="0" rtlCol="0" anchor="ctr"/>
          <a:lstStyle/>
          <a:p>
            <a:pPr indent="0" marL="0">
              <a:buNone/>
            </a:pPr>
            <a:r>
              <a:rPr lang="en-US" sz="1100" b="1" i="1" dirty="0">
                <a:solidFill>
                  <a:srgbClr val="065A82"/>
                </a:solidFill>
                <a:latin typeface="Calibri" pitchFamily="34" charset="0"/>
                <a:ea typeface="Calibri" pitchFamily="34" charset="-122"/>
                <a:cs typeface="Calibri" pitchFamily="34" charset="-120"/>
              </a:rPr>
              <a:t>What the database knows</a:t>
            </a:r>
            <a:endParaRPr lang="en-US" sz="1100" dirty="0"/>
          </a:p>
        </p:txBody>
      </p:sp>
      <p:sp>
        <p:nvSpPr>
          <p:cNvPr id="9" name="Text 6"/>
          <p:cNvSpPr/>
          <p:nvPr/>
        </p:nvSpPr>
        <p:spPr>
          <a:xfrm>
            <a:off x="804672" y="3383280"/>
            <a:ext cx="2112264" cy="1005840"/>
          </a:xfrm>
          <a:prstGeom prst="rect">
            <a:avLst/>
          </a:prstGeom>
          <a:noFill/>
          <a:ln/>
        </p:spPr>
        <p:txBody>
          <a:bodyPr wrap="square" lIns="0" tIns="0" rIns="0" bIns="0" rtlCol="0" anchor="ctr"/>
          <a:lstStyle/>
          <a:p>
            <a:pPr indent="0" marL="0">
              <a:lnSpc>
                <a:spcPct val="105000"/>
              </a:lnSpc>
              <a:buNone/>
            </a:pPr>
            <a:r>
              <a:rPr lang="en-US" sz="1100" dirty="0">
                <a:solidFill>
                  <a:srgbClr val="5B7782"/>
                </a:solidFill>
                <a:latin typeface="Calibri" pitchFamily="34" charset="0"/>
                <a:ea typeface="Calibri" pitchFamily="34" charset="-122"/>
                <a:cs typeface="Calibri" pitchFamily="34" charset="-120"/>
              </a:rPr>
              <a:t>Column names, data types, sizes, nullability — plus primary &amp; foreign keys, which PDC surfaces from the source’s declared constraints once related tables are profiled. Example: customer_id is an Integer (10).</a:t>
            </a:r>
            <a:endParaRPr lang="en-US" sz="1100" dirty="0"/>
          </a:p>
        </p:txBody>
      </p:sp>
      <p:sp>
        <p:nvSpPr>
          <p:cNvPr id="10" name="Shape 7"/>
          <p:cNvSpPr/>
          <p:nvPr/>
        </p:nvSpPr>
        <p:spPr>
          <a:xfrm>
            <a:off x="3273552" y="1517904"/>
            <a:ext cx="2587752" cy="3017520"/>
          </a:xfrm>
          <a:prstGeom prst="roundRect">
            <a:avLst>
              <a:gd name="adj" fmla="val 3180"/>
            </a:avLst>
          </a:prstGeom>
          <a:solidFill>
            <a:srgbClr val="EEF6FA"/>
          </a:solidFill>
          <a:ln/>
          <a:effectLst>
            <a:outerShdw sx="100000" sy="100000" kx="0" ky="0" algn="bl" rotWithShape="0" blurRad="101600" dist="25400" dir="5400000">
              <a:srgbClr val="0A3D52">
                <a:alpha val="12000"/>
              </a:srgbClr>
            </a:outerShdw>
          </a:effectLst>
        </p:spPr>
      </p:sp>
      <p:sp>
        <p:nvSpPr>
          <p:cNvPr id="11" name="Shape 8"/>
          <p:cNvSpPr/>
          <p:nvPr/>
        </p:nvSpPr>
        <p:spPr>
          <a:xfrm>
            <a:off x="3529584" y="1792224"/>
            <a:ext cx="713232" cy="713232"/>
          </a:xfrm>
          <a:prstGeom prst="ellipse">
            <a:avLst/>
          </a:prstGeom>
          <a:solidFill>
            <a:srgbClr val="1C7293"/>
          </a:solidFill>
          <a:ln/>
        </p:spPr>
      </p:sp>
      <p:pic>
        <p:nvPicPr>
          <p:cNvPr id="12" name="Image 1" descr="preencoded.png"/>
          <p:cNvPicPr>
            <a:picLocks noChangeAspect="1"/>
          </p:cNvPicPr>
          <p:nvPr/>
        </p:nvPicPr>
        <p:blipFill>
          <a:blip r:embed="rId2"/>
          <a:stretch>
            <a:fillRect/>
          </a:stretch>
        </p:blipFill>
        <p:spPr>
          <a:xfrm>
            <a:off x="3721608" y="1984248"/>
            <a:ext cx="329184" cy="329184"/>
          </a:xfrm>
          <a:prstGeom prst="rect">
            <a:avLst/>
          </a:prstGeom>
        </p:spPr>
      </p:pic>
      <p:sp>
        <p:nvSpPr>
          <p:cNvPr id="13" name="Text 9"/>
          <p:cNvSpPr/>
          <p:nvPr/>
        </p:nvSpPr>
        <p:spPr>
          <a:xfrm>
            <a:off x="3529584" y="2651760"/>
            <a:ext cx="2130552" cy="384048"/>
          </a:xfrm>
          <a:prstGeom prst="rect">
            <a:avLst/>
          </a:prstGeom>
          <a:noFill/>
          <a:ln/>
        </p:spPr>
        <p:txBody>
          <a:bodyPr wrap="square" lIns="0" tIns="0" rIns="0" bIns="0" rtlCol="0" anchor="ctr"/>
          <a:lstStyle/>
          <a:p>
            <a:pPr indent="0" marL="0">
              <a:buNone/>
            </a:pPr>
            <a:r>
              <a:rPr lang="en-US" sz="2000" b="1" dirty="0">
                <a:solidFill>
                  <a:srgbClr val="14333F"/>
                </a:solidFill>
                <a:latin typeface="Bookman Old Style" pitchFamily="34" charset="0"/>
                <a:ea typeface="Bookman Old Style" pitchFamily="34" charset="-122"/>
                <a:cs typeface="Bookman Old Style" pitchFamily="34" charset="-120"/>
              </a:rPr>
              <a:t>Business</a:t>
            </a:r>
            <a:endParaRPr lang="en-US" sz="2000" dirty="0"/>
          </a:p>
        </p:txBody>
      </p:sp>
      <p:sp>
        <p:nvSpPr>
          <p:cNvPr id="14" name="Text 10"/>
          <p:cNvSpPr/>
          <p:nvPr/>
        </p:nvSpPr>
        <p:spPr>
          <a:xfrm>
            <a:off x="3529584" y="3035808"/>
            <a:ext cx="2130552" cy="292608"/>
          </a:xfrm>
          <a:prstGeom prst="rect">
            <a:avLst/>
          </a:prstGeom>
          <a:noFill/>
          <a:ln/>
        </p:spPr>
        <p:txBody>
          <a:bodyPr wrap="square" lIns="0" tIns="0" rIns="0" bIns="0" rtlCol="0" anchor="ctr"/>
          <a:lstStyle/>
          <a:p>
            <a:pPr indent="0" marL="0">
              <a:buNone/>
            </a:pPr>
            <a:r>
              <a:rPr lang="en-US" sz="1100" b="1" i="1" dirty="0">
                <a:solidFill>
                  <a:srgbClr val="1C7293"/>
                </a:solidFill>
                <a:latin typeface="Calibri" pitchFamily="34" charset="0"/>
                <a:ea typeface="Calibri" pitchFamily="34" charset="-122"/>
                <a:cs typeface="Calibri" pitchFamily="34" charset="-120"/>
              </a:rPr>
              <a:t>What humans need to know</a:t>
            </a:r>
            <a:endParaRPr lang="en-US" sz="1100" dirty="0"/>
          </a:p>
        </p:txBody>
      </p:sp>
      <p:sp>
        <p:nvSpPr>
          <p:cNvPr id="15" name="Text 11"/>
          <p:cNvSpPr/>
          <p:nvPr/>
        </p:nvSpPr>
        <p:spPr>
          <a:xfrm>
            <a:off x="3529584" y="3383280"/>
            <a:ext cx="2112264" cy="1005840"/>
          </a:xfrm>
          <a:prstGeom prst="rect">
            <a:avLst/>
          </a:prstGeom>
          <a:noFill/>
          <a:ln/>
        </p:spPr>
        <p:txBody>
          <a:bodyPr wrap="square" lIns="0" tIns="0" rIns="0" bIns="0" rtlCol="0" anchor="ctr"/>
          <a:lstStyle/>
          <a:p>
            <a:pPr indent="0" marL="0">
              <a:lnSpc>
                <a:spcPct val="105000"/>
              </a:lnSpc>
              <a:buNone/>
            </a:pPr>
            <a:r>
              <a:rPr lang="en-US" sz="1100" dirty="0">
                <a:solidFill>
                  <a:srgbClr val="5B7782"/>
                </a:solidFill>
                <a:latin typeface="Calibri" pitchFamily="34" charset="0"/>
                <a:ea typeface="Calibri" pitchFamily="34" charset="-122"/>
                <a:cs typeface="Calibri" pitchFamily="34" charset="-120"/>
              </a:rPr>
              <a:t>Description &amp; Remarks, linked Business Terms, and Sensitivity. Domain, Classification &amp; Business Steward live on the Glossary term you attach. Example: link a Customer PII term to customer_name.</a:t>
            </a:r>
            <a:endParaRPr lang="en-US" sz="1100" dirty="0"/>
          </a:p>
        </p:txBody>
      </p:sp>
      <p:sp>
        <p:nvSpPr>
          <p:cNvPr id="16" name="Shape 12"/>
          <p:cNvSpPr/>
          <p:nvPr/>
        </p:nvSpPr>
        <p:spPr>
          <a:xfrm>
            <a:off x="5998464" y="1517904"/>
            <a:ext cx="2587752" cy="3017520"/>
          </a:xfrm>
          <a:prstGeom prst="roundRect">
            <a:avLst>
              <a:gd name="adj" fmla="val 3180"/>
            </a:avLst>
          </a:prstGeom>
          <a:solidFill>
            <a:srgbClr val="EEF6FA"/>
          </a:solidFill>
          <a:ln/>
          <a:effectLst>
            <a:outerShdw sx="100000" sy="100000" kx="0" ky="0" algn="bl" rotWithShape="0" blurRad="101600" dist="25400" dir="5400000">
              <a:srgbClr val="0A3D52">
                <a:alpha val="12000"/>
              </a:srgbClr>
            </a:outerShdw>
          </a:effectLst>
        </p:spPr>
      </p:sp>
      <p:sp>
        <p:nvSpPr>
          <p:cNvPr id="17" name="Shape 13"/>
          <p:cNvSpPr/>
          <p:nvPr/>
        </p:nvSpPr>
        <p:spPr>
          <a:xfrm>
            <a:off x="6254496" y="1792224"/>
            <a:ext cx="713232" cy="713232"/>
          </a:xfrm>
          <a:prstGeom prst="ellipse">
            <a:avLst/>
          </a:prstGeom>
          <a:solidFill>
            <a:srgbClr val="2EC4B6"/>
          </a:solidFill>
          <a:ln/>
        </p:spPr>
      </p:sp>
      <p:pic>
        <p:nvPicPr>
          <p:cNvPr id="18" name="Image 2" descr="preencoded.png"/>
          <p:cNvPicPr>
            <a:picLocks noChangeAspect="1"/>
          </p:cNvPicPr>
          <p:nvPr/>
        </p:nvPicPr>
        <p:blipFill>
          <a:blip r:embed="rId3"/>
          <a:stretch>
            <a:fillRect/>
          </a:stretch>
        </p:blipFill>
        <p:spPr>
          <a:xfrm>
            <a:off x="6446520" y="1984248"/>
            <a:ext cx="329184" cy="329184"/>
          </a:xfrm>
          <a:prstGeom prst="rect">
            <a:avLst/>
          </a:prstGeom>
        </p:spPr>
      </p:pic>
      <p:sp>
        <p:nvSpPr>
          <p:cNvPr id="19" name="Text 14"/>
          <p:cNvSpPr/>
          <p:nvPr/>
        </p:nvSpPr>
        <p:spPr>
          <a:xfrm>
            <a:off x="6254496" y="2651760"/>
            <a:ext cx="2130552" cy="384048"/>
          </a:xfrm>
          <a:prstGeom prst="rect">
            <a:avLst/>
          </a:prstGeom>
          <a:noFill/>
          <a:ln/>
        </p:spPr>
        <p:txBody>
          <a:bodyPr wrap="square" lIns="0" tIns="0" rIns="0" bIns="0" rtlCol="0" anchor="ctr"/>
          <a:lstStyle/>
          <a:p>
            <a:pPr indent="0" marL="0">
              <a:buNone/>
            </a:pPr>
            <a:r>
              <a:rPr lang="en-US" sz="2000" b="1" dirty="0">
                <a:solidFill>
                  <a:srgbClr val="14333F"/>
                </a:solidFill>
                <a:latin typeface="Bookman Old Style" pitchFamily="34" charset="0"/>
                <a:ea typeface="Bookman Old Style" pitchFamily="34" charset="-122"/>
                <a:cs typeface="Bookman Old Style" pitchFamily="34" charset="-120"/>
              </a:rPr>
              <a:t>Operational</a:t>
            </a:r>
            <a:endParaRPr lang="en-US" sz="2000" dirty="0"/>
          </a:p>
        </p:txBody>
      </p:sp>
      <p:sp>
        <p:nvSpPr>
          <p:cNvPr id="20" name="Text 15"/>
          <p:cNvSpPr/>
          <p:nvPr/>
        </p:nvSpPr>
        <p:spPr>
          <a:xfrm>
            <a:off x="6254496" y="3035808"/>
            <a:ext cx="2130552" cy="292608"/>
          </a:xfrm>
          <a:prstGeom prst="rect">
            <a:avLst/>
          </a:prstGeom>
          <a:noFill/>
          <a:ln/>
        </p:spPr>
        <p:txBody>
          <a:bodyPr wrap="square" lIns="0" tIns="0" rIns="0" bIns="0" rtlCol="0" anchor="ctr"/>
          <a:lstStyle/>
          <a:p>
            <a:pPr indent="0" marL="0">
              <a:buNone/>
            </a:pPr>
            <a:r>
              <a:rPr lang="en-US" sz="1100" b="1" i="1" dirty="0">
                <a:solidFill>
                  <a:srgbClr val="2EC4B6"/>
                </a:solidFill>
                <a:latin typeface="Calibri" pitchFamily="34" charset="0"/>
                <a:ea typeface="Calibri" pitchFamily="34" charset="-122"/>
                <a:cs typeface="Calibri" pitchFamily="34" charset="-120"/>
              </a:rPr>
              <a:t>How the data behaves</a:t>
            </a:r>
            <a:endParaRPr lang="en-US" sz="1100" dirty="0"/>
          </a:p>
        </p:txBody>
      </p:sp>
      <p:sp>
        <p:nvSpPr>
          <p:cNvPr id="21" name="Text 16"/>
          <p:cNvSpPr/>
          <p:nvPr/>
        </p:nvSpPr>
        <p:spPr>
          <a:xfrm>
            <a:off x="6254496" y="3383280"/>
            <a:ext cx="2112264" cy="1005840"/>
          </a:xfrm>
          <a:prstGeom prst="rect">
            <a:avLst/>
          </a:prstGeom>
          <a:noFill/>
          <a:ln/>
        </p:spPr>
        <p:txBody>
          <a:bodyPr wrap="square" lIns="0" tIns="0" rIns="0" bIns="0" rtlCol="0" anchor="ctr"/>
          <a:lstStyle/>
          <a:p>
            <a:pPr indent="0" marL="0">
              <a:lnSpc>
                <a:spcPct val="105000"/>
              </a:lnSpc>
              <a:buNone/>
            </a:pPr>
            <a:r>
              <a:rPr lang="en-US" sz="1100" dirty="0">
                <a:solidFill>
                  <a:srgbClr val="5B7782"/>
                </a:solidFill>
                <a:latin typeface="Calibri" pitchFamily="34" charset="0"/>
                <a:ea typeface="Calibri" pitchFamily="34" charset="-122"/>
                <a:cs typeface="Calibri" pitchFamily="34" charset="-120"/>
              </a:rPr>
              <a:t>Quality scores, freshness, lineage, compliance status — computed for the whole table, not per column. The Trust Score here is a sliding scale that fills in as inputs arrive. Example: a quality score appears after Workshop 4 profiling.</a:t>
            </a:r>
            <a:endParaRPr lang="en-US" sz="1100" dirty="0"/>
          </a:p>
        </p:txBody>
      </p:sp>
      <p:sp>
        <p:nvSpPr>
          <p:cNvPr id="22" name="Text 17"/>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2 · Every tab you open maps to one of these layers</a:t>
            </a:r>
            <a:endParaRPr lang="en-US" sz="950" dirty="0"/>
          </a:p>
        </p:txBody>
      </p:sp>
      <p:sp>
        <p:nvSpPr>
          <p:cNvPr id="23" name="Text 18"/>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NAVIGATING AN ASSET</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The tabs on the customers table</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1"/>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Summary</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Description, Key Metrics (Data Quality, Lineage, Sensitivity, Trust Score), Business Terms, Properties</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2"/>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Details</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Every column with its data type, size, nullability, tags, business terms &amp; sensitivity</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3"/>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Custom Properties</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Org-specific properties — cost center, retention policy, and the like</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4"/>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Glossary</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Linked business terms — where Domain, Classification, Business Steward &amp; Owner live</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5"/>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More</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Overflow menu — additional views for this asset</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2 · You'll visit each tab in order</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WORKED EXAMPLE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Reading the customers columns</a:t>
            </a:r>
            <a:endParaRPr lang="en-US" sz="2700" dirty="0"/>
          </a:p>
        </p:txBody>
      </p:sp>
      <p:sp>
        <p:nvSpPr>
          <p:cNvPr id="4" name="Text 2"/>
          <p:cNvSpPr/>
          <p:nvPr/>
        </p:nvSpPr>
        <p:spPr>
          <a:xfrm>
            <a:off x="548640" y="1389888"/>
            <a:ext cx="8046720" cy="457200"/>
          </a:xfrm>
          <a:prstGeom prst="rect">
            <a:avLst/>
          </a:prstGeom>
          <a:noFill/>
          <a:ln/>
        </p:spPr>
        <p:txBody>
          <a:bodyPr wrap="square" lIns="0" tIns="0" rIns="0" bIns="0" rtlCol="0" anchor="ctr"/>
          <a:lstStyle/>
          <a:p>
            <a:pPr indent="0" marL="0">
              <a:lnSpc>
                <a:spcPct val="104000"/>
              </a:lnSpc>
              <a:buNone/>
            </a:pPr>
            <a:r>
              <a:rPr lang="en-US" sz="1250" dirty="0">
                <a:solidFill>
                  <a:srgbClr val="5B7782"/>
                </a:solidFill>
                <a:latin typeface="Calibri" pitchFamily="34" charset="0"/>
                <a:ea typeface="Calibri" pitchFamily="34" charset="-122"/>
                <a:cs typeface="Calibri" pitchFamily="34" charset="-120"/>
              </a:rPr>
              <a:t>A few columns tell three stories at once — note how technical type, business meaning, and sensitivity all live together.</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38528"/>
          <a:ext cx="8046720" cy="914400"/>
        </p:xfrm>
        <a:graphic>
          <a:graphicData uri="http://schemas.openxmlformats.org/drawingml/2006/table">
            <a:tbl>
              <a:tblPr/>
              <a:tblGrid>
                <a:gridCol w="1920240"/>
                <a:gridCol w="1371600"/>
                <a:gridCol w="3200400"/>
                <a:gridCol w="155448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Column</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Business meaning</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Sensitivity</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customer_id</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Integer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Unique customer identifier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customer_name</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VARCHAR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Account holder name</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PII</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email</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VARCHAR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Contact email address</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PII</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account_number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VARCHAR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AWC billing account</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Confidential</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service_area_system</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VARCHAR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Which of 8 water systems</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Internal</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4572000"/>
            <a:ext cx="8046720" cy="274320"/>
          </a:xfrm>
          <a:prstGeom prst="rect">
            <a:avLst/>
          </a:prstGeom>
          <a:noFill/>
          <a:ln/>
        </p:spPr>
        <p:txBody>
          <a:bodyPr wrap="square" lIns="0" tIns="0" rIns="0" bIns="0" rtlCol="0" anchor="ctr"/>
          <a:lstStyle/>
          <a:p>
            <a:pPr indent="0" marL="0">
              <a:buNone/>
            </a:pPr>
            <a:r>
              <a:rPr lang="en-US" sz="1050" i="1" dirty="0">
                <a:solidFill>
                  <a:srgbClr val="5B7782"/>
                </a:solidFill>
                <a:latin typeface="Calibri" pitchFamily="34" charset="0"/>
                <a:ea typeface="Calibri" pitchFamily="34" charset="-122"/>
                <a:cs typeface="Calibri" pitchFamily="34" charset="-120"/>
              </a:rPr>
              <a:t>Keys (PK/FK) surface once related tables are profiled in Workshop 4; Sensitivity is set via the glossary and Data Identification. Trust Score is a table-level metric — there is no per-column trust score.</a:t>
            </a:r>
            <a:endParaRPr lang="en-US" sz="1050" dirty="0"/>
          </a:p>
        </p:txBody>
      </p:sp>
      <p:sp>
        <p:nvSpPr>
          <p:cNvPr id="7" name="Text 4"/>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2 · customers table</a:t>
            </a:r>
            <a:endParaRPr lang="en-US" sz="950" dirty="0"/>
          </a:p>
        </p:txBody>
      </p:sp>
      <p:sp>
        <p:nvSpPr>
          <p:cNvPr id="8" name="Text 5"/>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7498080" y="-1280160"/>
            <a:ext cx="3291840" cy="3291840"/>
          </a:xfrm>
          <a:prstGeom prst="ellipse">
            <a:avLst/>
          </a:prstGeom>
          <a:solidFill>
            <a:srgbClr val="0A3D52"/>
          </a:solidFill>
          <a:ln/>
        </p:spPr>
      </p:sp>
      <p:sp>
        <p:nvSpPr>
          <p:cNvPr id="3" name="Shape 1"/>
          <p:cNvSpPr/>
          <p:nvPr/>
        </p:nvSpPr>
        <p:spPr>
          <a:xfrm>
            <a:off x="548640" y="603504"/>
            <a:ext cx="841248" cy="841248"/>
          </a:xfrm>
          <a:prstGeom prst="ellipse">
            <a:avLst/>
          </a:prstGeom>
          <a:solidFill>
            <a:srgbClr val="1C7293"/>
          </a:solidFill>
          <a:ln/>
        </p:spPr>
      </p:sp>
      <p:pic>
        <p:nvPicPr>
          <p:cNvPr id="4" name="Image 0" descr="preencoded.png"/>
          <p:cNvPicPr>
            <a:picLocks noChangeAspect="1"/>
          </p:cNvPicPr>
          <p:nvPr/>
        </p:nvPicPr>
        <p:blipFill>
          <a:blip r:embed="rId1"/>
          <a:stretch>
            <a:fillRect/>
          </a:stretch>
        </p:blipFill>
        <p:spPr>
          <a:xfrm>
            <a:off x="722376" y="777240"/>
            <a:ext cx="493776" cy="493776"/>
          </a:xfrm>
          <a:prstGeom prst="rect">
            <a:avLst/>
          </a:prstGeom>
        </p:spPr>
      </p:pic>
      <p:sp>
        <p:nvSpPr>
          <p:cNvPr id="5" name="Text 2"/>
          <p:cNvSpPr/>
          <p:nvPr/>
        </p:nvSpPr>
        <p:spPr>
          <a:xfrm>
            <a:off x="1554480" y="713232"/>
            <a:ext cx="64008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WHY A BA CARES</a:t>
            </a:r>
            <a:endParaRPr lang="en-US" sz="1400" dirty="0"/>
          </a:p>
        </p:txBody>
      </p:sp>
      <p:sp>
        <p:nvSpPr>
          <p:cNvPr id="6" name="Text 3"/>
          <p:cNvSpPr/>
          <p:nvPr/>
        </p:nvSpPr>
        <p:spPr>
          <a:xfrm>
            <a:off x="548640" y="1517904"/>
            <a:ext cx="8046720" cy="1097280"/>
          </a:xfrm>
          <a:prstGeom prst="rect">
            <a:avLst/>
          </a:prstGeom>
          <a:noFill/>
          <a:ln/>
        </p:spPr>
        <p:txBody>
          <a:bodyPr wrap="square" lIns="0" tIns="0" rIns="0" bIns="0" rtlCol="0" anchor="ctr"/>
          <a:lstStyle/>
          <a:p>
            <a:pPr indent="0" marL="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Metadata is how you trust data</a:t>
            </a:r>
            <a:endParaRPr lang="en-US" sz="2800" dirty="0"/>
          </a:p>
          <a:p>
            <a:pPr indent="0" marL="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you didn't create</a:t>
            </a:r>
            <a:endParaRPr lang="en-US" sz="2800" dirty="0"/>
          </a:p>
        </p:txBody>
      </p:sp>
      <p:sp>
        <p:nvSpPr>
          <p:cNvPr id="7" name="Text 4"/>
          <p:cNvSpPr/>
          <p:nvPr/>
        </p:nvSpPr>
        <p:spPr>
          <a:xfrm>
            <a:off x="777240" y="2926080"/>
            <a:ext cx="2194560" cy="822960"/>
          </a:xfrm>
          <a:prstGeom prst="rect">
            <a:avLst/>
          </a:prstGeom>
          <a:noFill/>
          <a:ln/>
        </p:spPr>
        <p:txBody>
          <a:bodyPr wrap="square" lIns="0" tIns="0" rIns="0" bIns="0" rtlCol="0" anchor="ctr"/>
          <a:lstStyle/>
          <a:p>
            <a:pPr algn="ctr" indent="0" marL="0">
              <a:buNone/>
            </a:pPr>
            <a:r>
              <a:rPr lang="en-US" sz="4600" b="1" dirty="0">
                <a:solidFill>
                  <a:srgbClr val="2EC4B6"/>
                </a:solidFill>
                <a:latin typeface="Bookman Old Style" pitchFamily="34" charset="0"/>
                <a:ea typeface="Bookman Old Style" pitchFamily="34" charset="-122"/>
                <a:cs typeface="Bookman Old Style" pitchFamily="34" charset="-120"/>
              </a:rPr>
              <a:t>6</a:t>
            </a:r>
            <a:endParaRPr lang="en-US" sz="4600" dirty="0"/>
          </a:p>
        </p:txBody>
      </p:sp>
      <p:sp>
        <p:nvSpPr>
          <p:cNvPr id="8" name="Text 5"/>
          <p:cNvSpPr/>
          <p:nvPr/>
        </p:nvSpPr>
        <p:spPr>
          <a:xfrm>
            <a:off x="777240" y="3730752"/>
            <a:ext cx="2194560" cy="365760"/>
          </a:xfrm>
          <a:prstGeom prst="rect">
            <a:avLst/>
          </a:prstGeom>
          <a:noFill/>
          <a:ln/>
        </p:spPr>
        <p:txBody>
          <a:bodyPr wrap="square" lIns="0" tIns="0" rIns="0" bIns="0" rtlCol="0" anchor="ctr"/>
          <a:lstStyle/>
          <a:p>
            <a:pPr algn="ctr" indent="0" marL="0">
              <a:buNone/>
            </a:pPr>
            <a:r>
              <a:rPr lang="en-US" sz="1100" b="1" spc="100" kern="0" dirty="0">
                <a:solidFill>
                  <a:srgbClr val="DCEEF5"/>
                </a:solidFill>
                <a:latin typeface="Calibri" pitchFamily="34" charset="0"/>
                <a:ea typeface="Calibri" pitchFamily="34" charset="-122"/>
                <a:cs typeface="Calibri" pitchFamily="34" charset="-120"/>
              </a:rPr>
              <a:t>TABLES TO READ</a:t>
            </a:r>
            <a:endParaRPr lang="en-US" sz="1100" dirty="0"/>
          </a:p>
        </p:txBody>
      </p:sp>
      <p:sp>
        <p:nvSpPr>
          <p:cNvPr id="9" name="Text 6"/>
          <p:cNvSpPr/>
          <p:nvPr/>
        </p:nvSpPr>
        <p:spPr>
          <a:xfrm>
            <a:off x="3337560" y="2926080"/>
            <a:ext cx="2194560" cy="822960"/>
          </a:xfrm>
          <a:prstGeom prst="rect">
            <a:avLst/>
          </a:prstGeom>
          <a:noFill/>
          <a:ln/>
        </p:spPr>
        <p:txBody>
          <a:bodyPr wrap="square" lIns="0" tIns="0" rIns="0" bIns="0" rtlCol="0" anchor="ctr"/>
          <a:lstStyle/>
          <a:p>
            <a:pPr algn="ctr" indent="0" marL="0">
              <a:buNone/>
            </a:pPr>
            <a:r>
              <a:rPr lang="en-US" sz="4600" b="1" dirty="0">
                <a:solidFill>
                  <a:srgbClr val="2EC4B6"/>
                </a:solidFill>
                <a:latin typeface="Bookman Old Style" pitchFamily="34" charset="0"/>
                <a:ea typeface="Bookman Old Style" pitchFamily="34" charset="-122"/>
                <a:cs typeface="Bookman Old Style" pitchFamily="34" charset="-120"/>
              </a:rPr>
              <a:t>3</a:t>
            </a:r>
            <a:endParaRPr lang="en-US" sz="4600" dirty="0"/>
          </a:p>
        </p:txBody>
      </p:sp>
      <p:sp>
        <p:nvSpPr>
          <p:cNvPr id="10" name="Text 7"/>
          <p:cNvSpPr/>
          <p:nvPr/>
        </p:nvSpPr>
        <p:spPr>
          <a:xfrm>
            <a:off x="3337560" y="3730752"/>
            <a:ext cx="2194560" cy="365760"/>
          </a:xfrm>
          <a:prstGeom prst="rect">
            <a:avLst/>
          </a:prstGeom>
          <a:noFill/>
          <a:ln/>
        </p:spPr>
        <p:txBody>
          <a:bodyPr wrap="square" lIns="0" tIns="0" rIns="0" bIns="0" rtlCol="0" anchor="ctr"/>
          <a:lstStyle/>
          <a:p>
            <a:pPr algn="ctr" indent="0" marL="0">
              <a:buNone/>
            </a:pPr>
            <a:r>
              <a:rPr lang="en-US" sz="1100" b="1" spc="100" kern="0" dirty="0">
                <a:solidFill>
                  <a:srgbClr val="DCEEF5"/>
                </a:solidFill>
                <a:latin typeface="Calibri" pitchFamily="34" charset="0"/>
                <a:ea typeface="Calibri" pitchFamily="34" charset="-122"/>
                <a:cs typeface="Calibri" pitchFamily="34" charset="-120"/>
              </a:rPr>
              <a:t>METADATA LAYERS</a:t>
            </a:r>
            <a:endParaRPr lang="en-US" sz="1100" dirty="0"/>
          </a:p>
        </p:txBody>
      </p:sp>
      <p:sp>
        <p:nvSpPr>
          <p:cNvPr id="11" name="Text 8"/>
          <p:cNvSpPr/>
          <p:nvPr/>
        </p:nvSpPr>
        <p:spPr>
          <a:xfrm>
            <a:off x="5897880" y="2926080"/>
            <a:ext cx="2194560" cy="822960"/>
          </a:xfrm>
          <a:prstGeom prst="rect">
            <a:avLst/>
          </a:prstGeom>
          <a:noFill/>
          <a:ln/>
        </p:spPr>
        <p:txBody>
          <a:bodyPr wrap="square" lIns="0" tIns="0" rIns="0" bIns="0" rtlCol="0" anchor="ctr"/>
          <a:lstStyle/>
          <a:p>
            <a:pPr algn="ctr" indent="0" marL="0">
              <a:buNone/>
            </a:pPr>
            <a:r>
              <a:rPr lang="en-US" sz="4600" b="1" dirty="0">
                <a:solidFill>
                  <a:srgbClr val="2EC4B6"/>
                </a:solidFill>
                <a:latin typeface="Bookman Old Style" pitchFamily="34" charset="0"/>
                <a:ea typeface="Bookman Old Style" pitchFamily="34" charset="-122"/>
                <a:cs typeface="Bookman Old Style" pitchFamily="34" charset="-120"/>
              </a:rPr>
              <a:t>5</a:t>
            </a:r>
            <a:endParaRPr lang="en-US" sz="4600" dirty="0"/>
          </a:p>
        </p:txBody>
      </p:sp>
      <p:sp>
        <p:nvSpPr>
          <p:cNvPr id="12" name="Text 9"/>
          <p:cNvSpPr/>
          <p:nvPr/>
        </p:nvSpPr>
        <p:spPr>
          <a:xfrm>
            <a:off x="5897880" y="3730752"/>
            <a:ext cx="2194560" cy="365760"/>
          </a:xfrm>
          <a:prstGeom prst="rect">
            <a:avLst/>
          </a:prstGeom>
          <a:noFill/>
          <a:ln/>
        </p:spPr>
        <p:txBody>
          <a:bodyPr wrap="square" lIns="0" tIns="0" rIns="0" bIns="0" rtlCol="0" anchor="ctr"/>
          <a:lstStyle/>
          <a:p>
            <a:pPr algn="ctr" indent="0" marL="0">
              <a:buNone/>
            </a:pPr>
            <a:r>
              <a:rPr lang="en-US" sz="1100" b="1" spc="100" kern="0" dirty="0">
                <a:solidFill>
                  <a:srgbClr val="DCEEF5"/>
                </a:solidFill>
                <a:latin typeface="Calibri" pitchFamily="34" charset="0"/>
                <a:ea typeface="Calibri" pitchFamily="34" charset="-122"/>
                <a:cs typeface="Calibri" pitchFamily="34" charset="-120"/>
              </a:rPr>
              <a:t>TABS PER ASSET</a:t>
            </a:r>
            <a:endParaRPr lang="en-US" sz="1100" dirty="0"/>
          </a:p>
        </p:txBody>
      </p:sp>
      <p:sp>
        <p:nvSpPr>
          <p:cNvPr id="13" name="Text 10"/>
          <p:cNvSpPr/>
          <p:nvPr/>
        </p:nvSpPr>
        <p:spPr>
          <a:xfrm>
            <a:off x="548640" y="4626864"/>
            <a:ext cx="8046720" cy="365760"/>
          </a:xfrm>
          <a:prstGeom prst="rect">
            <a:avLst/>
          </a:prstGeom>
          <a:noFill/>
          <a:ln/>
        </p:spPr>
        <p:txBody>
          <a:bodyPr wrap="square" lIns="0" tIns="0" rIns="0" bIns="0" rtlCol="0" anchor="ctr"/>
          <a:lstStyle/>
          <a:p>
            <a:pPr indent="0" marL="0">
              <a:buNone/>
            </a:pPr>
            <a:r>
              <a:rPr lang="en-US" sz="1200" i="1" dirty="0">
                <a:solidFill>
                  <a:srgbClr val="5B7782"/>
                </a:solidFill>
                <a:latin typeface="Calibri" pitchFamily="34" charset="0"/>
                <a:ea typeface="Calibri" pitchFamily="34" charset="-122"/>
                <a:cs typeface="Calibri" pitchFamily="34" charset="-120"/>
              </a:rPr>
              <a:t>Next up — Workshop 3: Build the Business Glossary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2: Explore Data Structure &amp; Metadata</dc:title>
  <dc:subject>PptxGenJS Presentation</dc:subject>
  <dc:creator>Arizona Water Company - PDC BA Course</dc:creator>
  <cp:lastModifiedBy>Arizona Water Company - PDC BA Course</cp:lastModifiedBy>
  <cp:revision>1</cp:revision>
  <dcterms:created xsi:type="dcterms:W3CDTF">2026-06-10T17:22:06Z</dcterms:created>
  <dcterms:modified xsi:type="dcterms:W3CDTF">2026-06-10T17:22:06Z</dcterms:modified>
</cp:coreProperties>
</file>