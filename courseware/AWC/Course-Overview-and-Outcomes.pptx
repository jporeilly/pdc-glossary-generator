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63" r:id="rId14"/>
    <p:sldId id="264" r:id="rId15"/>
    <p:sldId id="258" r:id="rId4"/>
    <p:sldId id="259" r:id="rId5"/>
    <p:sldId id="260" r:id="rId6"/>
    <p:sldId id="265" r:id="rId1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1" d="100"/>
          <a:sy n="141" d="100"/>
        </p:scale>
        <p:origin x="102" y="10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7921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group and introduce yourself. Frame the day: this is the Business Analyst Happy Path for Pentaho Data Catalog, and everything we do is set at the Arizona Water Company so the concepts land against data that behaves like the real thing. Mention that the course is hands-on and that they'll leave able to govern a real schema end to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They are the analyst at Arizona Water, a real utility serving Arizona since 1955. The numbers on screen are their world: 27 communities, 24 systems, but in our catalog we focus on 8 systems and 6 tables. Stress that using real operational data is deliberate - governance only clicks when the data has genuine messiness and genuine stakes like billing and EPA compliance.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eleven workshops at a high level - don't teach them yet, just show the arc. Workshops 1 to 8 are the core path: connect, explore, profile, flag, search, define, curate, trace. Point to the three mint cards: 9 to 11 extend that foundation into enterprise governance - custom properties, policies, and the galaxy view. Reassure them each builds on the last, so the order matters.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promises of the course - read them as capabilities, not topics. By the end they can connect a source, read every layer of metadata, defend a quality score, protect PII, find anything fast, and deliver trusted data. Tell them the outcomes map directly onto the workshops, so they can self-check progress as we go.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on pacing. Pre-flight is a short grounding in metadata and the BA's role. Then three working blocks moving through the workshops. Flag that Workshop 8, lineage, is marked optional and 9 to 11 are the advanced extension - you may adapt depending on the group's appetite and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room. This is built for business analysts and stewards-in-training - no coding or admin skills required. On the right are the practical prerequisites: a PDC instance, the AWC sample database loaded, and a login. If anyone's environment isn't ready, point them to the Lab Setup Guide now so they're not blocked in Workshop 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work. The promise: from raw tables to trusted, governed data. Build energy - by the end they'll be the person their team turns to for 'where is this data and can I trust it?' Hand off straight into Workshop 1, connecting the AWC database.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7.xml.rels><?xml version="1.0" encoding="UTF-8"?><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3"/>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PENTAHO DATA CATALOG · BUSINESS ANALYST</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Course Overview</a:t>
            </a:r>
            <a:endParaRPr lang="en-US" sz="4000" dirty="0"/>
          </a:p>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&amp; Outcomes</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marL="0" indent="0">
              <a:lnSpc>
                <a:spcPct val="105000"/>
              </a:lnSpc>
              <a:buNone/>
            </a:pPr>
            <a:r>
              <a:rPr lang="en-US" sz="1800" dirty="0">
                <a:solidFill>
                  <a:srgbClr val="DCEEF5"/>
                </a:solidFill>
                <a:latin typeface="Calibri" pitchFamily="34" charset="0"/>
                <a:ea typeface="Calibri" pitchFamily="34" charset="-122"/>
                <a:cs typeface="Calibri" pitchFamily="34" charset="-120"/>
              </a:rPr>
              <a:t>A hands-on path through Pentaho Data Catalog for Business Analysts — learned on the real operational data of the Arizona Water Company.</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marL="0" indent="0">
              <a:buNone/>
            </a:pPr>
            <a:r>
              <a:rPr lang="en-US" sz="1200" dirty="0">
                <a:solidFill>
                  <a:srgbClr val="5B7782"/>
                </a:solidFill>
                <a:latin typeface="Calibri" pitchFamily="34" charset="0"/>
                <a:ea typeface="Calibri" pitchFamily="34" charset="-122"/>
                <a:cs typeface="Calibri" pitchFamily="34" charset="-120"/>
              </a:rPr>
              <a:t>Pentaho Data Catalog 10.2.11  ·  Eleven workshops  ·  awc_operations schema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YOUR SCENARIO</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You're the analyst for Arizona Water</a:t>
            </a:r>
            <a:endParaRPr lang="en-US" sz="2700" dirty="0"/>
          </a:p>
        </p:txBody>
      </p:sp>
      <p:sp>
        <p:nvSpPr>
          <p:cNvPr id="4" name="Text 2"/>
          <p:cNvSpPr/>
          <p:nvPr/>
        </p:nvSpPr>
        <p:spPr>
          <a:xfrm>
            <a:off x="548640" y="1426464"/>
            <a:ext cx="8046720" cy="676656"/>
          </a:xfrm>
          <a:prstGeom prst="rect">
            <a:avLst/>
          </a:prstGeom>
          <a:noFill/>
          <a:ln/>
        </p:spPr>
        <p:txBody>
          <a:bodyPr wrap="square" lIns="0" tIns="0" rIns="0" bIns="0" rtlCol="0" anchor="ctr"/>
          <a:lstStyle/>
          <a:p>
            <a:pPr marL="0" indent="0">
              <a:lnSpc>
                <a:spcPct val="105000"/>
              </a:lnSpc>
              <a:buNone/>
            </a:pPr>
            <a:r>
              <a:rPr lang="en-US" sz="1300" dirty="0">
                <a:solidFill>
                  <a:srgbClr val="5B7782"/>
                </a:solidFill>
                <a:latin typeface="Calibri" pitchFamily="34" charset="0"/>
                <a:ea typeface="Calibri" pitchFamily="34" charset="-122"/>
                <a:cs typeface="Calibri" pitchFamily="34" charset="-120"/>
              </a:rPr>
              <a:t>Throughout the course you work as a Business Analyst at the Arizona Water Company — a real utility serving Arizona communities since 1955. Every exercise uses AWC's own operational data.</a:t>
            </a:r>
            <a:endParaRPr lang="en-US" sz="1300" dirty="0"/>
          </a:p>
        </p:txBody>
      </p:sp>
      <p:sp>
        <p:nvSpPr>
          <p:cNvPr id="5" name="Shape 3"/>
          <p:cNvSpPr/>
          <p:nvPr/>
        </p:nvSpPr>
        <p:spPr>
          <a:xfrm>
            <a:off x="548640" y="2286000"/>
            <a:ext cx="1892808" cy="1737360"/>
          </a:xfrm>
          <a:prstGeom prst="roundRect">
            <a:avLst>
              <a:gd name="adj" fmla="val 4737"/>
            </a:avLst>
          </a:prstGeom>
          <a:solidFill>
            <a:srgbClr val="EEF6FA"/>
          </a:solidFill>
          <a:ln/>
          <a:effectLst>
            <a:outerShdw blurRad="88900" dist="25400" dir="5400000" algn="bl" rotWithShape="0">
              <a:srgbClr val="0A3D52">
                <a:alpha val="10000"/>
              </a:srgbClr>
            </a:outerShdw>
          </a:effectLst>
        </p:spPr>
      </p:sp>
      <p:sp>
        <p:nvSpPr>
          <p:cNvPr id="6" name="Shape 4"/>
          <p:cNvSpPr/>
          <p:nvPr/>
        </p:nvSpPr>
        <p:spPr>
          <a:xfrm>
            <a:off x="1202436" y="2505456"/>
            <a:ext cx="585216" cy="585216"/>
          </a:xfrm>
          <a:prstGeom prst="ellipse">
            <a:avLst/>
          </a:prstGeom>
          <a:solidFill>
            <a:srgbClr val="1C7293"/>
          </a:solidFill>
          <a:ln/>
        </p:spPr>
      </p:sp>
      <p:pic>
        <p:nvPicPr>
          <p:cNvPr id="7" name="Image 0" descr="preencoded.png"/>
          <p:cNvPicPr>
            <a:picLocks noChangeAspect="1"/>
          </p:cNvPicPr>
          <p:nvPr/>
        </p:nvPicPr>
        <p:blipFill>
          <a:blip r:embed="rId3"/>
          <a:stretch>
            <a:fillRect/>
          </a:stretch>
        </p:blipFill>
        <p:spPr>
          <a:xfrm>
            <a:off x="1339596" y="2642616"/>
            <a:ext cx="310896" cy="310896"/>
          </a:xfrm>
          <a:prstGeom prst="rect">
            <a:avLst/>
          </a:prstGeom>
        </p:spPr>
      </p:pic>
      <p:sp>
        <p:nvSpPr>
          <p:cNvPr id="8" name="Text 5"/>
          <p:cNvSpPr/>
          <p:nvPr/>
        </p:nvSpPr>
        <p:spPr>
          <a:xfrm>
            <a:off x="548640" y="3127248"/>
            <a:ext cx="1892808" cy="512064"/>
          </a:xfrm>
          <a:prstGeom prst="rect">
            <a:avLst/>
          </a:prstGeom>
          <a:noFill/>
          <a:ln/>
        </p:spPr>
        <p:txBody>
          <a:bodyPr wrap="square" lIns="0" tIns="0" rIns="0" bIns="0" rtlCol="0" anchor="ctr"/>
          <a:lstStyle/>
          <a:p>
            <a:pPr marL="0" indent="0" algn="ctr">
              <a:buNone/>
            </a:pPr>
            <a:r>
              <a:rPr lang="en-US" sz="3200" b="1" dirty="0">
                <a:solidFill>
                  <a:srgbClr val="065A82"/>
                </a:solidFill>
                <a:latin typeface="Bookman Old Style" pitchFamily="34" charset="0"/>
                <a:ea typeface="Bookman Old Style" pitchFamily="34" charset="-122"/>
                <a:cs typeface="Bookman Old Style" pitchFamily="34" charset="-120"/>
              </a:rPr>
              <a:t>27</a:t>
            </a:r>
            <a:endParaRPr lang="en-US" sz="3200" dirty="0"/>
          </a:p>
        </p:txBody>
      </p:sp>
      <p:sp>
        <p:nvSpPr>
          <p:cNvPr id="9" name="Text 6"/>
          <p:cNvSpPr/>
          <p:nvPr/>
        </p:nvSpPr>
        <p:spPr>
          <a:xfrm>
            <a:off x="640080" y="3621024"/>
            <a:ext cx="1709928" cy="329184"/>
          </a:xfrm>
          <a:prstGeom prst="rect">
            <a:avLst/>
          </a:prstGeom>
          <a:noFill/>
          <a:ln/>
        </p:spPr>
        <p:txBody>
          <a:bodyPr wrap="square" lIns="0" tIns="0" rIns="0" bIns="0" rtlCol="0" anchor="ctr"/>
          <a:lstStyle/>
          <a:p>
            <a:pPr marL="0" indent="0" algn="ctr">
              <a:buNone/>
            </a:pPr>
            <a:r>
              <a:rPr lang="en-US" sz="900" b="1" kern="0" spc="50" dirty="0">
                <a:solidFill>
                  <a:srgbClr val="5B7782"/>
                </a:solidFill>
                <a:latin typeface="Calibri" pitchFamily="34" charset="0"/>
                <a:ea typeface="Calibri" pitchFamily="34" charset="-122"/>
                <a:cs typeface="Calibri" pitchFamily="34" charset="-120"/>
              </a:rPr>
              <a:t>COMMUNITIES SERVED</a:t>
            </a:r>
            <a:endParaRPr lang="en-US" sz="900" dirty="0"/>
          </a:p>
        </p:txBody>
      </p:sp>
      <p:sp>
        <p:nvSpPr>
          <p:cNvPr id="10" name="Shape 7"/>
          <p:cNvSpPr/>
          <p:nvPr/>
        </p:nvSpPr>
        <p:spPr>
          <a:xfrm>
            <a:off x="2624328" y="2286000"/>
            <a:ext cx="1892808" cy="1737360"/>
          </a:xfrm>
          <a:prstGeom prst="roundRect">
            <a:avLst>
              <a:gd name="adj" fmla="val 4737"/>
            </a:avLst>
          </a:prstGeom>
          <a:solidFill>
            <a:srgbClr val="EEF6FA"/>
          </a:solidFill>
          <a:ln/>
          <a:effectLst>
            <a:outerShdw blurRad="88900" dist="25400" dir="5400000" algn="bl" rotWithShape="0">
              <a:srgbClr val="0A3D52">
                <a:alpha val="10000"/>
              </a:srgbClr>
            </a:outerShdw>
          </a:effectLst>
        </p:spPr>
      </p:sp>
      <p:sp>
        <p:nvSpPr>
          <p:cNvPr id="11" name="Shape 8"/>
          <p:cNvSpPr/>
          <p:nvPr/>
        </p:nvSpPr>
        <p:spPr>
          <a:xfrm>
            <a:off x="3278124" y="2505456"/>
            <a:ext cx="585216" cy="585216"/>
          </a:xfrm>
          <a:prstGeom prst="ellipse">
            <a:avLst/>
          </a:prstGeom>
          <a:solidFill>
            <a:srgbClr val="1C7293"/>
          </a:solidFill>
          <a:ln/>
        </p:spPr>
      </p:sp>
      <p:pic>
        <p:nvPicPr>
          <p:cNvPr id="12" name="Image 1" descr="preencoded.png"/>
          <p:cNvPicPr>
            <a:picLocks noChangeAspect="1"/>
          </p:cNvPicPr>
          <p:nvPr/>
        </p:nvPicPr>
        <p:blipFill>
          <a:blip r:embed="rId4"/>
          <a:stretch>
            <a:fillRect/>
          </a:stretch>
        </p:blipFill>
        <p:spPr>
          <a:xfrm>
            <a:off x="3415284" y="2642616"/>
            <a:ext cx="310896" cy="310896"/>
          </a:xfrm>
          <a:prstGeom prst="rect">
            <a:avLst/>
          </a:prstGeom>
        </p:spPr>
      </p:pic>
      <p:sp>
        <p:nvSpPr>
          <p:cNvPr id="13" name="Text 9"/>
          <p:cNvSpPr/>
          <p:nvPr/>
        </p:nvSpPr>
        <p:spPr>
          <a:xfrm>
            <a:off x="2624328" y="3127248"/>
            <a:ext cx="1892808" cy="512064"/>
          </a:xfrm>
          <a:prstGeom prst="rect">
            <a:avLst/>
          </a:prstGeom>
          <a:noFill/>
          <a:ln/>
        </p:spPr>
        <p:txBody>
          <a:bodyPr wrap="square" lIns="0" tIns="0" rIns="0" bIns="0" rtlCol="0" anchor="ctr"/>
          <a:lstStyle/>
          <a:p>
            <a:pPr marL="0" indent="0" algn="ctr">
              <a:buNone/>
            </a:pPr>
            <a:r>
              <a:rPr lang="en-US" sz="3200" b="1" dirty="0">
                <a:solidFill>
                  <a:srgbClr val="065A82"/>
                </a:solidFill>
                <a:latin typeface="Bookman Old Style" pitchFamily="34" charset="0"/>
                <a:ea typeface="Bookman Old Style" pitchFamily="34" charset="-122"/>
                <a:cs typeface="Bookman Old Style" pitchFamily="34" charset="-120"/>
              </a:rPr>
              <a:t>24</a:t>
            </a:r>
            <a:endParaRPr lang="en-US" sz="3200" dirty="0"/>
          </a:p>
        </p:txBody>
      </p:sp>
      <p:sp>
        <p:nvSpPr>
          <p:cNvPr id="14" name="Text 10"/>
          <p:cNvSpPr/>
          <p:nvPr/>
        </p:nvSpPr>
        <p:spPr>
          <a:xfrm>
            <a:off x="2715768" y="3621024"/>
            <a:ext cx="1709928" cy="329184"/>
          </a:xfrm>
          <a:prstGeom prst="rect">
            <a:avLst/>
          </a:prstGeom>
          <a:noFill/>
          <a:ln/>
        </p:spPr>
        <p:txBody>
          <a:bodyPr wrap="square" lIns="0" tIns="0" rIns="0" bIns="0" rtlCol="0" anchor="ctr"/>
          <a:lstStyle/>
          <a:p>
            <a:pPr marL="0" indent="0" algn="ctr">
              <a:buNone/>
            </a:pPr>
            <a:r>
              <a:rPr lang="en-US" sz="900" b="1" kern="0" spc="50" dirty="0">
                <a:solidFill>
                  <a:srgbClr val="5B7782"/>
                </a:solidFill>
                <a:latin typeface="Calibri" pitchFamily="34" charset="0"/>
                <a:ea typeface="Calibri" pitchFamily="34" charset="-122"/>
                <a:cs typeface="Calibri" pitchFamily="34" charset="-120"/>
              </a:rPr>
              <a:t>WATER SYSTEMS</a:t>
            </a:r>
            <a:endParaRPr lang="en-US" sz="900" dirty="0"/>
          </a:p>
        </p:txBody>
      </p:sp>
      <p:sp>
        <p:nvSpPr>
          <p:cNvPr id="15" name="Shape 11"/>
          <p:cNvSpPr/>
          <p:nvPr/>
        </p:nvSpPr>
        <p:spPr>
          <a:xfrm>
            <a:off x="4700016" y="2286000"/>
            <a:ext cx="1892808" cy="1737360"/>
          </a:xfrm>
          <a:prstGeom prst="roundRect">
            <a:avLst>
              <a:gd name="adj" fmla="val 4737"/>
            </a:avLst>
          </a:prstGeom>
          <a:solidFill>
            <a:srgbClr val="EEF6FA"/>
          </a:solidFill>
          <a:ln/>
          <a:effectLst>
            <a:outerShdw blurRad="88900" dist="25400" dir="5400000" algn="bl" rotWithShape="0">
              <a:srgbClr val="0A3D52">
                <a:alpha val="10000"/>
              </a:srgbClr>
            </a:outerShdw>
          </a:effectLst>
        </p:spPr>
      </p:sp>
      <p:sp>
        <p:nvSpPr>
          <p:cNvPr id="16" name="Shape 12"/>
          <p:cNvSpPr/>
          <p:nvPr/>
        </p:nvSpPr>
        <p:spPr>
          <a:xfrm>
            <a:off x="5353812" y="2505456"/>
            <a:ext cx="585216" cy="585216"/>
          </a:xfrm>
          <a:prstGeom prst="ellipse">
            <a:avLst/>
          </a:prstGeom>
          <a:solidFill>
            <a:srgbClr val="1C7293"/>
          </a:solidFill>
          <a:ln/>
        </p:spPr>
      </p:sp>
      <p:pic>
        <p:nvPicPr>
          <p:cNvPr id="17" name="Image 2" descr="preencoded.png"/>
          <p:cNvPicPr>
            <a:picLocks noChangeAspect="1"/>
          </p:cNvPicPr>
          <p:nvPr/>
        </p:nvPicPr>
        <p:blipFill>
          <a:blip r:embed="rId5"/>
          <a:stretch>
            <a:fillRect/>
          </a:stretch>
        </p:blipFill>
        <p:spPr>
          <a:xfrm>
            <a:off x="5490972" y="2642616"/>
            <a:ext cx="310896" cy="310896"/>
          </a:xfrm>
          <a:prstGeom prst="rect">
            <a:avLst/>
          </a:prstGeom>
        </p:spPr>
      </p:pic>
      <p:sp>
        <p:nvSpPr>
          <p:cNvPr id="18" name="Text 13"/>
          <p:cNvSpPr/>
          <p:nvPr/>
        </p:nvSpPr>
        <p:spPr>
          <a:xfrm>
            <a:off x="4700016" y="3127248"/>
            <a:ext cx="1892808" cy="512064"/>
          </a:xfrm>
          <a:prstGeom prst="rect">
            <a:avLst/>
          </a:prstGeom>
          <a:noFill/>
          <a:ln/>
        </p:spPr>
        <p:txBody>
          <a:bodyPr wrap="square" lIns="0" tIns="0" rIns="0" bIns="0" rtlCol="0" anchor="ctr"/>
          <a:lstStyle/>
          <a:p>
            <a:pPr marL="0" indent="0" algn="ctr">
              <a:buNone/>
            </a:pPr>
            <a:r>
              <a:rPr lang="en-US" sz="3200" b="1" dirty="0">
                <a:solidFill>
                  <a:srgbClr val="065A82"/>
                </a:solidFill>
                <a:latin typeface="Bookman Old Style" pitchFamily="34" charset="0"/>
                <a:ea typeface="Bookman Old Style" pitchFamily="34" charset="-122"/>
                <a:cs typeface="Bookman Old Style" pitchFamily="34" charset="-120"/>
              </a:rPr>
              <a:t>8</a:t>
            </a:r>
            <a:endParaRPr lang="en-US" sz="3200" dirty="0"/>
          </a:p>
        </p:txBody>
      </p:sp>
      <p:sp>
        <p:nvSpPr>
          <p:cNvPr id="19" name="Text 14"/>
          <p:cNvSpPr/>
          <p:nvPr/>
        </p:nvSpPr>
        <p:spPr>
          <a:xfrm>
            <a:off x="4791456" y="3621024"/>
            <a:ext cx="1709928" cy="329184"/>
          </a:xfrm>
          <a:prstGeom prst="rect">
            <a:avLst/>
          </a:prstGeom>
          <a:noFill/>
          <a:ln/>
        </p:spPr>
        <p:txBody>
          <a:bodyPr wrap="square" lIns="0" tIns="0" rIns="0" bIns="0" rtlCol="0" anchor="ctr"/>
          <a:lstStyle/>
          <a:p>
            <a:pPr marL="0" indent="0" algn="ctr">
              <a:buNone/>
            </a:pPr>
            <a:r>
              <a:rPr lang="en-US" sz="900" b="1" kern="0" spc="50" dirty="0">
                <a:solidFill>
                  <a:srgbClr val="5B7782"/>
                </a:solidFill>
                <a:latin typeface="Calibri" pitchFamily="34" charset="0"/>
                <a:ea typeface="Calibri" pitchFamily="34" charset="-122"/>
                <a:cs typeface="Calibri" pitchFamily="34" charset="-120"/>
              </a:rPr>
              <a:t>SYSTEMS IN YOUR CATALOG</a:t>
            </a:r>
            <a:endParaRPr lang="en-US" sz="900" dirty="0"/>
          </a:p>
        </p:txBody>
      </p:sp>
      <p:sp>
        <p:nvSpPr>
          <p:cNvPr id="20" name="Shape 15"/>
          <p:cNvSpPr/>
          <p:nvPr/>
        </p:nvSpPr>
        <p:spPr>
          <a:xfrm>
            <a:off x="6775704" y="2286000"/>
            <a:ext cx="1892808" cy="1737360"/>
          </a:xfrm>
          <a:prstGeom prst="roundRect">
            <a:avLst>
              <a:gd name="adj" fmla="val 4737"/>
            </a:avLst>
          </a:prstGeom>
          <a:solidFill>
            <a:srgbClr val="EEF6FA"/>
          </a:solidFill>
          <a:ln/>
          <a:effectLst>
            <a:outerShdw blurRad="88900" dist="25400" dir="5400000" algn="bl" rotWithShape="0">
              <a:srgbClr val="0A3D52">
                <a:alpha val="10000"/>
              </a:srgbClr>
            </a:outerShdw>
          </a:effectLst>
        </p:spPr>
      </p:sp>
      <p:sp>
        <p:nvSpPr>
          <p:cNvPr id="21" name="Shape 16"/>
          <p:cNvSpPr/>
          <p:nvPr/>
        </p:nvSpPr>
        <p:spPr>
          <a:xfrm>
            <a:off x="7429500" y="2505456"/>
            <a:ext cx="585216" cy="585216"/>
          </a:xfrm>
          <a:prstGeom prst="ellipse">
            <a:avLst/>
          </a:prstGeom>
          <a:solidFill>
            <a:srgbClr val="1C7293"/>
          </a:solidFill>
          <a:ln/>
        </p:spPr>
      </p:sp>
      <p:pic>
        <p:nvPicPr>
          <p:cNvPr id="22" name="Image 3" descr="preencoded.png"/>
          <p:cNvPicPr>
            <a:picLocks noChangeAspect="1"/>
          </p:cNvPicPr>
          <p:nvPr/>
        </p:nvPicPr>
        <p:blipFill>
          <a:blip r:embed="rId6"/>
          <a:stretch>
            <a:fillRect/>
          </a:stretch>
        </p:blipFill>
        <p:spPr>
          <a:xfrm>
            <a:off x="7566660" y="2642616"/>
            <a:ext cx="310896" cy="310896"/>
          </a:xfrm>
          <a:prstGeom prst="rect">
            <a:avLst/>
          </a:prstGeom>
        </p:spPr>
      </p:pic>
      <p:sp>
        <p:nvSpPr>
          <p:cNvPr id="23" name="Text 17"/>
          <p:cNvSpPr/>
          <p:nvPr/>
        </p:nvSpPr>
        <p:spPr>
          <a:xfrm>
            <a:off x="6775704" y="3127248"/>
            <a:ext cx="1892808" cy="512064"/>
          </a:xfrm>
          <a:prstGeom prst="rect">
            <a:avLst/>
          </a:prstGeom>
          <a:noFill/>
          <a:ln/>
        </p:spPr>
        <p:txBody>
          <a:bodyPr wrap="square" lIns="0" tIns="0" rIns="0" bIns="0" rtlCol="0" anchor="ctr"/>
          <a:lstStyle/>
          <a:p>
            <a:pPr marL="0" indent="0" algn="ctr">
              <a:buNone/>
            </a:pPr>
            <a:r>
              <a:rPr lang="en-US" sz="3200" b="1" dirty="0">
                <a:solidFill>
                  <a:srgbClr val="065A82"/>
                </a:solidFill>
                <a:latin typeface="Bookman Old Style" pitchFamily="34" charset="0"/>
                <a:ea typeface="Bookman Old Style" pitchFamily="34" charset="-122"/>
                <a:cs typeface="Bookman Old Style" pitchFamily="34" charset="-120"/>
              </a:rPr>
              <a:t>6</a:t>
            </a:r>
            <a:endParaRPr lang="en-US" sz="3200" dirty="0"/>
          </a:p>
        </p:txBody>
      </p:sp>
      <p:sp>
        <p:nvSpPr>
          <p:cNvPr id="24" name="Text 18"/>
          <p:cNvSpPr/>
          <p:nvPr/>
        </p:nvSpPr>
        <p:spPr>
          <a:xfrm>
            <a:off x="6867144" y="3621024"/>
            <a:ext cx="1709928" cy="329184"/>
          </a:xfrm>
          <a:prstGeom prst="rect">
            <a:avLst/>
          </a:prstGeom>
          <a:noFill/>
          <a:ln/>
        </p:spPr>
        <p:txBody>
          <a:bodyPr wrap="square" lIns="0" tIns="0" rIns="0" bIns="0" rtlCol="0" anchor="ctr"/>
          <a:lstStyle/>
          <a:p>
            <a:pPr marL="0" indent="0" algn="ctr">
              <a:buNone/>
            </a:pPr>
            <a:r>
              <a:rPr lang="en-US" sz="900" b="1" kern="0" spc="50" dirty="0">
                <a:solidFill>
                  <a:srgbClr val="5B7782"/>
                </a:solidFill>
                <a:latin typeface="Calibri" pitchFamily="34" charset="0"/>
                <a:ea typeface="Calibri" pitchFamily="34" charset="-122"/>
                <a:cs typeface="Calibri" pitchFamily="34" charset="-120"/>
              </a:rPr>
              <a:t>TABLES TO GOVERN</a:t>
            </a:r>
            <a:endParaRPr lang="en-US" sz="900" dirty="0"/>
          </a:p>
        </p:txBody>
      </p:sp>
      <p:sp>
        <p:nvSpPr>
          <p:cNvPr id="25" name="Text 19"/>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Course Overview · Real data makes governance concepts concrete</a:t>
            </a:r>
            <a:endParaRPr lang="en-US" sz="950" dirty="0"/>
          </a:p>
        </p:txBody>
      </p:sp>
      <p:sp>
        <p:nvSpPr>
          <p:cNvPr id="26" name="Text 20"/>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JOURNEY</a:t>
            </a:r>
            <a:endParaRPr lang="en-US" sz="1200" dirty="0"/>
          </a:p>
        </p:txBody>
      </p:sp>
      <p:sp>
        <p:nvSpPr>
          <p:cNvPr id="3" name="Text 1"/>
          <p:cNvSpPr/>
          <p:nvPr/>
        </p:nvSpPr>
        <p:spPr>
          <a:xfrm>
            <a:off x="548640" y="713232"/>
            <a:ext cx="793242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Eleven workshops, one continuous path</a:t>
            </a:r>
            <a:endParaRPr lang="en-US" sz="2700" dirty="0"/>
          </a:p>
        </p:txBody>
      </p:sp>
      <p:sp>
        <p:nvSpPr>
          <p:cNvPr id="4" name="Shape 2"/>
          <p:cNvSpPr/>
          <p:nvPr/>
        </p:nvSpPr>
        <p:spPr>
          <a:xfrm>
            <a:off x="548640" y="1371600"/>
            <a:ext cx="1865376" cy="1078992"/>
          </a:xfrm>
          <a:prstGeom prst="roundRect">
            <a:avLst>
              <a:gd name="adj" fmla="val 6780"/>
            </a:avLst>
          </a:prstGeom>
          <a:solidFill>
            <a:srgbClr val="FFFFFF"/>
          </a:solidFill>
          <a:ln w="12700">
            <a:solidFill>
              <a:srgbClr val="C9DEE8"/>
            </a:solidFill>
            <a:prstDash val="solid"/>
          </a:ln>
          <a:effectLst>
            <a:outerShdw blurRad="63500" dist="25400" dir="5400000" algn="bl" rotWithShape="0">
              <a:srgbClr val="0A3D52">
                <a:alpha val="9000"/>
              </a:srgbClr>
            </a:outerShdw>
          </a:effectLst>
        </p:spPr>
      </p:sp>
      <p:sp>
        <p:nvSpPr>
          <p:cNvPr id="5" name="Shape 3"/>
          <p:cNvSpPr/>
          <p:nvPr/>
        </p:nvSpPr>
        <p:spPr>
          <a:xfrm>
            <a:off x="731520" y="1554480"/>
            <a:ext cx="457200" cy="457200"/>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841248" y="1664208"/>
            <a:ext cx="237744" cy="237744"/>
          </a:xfrm>
          <a:prstGeom prst="rect">
            <a:avLst/>
          </a:prstGeom>
        </p:spPr>
      </p:pic>
      <p:sp>
        <p:nvSpPr>
          <p:cNvPr id="7" name="Text 4"/>
          <p:cNvSpPr/>
          <p:nvPr/>
        </p:nvSpPr>
        <p:spPr>
          <a:xfrm>
            <a:off x="1298448" y="1536192"/>
            <a:ext cx="950976" cy="384048"/>
          </a:xfrm>
          <a:prstGeom prst="rect">
            <a:avLst/>
          </a:prstGeom>
          <a:noFill/>
          <a:ln/>
        </p:spPr>
        <p:txBody>
          <a:bodyPr wrap="square" lIns="0" tIns="0" rIns="0" bIns="0" rtlCol="0" anchor="ctr"/>
          <a:lstStyle/>
          <a:p>
            <a:pPr marL="0" indent="0" algn="r">
              <a:buNone/>
            </a:pPr>
            <a:r>
              <a:rPr lang="en-US" sz="1900" b="1" dirty="0">
                <a:solidFill>
                  <a:srgbClr val="DCEEF5"/>
                </a:solidFill>
                <a:latin typeface="Bookman Old Style" pitchFamily="34" charset="0"/>
                <a:ea typeface="Bookman Old Style" pitchFamily="34" charset="-122"/>
                <a:cs typeface="Bookman Old Style" pitchFamily="34" charset="-120"/>
              </a:rPr>
              <a:t>01</a:t>
            </a:r>
            <a:endParaRPr lang="en-US" sz="1900" dirty="0"/>
          </a:p>
        </p:txBody>
      </p:sp>
      <p:sp>
        <p:nvSpPr>
          <p:cNvPr id="8" name="Text 5"/>
          <p:cNvSpPr/>
          <p:nvPr/>
        </p:nvSpPr>
        <p:spPr>
          <a:xfrm>
            <a:off x="749808" y="2048256"/>
            <a:ext cx="1554480" cy="256032"/>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Connect</a:t>
            </a:r>
            <a:endParaRPr lang="en-US" sz="1350" dirty="0"/>
          </a:p>
        </p:txBody>
      </p:sp>
      <p:sp>
        <p:nvSpPr>
          <p:cNvPr id="9" name="Text 6"/>
          <p:cNvSpPr/>
          <p:nvPr/>
        </p:nvSpPr>
        <p:spPr>
          <a:xfrm>
            <a:off x="749808" y="2267712"/>
            <a:ext cx="1627632" cy="201168"/>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the AWC database</a:t>
            </a:r>
            <a:endParaRPr lang="en-US" sz="850" dirty="0"/>
          </a:p>
        </p:txBody>
      </p:sp>
      <p:sp>
        <p:nvSpPr>
          <p:cNvPr id="10" name="Shape 7"/>
          <p:cNvSpPr/>
          <p:nvPr/>
        </p:nvSpPr>
        <p:spPr>
          <a:xfrm>
            <a:off x="2583180" y="1371600"/>
            <a:ext cx="1865376" cy="1078992"/>
          </a:xfrm>
          <a:prstGeom prst="roundRect">
            <a:avLst>
              <a:gd name="adj" fmla="val 6780"/>
            </a:avLst>
          </a:prstGeom>
          <a:solidFill>
            <a:srgbClr val="FFFFFF"/>
          </a:solidFill>
          <a:ln w="12700">
            <a:solidFill>
              <a:srgbClr val="C9DEE8"/>
            </a:solidFill>
            <a:prstDash val="solid"/>
          </a:ln>
          <a:effectLst>
            <a:outerShdw blurRad="63500" dist="25400" dir="5400000" algn="bl" rotWithShape="0">
              <a:srgbClr val="0A3D52">
                <a:alpha val="9000"/>
              </a:srgbClr>
            </a:outerShdw>
          </a:effectLst>
        </p:spPr>
      </p:sp>
      <p:sp>
        <p:nvSpPr>
          <p:cNvPr id="11" name="Shape 8"/>
          <p:cNvSpPr/>
          <p:nvPr/>
        </p:nvSpPr>
        <p:spPr>
          <a:xfrm>
            <a:off x="2766060" y="1554480"/>
            <a:ext cx="457200" cy="457200"/>
          </a:xfrm>
          <a:prstGeom prst="ellipse">
            <a:avLst/>
          </a:prstGeom>
          <a:solidFill>
            <a:srgbClr val="065A82"/>
          </a:solidFill>
          <a:ln/>
        </p:spPr>
      </p:sp>
      <p:pic>
        <p:nvPicPr>
          <p:cNvPr id="12" name="Image 1" descr="preencoded.png"/>
          <p:cNvPicPr>
            <a:picLocks noChangeAspect="1"/>
          </p:cNvPicPr>
          <p:nvPr/>
        </p:nvPicPr>
        <p:blipFill>
          <a:blip r:embed="rId4"/>
          <a:stretch>
            <a:fillRect/>
          </a:stretch>
        </p:blipFill>
        <p:spPr>
          <a:xfrm>
            <a:off x="2875788" y="1664208"/>
            <a:ext cx="237744" cy="237744"/>
          </a:xfrm>
          <a:prstGeom prst="rect">
            <a:avLst/>
          </a:prstGeom>
        </p:spPr>
      </p:pic>
      <p:sp>
        <p:nvSpPr>
          <p:cNvPr id="13" name="Text 9"/>
          <p:cNvSpPr/>
          <p:nvPr/>
        </p:nvSpPr>
        <p:spPr>
          <a:xfrm>
            <a:off x="3332988" y="1536192"/>
            <a:ext cx="950976" cy="384048"/>
          </a:xfrm>
          <a:prstGeom prst="rect">
            <a:avLst/>
          </a:prstGeom>
          <a:noFill/>
          <a:ln/>
        </p:spPr>
        <p:txBody>
          <a:bodyPr wrap="square" lIns="0" tIns="0" rIns="0" bIns="0" rtlCol="0" anchor="ctr"/>
          <a:lstStyle/>
          <a:p>
            <a:pPr marL="0" indent="0" algn="r">
              <a:buNone/>
            </a:pPr>
            <a:r>
              <a:rPr lang="en-US" sz="1900" b="1" dirty="0">
                <a:solidFill>
                  <a:srgbClr val="DCEEF5"/>
                </a:solidFill>
                <a:latin typeface="Bookman Old Style" pitchFamily="34" charset="0"/>
                <a:ea typeface="Bookman Old Style" pitchFamily="34" charset="-122"/>
                <a:cs typeface="Bookman Old Style" pitchFamily="34" charset="-120"/>
              </a:rPr>
              <a:t>02</a:t>
            </a:r>
            <a:endParaRPr lang="en-US" sz="1900" dirty="0"/>
          </a:p>
        </p:txBody>
      </p:sp>
      <p:sp>
        <p:nvSpPr>
          <p:cNvPr id="14" name="Text 10"/>
          <p:cNvSpPr/>
          <p:nvPr/>
        </p:nvSpPr>
        <p:spPr>
          <a:xfrm>
            <a:off x="2784348" y="2048256"/>
            <a:ext cx="1554480" cy="256032"/>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Explore</a:t>
            </a:r>
            <a:endParaRPr lang="en-US" sz="1350" dirty="0"/>
          </a:p>
        </p:txBody>
      </p:sp>
      <p:sp>
        <p:nvSpPr>
          <p:cNvPr id="15" name="Text 11"/>
          <p:cNvSpPr/>
          <p:nvPr/>
        </p:nvSpPr>
        <p:spPr>
          <a:xfrm>
            <a:off x="2784348" y="2267712"/>
            <a:ext cx="1627632" cy="201168"/>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structure &amp; metadata</a:t>
            </a:r>
            <a:endParaRPr lang="en-US" sz="850" dirty="0"/>
          </a:p>
        </p:txBody>
      </p:sp>
      <p:sp>
        <p:nvSpPr>
          <p:cNvPr id="16" name="Shape 12"/>
          <p:cNvSpPr/>
          <p:nvPr/>
        </p:nvSpPr>
        <p:spPr>
          <a:xfrm>
            <a:off x="4617720" y="1371600"/>
            <a:ext cx="1865376" cy="1078992"/>
          </a:xfrm>
          <a:prstGeom prst="roundRect">
            <a:avLst>
              <a:gd name="adj" fmla="val 6780"/>
            </a:avLst>
          </a:prstGeom>
          <a:solidFill>
            <a:srgbClr val="FFFFFF"/>
          </a:solidFill>
          <a:ln w="12700">
            <a:solidFill>
              <a:srgbClr val="C9DEE8"/>
            </a:solidFill>
            <a:prstDash val="solid"/>
          </a:ln>
          <a:effectLst>
            <a:outerShdw blurRad="63500" dist="25400" dir="5400000" algn="bl" rotWithShape="0">
              <a:srgbClr val="0A3D52">
                <a:alpha val="9000"/>
              </a:srgbClr>
            </a:outerShdw>
          </a:effectLst>
        </p:spPr>
      </p:sp>
      <p:sp>
        <p:nvSpPr>
          <p:cNvPr id="17" name="Shape 13"/>
          <p:cNvSpPr/>
          <p:nvPr/>
        </p:nvSpPr>
        <p:spPr>
          <a:xfrm>
            <a:off x="4800600" y="1554480"/>
            <a:ext cx="457200" cy="457200"/>
          </a:xfrm>
          <a:prstGeom prst="ellipse">
            <a:avLst/>
          </a:prstGeom>
          <a:solidFill>
            <a:srgbClr val="065A82"/>
          </a:solidFill>
          <a:ln/>
        </p:spPr>
      </p:sp>
      <p:pic>
        <p:nvPicPr>
          <p:cNvPr id="18" name="Image 2" descr="preencoded.png"/>
          <p:cNvPicPr>
            <a:picLocks noChangeAspect="1"/>
          </p:cNvPicPr>
          <p:nvPr/>
        </p:nvPicPr>
        <p:blipFill>
          <a:blip r:embed="rId8"/>
          <a:stretch>
            <a:fillRect/>
          </a:stretch>
        </p:blipFill>
        <p:spPr>
          <a:xfrm>
            <a:off x="4910328" y="1664208"/>
            <a:ext cx="237744" cy="237744"/>
          </a:xfrm>
          <a:prstGeom prst="rect">
            <a:avLst/>
          </a:prstGeom>
        </p:spPr>
      </p:pic>
      <p:sp>
        <p:nvSpPr>
          <p:cNvPr id="19" name="Text 14"/>
          <p:cNvSpPr/>
          <p:nvPr/>
        </p:nvSpPr>
        <p:spPr>
          <a:xfrm>
            <a:off x="5367528" y="1536192"/>
            <a:ext cx="950976" cy="384048"/>
          </a:xfrm>
          <a:prstGeom prst="rect">
            <a:avLst/>
          </a:prstGeom>
          <a:noFill/>
          <a:ln/>
        </p:spPr>
        <p:txBody>
          <a:bodyPr wrap="square" lIns="0" tIns="0" rIns="0" bIns="0" rtlCol="0" anchor="ctr"/>
          <a:lstStyle/>
          <a:p>
            <a:pPr marL="0" indent="0" algn="r">
              <a:buNone/>
            </a:pPr>
            <a:r>
              <a:rPr lang="en-US" sz="1900" b="1" dirty="0">
                <a:solidFill>
                  <a:srgbClr val="DCEEF5"/>
                </a:solidFill>
                <a:latin typeface="Bookman Old Style" pitchFamily="34" charset="0"/>
                <a:ea typeface="Bookman Old Style" pitchFamily="34" charset="-122"/>
                <a:cs typeface="Bookman Old Style" pitchFamily="34" charset="-120"/>
              </a:rPr>
              <a:t>03</a:t>
            </a:r>
            <a:endParaRPr lang="en-US" sz="1900" dirty="0"/>
          </a:p>
        </p:txBody>
      </p:sp>
      <p:sp>
        <p:nvSpPr>
          <p:cNvPr id="20" name="Text 15"/>
          <p:cNvSpPr/>
          <p:nvPr/>
        </p:nvSpPr>
        <p:spPr>
          <a:xfrm>
            <a:off x="4818888" y="2048256"/>
            <a:ext cx="1554480" cy="256032"/>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Define</a:t>
            </a:r>
            <a:endParaRPr lang="en-US" sz="1350" dirty="0"/>
          </a:p>
        </p:txBody>
      </p:sp>
      <p:sp>
        <p:nvSpPr>
          <p:cNvPr id="21" name="Text 16"/>
          <p:cNvSpPr/>
          <p:nvPr/>
        </p:nvSpPr>
        <p:spPr>
          <a:xfrm>
            <a:off x="4818888" y="2267712"/>
            <a:ext cx="1627632" cy="201168"/>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glossary &amp; terms</a:t>
            </a:r>
            <a:endParaRPr lang="en-US" sz="850" dirty="0"/>
          </a:p>
        </p:txBody>
      </p:sp>
      <p:sp>
        <p:nvSpPr>
          <p:cNvPr id="22" name="Shape 17"/>
          <p:cNvSpPr/>
          <p:nvPr/>
        </p:nvSpPr>
        <p:spPr>
          <a:xfrm>
            <a:off x="6652260" y="1371600"/>
            <a:ext cx="1865376" cy="1078992"/>
          </a:xfrm>
          <a:prstGeom prst="roundRect">
            <a:avLst>
              <a:gd name="adj" fmla="val 6780"/>
            </a:avLst>
          </a:prstGeom>
          <a:solidFill>
            <a:srgbClr val="FFFFFF"/>
          </a:solidFill>
          <a:ln w="12700">
            <a:solidFill>
              <a:srgbClr val="C9DEE8"/>
            </a:solidFill>
            <a:prstDash val="solid"/>
          </a:ln>
          <a:effectLst>
            <a:outerShdw blurRad="63500" dist="25400" dir="5400000" algn="bl" rotWithShape="0">
              <a:srgbClr val="0A3D52">
                <a:alpha val="9000"/>
              </a:srgbClr>
            </a:outerShdw>
          </a:effectLst>
        </p:spPr>
      </p:sp>
      <p:sp>
        <p:nvSpPr>
          <p:cNvPr id="23" name="Shape 18"/>
          <p:cNvSpPr/>
          <p:nvPr/>
        </p:nvSpPr>
        <p:spPr>
          <a:xfrm>
            <a:off x="6835140" y="1554480"/>
            <a:ext cx="457200" cy="457200"/>
          </a:xfrm>
          <a:prstGeom prst="ellipse">
            <a:avLst/>
          </a:prstGeom>
          <a:solidFill>
            <a:srgbClr val="065A82"/>
          </a:solidFill>
          <a:ln/>
        </p:spPr>
      </p:sp>
      <p:pic>
        <p:nvPicPr>
          <p:cNvPr id="24" name="Image 3" descr="preencoded.png"/>
          <p:cNvPicPr>
            <a:picLocks noChangeAspect="1"/>
          </p:cNvPicPr>
          <p:nvPr/>
        </p:nvPicPr>
        <p:blipFill>
          <a:blip r:embed="rId5"/>
          <a:stretch>
            <a:fillRect/>
          </a:stretch>
        </p:blipFill>
        <p:spPr>
          <a:xfrm>
            <a:off x="6944868" y="1664208"/>
            <a:ext cx="237744" cy="237744"/>
          </a:xfrm>
          <a:prstGeom prst="rect">
            <a:avLst/>
          </a:prstGeom>
        </p:spPr>
      </p:pic>
      <p:sp>
        <p:nvSpPr>
          <p:cNvPr id="25" name="Text 19"/>
          <p:cNvSpPr/>
          <p:nvPr/>
        </p:nvSpPr>
        <p:spPr>
          <a:xfrm>
            <a:off x="7402068" y="1536192"/>
            <a:ext cx="950976" cy="384048"/>
          </a:xfrm>
          <a:prstGeom prst="rect">
            <a:avLst/>
          </a:prstGeom>
          <a:noFill/>
          <a:ln/>
        </p:spPr>
        <p:txBody>
          <a:bodyPr wrap="square" lIns="0" tIns="0" rIns="0" bIns="0" rtlCol="0" anchor="ctr"/>
          <a:lstStyle/>
          <a:p>
            <a:pPr marL="0" indent="0" algn="r">
              <a:buNone/>
            </a:pPr>
            <a:r>
              <a:rPr lang="en-US" sz="1900" b="1" dirty="0">
                <a:solidFill>
                  <a:srgbClr val="DCEEF5"/>
                </a:solidFill>
                <a:latin typeface="Bookman Old Style" pitchFamily="34" charset="0"/>
                <a:ea typeface="Bookman Old Style" pitchFamily="34" charset="-122"/>
                <a:cs typeface="Bookman Old Style" pitchFamily="34" charset="-120"/>
              </a:rPr>
              <a:t>04</a:t>
            </a:r>
            <a:endParaRPr lang="en-US" sz="1900" dirty="0"/>
          </a:p>
        </p:txBody>
      </p:sp>
      <p:sp>
        <p:nvSpPr>
          <p:cNvPr id="26" name="Text 20"/>
          <p:cNvSpPr/>
          <p:nvPr/>
        </p:nvSpPr>
        <p:spPr>
          <a:xfrm>
            <a:off x="6853428" y="2048256"/>
            <a:ext cx="1554480" cy="256032"/>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Profile</a:t>
            </a:r>
            <a:endParaRPr lang="en-US" sz="1350" dirty="0"/>
          </a:p>
        </p:txBody>
      </p:sp>
      <p:sp>
        <p:nvSpPr>
          <p:cNvPr id="27" name="Text 21"/>
          <p:cNvSpPr/>
          <p:nvPr/>
        </p:nvSpPr>
        <p:spPr>
          <a:xfrm>
            <a:off x="6853428" y="2267712"/>
            <a:ext cx="1627632" cy="201168"/>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data quality</a:t>
            </a:r>
            <a:endParaRPr lang="en-US" sz="850" dirty="0"/>
          </a:p>
        </p:txBody>
      </p:sp>
      <p:sp>
        <p:nvSpPr>
          <p:cNvPr id="28" name="Shape 22"/>
          <p:cNvSpPr/>
          <p:nvPr/>
        </p:nvSpPr>
        <p:spPr>
          <a:xfrm>
            <a:off x="548640" y="2578608"/>
            <a:ext cx="1865376" cy="1078992"/>
          </a:xfrm>
          <a:prstGeom prst="roundRect">
            <a:avLst>
              <a:gd name="adj" fmla="val 6780"/>
            </a:avLst>
          </a:prstGeom>
          <a:solidFill>
            <a:srgbClr val="FFFFFF"/>
          </a:solidFill>
          <a:ln w="12700">
            <a:solidFill>
              <a:srgbClr val="C9DEE8"/>
            </a:solidFill>
            <a:prstDash val="solid"/>
          </a:ln>
          <a:effectLst>
            <a:outerShdw blurRad="63500" dist="25400" dir="5400000" algn="bl" rotWithShape="0">
              <a:srgbClr val="0A3D52">
                <a:alpha val="9000"/>
              </a:srgbClr>
            </a:outerShdw>
          </a:effectLst>
        </p:spPr>
      </p:sp>
      <p:sp>
        <p:nvSpPr>
          <p:cNvPr id="29" name="Shape 23"/>
          <p:cNvSpPr/>
          <p:nvPr/>
        </p:nvSpPr>
        <p:spPr>
          <a:xfrm>
            <a:off x="731520" y="2761488"/>
            <a:ext cx="457200" cy="457200"/>
          </a:xfrm>
          <a:prstGeom prst="ellipse">
            <a:avLst/>
          </a:prstGeom>
          <a:solidFill>
            <a:srgbClr val="065A82"/>
          </a:solidFill>
          <a:ln/>
        </p:spPr>
      </p:sp>
      <p:pic>
        <p:nvPicPr>
          <p:cNvPr id="30" name="Image 4" descr="preencoded.png"/>
          <p:cNvPicPr>
            <a:picLocks noChangeAspect="1"/>
          </p:cNvPicPr>
          <p:nvPr/>
        </p:nvPicPr>
        <p:blipFill>
          <a:blip r:embed="rId6"/>
          <a:stretch>
            <a:fillRect/>
          </a:stretch>
        </p:blipFill>
        <p:spPr>
          <a:xfrm>
            <a:off x="841248" y="2871216"/>
            <a:ext cx="237744" cy="237744"/>
          </a:xfrm>
          <a:prstGeom prst="rect">
            <a:avLst/>
          </a:prstGeom>
        </p:spPr>
      </p:pic>
      <p:sp>
        <p:nvSpPr>
          <p:cNvPr id="31" name="Text 24"/>
          <p:cNvSpPr/>
          <p:nvPr/>
        </p:nvSpPr>
        <p:spPr>
          <a:xfrm>
            <a:off x="1298448" y="2743200"/>
            <a:ext cx="950976" cy="384048"/>
          </a:xfrm>
          <a:prstGeom prst="rect">
            <a:avLst/>
          </a:prstGeom>
          <a:noFill/>
          <a:ln/>
        </p:spPr>
        <p:txBody>
          <a:bodyPr wrap="square" lIns="0" tIns="0" rIns="0" bIns="0" rtlCol="0" anchor="ctr"/>
          <a:lstStyle/>
          <a:p>
            <a:pPr marL="0" indent="0" algn="r">
              <a:buNone/>
            </a:pPr>
            <a:r>
              <a:rPr lang="en-US" sz="1900" b="1" dirty="0">
                <a:solidFill>
                  <a:srgbClr val="DCEEF5"/>
                </a:solidFill>
                <a:latin typeface="Bookman Old Style" pitchFamily="34" charset="0"/>
                <a:ea typeface="Bookman Old Style" pitchFamily="34" charset="-122"/>
                <a:cs typeface="Bookman Old Style" pitchFamily="34" charset="-120"/>
              </a:rPr>
              <a:t>05</a:t>
            </a:r>
            <a:endParaRPr lang="en-US" sz="1900" dirty="0"/>
          </a:p>
        </p:txBody>
      </p:sp>
      <p:sp>
        <p:nvSpPr>
          <p:cNvPr id="32" name="Text 25"/>
          <p:cNvSpPr/>
          <p:nvPr/>
        </p:nvSpPr>
        <p:spPr>
          <a:xfrm>
            <a:off x="749808" y="3255264"/>
            <a:ext cx="1554480" cy="256032"/>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Flag</a:t>
            </a:r>
            <a:endParaRPr lang="en-US" sz="1350" dirty="0"/>
          </a:p>
        </p:txBody>
      </p:sp>
      <p:sp>
        <p:nvSpPr>
          <p:cNvPr id="33" name="Text 26"/>
          <p:cNvSpPr/>
          <p:nvPr/>
        </p:nvSpPr>
        <p:spPr>
          <a:xfrm>
            <a:off x="749808" y="3474720"/>
            <a:ext cx="1627632" cy="201168"/>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sensitive data / PII</a:t>
            </a:r>
            <a:endParaRPr lang="en-US" sz="850" dirty="0"/>
          </a:p>
        </p:txBody>
      </p:sp>
      <p:sp>
        <p:nvSpPr>
          <p:cNvPr id="34" name="Shape 27"/>
          <p:cNvSpPr/>
          <p:nvPr/>
        </p:nvSpPr>
        <p:spPr>
          <a:xfrm>
            <a:off x="2583180" y="2578608"/>
            <a:ext cx="1865376" cy="1078992"/>
          </a:xfrm>
          <a:prstGeom prst="roundRect">
            <a:avLst>
              <a:gd name="adj" fmla="val 6780"/>
            </a:avLst>
          </a:prstGeom>
          <a:solidFill>
            <a:srgbClr val="FFFFFF"/>
          </a:solidFill>
          <a:ln w="12700">
            <a:solidFill>
              <a:srgbClr val="C9DEE8"/>
            </a:solidFill>
            <a:prstDash val="solid"/>
          </a:ln>
          <a:effectLst>
            <a:outerShdw blurRad="63500" dist="25400" dir="5400000" algn="bl" rotWithShape="0">
              <a:srgbClr val="0A3D52">
                <a:alpha val="9000"/>
              </a:srgbClr>
            </a:outerShdw>
          </a:effectLst>
        </p:spPr>
      </p:sp>
      <p:sp>
        <p:nvSpPr>
          <p:cNvPr id="35" name="Shape 28"/>
          <p:cNvSpPr/>
          <p:nvPr/>
        </p:nvSpPr>
        <p:spPr>
          <a:xfrm>
            <a:off x="2766060" y="2761488"/>
            <a:ext cx="457200" cy="457200"/>
          </a:xfrm>
          <a:prstGeom prst="ellipse">
            <a:avLst/>
          </a:prstGeom>
          <a:solidFill>
            <a:srgbClr val="065A82"/>
          </a:solidFill>
          <a:ln/>
        </p:spPr>
      </p:sp>
      <p:pic>
        <p:nvPicPr>
          <p:cNvPr id="36" name="Image 5" descr="preencoded.png"/>
          <p:cNvPicPr>
            <a:picLocks noChangeAspect="1"/>
          </p:cNvPicPr>
          <p:nvPr/>
        </p:nvPicPr>
        <p:blipFill>
          <a:blip r:embed="rId7"/>
          <a:stretch>
            <a:fillRect/>
          </a:stretch>
        </p:blipFill>
        <p:spPr>
          <a:xfrm>
            <a:off x="2875788" y="2871216"/>
            <a:ext cx="237744" cy="237744"/>
          </a:xfrm>
          <a:prstGeom prst="rect">
            <a:avLst/>
          </a:prstGeom>
        </p:spPr>
      </p:pic>
      <p:sp>
        <p:nvSpPr>
          <p:cNvPr id="37" name="Text 29"/>
          <p:cNvSpPr/>
          <p:nvPr/>
        </p:nvSpPr>
        <p:spPr>
          <a:xfrm>
            <a:off x="3332988" y="2743200"/>
            <a:ext cx="950976" cy="384048"/>
          </a:xfrm>
          <a:prstGeom prst="rect">
            <a:avLst/>
          </a:prstGeom>
          <a:noFill/>
          <a:ln/>
        </p:spPr>
        <p:txBody>
          <a:bodyPr wrap="square" lIns="0" tIns="0" rIns="0" bIns="0" rtlCol="0" anchor="ctr"/>
          <a:lstStyle/>
          <a:p>
            <a:pPr marL="0" indent="0" algn="r">
              <a:buNone/>
            </a:pPr>
            <a:r>
              <a:rPr lang="en-US" sz="1900" b="1" dirty="0">
                <a:solidFill>
                  <a:srgbClr val="DCEEF5"/>
                </a:solidFill>
                <a:latin typeface="Bookman Old Style" pitchFamily="34" charset="0"/>
                <a:ea typeface="Bookman Old Style" pitchFamily="34" charset="-122"/>
                <a:cs typeface="Bookman Old Style" pitchFamily="34" charset="-120"/>
              </a:rPr>
              <a:t>06</a:t>
            </a:r>
            <a:endParaRPr lang="en-US" sz="1900" dirty="0"/>
          </a:p>
        </p:txBody>
      </p:sp>
      <p:sp>
        <p:nvSpPr>
          <p:cNvPr id="38" name="Text 30"/>
          <p:cNvSpPr/>
          <p:nvPr/>
        </p:nvSpPr>
        <p:spPr>
          <a:xfrm>
            <a:off x="2784348" y="3255264"/>
            <a:ext cx="1554480" cy="256032"/>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Search</a:t>
            </a:r>
            <a:endParaRPr lang="en-US" sz="1350" dirty="0"/>
          </a:p>
        </p:txBody>
      </p:sp>
      <p:sp>
        <p:nvSpPr>
          <p:cNvPr id="39" name="Text 31"/>
          <p:cNvSpPr/>
          <p:nvPr/>
        </p:nvSpPr>
        <p:spPr>
          <a:xfrm>
            <a:off x="2784348" y="3474720"/>
            <a:ext cx="1627632" cy="201168"/>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discovery &amp; filters</a:t>
            </a:r>
            <a:endParaRPr lang="en-US" sz="850" dirty="0"/>
          </a:p>
        </p:txBody>
      </p:sp>
      <p:sp>
        <p:nvSpPr>
          <p:cNvPr id="40" name="Shape 32"/>
          <p:cNvSpPr/>
          <p:nvPr/>
        </p:nvSpPr>
        <p:spPr>
          <a:xfrm>
            <a:off x="4617720" y="2578608"/>
            <a:ext cx="1865376" cy="1078992"/>
          </a:xfrm>
          <a:prstGeom prst="roundRect">
            <a:avLst>
              <a:gd name="adj" fmla="val 6780"/>
            </a:avLst>
          </a:prstGeom>
          <a:solidFill>
            <a:srgbClr val="FFFFFF"/>
          </a:solidFill>
          <a:ln w="12700">
            <a:solidFill>
              <a:srgbClr val="C9DEE8"/>
            </a:solidFill>
            <a:prstDash val="solid"/>
          </a:ln>
          <a:effectLst>
            <a:outerShdw blurRad="63500" dist="25400" dir="5400000" algn="bl" rotWithShape="0">
              <a:srgbClr val="0A3D52">
                <a:alpha val="9000"/>
              </a:srgbClr>
            </a:outerShdw>
          </a:effectLst>
        </p:spPr>
      </p:sp>
      <p:sp>
        <p:nvSpPr>
          <p:cNvPr id="41" name="Shape 33"/>
          <p:cNvSpPr/>
          <p:nvPr/>
        </p:nvSpPr>
        <p:spPr>
          <a:xfrm>
            <a:off x="4800600" y="2761488"/>
            <a:ext cx="457200" cy="457200"/>
          </a:xfrm>
          <a:prstGeom prst="ellipse">
            <a:avLst/>
          </a:prstGeom>
          <a:solidFill>
            <a:srgbClr val="065A82"/>
          </a:solidFill>
          <a:ln/>
        </p:spPr>
      </p:sp>
      <p:pic>
        <p:nvPicPr>
          <p:cNvPr id="42" name="Image 6" descr="preencoded.png"/>
          <p:cNvPicPr>
            <a:picLocks noChangeAspect="1"/>
          </p:cNvPicPr>
          <p:nvPr/>
        </p:nvPicPr>
        <p:blipFill>
          <a:blip r:embed="rId9"/>
          <a:stretch>
            <a:fillRect/>
          </a:stretch>
        </p:blipFill>
        <p:spPr>
          <a:xfrm>
            <a:off x="4910328" y="2871216"/>
            <a:ext cx="237744" cy="237744"/>
          </a:xfrm>
          <a:prstGeom prst="rect">
            <a:avLst/>
          </a:prstGeom>
        </p:spPr>
      </p:pic>
      <p:sp>
        <p:nvSpPr>
          <p:cNvPr id="43" name="Text 34"/>
          <p:cNvSpPr/>
          <p:nvPr/>
        </p:nvSpPr>
        <p:spPr>
          <a:xfrm>
            <a:off x="5367528" y="2743200"/>
            <a:ext cx="950976" cy="384048"/>
          </a:xfrm>
          <a:prstGeom prst="rect">
            <a:avLst/>
          </a:prstGeom>
          <a:noFill/>
          <a:ln/>
        </p:spPr>
        <p:txBody>
          <a:bodyPr wrap="square" lIns="0" tIns="0" rIns="0" bIns="0" rtlCol="0" anchor="ctr"/>
          <a:lstStyle/>
          <a:p>
            <a:pPr marL="0" indent="0" algn="r">
              <a:buNone/>
            </a:pPr>
            <a:r>
              <a:rPr lang="en-US" sz="1900" b="1" dirty="0">
                <a:solidFill>
                  <a:srgbClr val="DCEEF5"/>
                </a:solidFill>
                <a:latin typeface="Bookman Old Style" pitchFamily="34" charset="0"/>
                <a:ea typeface="Bookman Old Style" pitchFamily="34" charset="-122"/>
                <a:cs typeface="Bookman Old Style" pitchFamily="34" charset="-120"/>
              </a:rPr>
              <a:t>07</a:t>
            </a:r>
            <a:endParaRPr lang="en-US" sz="1900" dirty="0"/>
          </a:p>
        </p:txBody>
      </p:sp>
      <p:sp>
        <p:nvSpPr>
          <p:cNvPr id="44" name="Text 35"/>
          <p:cNvSpPr/>
          <p:nvPr/>
        </p:nvSpPr>
        <p:spPr>
          <a:xfrm>
            <a:off x="4818888" y="3255264"/>
            <a:ext cx="1554480" cy="256032"/>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Curate</a:t>
            </a:r>
            <a:endParaRPr lang="en-US" sz="1350" dirty="0"/>
          </a:p>
        </p:txBody>
      </p:sp>
      <p:sp>
        <p:nvSpPr>
          <p:cNvPr id="45" name="Text 36"/>
          <p:cNvSpPr/>
          <p:nvPr/>
        </p:nvSpPr>
        <p:spPr>
          <a:xfrm>
            <a:off x="4818888" y="3474720"/>
            <a:ext cx="1627632" cy="201168"/>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a data collection</a:t>
            </a:r>
            <a:endParaRPr lang="en-US" sz="850" dirty="0"/>
          </a:p>
        </p:txBody>
      </p:sp>
      <p:sp>
        <p:nvSpPr>
          <p:cNvPr id="46" name="Shape 37"/>
          <p:cNvSpPr/>
          <p:nvPr/>
        </p:nvSpPr>
        <p:spPr>
          <a:xfrm>
            <a:off x="6652260" y="2578608"/>
            <a:ext cx="1865376" cy="1078992"/>
          </a:xfrm>
          <a:prstGeom prst="roundRect">
            <a:avLst>
              <a:gd name="adj" fmla="val 6780"/>
            </a:avLst>
          </a:prstGeom>
          <a:solidFill>
            <a:srgbClr val="FFFFFF"/>
          </a:solidFill>
          <a:ln w="12700">
            <a:solidFill>
              <a:srgbClr val="C9DEE8"/>
            </a:solidFill>
            <a:prstDash val="solid"/>
          </a:ln>
          <a:effectLst>
            <a:outerShdw blurRad="63500" dist="25400" dir="5400000" algn="bl" rotWithShape="0">
              <a:srgbClr val="0A3D52">
                <a:alpha val="9000"/>
              </a:srgbClr>
            </a:outerShdw>
          </a:effectLst>
        </p:spPr>
      </p:sp>
      <p:sp>
        <p:nvSpPr>
          <p:cNvPr id="47" name="Shape 38"/>
          <p:cNvSpPr/>
          <p:nvPr/>
        </p:nvSpPr>
        <p:spPr>
          <a:xfrm>
            <a:off x="6835140" y="2761488"/>
            <a:ext cx="457200" cy="457200"/>
          </a:xfrm>
          <a:prstGeom prst="ellipse">
            <a:avLst/>
          </a:prstGeom>
          <a:solidFill>
            <a:srgbClr val="065A82"/>
          </a:solidFill>
          <a:ln/>
        </p:spPr>
      </p:sp>
      <p:pic>
        <p:nvPicPr>
          <p:cNvPr id="48" name="Image 7" descr="preencoded.png"/>
          <p:cNvPicPr>
            <a:picLocks noChangeAspect="1"/>
          </p:cNvPicPr>
          <p:nvPr/>
        </p:nvPicPr>
        <p:blipFill>
          <a:blip r:embed="rId10"/>
          <a:stretch>
            <a:fillRect/>
          </a:stretch>
        </p:blipFill>
        <p:spPr>
          <a:xfrm>
            <a:off x="6944868" y="2871216"/>
            <a:ext cx="237744" cy="237744"/>
          </a:xfrm>
          <a:prstGeom prst="rect">
            <a:avLst/>
          </a:prstGeom>
        </p:spPr>
      </p:pic>
      <p:sp>
        <p:nvSpPr>
          <p:cNvPr id="49" name="Text 39"/>
          <p:cNvSpPr/>
          <p:nvPr/>
        </p:nvSpPr>
        <p:spPr>
          <a:xfrm>
            <a:off x="7402068" y="2743200"/>
            <a:ext cx="950976" cy="384048"/>
          </a:xfrm>
          <a:prstGeom prst="rect">
            <a:avLst/>
          </a:prstGeom>
          <a:noFill/>
          <a:ln/>
        </p:spPr>
        <p:txBody>
          <a:bodyPr wrap="square" lIns="0" tIns="0" rIns="0" bIns="0" rtlCol="0" anchor="ctr"/>
          <a:lstStyle/>
          <a:p>
            <a:pPr marL="0" indent="0" algn="r">
              <a:buNone/>
            </a:pPr>
            <a:r>
              <a:rPr lang="en-US" sz="1900" b="1" dirty="0">
                <a:solidFill>
                  <a:srgbClr val="DCEEF5"/>
                </a:solidFill>
                <a:latin typeface="Bookman Old Style" pitchFamily="34" charset="0"/>
                <a:ea typeface="Bookman Old Style" pitchFamily="34" charset="-122"/>
                <a:cs typeface="Bookman Old Style" pitchFamily="34" charset="-120"/>
              </a:rPr>
              <a:t>08</a:t>
            </a:r>
            <a:endParaRPr lang="en-US" sz="1900" dirty="0"/>
          </a:p>
        </p:txBody>
      </p:sp>
      <p:sp>
        <p:nvSpPr>
          <p:cNvPr id="50" name="Text 40"/>
          <p:cNvSpPr/>
          <p:nvPr/>
        </p:nvSpPr>
        <p:spPr>
          <a:xfrm>
            <a:off x="6853428" y="3255264"/>
            <a:ext cx="1554480" cy="256032"/>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Trace</a:t>
            </a:r>
            <a:endParaRPr lang="en-US" sz="1350" dirty="0"/>
          </a:p>
        </p:txBody>
      </p:sp>
      <p:sp>
        <p:nvSpPr>
          <p:cNvPr id="51" name="Text 41"/>
          <p:cNvSpPr/>
          <p:nvPr/>
        </p:nvSpPr>
        <p:spPr>
          <a:xfrm>
            <a:off x="6853428" y="3474720"/>
            <a:ext cx="1627632" cy="201168"/>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lineage &amp; impact</a:t>
            </a:r>
            <a:endParaRPr lang="en-US" sz="850" dirty="0"/>
          </a:p>
        </p:txBody>
      </p:sp>
      <p:sp>
        <p:nvSpPr>
          <p:cNvPr id="52" name="Shape 42"/>
          <p:cNvSpPr/>
          <p:nvPr/>
        </p:nvSpPr>
        <p:spPr>
          <a:xfrm>
            <a:off x="548640" y="3785616"/>
            <a:ext cx="1865376" cy="1078992"/>
          </a:xfrm>
          <a:prstGeom prst="roundRect">
            <a:avLst>
              <a:gd name="adj" fmla="val 6780"/>
            </a:avLst>
          </a:prstGeom>
          <a:solidFill>
            <a:srgbClr val="EEF6FA"/>
          </a:solidFill>
          <a:ln w="12700">
            <a:solidFill>
              <a:srgbClr val="C9DEE8"/>
            </a:solidFill>
            <a:prstDash val="solid"/>
          </a:ln>
          <a:effectLst>
            <a:outerShdw blurRad="63500" dist="25400" dir="5400000" algn="bl" rotWithShape="0">
              <a:srgbClr val="0A3D52">
                <a:alpha val="9000"/>
              </a:srgbClr>
            </a:outerShdw>
          </a:effectLst>
        </p:spPr>
      </p:sp>
      <p:sp>
        <p:nvSpPr>
          <p:cNvPr id="53" name="Shape 43"/>
          <p:cNvSpPr/>
          <p:nvPr/>
        </p:nvSpPr>
        <p:spPr>
          <a:xfrm>
            <a:off x="731520" y="3968496"/>
            <a:ext cx="457200" cy="457200"/>
          </a:xfrm>
          <a:prstGeom prst="ellipse">
            <a:avLst/>
          </a:prstGeom>
          <a:solidFill>
            <a:srgbClr val="2EC4B6"/>
          </a:solidFill>
          <a:ln/>
        </p:spPr>
      </p:sp>
      <p:pic>
        <p:nvPicPr>
          <p:cNvPr id="54" name="Image 8" descr="preencoded.png"/>
          <p:cNvPicPr>
            <a:picLocks noChangeAspect="1"/>
          </p:cNvPicPr>
          <p:nvPr/>
        </p:nvPicPr>
        <p:blipFill>
          <a:blip r:embed="rId11"/>
          <a:stretch>
            <a:fillRect/>
          </a:stretch>
        </p:blipFill>
        <p:spPr>
          <a:xfrm>
            <a:off x="841248" y="4078224"/>
            <a:ext cx="237744" cy="237744"/>
          </a:xfrm>
          <a:prstGeom prst="rect">
            <a:avLst/>
          </a:prstGeom>
        </p:spPr>
      </p:pic>
      <p:sp>
        <p:nvSpPr>
          <p:cNvPr id="55" name="Text 44"/>
          <p:cNvSpPr/>
          <p:nvPr/>
        </p:nvSpPr>
        <p:spPr>
          <a:xfrm>
            <a:off x="1298448" y="3950208"/>
            <a:ext cx="950976" cy="384048"/>
          </a:xfrm>
          <a:prstGeom prst="rect">
            <a:avLst/>
          </a:prstGeom>
          <a:noFill/>
          <a:ln/>
        </p:spPr>
        <p:txBody>
          <a:bodyPr wrap="square" lIns="0" tIns="0" rIns="0" bIns="0" rtlCol="0" anchor="ctr"/>
          <a:lstStyle/>
          <a:p>
            <a:pPr marL="0" indent="0" algn="r">
              <a:buNone/>
            </a:pPr>
            <a:r>
              <a:rPr lang="en-US" sz="1900" b="1" dirty="0">
                <a:solidFill>
                  <a:srgbClr val="DCEEF5"/>
                </a:solidFill>
                <a:latin typeface="Bookman Old Style" pitchFamily="34" charset="0"/>
                <a:ea typeface="Bookman Old Style" pitchFamily="34" charset="-122"/>
                <a:cs typeface="Bookman Old Style" pitchFamily="34" charset="-120"/>
              </a:rPr>
              <a:t>09</a:t>
            </a:r>
            <a:endParaRPr lang="en-US" sz="1900" dirty="0"/>
          </a:p>
        </p:txBody>
      </p:sp>
      <p:sp>
        <p:nvSpPr>
          <p:cNvPr id="56" name="Text 45"/>
          <p:cNvSpPr/>
          <p:nvPr/>
        </p:nvSpPr>
        <p:spPr>
          <a:xfrm>
            <a:off x="749808" y="4462272"/>
            <a:ext cx="1554480" cy="256032"/>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Extend</a:t>
            </a:r>
            <a:endParaRPr lang="en-US" sz="1350" dirty="0"/>
          </a:p>
        </p:txBody>
      </p:sp>
      <p:sp>
        <p:nvSpPr>
          <p:cNvPr id="57" name="Text 46"/>
          <p:cNvSpPr/>
          <p:nvPr/>
        </p:nvSpPr>
        <p:spPr>
          <a:xfrm>
            <a:off x="749808" y="4681728"/>
            <a:ext cx="1627632" cy="201168"/>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custom properties</a:t>
            </a:r>
            <a:endParaRPr lang="en-US" sz="850" dirty="0"/>
          </a:p>
        </p:txBody>
      </p:sp>
      <p:sp>
        <p:nvSpPr>
          <p:cNvPr id="58" name="Shape 47"/>
          <p:cNvSpPr/>
          <p:nvPr/>
        </p:nvSpPr>
        <p:spPr>
          <a:xfrm>
            <a:off x="2583180" y="3785616"/>
            <a:ext cx="1865376" cy="1078992"/>
          </a:xfrm>
          <a:prstGeom prst="roundRect">
            <a:avLst>
              <a:gd name="adj" fmla="val 6780"/>
            </a:avLst>
          </a:prstGeom>
          <a:solidFill>
            <a:srgbClr val="EEF6FA"/>
          </a:solidFill>
          <a:ln w="12700">
            <a:solidFill>
              <a:srgbClr val="C9DEE8"/>
            </a:solidFill>
            <a:prstDash val="solid"/>
          </a:ln>
          <a:effectLst>
            <a:outerShdw blurRad="63500" dist="25400" dir="5400000" algn="bl" rotWithShape="0">
              <a:srgbClr val="0A3D52">
                <a:alpha val="9000"/>
              </a:srgbClr>
            </a:outerShdw>
          </a:effectLst>
        </p:spPr>
      </p:sp>
      <p:sp>
        <p:nvSpPr>
          <p:cNvPr id="59" name="Shape 48"/>
          <p:cNvSpPr/>
          <p:nvPr/>
        </p:nvSpPr>
        <p:spPr>
          <a:xfrm>
            <a:off x="2766060" y="3968496"/>
            <a:ext cx="457200" cy="457200"/>
          </a:xfrm>
          <a:prstGeom prst="ellipse">
            <a:avLst/>
          </a:prstGeom>
          <a:solidFill>
            <a:srgbClr val="2EC4B6"/>
          </a:solidFill>
          <a:ln/>
        </p:spPr>
      </p:sp>
      <p:pic>
        <p:nvPicPr>
          <p:cNvPr id="60" name="Image 9" descr="preencoded.png"/>
          <p:cNvPicPr>
            <a:picLocks noChangeAspect="1"/>
          </p:cNvPicPr>
          <p:nvPr/>
        </p:nvPicPr>
        <p:blipFill>
          <a:blip r:embed="rId6"/>
          <a:stretch>
            <a:fillRect/>
          </a:stretch>
        </p:blipFill>
        <p:spPr>
          <a:xfrm>
            <a:off x="2875788" y="4078224"/>
            <a:ext cx="237744" cy="237744"/>
          </a:xfrm>
          <a:prstGeom prst="rect">
            <a:avLst/>
          </a:prstGeom>
        </p:spPr>
      </p:pic>
      <p:sp>
        <p:nvSpPr>
          <p:cNvPr id="61" name="Text 49"/>
          <p:cNvSpPr/>
          <p:nvPr/>
        </p:nvSpPr>
        <p:spPr>
          <a:xfrm>
            <a:off x="3332988" y="3950208"/>
            <a:ext cx="950976" cy="384048"/>
          </a:xfrm>
          <a:prstGeom prst="rect">
            <a:avLst/>
          </a:prstGeom>
          <a:noFill/>
          <a:ln/>
        </p:spPr>
        <p:txBody>
          <a:bodyPr wrap="square" lIns="0" tIns="0" rIns="0" bIns="0" rtlCol="0" anchor="ctr"/>
          <a:lstStyle/>
          <a:p>
            <a:pPr marL="0" indent="0" algn="r">
              <a:buNone/>
            </a:pPr>
            <a:r>
              <a:rPr lang="en-US" sz="1900" b="1" dirty="0">
                <a:solidFill>
                  <a:srgbClr val="DCEEF5"/>
                </a:solidFill>
                <a:latin typeface="Bookman Old Style" pitchFamily="34" charset="0"/>
                <a:ea typeface="Bookman Old Style" pitchFamily="34" charset="-122"/>
                <a:cs typeface="Bookman Old Style" pitchFamily="34" charset="-120"/>
              </a:rPr>
              <a:t>10</a:t>
            </a:r>
            <a:endParaRPr lang="en-US" sz="1900" dirty="0"/>
          </a:p>
        </p:txBody>
      </p:sp>
      <p:sp>
        <p:nvSpPr>
          <p:cNvPr id="62" name="Text 50"/>
          <p:cNvSpPr/>
          <p:nvPr/>
        </p:nvSpPr>
        <p:spPr>
          <a:xfrm>
            <a:off x="2784348" y="4462272"/>
            <a:ext cx="1554480" cy="256032"/>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Govern</a:t>
            </a:r>
            <a:endParaRPr lang="en-US" sz="1350" dirty="0"/>
          </a:p>
        </p:txBody>
      </p:sp>
      <p:sp>
        <p:nvSpPr>
          <p:cNvPr id="63" name="Text 51"/>
          <p:cNvSpPr/>
          <p:nvPr/>
        </p:nvSpPr>
        <p:spPr>
          <a:xfrm>
            <a:off x="2784348" y="4681728"/>
            <a:ext cx="1627632" cy="201168"/>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policies &amp; standards</a:t>
            </a:r>
            <a:endParaRPr lang="en-US" sz="850" dirty="0"/>
          </a:p>
        </p:txBody>
      </p:sp>
      <p:sp>
        <p:nvSpPr>
          <p:cNvPr id="64" name="Shape 52"/>
          <p:cNvSpPr/>
          <p:nvPr/>
        </p:nvSpPr>
        <p:spPr>
          <a:xfrm>
            <a:off x="4617720" y="3785616"/>
            <a:ext cx="1865376" cy="1078992"/>
          </a:xfrm>
          <a:prstGeom prst="roundRect">
            <a:avLst>
              <a:gd name="adj" fmla="val 6780"/>
            </a:avLst>
          </a:prstGeom>
          <a:solidFill>
            <a:srgbClr val="EEF6FA"/>
          </a:solidFill>
          <a:ln w="12700">
            <a:solidFill>
              <a:srgbClr val="C9DEE8"/>
            </a:solidFill>
            <a:prstDash val="solid"/>
          </a:ln>
          <a:effectLst>
            <a:outerShdw blurRad="63500" dist="25400" dir="5400000" algn="bl" rotWithShape="0">
              <a:srgbClr val="0A3D52">
                <a:alpha val="9000"/>
              </a:srgbClr>
            </a:outerShdw>
          </a:effectLst>
        </p:spPr>
      </p:sp>
      <p:sp>
        <p:nvSpPr>
          <p:cNvPr id="65" name="Shape 53"/>
          <p:cNvSpPr/>
          <p:nvPr/>
        </p:nvSpPr>
        <p:spPr>
          <a:xfrm>
            <a:off x="4800600" y="3968496"/>
            <a:ext cx="457200" cy="457200"/>
          </a:xfrm>
          <a:prstGeom prst="ellipse">
            <a:avLst/>
          </a:prstGeom>
          <a:solidFill>
            <a:srgbClr val="2EC4B6"/>
          </a:solidFill>
          <a:ln/>
        </p:spPr>
      </p:sp>
      <p:pic>
        <p:nvPicPr>
          <p:cNvPr id="66" name="Image 10" descr="preencoded.png"/>
          <p:cNvPicPr>
            <a:picLocks noChangeAspect="1"/>
          </p:cNvPicPr>
          <p:nvPr/>
        </p:nvPicPr>
        <p:blipFill>
          <a:blip r:embed="rId12"/>
          <a:stretch>
            <a:fillRect/>
          </a:stretch>
        </p:blipFill>
        <p:spPr>
          <a:xfrm>
            <a:off x="4910328" y="4078224"/>
            <a:ext cx="237744" cy="237744"/>
          </a:xfrm>
          <a:prstGeom prst="rect">
            <a:avLst/>
          </a:prstGeom>
        </p:spPr>
      </p:pic>
      <p:sp>
        <p:nvSpPr>
          <p:cNvPr id="67" name="Text 54"/>
          <p:cNvSpPr/>
          <p:nvPr/>
        </p:nvSpPr>
        <p:spPr>
          <a:xfrm>
            <a:off x="5367528" y="3950208"/>
            <a:ext cx="950976" cy="384048"/>
          </a:xfrm>
          <a:prstGeom prst="rect">
            <a:avLst/>
          </a:prstGeom>
          <a:noFill/>
          <a:ln/>
        </p:spPr>
        <p:txBody>
          <a:bodyPr wrap="square" lIns="0" tIns="0" rIns="0" bIns="0" rtlCol="0" anchor="ctr"/>
          <a:lstStyle/>
          <a:p>
            <a:pPr marL="0" indent="0" algn="r">
              <a:buNone/>
            </a:pPr>
            <a:r>
              <a:rPr lang="en-US" sz="1900" b="1" dirty="0">
                <a:solidFill>
                  <a:srgbClr val="DCEEF5"/>
                </a:solidFill>
                <a:latin typeface="Bookman Old Style" pitchFamily="34" charset="0"/>
                <a:ea typeface="Bookman Old Style" pitchFamily="34" charset="-122"/>
                <a:cs typeface="Bookman Old Style" pitchFamily="34" charset="-120"/>
              </a:rPr>
              <a:t>11</a:t>
            </a:r>
            <a:endParaRPr lang="en-US" sz="1900" dirty="0"/>
          </a:p>
        </p:txBody>
      </p:sp>
      <p:sp>
        <p:nvSpPr>
          <p:cNvPr id="68" name="Text 55"/>
          <p:cNvSpPr/>
          <p:nvPr/>
        </p:nvSpPr>
        <p:spPr>
          <a:xfrm>
            <a:off x="4818888" y="4462272"/>
            <a:ext cx="1554480" cy="256032"/>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Visualize</a:t>
            </a:r>
            <a:endParaRPr lang="en-US" sz="1350" dirty="0"/>
          </a:p>
        </p:txBody>
      </p:sp>
      <p:sp>
        <p:nvSpPr>
          <p:cNvPr id="69" name="Text 56"/>
          <p:cNvSpPr/>
          <p:nvPr/>
        </p:nvSpPr>
        <p:spPr>
          <a:xfrm>
            <a:off x="4818888" y="4681728"/>
            <a:ext cx="1627632" cy="201168"/>
          </a:xfrm>
          <a:prstGeom prst="rect">
            <a:avLst/>
          </a:prstGeom>
          <a:noFill/>
          <a:ln/>
        </p:spPr>
        <p:txBody>
          <a:bodyPr wrap="square" lIns="0" tIns="0" rIns="0" bIns="0" rtlCol="0" anchor="ctr"/>
          <a:lstStyle/>
          <a:p>
            <a:pPr marL="0" indent="0">
              <a:buNone/>
            </a:pPr>
            <a:r>
              <a:rPr lang="en-US" sz="850" dirty="0">
                <a:solidFill>
                  <a:srgbClr val="5B7782"/>
                </a:solidFill>
                <a:latin typeface="Calibri" pitchFamily="34" charset="0"/>
                <a:ea typeface="Calibri" pitchFamily="34" charset="-122"/>
                <a:cs typeface="Calibri" pitchFamily="34" charset="-120"/>
              </a:rPr>
              <a:t>the galaxy view</a:t>
            </a:r>
            <a:endParaRPr lang="en-US" sz="850" dirty="0"/>
          </a:p>
        </p:txBody>
      </p:sp>
      <p:sp>
        <p:nvSpPr>
          <p:cNvPr id="70" name="Shape 57"/>
          <p:cNvSpPr/>
          <p:nvPr/>
        </p:nvSpPr>
        <p:spPr>
          <a:xfrm>
            <a:off x="566928" y="4956048"/>
            <a:ext cx="146304" cy="146304"/>
          </a:xfrm>
          <a:prstGeom prst="ellipse">
            <a:avLst/>
          </a:prstGeom>
          <a:solidFill>
            <a:srgbClr val="2EC4B6"/>
          </a:solidFill>
          <a:ln/>
        </p:spPr>
      </p:sp>
      <p:sp>
        <p:nvSpPr>
          <p:cNvPr id="71" name="Text 58"/>
          <p:cNvSpPr/>
          <p:nvPr/>
        </p:nvSpPr>
        <p:spPr>
          <a:xfrm>
            <a:off x="777240" y="4901184"/>
            <a:ext cx="7772400" cy="274320"/>
          </a:xfrm>
          <a:prstGeom prst="rect">
            <a:avLst/>
          </a:prstGeom>
          <a:noFill/>
          <a:ln/>
        </p:spPr>
        <p:txBody>
          <a:bodyPr wrap="square" lIns="0" tIns="0" rIns="0" bIns="0" rtlCol="0" anchor="ctr"/>
          <a:lstStyle/>
          <a:p>
            <a:pPr marL="0" indent="0">
              <a:buNone/>
            </a:pPr>
            <a:r>
              <a:rPr lang="en-US" sz="950" i="1" dirty="0">
                <a:solidFill>
                  <a:srgbClr val="5B7782"/>
                </a:solidFill>
                <a:latin typeface="Calibri" pitchFamily="34" charset="0"/>
                <a:ea typeface="Calibri" pitchFamily="34" charset="-122"/>
                <a:cs typeface="Calibri" pitchFamily="34" charset="-120"/>
              </a:rPr>
              <a:t>Workshops 9–11 extend the core path into enterprise governance features</a:t>
            </a:r>
            <a:endParaRPr lang="en-US" sz="950" dirty="0"/>
          </a:p>
        </p:txBody>
      </p:sp>
      <p:sp>
        <p:nvSpPr>
          <p:cNvPr id="72" name="Text 59"/>
          <p:cNvSpPr/>
          <p:nvPr/>
        </p:nvSpPr>
        <p:spPr>
          <a:xfrm>
            <a:off x="548640" y="4828032"/>
            <a:ext cx="7315200" cy="274320"/>
          </a:xfrm>
          <a:prstGeom prst="rect">
            <a:avLst/>
          </a:prstGeom>
          <a:noFill/>
          <a:ln/>
        </p:spPr>
        <p:txBody>
          <a:bodyPr wrap="square" lIns="0" tIns="0" rIns="0" bIns="0" rtlCol="0" anchor="ctr"/>
          <a:lstStyle/>
          <a:p>
            <a:pPr marL="0" indent="0">
              <a:buNone/>
            </a:pPr>
            <a:endParaRPr lang="en-US" sz="950" dirty="0"/>
          </a:p>
        </p:txBody>
      </p:sp>
      <p:sp>
        <p:nvSpPr>
          <p:cNvPr id="73" name="Text 60"/>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WHAT YOU'LL BE ABLE TO DO</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Learning outcomes</a:t>
            </a:r>
            <a:endParaRPr lang="en-US" sz="2700" dirty="0"/>
          </a:p>
        </p:txBody>
      </p:sp>
      <p:sp>
        <p:nvSpPr>
          <p:cNvPr id="4" name="Text 2"/>
          <p:cNvSpPr/>
          <p:nvPr/>
        </p:nvSpPr>
        <p:spPr>
          <a:xfrm>
            <a:off x="548640" y="1408176"/>
            <a:ext cx="8046720" cy="329184"/>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By the end of this course you will be able to:</a:t>
            </a:r>
            <a:endParaRPr lang="en-US" sz="1300" dirty="0"/>
          </a:p>
        </p:txBody>
      </p:sp>
      <p:sp>
        <p:nvSpPr>
          <p:cNvPr id="5" name="Shape 3"/>
          <p:cNvSpPr/>
          <p:nvPr/>
        </p:nvSpPr>
        <p:spPr>
          <a:xfrm>
            <a:off x="548640" y="1828800"/>
            <a:ext cx="3931920" cy="841248"/>
          </a:xfrm>
          <a:prstGeom prst="roundRect">
            <a:avLst>
              <a:gd name="adj" fmla="val 8696"/>
            </a:avLst>
          </a:prstGeom>
          <a:solidFill>
            <a:srgbClr val="EEF6FA"/>
          </a:solidFill>
          <a:ln/>
          <a:effectLst>
            <a:outerShdw blurRad="63500" dist="25400" dir="5400000" algn="bl" rotWithShape="0">
              <a:srgbClr val="0A3D52">
                <a:alpha val="8000"/>
              </a:srgbClr>
            </a:outerShdw>
          </a:effectLst>
        </p:spPr>
      </p:sp>
      <p:sp>
        <p:nvSpPr>
          <p:cNvPr id="6" name="Shape 4"/>
          <p:cNvSpPr/>
          <p:nvPr/>
        </p:nvSpPr>
        <p:spPr>
          <a:xfrm>
            <a:off x="749808" y="2029968"/>
            <a:ext cx="438912" cy="438912"/>
          </a:xfrm>
          <a:prstGeom prst="ellipse">
            <a:avLst/>
          </a:prstGeom>
          <a:solidFill>
            <a:srgbClr val="2EC4B6"/>
          </a:solidFill>
          <a:ln/>
        </p:spPr>
      </p:sp>
      <p:pic>
        <p:nvPicPr>
          <p:cNvPr id="7" name="Image 0" descr="preencoded.png"/>
          <p:cNvPicPr>
            <a:picLocks noChangeAspect="1"/>
          </p:cNvPicPr>
          <p:nvPr/>
        </p:nvPicPr>
        <p:blipFill>
          <a:blip r:embed="rId3"/>
          <a:stretch>
            <a:fillRect/>
          </a:stretch>
        </p:blipFill>
        <p:spPr>
          <a:xfrm>
            <a:off x="850392" y="2130552"/>
            <a:ext cx="237744" cy="237744"/>
          </a:xfrm>
          <a:prstGeom prst="rect">
            <a:avLst/>
          </a:prstGeom>
        </p:spPr>
      </p:pic>
      <p:sp>
        <p:nvSpPr>
          <p:cNvPr id="8" name="Text 5"/>
          <p:cNvSpPr/>
          <p:nvPr/>
        </p:nvSpPr>
        <p:spPr>
          <a:xfrm>
            <a:off x="1316736" y="1938528"/>
            <a:ext cx="3017520" cy="310896"/>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Connect a data source</a:t>
            </a:r>
            <a:endParaRPr lang="en-US" sz="1350" dirty="0"/>
          </a:p>
        </p:txBody>
      </p:sp>
      <p:sp>
        <p:nvSpPr>
          <p:cNvPr id="9" name="Text 6"/>
          <p:cNvSpPr/>
          <p:nvPr/>
        </p:nvSpPr>
        <p:spPr>
          <a:xfrm>
            <a:off x="1316736" y="2240280"/>
            <a:ext cx="3063240" cy="384048"/>
          </a:xfrm>
          <a:prstGeom prst="rect">
            <a:avLst/>
          </a:prstGeom>
          <a:noFill/>
          <a:ln/>
        </p:spPr>
        <p:txBody>
          <a:bodyPr wrap="square" lIns="0" tIns="0" rIns="0" bIns="0" rtlCol="0" anchor="ctr"/>
          <a:lstStyle/>
          <a:p>
            <a:pPr marL="0" indent="0">
              <a:lnSpc>
                <a:spcPct val="100000"/>
              </a:lnSpc>
              <a:buNone/>
            </a:pPr>
            <a:r>
              <a:rPr lang="en-US" sz="950" dirty="0">
                <a:solidFill>
                  <a:srgbClr val="5B7782"/>
                </a:solidFill>
                <a:latin typeface="Calibri" pitchFamily="34" charset="0"/>
                <a:ea typeface="Calibri" pitchFamily="34" charset="-122"/>
                <a:cs typeface="Calibri" pitchFamily="34" charset="-120"/>
              </a:rPr>
              <a:t>Bring a PostgreSQL database under catalog governance and verify it.</a:t>
            </a:r>
            <a:endParaRPr lang="en-US" sz="950" dirty="0"/>
          </a:p>
        </p:txBody>
      </p:sp>
      <p:sp>
        <p:nvSpPr>
          <p:cNvPr id="10" name="Shape 7"/>
          <p:cNvSpPr/>
          <p:nvPr/>
        </p:nvSpPr>
        <p:spPr>
          <a:xfrm>
            <a:off x="4663440" y="1828800"/>
            <a:ext cx="3931920" cy="841248"/>
          </a:xfrm>
          <a:prstGeom prst="roundRect">
            <a:avLst>
              <a:gd name="adj" fmla="val 8696"/>
            </a:avLst>
          </a:prstGeom>
          <a:solidFill>
            <a:srgbClr val="EEF6FA"/>
          </a:solidFill>
          <a:ln/>
          <a:effectLst>
            <a:outerShdw blurRad="63500" dist="25400" dir="5400000" algn="bl" rotWithShape="0">
              <a:srgbClr val="0A3D52">
                <a:alpha val="8000"/>
              </a:srgbClr>
            </a:outerShdw>
          </a:effectLst>
        </p:spPr>
      </p:sp>
      <p:sp>
        <p:nvSpPr>
          <p:cNvPr id="11" name="Shape 8"/>
          <p:cNvSpPr/>
          <p:nvPr/>
        </p:nvSpPr>
        <p:spPr>
          <a:xfrm>
            <a:off x="4864608" y="2029968"/>
            <a:ext cx="438912" cy="438912"/>
          </a:xfrm>
          <a:prstGeom prst="ellipse">
            <a:avLst/>
          </a:prstGeom>
          <a:solidFill>
            <a:srgbClr val="2EC4B6"/>
          </a:solidFill>
          <a:ln/>
        </p:spPr>
      </p:sp>
      <p:pic>
        <p:nvPicPr>
          <p:cNvPr id="12" name="Image 1" descr="preencoded.png"/>
          <p:cNvPicPr>
            <a:picLocks noChangeAspect="1"/>
          </p:cNvPicPr>
          <p:nvPr/>
        </p:nvPicPr>
        <p:blipFill>
          <a:blip r:embed="rId4"/>
          <a:stretch>
            <a:fillRect/>
          </a:stretch>
        </p:blipFill>
        <p:spPr>
          <a:xfrm>
            <a:off x="4965192" y="2130552"/>
            <a:ext cx="237744" cy="237744"/>
          </a:xfrm>
          <a:prstGeom prst="rect">
            <a:avLst/>
          </a:prstGeom>
        </p:spPr>
      </p:pic>
      <p:sp>
        <p:nvSpPr>
          <p:cNvPr id="13" name="Text 9"/>
          <p:cNvSpPr/>
          <p:nvPr/>
        </p:nvSpPr>
        <p:spPr>
          <a:xfrm>
            <a:off x="5431536" y="1938528"/>
            <a:ext cx="3017520" cy="310896"/>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Read all metadata</a:t>
            </a:r>
            <a:endParaRPr lang="en-US" sz="1350" dirty="0"/>
          </a:p>
        </p:txBody>
      </p:sp>
      <p:sp>
        <p:nvSpPr>
          <p:cNvPr id="14" name="Text 10"/>
          <p:cNvSpPr/>
          <p:nvPr/>
        </p:nvSpPr>
        <p:spPr>
          <a:xfrm>
            <a:off x="5431536" y="2240280"/>
            <a:ext cx="3063240" cy="384048"/>
          </a:xfrm>
          <a:prstGeom prst="rect">
            <a:avLst/>
          </a:prstGeom>
          <a:noFill/>
          <a:ln/>
        </p:spPr>
        <p:txBody>
          <a:bodyPr wrap="square" lIns="0" tIns="0" rIns="0" bIns="0" rtlCol="0" anchor="ctr"/>
          <a:lstStyle/>
          <a:p>
            <a:pPr marL="0" indent="0">
              <a:lnSpc>
                <a:spcPct val="100000"/>
              </a:lnSpc>
              <a:buNone/>
            </a:pPr>
            <a:r>
              <a:rPr lang="en-US" sz="950" dirty="0">
                <a:solidFill>
                  <a:srgbClr val="5B7782"/>
                </a:solidFill>
                <a:latin typeface="Calibri" pitchFamily="34" charset="0"/>
                <a:ea typeface="Calibri" pitchFamily="34" charset="-122"/>
                <a:cs typeface="Calibri" pitchFamily="34" charset="-120"/>
              </a:rPr>
              <a:t>Interpret technical, business, and operational metadata for any asset.</a:t>
            </a:r>
            <a:endParaRPr lang="en-US" sz="950" dirty="0"/>
          </a:p>
        </p:txBody>
      </p:sp>
      <p:sp>
        <p:nvSpPr>
          <p:cNvPr id="15" name="Shape 11"/>
          <p:cNvSpPr/>
          <p:nvPr/>
        </p:nvSpPr>
        <p:spPr>
          <a:xfrm>
            <a:off x="548640" y="2779776"/>
            <a:ext cx="3931920" cy="841248"/>
          </a:xfrm>
          <a:prstGeom prst="roundRect">
            <a:avLst>
              <a:gd name="adj" fmla="val 8696"/>
            </a:avLst>
          </a:prstGeom>
          <a:solidFill>
            <a:srgbClr val="EEF6FA"/>
          </a:solidFill>
          <a:ln/>
          <a:effectLst>
            <a:outerShdw blurRad="63500" dist="25400" dir="5400000" algn="bl" rotWithShape="0">
              <a:srgbClr val="0A3D52">
                <a:alpha val="8000"/>
              </a:srgbClr>
            </a:outerShdw>
          </a:effectLst>
        </p:spPr>
      </p:sp>
      <p:sp>
        <p:nvSpPr>
          <p:cNvPr id="16" name="Shape 12"/>
          <p:cNvSpPr/>
          <p:nvPr/>
        </p:nvSpPr>
        <p:spPr>
          <a:xfrm>
            <a:off x="749808" y="2980944"/>
            <a:ext cx="438912" cy="438912"/>
          </a:xfrm>
          <a:prstGeom prst="ellipse">
            <a:avLst/>
          </a:prstGeom>
          <a:solidFill>
            <a:srgbClr val="2EC4B6"/>
          </a:solidFill>
          <a:ln/>
        </p:spPr>
      </p:sp>
      <p:pic>
        <p:nvPicPr>
          <p:cNvPr id="17" name="Image 2" descr="preencoded.png"/>
          <p:cNvPicPr>
            <a:picLocks noChangeAspect="1"/>
          </p:cNvPicPr>
          <p:nvPr/>
        </p:nvPicPr>
        <p:blipFill>
          <a:blip r:embed="rId5"/>
          <a:stretch>
            <a:fillRect/>
          </a:stretch>
        </p:blipFill>
        <p:spPr>
          <a:xfrm>
            <a:off x="850392" y="3081528"/>
            <a:ext cx="237744" cy="237744"/>
          </a:xfrm>
          <a:prstGeom prst="rect">
            <a:avLst/>
          </a:prstGeom>
        </p:spPr>
      </p:pic>
      <p:sp>
        <p:nvSpPr>
          <p:cNvPr id="18" name="Text 13"/>
          <p:cNvSpPr/>
          <p:nvPr/>
        </p:nvSpPr>
        <p:spPr>
          <a:xfrm>
            <a:off x="1316736" y="2889504"/>
            <a:ext cx="3017520" cy="310896"/>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Assess data quality</a:t>
            </a:r>
            <a:endParaRPr lang="en-US" sz="1350" dirty="0"/>
          </a:p>
        </p:txBody>
      </p:sp>
      <p:sp>
        <p:nvSpPr>
          <p:cNvPr id="19" name="Text 14"/>
          <p:cNvSpPr/>
          <p:nvPr/>
        </p:nvSpPr>
        <p:spPr>
          <a:xfrm>
            <a:off x="1316736" y="3191256"/>
            <a:ext cx="3063240" cy="384048"/>
          </a:xfrm>
          <a:prstGeom prst="rect">
            <a:avLst/>
          </a:prstGeom>
          <a:noFill/>
          <a:ln/>
        </p:spPr>
        <p:txBody>
          <a:bodyPr wrap="square" lIns="0" tIns="0" rIns="0" bIns="0" rtlCol="0" anchor="ctr"/>
          <a:lstStyle/>
          <a:p>
            <a:pPr marL="0" indent="0">
              <a:lnSpc>
                <a:spcPct val="100000"/>
              </a:lnSpc>
              <a:buNone/>
            </a:pPr>
            <a:r>
              <a:rPr lang="en-US" sz="950" dirty="0">
                <a:solidFill>
                  <a:srgbClr val="5B7782"/>
                </a:solidFill>
                <a:latin typeface="Calibri" pitchFamily="34" charset="0"/>
                <a:ea typeface="Calibri" pitchFamily="34" charset="-122"/>
                <a:cs typeface="Calibri" pitchFamily="34" charset="-120"/>
              </a:rPr>
              <a:t>Profile a table and defend its quality score against the five components.</a:t>
            </a:r>
            <a:endParaRPr lang="en-US" sz="950" dirty="0"/>
          </a:p>
        </p:txBody>
      </p:sp>
      <p:sp>
        <p:nvSpPr>
          <p:cNvPr id="20" name="Shape 15"/>
          <p:cNvSpPr/>
          <p:nvPr/>
        </p:nvSpPr>
        <p:spPr>
          <a:xfrm>
            <a:off x="4663440" y="2779776"/>
            <a:ext cx="3931920" cy="841248"/>
          </a:xfrm>
          <a:prstGeom prst="roundRect">
            <a:avLst>
              <a:gd name="adj" fmla="val 8696"/>
            </a:avLst>
          </a:prstGeom>
          <a:solidFill>
            <a:srgbClr val="EEF6FA"/>
          </a:solidFill>
          <a:ln/>
          <a:effectLst>
            <a:outerShdw blurRad="63500" dist="25400" dir="5400000" algn="bl" rotWithShape="0">
              <a:srgbClr val="0A3D52">
                <a:alpha val="8000"/>
              </a:srgbClr>
            </a:outerShdw>
          </a:effectLst>
        </p:spPr>
      </p:sp>
      <p:sp>
        <p:nvSpPr>
          <p:cNvPr id="21" name="Shape 16"/>
          <p:cNvSpPr/>
          <p:nvPr/>
        </p:nvSpPr>
        <p:spPr>
          <a:xfrm>
            <a:off x="4864608" y="2980944"/>
            <a:ext cx="438912" cy="438912"/>
          </a:xfrm>
          <a:prstGeom prst="ellipse">
            <a:avLst/>
          </a:prstGeom>
          <a:solidFill>
            <a:srgbClr val="2EC4B6"/>
          </a:solidFill>
          <a:ln/>
        </p:spPr>
      </p:sp>
      <p:pic>
        <p:nvPicPr>
          <p:cNvPr id="22" name="Image 3" descr="preencoded.png"/>
          <p:cNvPicPr>
            <a:picLocks noChangeAspect="1"/>
          </p:cNvPicPr>
          <p:nvPr/>
        </p:nvPicPr>
        <p:blipFill>
          <a:blip r:embed="rId6"/>
          <a:stretch>
            <a:fillRect/>
          </a:stretch>
        </p:blipFill>
        <p:spPr>
          <a:xfrm>
            <a:off x="4965192" y="3081528"/>
            <a:ext cx="237744" cy="237744"/>
          </a:xfrm>
          <a:prstGeom prst="rect">
            <a:avLst/>
          </a:prstGeom>
        </p:spPr>
      </p:pic>
      <p:sp>
        <p:nvSpPr>
          <p:cNvPr id="23" name="Text 17"/>
          <p:cNvSpPr/>
          <p:nvPr/>
        </p:nvSpPr>
        <p:spPr>
          <a:xfrm>
            <a:off x="5431536" y="2889504"/>
            <a:ext cx="3017520" cy="310896"/>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Protect sensitive data</a:t>
            </a:r>
            <a:endParaRPr lang="en-US" sz="1350" dirty="0"/>
          </a:p>
        </p:txBody>
      </p:sp>
      <p:sp>
        <p:nvSpPr>
          <p:cNvPr id="24" name="Text 18"/>
          <p:cNvSpPr/>
          <p:nvPr/>
        </p:nvSpPr>
        <p:spPr>
          <a:xfrm>
            <a:off x="5431536" y="3191256"/>
            <a:ext cx="3063240" cy="384048"/>
          </a:xfrm>
          <a:prstGeom prst="rect">
            <a:avLst/>
          </a:prstGeom>
          <a:noFill/>
          <a:ln/>
        </p:spPr>
        <p:txBody>
          <a:bodyPr wrap="square" lIns="0" tIns="0" rIns="0" bIns="0" rtlCol="0" anchor="ctr"/>
          <a:lstStyle/>
          <a:p>
            <a:pPr marL="0" indent="0">
              <a:lnSpc>
                <a:spcPct val="100000"/>
              </a:lnSpc>
              <a:buNone/>
            </a:pPr>
            <a:r>
              <a:rPr lang="en-US" sz="950" dirty="0">
                <a:solidFill>
                  <a:srgbClr val="5B7782"/>
                </a:solidFill>
                <a:latin typeface="Calibri" pitchFamily="34" charset="0"/>
                <a:ea typeface="Calibri" pitchFamily="34" charset="-122"/>
                <a:cs typeface="Calibri" pitchFamily="34" charset="-120"/>
              </a:rPr>
              <a:t>Identify and flag PII and confidential data for compliance.</a:t>
            </a:r>
            <a:endParaRPr lang="en-US" sz="950" dirty="0"/>
          </a:p>
        </p:txBody>
      </p:sp>
      <p:sp>
        <p:nvSpPr>
          <p:cNvPr id="25" name="Shape 19"/>
          <p:cNvSpPr/>
          <p:nvPr/>
        </p:nvSpPr>
        <p:spPr>
          <a:xfrm>
            <a:off x="548640" y="3730752"/>
            <a:ext cx="3931920" cy="841248"/>
          </a:xfrm>
          <a:prstGeom prst="roundRect">
            <a:avLst>
              <a:gd name="adj" fmla="val 8696"/>
            </a:avLst>
          </a:prstGeom>
          <a:solidFill>
            <a:srgbClr val="EEF6FA"/>
          </a:solidFill>
          <a:ln/>
          <a:effectLst>
            <a:outerShdw blurRad="63500" dist="25400" dir="5400000" algn="bl" rotWithShape="0">
              <a:srgbClr val="0A3D52">
                <a:alpha val="8000"/>
              </a:srgbClr>
            </a:outerShdw>
          </a:effectLst>
        </p:spPr>
      </p:sp>
      <p:sp>
        <p:nvSpPr>
          <p:cNvPr id="26" name="Shape 20"/>
          <p:cNvSpPr/>
          <p:nvPr/>
        </p:nvSpPr>
        <p:spPr>
          <a:xfrm>
            <a:off x="749808" y="3931920"/>
            <a:ext cx="438912" cy="438912"/>
          </a:xfrm>
          <a:prstGeom prst="ellipse">
            <a:avLst/>
          </a:prstGeom>
          <a:solidFill>
            <a:srgbClr val="2EC4B6"/>
          </a:solidFill>
          <a:ln/>
        </p:spPr>
      </p:sp>
      <p:pic>
        <p:nvPicPr>
          <p:cNvPr id="27" name="Image 4" descr="preencoded.png"/>
          <p:cNvPicPr>
            <a:picLocks noChangeAspect="1"/>
          </p:cNvPicPr>
          <p:nvPr/>
        </p:nvPicPr>
        <p:blipFill>
          <a:blip r:embed="rId7"/>
          <a:stretch>
            <a:fillRect/>
          </a:stretch>
        </p:blipFill>
        <p:spPr>
          <a:xfrm>
            <a:off x="850392" y="4032504"/>
            <a:ext cx="237744" cy="237744"/>
          </a:xfrm>
          <a:prstGeom prst="rect">
            <a:avLst/>
          </a:prstGeom>
        </p:spPr>
      </p:pic>
      <p:sp>
        <p:nvSpPr>
          <p:cNvPr id="28" name="Text 21"/>
          <p:cNvSpPr/>
          <p:nvPr/>
        </p:nvSpPr>
        <p:spPr>
          <a:xfrm>
            <a:off x="1316736" y="3840480"/>
            <a:ext cx="3017520" cy="310896"/>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Find anything fast</a:t>
            </a:r>
            <a:endParaRPr lang="en-US" sz="1350" dirty="0"/>
          </a:p>
        </p:txBody>
      </p:sp>
      <p:sp>
        <p:nvSpPr>
          <p:cNvPr id="29" name="Text 22"/>
          <p:cNvSpPr/>
          <p:nvPr/>
        </p:nvSpPr>
        <p:spPr>
          <a:xfrm>
            <a:off x="1316736" y="4142232"/>
            <a:ext cx="3063240" cy="384048"/>
          </a:xfrm>
          <a:prstGeom prst="rect">
            <a:avLst/>
          </a:prstGeom>
          <a:noFill/>
          <a:ln/>
        </p:spPr>
        <p:txBody>
          <a:bodyPr wrap="square" lIns="0" tIns="0" rIns="0" bIns="0" rtlCol="0" anchor="ctr"/>
          <a:lstStyle/>
          <a:p>
            <a:pPr marL="0" indent="0">
              <a:lnSpc>
                <a:spcPct val="100000"/>
              </a:lnSpc>
              <a:buNone/>
            </a:pPr>
            <a:r>
              <a:rPr lang="en-US" sz="950" dirty="0">
                <a:solidFill>
                  <a:srgbClr val="5B7782"/>
                </a:solidFill>
                <a:latin typeface="Calibri" pitchFamily="34" charset="0"/>
                <a:ea typeface="Calibri" pitchFamily="34" charset="-122"/>
                <a:cs typeface="Calibri" pitchFamily="34" charset="-120"/>
              </a:rPr>
              <a:t>Combine search and filters, and save the queries you reuse.</a:t>
            </a:r>
            <a:endParaRPr lang="en-US" sz="950" dirty="0"/>
          </a:p>
        </p:txBody>
      </p:sp>
      <p:sp>
        <p:nvSpPr>
          <p:cNvPr id="30" name="Shape 23"/>
          <p:cNvSpPr/>
          <p:nvPr/>
        </p:nvSpPr>
        <p:spPr>
          <a:xfrm>
            <a:off x="4663440" y="3730752"/>
            <a:ext cx="3931920" cy="841248"/>
          </a:xfrm>
          <a:prstGeom prst="roundRect">
            <a:avLst>
              <a:gd name="adj" fmla="val 8696"/>
            </a:avLst>
          </a:prstGeom>
          <a:solidFill>
            <a:srgbClr val="EEF6FA"/>
          </a:solidFill>
          <a:ln/>
          <a:effectLst>
            <a:outerShdw blurRad="63500" dist="25400" dir="5400000" algn="bl" rotWithShape="0">
              <a:srgbClr val="0A3D52">
                <a:alpha val="8000"/>
              </a:srgbClr>
            </a:outerShdw>
          </a:effectLst>
        </p:spPr>
      </p:sp>
      <p:sp>
        <p:nvSpPr>
          <p:cNvPr id="31" name="Shape 24"/>
          <p:cNvSpPr/>
          <p:nvPr/>
        </p:nvSpPr>
        <p:spPr>
          <a:xfrm>
            <a:off x="4864608" y="3931920"/>
            <a:ext cx="438912" cy="438912"/>
          </a:xfrm>
          <a:prstGeom prst="ellipse">
            <a:avLst/>
          </a:prstGeom>
          <a:solidFill>
            <a:srgbClr val="2EC4B6"/>
          </a:solidFill>
          <a:ln/>
        </p:spPr>
      </p:sp>
      <p:pic>
        <p:nvPicPr>
          <p:cNvPr id="32" name="Image 5" descr="preencoded.png"/>
          <p:cNvPicPr>
            <a:picLocks noChangeAspect="1"/>
          </p:cNvPicPr>
          <p:nvPr/>
        </p:nvPicPr>
        <p:blipFill>
          <a:blip r:embed="rId8"/>
          <a:stretch>
            <a:fillRect/>
          </a:stretch>
        </p:blipFill>
        <p:spPr>
          <a:xfrm>
            <a:off x="4965192" y="4032504"/>
            <a:ext cx="237744" cy="237744"/>
          </a:xfrm>
          <a:prstGeom prst="rect">
            <a:avLst/>
          </a:prstGeom>
        </p:spPr>
      </p:pic>
      <p:sp>
        <p:nvSpPr>
          <p:cNvPr id="33" name="Text 25"/>
          <p:cNvSpPr/>
          <p:nvPr/>
        </p:nvSpPr>
        <p:spPr>
          <a:xfrm>
            <a:off x="5431536" y="3840480"/>
            <a:ext cx="3017520" cy="310896"/>
          </a:xfrm>
          <a:prstGeom prst="rect">
            <a:avLst/>
          </a:prstGeom>
          <a:noFill/>
          <a:ln/>
        </p:spPr>
        <p:txBody>
          <a:bodyPr wrap="square" lIns="0" tIns="0" rIns="0" bIns="0" rtlCol="0" anchor="ctr"/>
          <a:lstStyle/>
          <a:p>
            <a:pPr marL="0" indent="0">
              <a:buNone/>
            </a:pPr>
            <a:r>
              <a:rPr lang="en-US" sz="1350" b="1" dirty="0">
                <a:solidFill>
                  <a:srgbClr val="14333F"/>
                </a:solidFill>
                <a:latin typeface="Bookman Old Style" pitchFamily="34" charset="0"/>
                <a:ea typeface="Bookman Old Style" pitchFamily="34" charset="-122"/>
                <a:cs typeface="Bookman Old Style" pitchFamily="34" charset="-120"/>
              </a:rPr>
              <a:t>Deliver trusted data</a:t>
            </a:r>
            <a:endParaRPr lang="en-US" sz="1350" dirty="0"/>
          </a:p>
        </p:txBody>
      </p:sp>
      <p:sp>
        <p:nvSpPr>
          <p:cNvPr id="34" name="Text 26"/>
          <p:cNvSpPr/>
          <p:nvPr/>
        </p:nvSpPr>
        <p:spPr>
          <a:xfrm>
            <a:off x="5431536" y="4142232"/>
            <a:ext cx="3063240" cy="384048"/>
          </a:xfrm>
          <a:prstGeom prst="rect">
            <a:avLst/>
          </a:prstGeom>
          <a:noFill/>
          <a:ln/>
        </p:spPr>
        <p:txBody>
          <a:bodyPr wrap="square" lIns="0" tIns="0" rIns="0" bIns="0" rtlCol="0" anchor="ctr"/>
          <a:lstStyle/>
          <a:p>
            <a:pPr marL="0" indent="0">
              <a:lnSpc>
                <a:spcPct val="100000"/>
              </a:lnSpc>
              <a:buNone/>
            </a:pPr>
            <a:r>
              <a:rPr lang="en-US" sz="950" dirty="0">
                <a:solidFill>
                  <a:srgbClr val="5B7782"/>
                </a:solidFill>
                <a:latin typeface="Calibri" pitchFamily="34" charset="0"/>
                <a:ea typeface="Calibri" pitchFamily="34" charset="-122"/>
                <a:cs typeface="Calibri" pitchFamily="34" charset="-120"/>
              </a:rPr>
              <a:t>Define glossary terms and curate governed, shareable collections.</a:t>
            </a:r>
            <a:endParaRPr lang="en-US" sz="950" dirty="0"/>
          </a:p>
        </p:txBody>
      </p:sp>
      <p:sp>
        <p:nvSpPr>
          <p:cNvPr id="35" name="Text 27"/>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Course Overview · The first eight outcomes map to the core path; three more extend it</a:t>
            </a:r>
            <a:endParaRPr lang="en-US" sz="950" dirty="0"/>
          </a:p>
        </p:txBody>
      </p:sp>
      <p:sp>
        <p:nvSpPr>
          <p:cNvPr id="36" name="Text 28"/>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HOW WE'LL SPEND THE TIME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The shape of the course</a:t>
            </a:r>
            <a:endParaRPr lang="en-US" sz="2700" dirty="0"/>
          </a:p>
        </p:txBody>
      </p:sp>
      <p:sp>
        <p:nvSpPr>
          <p:cNvPr id="4" name="Shape 2"/>
          <p:cNvSpPr/>
          <p:nvPr/>
        </p:nvSpPr>
        <p:spPr>
          <a:xfrm>
            <a:off x="548640" y="1517904"/>
            <a:ext cx="8046720" cy="713232"/>
          </a:xfrm>
          <a:prstGeom prst="roundRect">
            <a:avLst>
              <a:gd name="adj" fmla="val 10256"/>
            </a:avLst>
          </a:prstGeom>
          <a:solidFill>
            <a:srgbClr val="EEF6FA"/>
          </a:solidFill>
          <a:ln/>
          <a:effectLst>
            <a:outerShdw blurRad="63500" dist="25400" dir="5400000" algn="bl" rotWithShape="0">
              <a:srgbClr val="0A3D52">
                <a:alpha val="8000"/>
              </a:srgbClr>
            </a:outerShdw>
          </a:effectLst>
        </p:spPr>
      </p:sp>
      <p:sp>
        <p:nvSpPr>
          <p:cNvPr id="5" name="Shape 3"/>
          <p:cNvSpPr/>
          <p:nvPr/>
        </p:nvSpPr>
        <p:spPr>
          <a:xfrm>
            <a:off x="749808" y="1673352"/>
            <a:ext cx="402336" cy="402336"/>
          </a:xfrm>
          <a:prstGeom prst="ellipse">
            <a:avLst/>
          </a:prstGeom>
          <a:solidFill>
            <a:srgbClr val="0A3D52"/>
          </a:solidFill>
          <a:ln/>
        </p:spPr>
      </p:sp>
      <p:pic>
        <p:nvPicPr>
          <p:cNvPr id="6" name="Image 0" descr="preencoded.png"/>
          <p:cNvPicPr>
            <a:picLocks noChangeAspect="1"/>
          </p:cNvPicPr>
          <p:nvPr/>
        </p:nvPicPr>
        <p:blipFill>
          <a:blip r:embed="rId3"/>
          <a:stretch>
            <a:fillRect/>
          </a:stretch>
        </p:blipFill>
        <p:spPr>
          <a:xfrm>
            <a:off x="845820" y="1769364"/>
            <a:ext cx="210312" cy="210312"/>
          </a:xfrm>
          <a:prstGeom prst="rect">
            <a:avLst/>
          </a:prstGeom>
        </p:spPr>
      </p:pic>
      <p:sp>
        <p:nvSpPr>
          <p:cNvPr id="7" name="Text 4"/>
          <p:cNvSpPr/>
          <p:nvPr/>
        </p:nvSpPr>
        <p:spPr>
          <a:xfrm>
            <a:off x="1325880" y="1517904"/>
            <a:ext cx="2194560" cy="713232"/>
          </a:xfrm>
          <a:prstGeom prst="rect">
            <a:avLst/>
          </a:prstGeom>
          <a:noFill/>
          <a:ln/>
        </p:spPr>
        <p:txBody>
          <a:bodyPr wrap="square" lIns="0" tIns="0" rIns="0" bIns="0" rtlCol="0" anchor="ctr"/>
          <a:lstStyle/>
          <a:p>
            <a:pPr marL="0" indent="0">
              <a:buNone/>
            </a:pPr>
            <a:r>
              <a:rPr lang="en-US" sz="1500" b="1" dirty="0">
                <a:solidFill>
                  <a:srgbClr val="14333F"/>
                </a:solidFill>
                <a:latin typeface="Bookman Old Style" pitchFamily="34" charset="0"/>
                <a:ea typeface="Bookman Old Style" pitchFamily="34" charset="-122"/>
                <a:cs typeface="Bookman Old Style" pitchFamily="34" charset="-120"/>
              </a:rPr>
              <a:t>Pre-flight</a:t>
            </a:r>
            <a:endParaRPr lang="en-US" sz="1500" dirty="0"/>
          </a:p>
        </p:txBody>
      </p:sp>
      <p:sp>
        <p:nvSpPr>
          <p:cNvPr id="8" name="Shape 5"/>
          <p:cNvSpPr/>
          <p:nvPr/>
        </p:nvSpPr>
        <p:spPr>
          <a:xfrm>
            <a:off x="3456432" y="1709928"/>
            <a:ext cx="950976" cy="329184"/>
          </a:xfrm>
          <a:prstGeom prst="roundRect">
            <a:avLst>
              <a:gd name="adj" fmla="val 44444"/>
            </a:avLst>
          </a:prstGeom>
          <a:solidFill>
            <a:srgbClr val="0A3D52"/>
          </a:solidFill>
          <a:ln/>
        </p:spPr>
      </p:sp>
      <p:sp>
        <p:nvSpPr>
          <p:cNvPr id="9" name="Text 6"/>
          <p:cNvSpPr/>
          <p:nvPr/>
        </p:nvSpPr>
        <p:spPr>
          <a:xfrm>
            <a:off x="3456432" y="1709928"/>
            <a:ext cx="950976"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30 min</a:t>
            </a:r>
            <a:endParaRPr lang="en-US" sz="1000" dirty="0"/>
          </a:p>
        </p:txBody>
      </p:sp>
      <p:sp>
        <p:nvSpPr>
          <p:cNvPr id="10" name="Text 7"/>
          <p:cNvSpPr/>
          <p:nvPr/>
        </p:nvSpPr>
        <p:spPr>
          <a:xfrm>
            <a:off x="4572000" y="1517904"/>
            <a:ext cx="3840480" cy="713232"/>
          </a:xfrm>
          <a:prstGeom prst="rect">
            <a:avLst/>
          </a:prstGeom>
          <a:noFill/>
          <a:ln/>
        </p:spPr>
        <p:txBody>
          <a:bodyPr wrap="square" lIns="0" tIns="0" rIns="0" bIns="0" rtlCol="0" anchor="ctr"/>
          <a:lstStyle/>
          <a:p>
            <a:pPr marL="0" indent="0">
              <a:lnSpc>
                <a:spcPct val="100000"/>
              </a:lnSpc>
              <a:buNone/>
            </a:pPr>
            <a:r>
              <a:rPr lang="en-US" sz="1050" dirty="0">
                <a:solidFill>
                  <a:srgbClr val="5B7782"/>
                </a:solidFill>
                <a:latin typeface="Calibri" pitchFamily="34" charset="0"/>
                <a:ea typeface="Calibri" pitchFamily="34" charset="-122"/>
                <a:cs typeface="Calibri" pitchFamily="34" charset="-120"/>
              </a:rPr>
              <a:t>Metadata &amp; business-rules fundamentals, and the BA's role in governance</a:t>
            </a:r>
            <a:endParaRPr lang="en-US" sz="1050" dirty="0"/>
          </a:p>
        </p:txBody>
      </p:sp>
      <p:sp>
        <p:nvSpPr>
          <p:cNvPr id="11" name="Shape 8"/>
          <p:cNvSpPr/>
          <p:nvPr/>
        </p:nvSpPr>
        <p:spPr>
          <a:xfrm>
            <a:off x="548640" y="2340864"/>
            <a:ext cx="8046720" cy="713232"/>
          </a:xfrm>
          <a:prstGeom prst="roundRect">
            <a:avLst>
              <a:gd name="adj" fmla="val 10256"/>
            </a:avLst>
          </a:prstGeom>
          <a:solidFill>
            <a:srgbClr val="EEF6FA"/>
          </a:solidFill>
          <a:ln/>
          <a:effectLst>
            <a:outerShdw blurRad="63500" dist="25400" dir="5400000" algn="bl" rotWithShape="0">
              <a:srgbClr val="0A3D52">
                <a:alpha val="8000"/>
              </a:srgbClr>
            </a:outerShdw>
          </a:effectLst>
        </p:spPr>
      </p:sp>
      <p:sp>
        <p:nvSpPr>
          <p:cNvPr id="12" name="Shape 9"/>
          <p:cNvSpPr/>
          <p:nvPr/>
        </p:nvSpPr>
        <p:spPr>
          <a:xfrm>
            <a:off x="749808" y="2496312"/>
            <a:ext cx="402336" cy="402336"/>
          </a:xfrm>
          <a:prstGeom prst="ellipse">
            <a:avLst/>
          </a:prstGeom>
          <a:solidFill>
            <a:srgbClr val="065A82"/>
          </a:solidFill>
          <a:ln/>
        </p:spPr>
      </p:sp>
      <p:pic>
        <p:nvPicPr>
          <p:cNvPr id="13" name="Image 1" descr="preencoded.png"/>
          <p:cNvPicPr>
            <a:picLocks noChangeAspect="1"/>
          </p:cNvPicPr>
          <p:nvPr/>
        </p:nvPicPr>
        <p:blipFill>
          <a:blip r:embed="rId3"/>
          <a:stretch>
            <a:fillRect/>
          </a:stretch>
        </p:blipFill>
        <p:spPr>
          <a:xfrm>
            <a:off x="845820" y="2592324"/>
            <a:ext cx="210312" cy="210312"/>
          </a:xfrm>
          <a:prstGeom prst="rect">
            <a:avLst/>
          </a:prstGeom>
        </p:spPr>
      </p:pic>
      <p:sp>
        <p:nvSpPr>
          <p:cNvPr id="14" name="Text 10"/>
          <p:cNvSpPr/>
          <p:nvPr/>
        </p:nvSpPr>
        <p:spPr>
          <a:xfrm>
            <a:off x="1325880" y="2340864"/>
            <a:ext cx="2194560" cy="713232"/>
          </a:xfrm>
          <a:prstGeom prst="rect">
            <a:avLst/>
          </a:prstGeom>
          <a:noFill/>
          <a:ln/>
        </p:spPr>
        <p:txBody>
          <a:bodyPr wrap="square" lIns="0" tIns="0" rIns="0" bIns="0" rtlCol="0" anchor="ctr"/>
          <a:lstStyle/>
          <a:p>
            <a:pPr marL="0" indent="0">
              <a:buNone/>
            </a:pPr>
            <a:r>
              <a:rPr lang="en-US" sz="1500" b="1" dirty="0">
                <a:solidFill>
                  <a:srgbClr val="14333F"/>
                </a:solidFill>
                <a:latin typeface="Bookman Old Style" pitchFamily="34" charset="0"/>
                <a:ea typeface="Bookman Old Style" pitchFamily="34" charset="-122"/>
                <a:cs typeface="Bookman Old Style" pitchFamily="34" charset="-120"/>
              </a:rPr>
              <a:t>Sources &amp; Glossary</a:t>
            </a:r>
            <a:endParaRPr lang="en-US" sz="1500" dirty="0"/>
          </a:p>
        </p:txBody>
      </p:sp>
      <p:sp>
        <p:nvSpPr>
          <p:cNvPr id="15" name="Shape 11"/>
          <p:cNvSpPr/>
          <p:nvPr/>
        </p:nvSpPr>
        <p:spPr>
          <a:xfrm>
            <a:off x="3456432" y="2532888"/>
            <a:ext cx="950976" cy="329184"/>
          </a:xfrm>
          <a:prstGeom prst="roundRect">
            <a:avLst>
              <a:gd name="adj" fmla="val 44444"/>
            </a:avLst>
          </a:prstGeom>
          <a:solidFill>
            <a:srgbClr val="065A82"/>
          </a:solidFill>
          <a:ln/>
        </p:spPr>
      </p:sp>
      <p:sp>
        <p:nvSpPr>
          <p:cNvPr id="16" name="Text 12"/>
          <p:cNvSpPr/>
          <p:nvPr/>
        </p:nvSpPr>
        <p:spPr>
          <a:xfrm>
            <a:off x="3456432" y="2532888"/>
            <a:ext cx="950976"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 hours</a:t>
            </a:r>
            <a:endParaRPr lang="en-US" sz="1000" dirty="0"/>
          </a:p>
        </p:txBody>
      </p:sp>
      <p:sp>
        <p:nvSpPr>
          <p:cNvPr id="17" name="Text 13"/>
          <p:cNvSpPr/>
          <p:nvPr/>
        </p:nvSpPr>
        <p:spPr>
          <a:xfrm>
            <a:off x="4572000" y="2340864"/>
            <a:ext cx="3840480" cy="713232"/>
          </a:xfrm>
          <a:prstGeom prst="rect">
            <a:avLst/>
          </a:prstGeom>
          <a:noFill/>
          <a:ln/>
        </p:spPr>
        <p:txBody>
          <a:bodyPr wrap="square" lIns="0" tIns="0" rIns="0" bIns="0" rtlCol="0" anchor="ctr"/>
          <a:lstStyle/>
          <a:p>
            <a:pPr marL="0" indent="0">
              <a:lnSpc>
                <a:spcPct val="100000"/>
              </a:lnSpc>
              <a:buNone/>
            </a:pPr>
            <a:r>
              <a:rPr lang="en-US" sz="1050" dirty="0">
                <a:solidFill>
                  <a:srgbClr val="5B7782"/>
                </a:solidFill>
                <a:latin typeface="Calibri" pitchFamily="34" charset="0"/>
                <a:ea typeface="Calibri" pitchFamily="34" charset="-122"/>
                <a:cs typeface="Calibri" pitchFamily="34" charset="-120"/>
              </a:rPr>
              <a:t>Workshops 1–3 — connect sources, read metadata, build the glossary</a:t>
            </a:r>
            <a:endParaRPr lang="en-US" sz="1050" dirty="0"/>
          </a:p>
        </p:txBody>
      </p:sp>
      <p:sp>
        <p:nvSpPr>
          <p:cNvPr id="18" name="Shape 14"/>
          <p:cNvSpPr/>
          <p:nvPr/>
        </p:nvSpPr>
        <p:spPr>
          <a:xfrm>
            <a:off x="548640" y="3163824"/>
            <a:ext cx="8046720" cy="713232"/>
          </a:xfrm>
          <a:prstGeom prst="roundRect">
            <a:avLst>
              <a:gd name="adj" fmla="val 10256"/>
            </a:avLst>
          </a:prstGeom>
          <a:solidFill>
            <a:srgbClr val="EEF6FA"/>
          </a:solidFill>
          <a:ln/>
          <a:effectLst>
            <a:outerShdw blurRad="63500" dist="25400" dir="5400000" algn="bl" rotWithShape="0">
              <a:srgbClr val="0A3D52">
                <a:alpha val="8000"/>
              </a:srgbClr>
            </a:outerShdw>
          </a:effectLst>
        </p:spPr>
      </p:sp>
      <p:sp>
        <p:nvSpPr>
          <p:cNvPr id="19" name="Shape 15"/>
          <p:cNvSpPr/>
          <p:nvPr/>
        </p:nvSpPr>
        <p:spPr>
          <a:xfrm>
            <a:off x="749808" y="3319272"/>
            <a:ext cx="402336" cy="402336"/>
          </a:xfrm>
          <a:prstGeom prst="ellipse">
            <a:avLst/>
          </a:prstGeom>
          <a:solidFill>
            <a:srgbClr val="1C7293"/>
          </a:solidFill>
          <a:ln/>
        </p:spPr>
      </p:sp>
      <p:pic>
        <p:nvPicPr>
          <p:cNvPr id="20" name="Image 2" descr="preencoded.png"/>
          <p:cNvPicPr>
            <a:picLocks noChangeAspect="1"/>
          </p:cNvPicPr>
          <p:nvPr/>
        </p:nvPicPr>
        <p:blipFill>
          <a:blip r:embed="rId3"/>
          <a:stretch>
            <a:fillRect/>
          </a:stretch>
        </p:blipFill>
        <p:spPr>
          <a:xfrm>
            <a:off x="845820" y="3415284"/>
            <a:ext cx="210312" cy="210312"/>
          </a:xfrm>
          <a:prstGeom prst="rect">
            <a:avLst/>
          </a:prstGeom>
        </p:spPr>
      </p:pic>
      <p:sp>
        <p:nvSpPr>
          <p:cNvPr id="21" name="Text 16"/>
          <p:cNvSpPr/>
          <p:nvPr/>
        </p:nvSpPr>
        <p:spPr>
          <a:xfrm>
            <a:off x="1325880" y="3163824"/>
            <a:ext cx="2194560" cy="713232"/>
          </a:xfrm>
          <a:prstGeom prst="rect">
            <a:avLst/>
          </a:prstGeom>
          <a:noFill/>
          <a:ln/>
        </p:spPr>
        <p:txBody>
          <a:bodyPr wrap="square" lIns="0" tIns="0" rIns="0" bIns="0" rtlCol="0" anchor="ctr"/>
          <a:lstStyle/>
          <a:p>
            <a:pPr marL="0" indent="0">
              <a:buNone/>
            </a:pPr>
            <a:r>
              <a:rPr lang="en-US" sz="1500" b="1" dirty="0">
                <a:solidFill>
                  <a:srgbClr val="14333F"/>
                </a:solidFill>
                <a:latin typeface="Bookman Old Style" pitchFamily="34" charset="0"/>
                <a:ea typeface="Bookman Old Style" pitchFamily="34" charset="-122"/>
                <a:cs typeface="Bookman Old Style" pitchFamily="34" charset="-120"/>
              </a:rPr>
              <a:t>Data Quality &amp; Rules</a:t>
            </a:r>
            <a:endParaRPr lang="en-US" sz="1500" dirty="0"/>
          </a:p>
        </p:txBody>
      </p:sp>
      <p:sp>
        <p:nvSpPr>
          <p:cNvPr id="22" name="Shape 17"/>
          <p:cNvSpPr/>
          <p:nvPr/>
        </p:nvSpPr>
        <p:spPr>
          <a:xfrm>
            <a:off x="3456432" y="3355848"/>
            <a:ext cx="950976" cy="329184"/>
          </a:xfrm>
          <a:prstGeom prst="roundRect">
            <a:avLst>
              <a:gd name="adj" fmla="val 44444"/>
            </a:avLst>
          </a:prstGeom>
          <a:solidFill>
            <a:srgbClr val="1C7293"/>
          </a:solidFill>
          <a:ln/>
        </p:spPr>
      </p:sp>
      <p:sp>
        <p:nvSpPr>
          <p:cNvPr id="23" name="Text 18"/>
          <p:cNvSpPr/>
          <p:nvPr/>
        </p:nvSpPr>
        <p:spPr>
          <a:xfrm>
            <a:off x="3456432" y="3355848"/>
            <a:ext cx="950976"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 hours</a:t>
            </a:r>
            <a:endParaRPr lang="en-US" sz="1000" dirty="0"/>
          </a:p>
        </p:txBody>
      </p:sp>
      <p:sp>
        <p:nvSpPr>
          <p:cNvPr id="24" name="Text 19"/>
          <p:cNvSpPr/>
          <p:nvPr/>
        </p:nvSpPr>
        <p:spPr>
          <a:xfrm>
            <a:off x="4572000" y="3163824"/>
            <a:ext cx="3840480" cy="713232"/>
          </a:xfrm>
          <a:prstGeom prst="rect">
            <a:avLst/>
          </a:prstGeom>
          <a:noFill/>
          <a:ln/>
        </p:spPr>
        <p:txBody>
          <a:bodyPr wrap="square" lIns="0" tIns="0" rIns="0" bIns="0" rtlCol="0" anchor="ctr"/>
          <a:lstStyle/>
          <a:p>
            <a:pPr marL="0" indent="0">
              <a:lnSpc>
                <a:spcPct val="100000"/>
              </a:lnSpc>
              <a:buNone/>
            </a:pPr>
            <a:r>
              <a:rPr lang="en-US" sz="1050" dirty="0">
                <a:solidFill>
                  <a:srgbClr val="5B7782"/>
                </a:solidFill>
                <a:latin typeface="Calibri" pitchFamily="34" charset="0"/>
                <a:ea typeface="Calibri" pitchFamily="34" charset="-122"/>
                <a:cs typeface="Calibri" pitchFamily="34" charset="-120"/>
              </a:rPr>
              <a:t>Workshops 4–5 — profile quality and flag sensitive data</a:t>
            </a:r>
            <a:endParaRPr lang="en-US" sz="1050" dirty="0"/>
          </a:p>
        </p:txBody>
      </p:sp>
      <p:sp>
        <p:nvSpPr>
          <p:cNvPr id="25" name="Shape 20"/>
          <p:cNvSpPr/>
          <p:nvPr/>
        </p:nvSpPr>
        <p:spPr>
          <a:xfrm>
            <a:off x="548640" y="3986784"/>
            <a:ext cx="8046720" cy="713232"/>
          </a:xfrm>
          <a:prstGeom prst="roundRect">
            <a:avLst>
              <a:gd name="adj" fmla="val 10256"/>
            </a:avLst>
          </a:prstGeom>
          <a:solidFill>
            <a:srgbClr val="EEF6FA"/>
          </a:solidFill>
          <a:ln/>
          <a:effectLst>
            <a:outerShdw blurRad="63500" dist="25400" dir="5400000" algn="bl" rotWithShape="0">
              <a:srgbClr val="0A3D52">
                <a:alpha val="8000"/>
              </a:srgbClr>
            </a:outerShdw>
          </a:effectLst>
        </p:spPr>
      </p:sp>
      <p:sp>
        <p:nvSpPr>
          <p:cNvPr id="26" name="Shape 21"/>
          <p:cNvSpPr/>
          <p:nvPr/>
        </p:nvSpPr>
        <p:spPr>
          <a:xfrm>
            <a:off x="749808" y="4142232"/>
            <a:ext cx="402336" cy="402336"/>
          </a:xfrm>
          <a:prstGeom prst="ellipse">
            <a:avLst/>
          </a:prstGeom>
          <a:solidFill>
            <a:srgbClr val="2EC4B6"/>
          </a:solidFill>
          <a:ln/>
        </p:spPr>
      </p:sp>
      <p:pic>
        <p:nvPicPr>
          <p:cNvPr id="27" name="Image 3" descr="preencoded.png"/>
          <p:cNvPicPr>
            <a:picLocks noChangeAspect="1"/>
          </p:cNvPicPr>
          <p:nvPr/>
        </p:nvPicPr>
        <p:blipFill>
          <a:blip r:embed="rId3"/>
          <a:stretch>
            <a:fillRect/>
          </a:stretch>
        </p:blipFill>
        <p:spPr>
          <a:xfrm>
            <a:off x="845820" y="4238244"/>
            <a:ext cx="210312" cy="210312"/>
          </a:xfrm>
          <a:prstGeom prst="rect">
            <a:avLst/>
          </a:prstGeom>
        </p:spPr>
      </p:pic>
      <p:sp>
        <p:nvSpPr>
          <p:cNvPr id="28" name="Text 22"/>
          <p:cNvSpPr/>
          <p:nvPr/>
        </p:nvSpPr>
        <p:spPr>
          <a:xfrm>
            <a:off x="1325880" y="3986784"/>
            <a:ext cx="2194560" cy="713232"/>
          </a:xfrm>
          <a:prstGeom prst="rect">
            <a:avLst/>
          </a:prstGeom>
          <a:noFill/>
          <a:ln/>
        </p:spPr>
        <p:txBody>
          <a:bodyPr wrap="square" lIns="0" tIns="0" rIns="0" bIns="0" rtlCol="0" anchor="ctr"/>
          <a:lstStyle/>
          <a:p>
            <a:pPr marL="0" indent="0">
              <a:buNone/>
            </a:pPr>
            <a:r>
              <a:rPr lang="en-US" sz="1500" b="1" dirty="0">
                <a:solidFill>
                  <a:srgbClr val="14333F"/>
                </a:solidFill>
                <a:latin typeface="Bookman Old Style" pitchFamily="34" charset="0"/>
                <a:ea typeface="Bookman Old Style" pitchFamily="34" charset="-122"/>
                <a:cs typeface="Bookman Old Style" pitchFamily="34" charset="-120"/>
              </a:rPr>
              <a:t>Curating the data</a:t>
            </a:r>
            <a:endParaRPr lang="en-US" sz="1500" dirty="0"/>
          </a:p>
        </p:txBody>
      </p:sp>
      <p:sp>
        <p:nvSpPr>
          <p:cNvPr id="29" name="Shape 23"/>
          <p:cNvSpPr/>
          <p:nvPr/>
        </p:nvSpPr>
        <p:spPr>
          <a:xfrm>
            <a:off x="3456432" y="4178808"/>
            <a:ext cx="950976" cy="329184"/>
          </a:xfrm>
          <a:prstGeom prst="roundRect">
            <a:avLst>
              <a:gd name="adj" fmla="val 44444"/>
            </a:avLst>
          </a:prstGeom>
          <a:solidFill>
            <a:srgbClr val="2EC4B6"/>
          </a:solidFill>
          <a:ln/>
        </p:spPr>
      </p:sp>
      <p:sp>
        <p:nvSpPr>
          <p:cNvPr id="30" name="Text 24"/>
          <p:cNvSpPr/>
          <p:nvPr/>
        </p:nvSpPr>
        <p:spPr>
          <a:xfrm>
            <a:off x="3456432" y="4178808"/>
            <a:ext cx="950976"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 hours</a:t>
            </a:r>
            <a:endParaRPr lang="en-US" sz="1000" dirty="0"/>
          </a:p>
        </p:txBody>
      </p:sp>
      <p:sp>
        <p:nvSpPr>
          <p:cNvPr id="31" name="Text 25"/>
          <p:cNvSpPr/>
          <p:nvPr/>
        </p:nvSpPr>
        <p:spPr>
          <a:xfrm>
            <a:off x="4572000" y="3986784"/>
            <a:ext cx="3840480" cy="713232"/>
          </a:xfrm>
          <a:prstGeom prst="rect">
            <a:avLst/>
          </a:prstGeom>
          <a:noFill/>
          <a:ln/>
        </p:spPr>
        <p:txBody>
          <a:bodyPr wrap="square" lIns="0" tIns="0" rIns="0" bIns="0" rtlCol="0" anchor="ctr"/>
          <a:lstStyle/>
          <a:p>
            <a:pPr marL="0" indent="0">
              <a:lnSpc>
                <a:spcPct val="100000"/>
              </a:lnSpc>
              <a:buNone/>
            </a:pPr>
            <a:r>
              <a:rPr lang="en-US" sz="1050" dirty="0">
                <a:solidFill>
                  <a:srgbClr val="5B7782"/>
                </a:solidFill>
                <a:latin typeface="Calibri" pitchFamily="34" charset="0"/>
                <a:ea typeface="Calibri" pitchFamily="34" charset="-122"/>
                <a:cs typeface="Calibri" pitchFamily="34" charset="-120"/>
              </a:rPr>
              <a:t>Workshops 6–7 — discovery and curating a collection</a:t>
            </a:r>
            <a:endParaRPr lang="en-US" sz="1050" dirty="0"/>
          </a:p>
        </p:txBody>
      </p:sp>
      <p:sp>
        <p:nvSpPr>
          <p:cNvPr id="32" name="Text 26"/>
          <p:cNvSpPr/>
          <p:nvPr/>
        </p:nvSpPr>
        <p:spPr>
          <a:xfrm>
            <a:off x="548640" y="4901184"/>
            <a:ext cx="8046720" cy="274320"/>
          </a:xfrm>
          <a:prstGeom prst="rect">
            <a:avLst/>
          </a:prstGeom>
          <a:noFill/>
          <a:ln/>
        </p:spPr>
        <p:txBody>
          <a:bodyPr wrap="square" lIns="0" tIns="0" rIns="0" bIns="0" rtlCol="0" anchor="ctr"/>
          <a:lstStyle/>
          <a:p>
            <a:pPr marL="0" indent="0">
              <a:buNone/>
            </a:pPr>
            <a:r>
              <a:rPr lang="en-US" sz="950" i="1" dirty="0">
                <a:solidFill>
                  <a:srgbClr val="5B7782"/>
                </a:solidFill>
                <a:latin typeface="Calibri" pitchFamily="34" charset="0"/>
                <a:ea typeface="Calibri" pitchFamily="34" charset="-122"/>
                <a:cs typeface="Calibri" pitchFamily="34" charset="-120"/>
              </a:rPr>
              <a:t>Workshop 8 (Lineage &amp; Impact) is an optional 45-minute extension for teams that want the full picture.</a:t>
            </a:r>
            <a:endParaRPr lang="en-US" sz="950" dirty="0"/>
          </a:p>
        </p:txBody>
      </p:sp>
      <p:sp>
        <p:nvSpPr>
          <p:cNvPr id="33" name="Text 27"/>
          <p:cNvSpPr/>
          <p:nvPr/>
        </p:nvSpPr>
        <p:spPr>
          <a:xfrm>
            <a:off x="548640" y="4828032"/>
            <a:ext cx="7315200" cy="274320"/>
          </a:xfrm>
          <a:prstGeom prst="rect">
            <a:avLst/>
          </a:prstGeom>
          <a:noFill/>
          <a:ln/>
        </p:spPr>
        <p:txBody>
          <a:bodyPr wrap="square" lIns="0" tIns="0" rIns="0" bIns="0" rtlCol="0" anchor="ctr"/>
          <a:lstStyle/>
          <a:p>
            <a:pPr marL="0" indent="0">
              <a:buNone/>
            </a:pPr>
            <a:endParaRPr lang="en-US" sz="950" dirty="0"/>
          </a:p>
        </p:txBody>
      </p:sp>
      <p:sp>
        <p:nvSpPr>
          <p:cNvPr id="34" name="Text 28"/>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BEFORE WE BEGIN</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Who this is for</a:t>
            </a:r>
            <a:endParaRPr lang="en-US" sz="2700" dirty="0"/>
          </a:p>
        </p:txBody>
      </p:sp>
      <p:sp>
        <p:nvSpPr>
          <p:cNvPr id="4" name="Shape 2"/>
          <p:cNvSpPr/>
          <p:nvPr/>
        </p:nvSpPr>
        <p:spPr>
          <a:xfrm>
            <a:off x="548640" y="1517904"/>
            <a:ext cx="3886200" cy="2962656"/>
          </a:xfrm>
          <a:prstGeom prst="roundRect">
            <a:avLst>
              <a:gd name="adj" fmla="val 3086"/>
            </a:avLst>
          </a:prstGeom>
          <a:solidFill>
            <a:srgbClr val="EEF6FA"/>
          </a:solidFill>
          <a:ln/>
          <a:effectLst>
            <a:outerShdw blurRad="88900" dist="25400" dir="5400000" algn="bl" rotWithShape="0">
              <a:srgbClr val="0A3D52">
                <a:alpha val="10000"/>
              </a:srgbClr>
            </a:outerShdw>
          </a:effectLst>
        </p:spPr>
      </p:sp>
      <p:sp>
        <p:nvSpPr>
          <p:cNvPr id="5" name="Shape 3"/>
          <p:cNvSpPr/>
          <p:nvPr/>
        </p:nvSpPr>
        <p:spPr>
          <a:xfrm>
            <a:off x="768096" y="1737360"/>
            <a:ext cx="548640" cy="548640"/>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886968" y="1856232"/>
            <a:ext cx="310896" cy="310896"/>
          </a:xfrm>
          <a:prstGeom prst="rect">
            <a:avLst/>
          </a:prstGeom>
        </p:spPr>
      </p:pic>
      <p:sp>
        <p:nvSpPr>
          <p:cNvPr id="7" name="Text 4"/>
          <p:cNvSpPr/>
          <p:nvPr/>
        </p:nvSpPr>
        <p:spPr>
          <a:xfrm>
            <a:off x="768096" y="2395728"/>
            <a:ext cx="3474720" cy="365760"/>
          </a:xfrm>
          <a:prstGeom prst="rect">
            <a:avLst/>
          </a:prstGeom>
          <a:noFill/>
          <a:ln/>
        </p:spPr>
        <p:txBody>
          <a:bodyPr wrap="square" lIns="0" tIns="0" rIns="0" bIns="0" rtlCol="0" anchor="ctr"/>
          <a:lstStyle/>
          <a:p>
            <a:pPr marL="0" indent="0">
              <a:buNone/>
            </a:pPr>
            <a:r>
              <a:rPr lang="en-US" sz="1600" b="1" dirty="0">
                <a:solidFill>
                  <a:srgbClr val="14333F"/>
                </a:solidFill>
                <a:latin typeface="Bookman Old Style" pitchFamily="34" charset="0"/>
                <a:ea typeface="Bookman Old Style" pitchFamily="34" charset="-122"/>
                <a:cs typeface="Bookman Old Style" pitchFamily="34" charset="-120"/>
              </a:rPr>
              <a:t>Built for Business Analysts</a:t>
            </a:r>
            <a:endParaRPr lang="en-US" sz="1600" dirty="0"/>
          </a:p>
        </p:txBody>
      </p:sp>
      <p:sp>
        <p:nvSpPr>
          <p:cNvPr id="8" name="Text 5"/>
          <p:cNvSpPr/>
          <p:nvPr/>
        </p:nvSpPr>
        <p:spPr>
          <a:xfrm>
            <a:off x="768096" y="2852928"/>
            <a:ext cx="3474720" cy="1463040"/>
          </a:xfrm>
          <a:prstGeom prst="rect">
            <a:avLst/>
          </a:prstGeom>
          <a:noFill/>
          <a:ln/>
        </p:spPr>
        <p:txBody>
          <a:bodyPr wrap="square" lIns="0" tIns="0" rIns="0" bIns="0" rtlCol="0" anchor="ctr"/>
          <a:lstStyle/>
          <a:p>
            <a:pPr marL="203200" indent="-203200">
              <a:lnSpc>
                <a:spcPct val="104000"/>
              </a:lnSpc>
              <a:spcAft>
                <a:spcPts val="800"/>
              </a:spcAft>
              <a:buSzPct val="100000"/>
              <a:buChar char="•"/>
            </a:pPr>
            <a:r>
              <a:rPr lang="en-US" sz="1150" dirty="0">
                <a:solidFill>
                  <a:srgbClr val="5B7782"/>
                </a:solidFill>
                <a:latin typeface="Calibri" pitchFamily="34" charset="0"/>
                <a:ea typeface="Calibri" pitchFamily="34" charset="-122"/>
                <a:cs typeface="Calibri" pitchFamily="34" charset="-120"/>
              </a:rPr>
              <a:t>Analysts who consume and interpret data</a:t>
            </a:r>
            <a:endParaRPr lang="en-US" sz="1150" dirty="0"/>
          </a:p>
          <a:p>
            <a:pPr marL="203200" indent="-203200">
              <a:lnSpc>
                <a:spcPct val="104000"/>
              </a:lnSpc>
              <a:spcAft>
                <a:spcPts val="800"/>
              </a:spcAft>
              <a:buSzPct val="100000"/>
              <a:buChar char="•"/>
            </a:pPr>
            <a:r>
              <a:rPr lang="en-US" sz="1150" dirty="0">
                <a:solidFill>
                  <a:srgbClr val="5B7782"/>
                </a:solidFill>
                <a:latin typeface="Calibri" pitchFamily="34" charset="0"/>
                <a:ea typeface="Calibri" pitchFamily="34" charset="-122"/>
                <a:cs typeface="Calibri" pitchFamily="34" charset="-120"/>
              </a:rPr>
              <a:t>Data stewards-in-training</a:t>
            </a:r>
            <a:endParaRPr lang="en-US" sz="1150" dirty="0"/>
          </a:p>
          <a:p>
            <a:pPr marL="203200" indent="-203200">
              <a:lnSpc>
                <a:spcPct val="104000"/>
              </a:lnSpc>
              <a:spcAft>
                <a:spcPts val="800"/>
              </a:spcAft>
              <a:buSzPct val="100000"/>
              <a:buChar char="•"/>
            </a:pPr>
            <a:r>
              <a:rPr lang="en-US" sz="1150" dirty="0">
                <a:solidFill>
                  <a:srgbClr val="5B7782"/>
                </a:solidFill>
                <a:latin typeface="Calibri" pitchFamily="34" charset="0"/>
                <a:ea typeface="Calibri" pitchFamily="34" charset="-122"/>
                <a:cs typeface="Calibri" pitchFamily="34" charset="-120"/>
              </a:rPr>
              <a:t>Anyone responsible for data governance</a:t>
            </a:r>
            <a:endParaRPr lang="en-US" sz="1150" dirty="0"/>
          </a:p>
          <a:p>
            <a:pPr marL="203200" indent="-203200">
              <a:lnSpc>
                <a:spcPct val="104000"/>
              </a:lnSpc>
              <a:buSzPct val="100000"/>
              <a:buChar char="•"/>
            </a:pPr>
            <a:r>
              <a:rPr lang="en-US" sz="1150" dirty="0">
                <a:solidFill>
                  <a:srgbClr val="5B7782"/>
                </a:solidFill>
                <a:latin typeface="Calibri" pitchFamily="34" charset="0"/>
                <a:ea typeface="Calibri" pitchFamily="34" charset="-122"/>
                <a:cs typeface="Calibri" pitchFamily="34" charset="-120"/>
              </a:rPr>
              <a:t>No coding or admin skills required</a:t>
            </a:r>
            <a:endParaRPr lang="en-US" sz="1150" dirty="0"/>
          </a:p>
        </p:txBody>
      </p:sp>
      <p:sp>
        <p:nvSpPr>
          <p:cNvPr id="9" name="Shape 6"/>
          <p:cNvSpPr/>
          <p:nvPr/>
        </p:nvSpPr>
        <p:spPr>
          <a:xfrm>
            <a:off x="4709160" y="1517904"/>
            <a:ext cx="3886200" cy="2962656"/>
          </a:xfrm>
          <a:prstGeom prst="roundRect">
            <a:avLst>
              <a:gd name="adj" fmla="val 3086"/>
            </a:avLst>
          </a:prstGeom>
          <a:solidFill>
            <a:srgbClr val="0A3D52"/>
          </a:solidFill>
          <a:ln/>
          <a:effectLst>
            <a:outerShdw blurRad="101600" dist="38100" dir="5400000" algn="bl" rotWithShape="0">
              <a:srgbClr val="0A3D52">
                <a:alpha val="16000"/>
              </a:srgbClr>
            </a:outerShdw>
          </a:effectLst>
        </p:spPr>
      </p:sp>
      <p:sp>
        <p:nvSpPr>
          <p:cNvPr id="10" name="Shape 7"/>
          <p:cNvSpPr/>
          <p:nvPr/>
        </p:nvSpPr>
        <p:spPr>
          <a:xfrm>
            <a:off x="4928616" y="1737360"/>
            <a:ext cx="548640" cy="548640"/>
          </a:xfrm>
          <a:prstGeom prst="ellipse">
            <a:avLst/>
          </a:prstGeom>
          <a:solidFill>
            <a:srgbClr val="2EC4B6"/>
          </a:solidFill>
          <a:ln/>
        </p:spPr>
      </p:sp>
      <p:pic>
        <p:nvPicPr>
          <p:cNvPr id="11" name="Image 1" descr="preencoded.png"/>
          <p:cNvPicPr>
            <a:picLocks noChangeAspect="1"/>
          </p:cNvPicPr>
          <p:nvPr/>
        </p:nvPicPr>
        <p:blipFill>
          <a:blip r:embed="rId4"/>
          <a:stretch>
            <a:fillRect/>
          </a:stretch>
        </p:blipFill>
        <p:spPr>
          <a:xfrm>
            <a:off x="5047488" y="1856232"/>
            <a:ext cx="310896" cy="310896"/>
          </a:xfrm>
          <a:prstGeom prst="rect">
            <a:avLst/>
          </a:prstGeom>
        </p:spPr>
      </p:pic>
      <p:sp>
        <p:nvSpPr>
          <p:cNvPr id="12" name="Text 8"/>
          <p:cNvSpPr/>
          <p:nvPr/>
        </p:nvSpPr>
        <p:spPr>
          <a:xfrm>
            <a:off x="4928616" y="2395728"/>
            <a:ext cx="3474720" cy="365760"/>
          </a:xfrm>
          <a:prstGeom prst="rect">
            <a:avLst/>
          </a:prstGeom>
          <a:noFill/>
          <a:ln/>
        </p:spPr>
        <p:txBody>
          <a:bodyPr wrap="square" lIns="0" tIns="0" rIns="0" bIns="0" rtlCol="0" anchor="ctr"/>
          <a:lstStyle/>
          <a:p>
            <a:pPr marL="0" indent="0">
              <a:buNone/>
            </a:pPr>
            <a:r>
              <a:rPr lang="en-US" sz="1600" b="1" dirty="0">
                <a:solidFill>
                  <a:srgbClr val="FFFFFF"/>
                </a:solidFill>
                <a:latin typeface="Bookman Old Style" pitchFamily="34" charset="0"/>
                <a:ea typeface="Bookman Old Style" pitchFamily="34" charset="-122"/>
                <a:cs typeface="Bookman Old Style" pitchFamily="34" charset="-120"/>
              </a:rPr>
              <a:t>What you'll need</a:t>
            </a:r>
            <a:endParaRPr lang="en-US" sz="1600" dirty="0"/>
          </a:p>
        </p:txBody>
      </p:sp>
      <p:sp>
        <p:nvSpPr>
          <p:cNvPr id="13" name="Text 9"/>
          <p:cNvSpPr/>
          <p:nvPr/>
        </p:nvSpPr>
        <p:spPr>
          <a:xfrm>
            <a:off x="4928616" y="2852928"/>
            <a:ext cx="3474720" cy="1463040"/>
          </a:xfrm>
          <a:prstGeom prst="rect">
            <a:avLst/>
          </a:prstGeom>
          <a:noFill/>
          <a:ln/>
        </p:spPr>
        <p:txBody>
          <a:bodyPr wrap="square" lIns="0" tIns="0" rIns="0" bIns="0" rtlCol="0" anchor="ctr"/>
          <a:lstStyle/>
          <a:p>
            <a:pPr marL="203200" indent="-203200">
              <a:lnSpc>
                <a:spcPct val="104000"/>
              </a:lnSpc>
              <a:spcAft>
                <a:spcPts val="800"/>
              </a:spcAft>
              <a:buSzPct val="100000"/>
              <a:buChar char="•"/>
            </a:pPr>
            <a:r>
              <a:rPr lang="en-US" sz="1150" dirty="0">
                <a:solidFill>
                  <a:srgbClr val="DCEEF5"/>
                </a:solidFill>
                <a:latin typeface="Calibri" pitchFamily="34" charset="0"/>
                <a:ea typeface="Calibri" pitchFamily="34" charset="-122"/>
                <a:cs typeface="Calibri" pitchFamily="34" charset="-120"/>
              </a:rPr>
              <a:t>Access to a PDC 10.2.11 instance</a:t>
            </a:r>
            <a:endParaRPr lang="en-US" sz="1150" dirty="0"/>
          </a:p>
          <a:p>
            <a:pPr marL="203200" indent="-203200">
              <a:lnSpc>
                <a:spcPct val="104000"/>
              </a:lnSpc>
              <a:spcAft>
                <a:spcPts val="800"/>
              </a:spcAft>
              <a:buSzPct val="100000"/>
              <a:buChar char="•"/>
            </a:pPr>
            <a:r>
              <a:rPr lang="en-US" sz="1150" dirty="0">
                <a:solidFill>
                  <a:srgbClr val="DCEEF5"/>
                </a:solidFill>
                <a:latin typeface="Calibri" pitchFamily="34" charset="0"/>
                <a:ea typeface="Calibri" pitchFamily="34" charset="-122"/>
                <a:cs typeface="Calibri" pitchFamily="34" charset="-120"/>
              </a:rPr>
              <a:t>The AWC sample database loaded</a:t>
            </a:r>
            <a:endParaRPr lang="en-US" sz="1150" dirty="0"/>
          </a:p>
          <a:p>
            <a:pPr marL="203200" indent="-203200">
              <a:lnSpc>
                <a:spcPct val="104000"/>
              </a:lnSpc>
              <a:spcAft>
                <a:spcPts val="800"/>
              </a:spcAft>
              <a:buSzPct val="100000"/>
              <a:buChar char="•"/>
            </a:pPr>
            <a:r>
              <a:rPr lang="en-US" sz="1150" dirty="0">
                <a:solidFill>
                  <a:srgbClr val="DCEEF5"/>
                </a:solidFill>
                <a:latin typeface="Calibri" pitchFamily="34" charset="0"/>
                <a:ea typeface="Calibri" pitchFamily="34" charset="-122"/>
                <a:cs typeface="Calibri" pitchFamily="34" charset="-120"/>
              </a:rPr>
              <a:t>Your login and a web browser</a:t>
            </a:r>
            <a:endParaRPr lang="en-US" sz="1150" dirty="0"/>
          </a:p>
          <a:p>
            <a:pPr marL="203200" indent="-203200">
              <a:lnSpc>
                <a:spcPct val="104000"/>
              </a:lnSpc>
              <a:buSzPct val="100000"/>
              <a:buChar char="•"/>
            </a:pPr>
            <a:r>
              <a:rPr lang="en-US" sz="1150" dirty="0">
                <a:solidFill>
                  <a:srgbClr val="DCEEF5"/>
                </a:solidFill>
                <a:latin typeface="Calibri" pitchFamily="34" charset="0"/>
                <a:ea typeface="Calibri" pitchFamily="34" charset="-122"/>
                <a:cs typeface="Calibri" pitchFamily="34" charset="-120"/>
              </a:rPr>
              <a:t>Curiosity about the data — that's it</a:t>
            </a:r>
            <a:endParaRPr lang="en-US" sz="1150" dirty="0"/>
          </a:p>
        </p:txBody>
      </p:sp>
      <p:sp>
        <p:nvSpPr>
          <p:cNvPr id="14" name="Text 10"/>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Course Overview · The lab setup guide covers loading the sample data</a:t>
            </a:r>
            <a:endParaRPr lang="en-US" sz="950" dirty="0"/>
          </a:p>
        </p:txBody>
      </p:sp>
      <p:sp>
        <p:nvSpPr>
          <p:cNvPr id="15" name="Text 11"/>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7132320" y="2651760"/>
            <a:ext cx="3566160" cy="3566160"/>
          </a:xfrm>
          <a:prstGeom prst="ellipse">
            <a:avLst/>
          </a:prstGeom>
          <a:solidFill>
            <a:srgbClr val="0A3D52"/>
          </a:solidFill>
          <a:ln/>
        </p:spPr>
      </p:sp>
      <p:sp>
        <p:nvSpPr>
          <p:cNvPr id="3" name="Shape 1"/>
          <p:cNvSpPr/>
          <p:nvPr/>
        </p:nvSpPr>
        <p:spPr>
          <a:xfrm>
            <a:off x="8229600" y="457200"/>
            <a:ext cx="2011680" cy="2011680"/>
          </a:xfrm>
          <a:prstGeom prst="ellipse">
            <a:avLst/>
          </a:prstGeom>
          <a:solidFill>
            <a:srgbClr val="065A82">
              <a:alpha val="45000"/>
            </a:srgbClr>
          </a:solidFill>
          <a:ln/>
        </p:spPr>
      </p:sp>
      <p:sp>
        <p:nvSpPr>
          <p:cNvPr id="4" name="Shape 2"/>
          <p:cNvSpPr/>
          <p:nvPr/>
        </p:nvSpPr>
        <p:spPr>
          <a:xfrm>
            <a:off x="548640" y="603504"/>
            <a:ext cx="841248" cy="841248"/>
          </a:xfrm>
          <a:prstGeom prst="ellipse">
            <a:avLst/>
          </a:prstGeom>
          <a:solidFill>
            <a:srgbClr val="2EC4B6"/>
          </a:solidFill>
          <a:ln/>
        </p:spPr>
      </p:sp>
      <p:pic>
        <p:nvPicPr>
          <p:cNvPr id="5" name="Image 0" descr="preencoded.png"/>
          <p:cNvPicPr>
            <a:picLocks noChangeAspect="1"/>
          </p:cNvPicPr>
          <p:nvPr/>
        </p:nvPicPr>
        <p:blipFill>
          <a:blip r:embed="rId3"/>
          <a:stretch>
            <a:fillRect/>
          </a:stretch>
        </p:blipFill>
        <p:spPr>
          <a:xfrm>
            <a:off x="722376" y="777240"/>
            <a:ext cx="493776" cy="493776"/>
          </a:xfrm>
          <a:prstGeom prst="rect">
            <a:avLst/>
          </a:prstGeom>
        </p:spPr>
      </p:pic>
      <p:sp>
        <p:nvSpPr>
          <p:cNvPr id="6" name="Text 3"/>
          <p:cNvSpPr/>
          <p:nvPr/>
        </p:nvSpPr>
        <p:spPr>
          <a:xfrm>
            <a:off x="1554480" y="713232"/>
            <a:ext cx="64008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LET'S BEGIN</a:t>
            </a:r>
            <a:endParaRPr lang="en-US" sz="1400" dirty="0"/>
          </a:p>
        </p:txBody>
      </p:sp>
      <p:sp>
        <p:nvSpPr>
          <p:cNvPr id="7" name="Text 4"/>
          <p:cNvSpPr/>
          <p:nvPr/>
        </p:nvSpPr>
        <p:spPr>
          <a:xfrm>
            <a:off x="548640" y="1645920"/>
            <a:ext cx="7955280" cy="1280160"/>
          </a:xfrm>
          <a:prstGeom prst="rect">
            <a:avLst/>
          </a:prstGeom>
          <a:noFill/>
          <a:ln/>
        </p:spPr>
        <p:txBody>
          <a:bodyPr wrap="square" lIns="0" tIns="0" rIns="0" bIns="0" rtlCol="0" anchor="ctr"/>
          <a:lstStyle/>
          <a:p>
            <a:pPr marL="0" indent="0">
              <a:lnSpc>
                <a:spcPct val="98000"/>
              </a:lnSpc>
              <a:buNone/>
            </a:pPr>
            <a:r>
              <a:rPr lang="en-US" sz="3200" b="1" dirty="0">
                <a:solidFill>
                  <a:srgbClr val="FFFFFF"/>
                </a:solidFill>
                <a:latin typeface="Bookman Old Style" pitchFamily="34" charset="0"/>
                <a:ea typeface="Bookman Old Style" pitchFamily="34" charset="-122"/>
                <a:cs typeface="Bookman Old Style" pitchFamily="34" charset="-120"/>
              </a:rPr>
              <a:t>From raw tables to trusted,</a:t>
            </a:r>
            <a:endParaRPr lang="en-US" sz="3200" dirty="0"/>
          </a:p>
          <a:p>
            <a:pPr marL="0" indent="0">
              <a:lnSpc>
                <a:spcPct val="98000"/>
              </a:lnSpc>
              <a:buNone/>
            </a:pPr>
            <a:r>
              <a:rPr lang="en-US" sz="3200" b="1" dirty="0">
                <a:solidFill>
                  <a:srgbClr val="FFFFFF"/>
                </a:solidFill>
                <a:latin typeface="Bookman Old Style" pitchFamily="34" charset="0"/>
                <a:ea typeface="Bookman Old Style" pitchFamily="34" charset="-122"/>
                <a:cs typeface="Bookman Old Style" pitchFamily="34" charset="-120"/>
              </a:rPr>
              <a:t>governed data</a:t>
            </a:r>
            <a:endParaRPr lang="en-US" sz="3200" dirty="0"/>
          </a:p>
        </p:txBody>
      </p:sp>
      <p:sp>
        <p:nvSpPr>
          <p:cNvPr id="8" name="Text 5"/>
          <p:cNvSpPr/>
          <p:nvPr/>
        </p:nvSpPr>
        <p:spPr>
          <a:xfrm>
            <a:off x="566928" y="3200400"/>
            <a:ext cx="7680960" cy="822960"/>
          </a:xfrm>
          <a:prstGeom prst="rect">
            <a:avLst/>
          </a:prstGeom>
          <a:noFill/>
          <a:ln/>
        </p:spPr>
        <p:txBody>
          <a:bodyPr wrap="square" lIns="0" tIns="0" rIns="0" bIns="0" rtlCol="0" anchor="ctr"/>
          <a:lstStyle/>
          <a:p>
            <a:pPr marL="0" indent="0">
              <a:lnSpc>
                <a:spcPct val="110000"/>
              </a:lnSpc>
              <a:buNone/>
            </a:pPr>
            <a:r>
              <a:rPr lang="en-US" sz="1500" dirty="0">
                <a:solidFill>
                  <a:srgbClr val="DCEEF5"/>
                </a:solidFill>
                <a:latin typeface="Calibri" pitchFamily="34" charset="0"/>
                <a:ea typeface="Calibri" pitchFamily="34" charset="-122"/>
                <a:cs typeface="Calibri" pitchFamily="34" charset="-120"/>
              </a:rPr>
              <a:t>You'll leave able to connect, understand, assess, protect, find, define, and package the Arizona Water Company's data with confidence.</a:t>
            </a:r>
            <a:endParaRPr lang="en-US" sz="1500" dirty="0"/>
          </a:p>
        </p:txBody>
      </p:sp>
      <p:sp>
        <p:nvSpPr>
          <p:cNvPr id="9" name="Text 6"/>
          <p:cNvSpPr/>
          <p:nvPr/>
        </p:nvSpPr>
        <p:spPr>
          <a:xfrm>
            <a:off x="566928" y="4608576"/>
            <a:ext cx="8046720" cy="365760"/>
          </a:xfrm>
          <a:prstGeom prst="rect">
            <a:avLst/>
          </a:prstGeom>
          <a:noFill/>
          <a:ln/>
        </p:spPr>
        <p:txBody>
          <a:bodyPr wrap="square" lIns="0" tIns="0" rIns="0" bIns="0" rtlCol="0" anchor="ctr"/>
          <a:lstStyle/>
          <a:p>
            <a:pPr marL="0" indent="0">
              <a:buNone/>
            </a:pPr>
            <a:r>
              <a:rPr lang="en-US" sz="1200" i="1" dirty="0">
                <a:solidFill>
                  <a:srgbClr val="5B7782"/>
                </a:solidFill>
                <a:latin typeface="Calibri" pitchFamily="34" charset="0"/>
                <a:ea typeface="Calibri" pitchFamily="34" charset="-122"/>
                <a:cs typeface="Calibri" pitchFamily="34" charset="-120"/>
              </a:rPr>
              <a:t>First up — Workshop 1: Connecting to the AWC Database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MEET THE DATA</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The Arizona Water Operations catalog</a:t>
            </a:r>
            <a:endParaRPr lang="en-US" sz="2700" dirty="0"/>
          </a:p>
        </p:txBody>
      </p:sp>
      <p:sp>
        <p:nvSpPr>
          <p:cNvPr id="4" name="Shape 2"/>
          <p:cNvSpPr/>
          <p:nvPr/>
        </p:nvSpPr>
        <p:spPr>
          <a:xfrm>
            <a:off x="548640" y="1517904"/>
            <a:ext cx="3886200" cy="2962656"/>
          </a:xfrm>
          <a:prstGeom prst="roundRect">
            <a:avLst>
              <a:gd name="adj" fmla="val 3086"/>
            </a:avLst>
          </a:prstGeom>
          <a:solidFill>
            <a:srgbClr val="EEF6FA"/>
          </a:solidFill>
          <a:ln/>
          <a:effectLst>
            <a:outerShdw blurRad="88900" dist="25400" dir="5400000" algn="bl" rotWithShape="0">
              <a:srgbClr val="0A3D52">
                <a:alpha val="10000"/>
              </a:srgbClr>
            </a:outerShdw>
          </a:effectLst>
        </p:spPr>
      </p:sp>
      <p:sp>
        <p:nvSpPr>
          <p:cNvPr id="5" name="Shape 3"/>
          <p:cNvSpPr/>
          <p:nvPr/>
        </p:nvSpPr>
        <p:spPr>
          <a:xfrm>
            <a:off x="768096" y="1737360"/>
            <a:ext cx="548640" cy="548640"/>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886968" y="1856232"/>
            <a:ext cx="310896" cy="310896"/>
          </a:xfrm>
          <a:prstGeom prst="rect">
            <a:avLst/>
          </a:prstGeom>
        </p:spPr>
      </p:pic>
      <p:sp>
        <p:nvSpPr>
          <p:cNvPr id="7" name="Text 4"/>
          <p:cNvSpPr/>
          <p:nvPr/>
        </p:nvSpPr>
        <p:spPr>
          <a:xfrm>
            <a:off x="768096" y="2395728"/>
            <a:ext cx="3474720" cy="365760"/>
          </a:xfrm>
          <a:prstGeom prst="rect">
            <a:avLst/>
          </a:prstGeom>
          <a:noFill/>
          <a:ln/>
        </p:spPr>
        <p:txBody>
          <a:bodyPr wrap="square" lIns="0" tIns="0" rIns="0" bIns="0" rtlCol="0" anchor="ctr"/>
          <a:lstStyle/>
          <a:p>
            <a:pPr marL="0" indent="0">
              <a:buNone/>
            </a:pPr>
            <a:r>
              <a:rPr lang="en-US" sz="1600" b="1" dirty="0">
                <a:solidFill>
                  <a:srgbClr val="14333F"/>
                </a:solidFill>
                <a:latin typeface="Bookman Old Style" pitchFamily="34" charset="0"/>
                <a:ea typeface="Bookman Old Style" pitchFamily="34" charset="-122"/>
                <a:cs typeface="Bookman Old Style" pitchFamily="34" charset="-120"/>
              </a:rPr>
              <a:t>The business glossary</a:t>
            </a:r>
            <a:endParaRPr lang="en-US" sz="1600" dirty="0"/>
          </a:p>
        </p:txBody>
      </p:sp>
      <p:sp>
        <p:nvSpPr>
          <p:cNvPr id="8" name="Text 5"/>
          <p:cNvSpPr/>
          <p:nvPr/>
        </p:nvSpPr>
        <p:spPr>
          <a:xfrm>
            <a:off x="768096" y="2852928"/>
            <a:ext cx="3474720" cy="1463040"/>
          </a:xfrm>
          <a:prstGeom prst="rect">
            <a:avLst/>
          </a:prstGeom>
          <a:noFill/>
          <a:ln/>
        </p:spPr>
        <p:txBody>
          <a:bodyPr wrap="square" lIns="0" tIns="0" rIns="0" bIns="0" rtlCol="0" anchor="ctr"/>
          <a:lstStyle/>
          <a:p>
            <a:pPr marL="203200" indent="-203200">
              <a:lnSpc>
                <a:spcPct val="104000"/>
              </a:lnSpc>
              <a:spcAft>
                <a:spcPts val="800"/>
              </a:spcAft>
              <a:buSzPct val="100000"/>
              <a:buChar char="•"/>
            </a:pPr>
            <a:r>
              <a:rPr lang="en-US" sz="1150" dirty="0">
                <a:solidFill>
                  <a:srgbClr val="5B7782"/>
                </a:solidFill>
                <a:latin typeface="Calibri" pitchFamily="34" charset="0"/>
                <a:ea typeface="Calibri" pitchFamily="34" charset="-122"/>
                <a:cs typeface="Calibri" pitchFamily="34" charset="-120"/>
              </a:rPr>
              <a:t>39 governed business terms, all Accepted</a:t>
            </a:r>
            <a:endParaRPr lang="en-US" sz="1150" dirty="0"/>
          </a:p>
          <a:p>
            <a:pPr marL="203200" indent="-203200">
              <a:lnSpc>
                <a:spcPct val="104000"/>
              </a:lnSpc>
              <a:spcAft>
                <a:spcPts val="800"/>
              </a:spcAft>
              <a:buSzPct val="100000"/>
              <a:buChar char="•"/>
            </a:pPr>
            <a:r>
              <a:rPr lang="en-US" sz="1150" dirty="0">
                <a:solidFill>
                  <a:srgbClr val="5B7782"/>
                </a:solidFill>
                <a:latin typeface="Calibri" pitchFamily="34" charset="0"/>
                <a:ea typeface="Calibri" pitchFamily="34" charset="-122"/>
                <a:cs typeface="Calibri" pitchFamily="34" charset="-120"/>
              </a:rPr>
              <a:t>6 categories: Customer, Billing &amp; Rates, Usage, Water System, Water Quality, Governance</a:t>
            </a:r>
            <a:endParaRPr lang="en-US" sz="1150" dirty="0"/>
          </a:p>
          <a:p>
            <a:pPr marL="203200" indent="-203200">
              <a:lnSpc>
                <a:spcPct val="104000"/>
              </a:lnSpc>
              <a:spcAft>
                <a:spcPts val="800"/>
              </a:spcAft>
              <a:buSzPct val="100000"/>
              <a:buChar char="•"/>
            </a:pPr>
            <a:r>
              <a:rPr lang="en-US" sz="1150" dirty="0">
                <a:solidFill>
                  <a:srgbClr val="5B7782"/>
                </a:solidFill>
                <a:latin typeface="Calibri" pitchFamily="34" charset="0"/>
                <a:ea typeface="Calibri" pitchFamily="34" charset="-122"/>
                <a:cs typeface="Calibri" pitchFamily="34" charset="-120"/>
              </a:rPr>
              <a:t>4 named stewards: Garcia, Hayes, Chen, Park</a:t>
            </a:r>
            <a:endParaRPr lang="en-US" sz="1150" dirty="0"/>
          </a:p>
          <a:p>
            <a:pPr marL="203200" indent="-203200">
              <a:lnSpc>
                <a:spcPct val="104000"/>
              </a:lnSpc>
              <a:buSzPct val="100000"/>
              <a:buChar char="•"/>
            </a:pPr>
            <a:r>
              <a:rPr lang="en-US" sz="1150" dirty="0">
                <a:solidFill>
                  <a:srgbClr val="5B7782"/>
                </a:solidFill>
                <a:latin typeface="Calibri" pitchFamily="34" charset="0"/>
                <a:ea typeface="Calibri" pitchFamily="34" charset="-122"/>
                <a:cs typeface="Calibri" pitchFamily="34" charset="-120"/>
              </a:rPr>
              <a:t>7 critical data elements flagged for compliance</a:t>
            </a:r>
            <a:endParaRPr lang="en-US" sz="1150" dirty="0"/>
          </a:p>
        </p:txBody>
      </p:sp>
      <p:sp>
        <p:nvSpPr>
          <p:cNvPr id="9" name="Shape 6"/>
          <p:cNvSpPr/>
          <p:nvPr/>
        </p:nvSpPr>
        <p:spPr>
          <a:xfrm>
            <a:off x="4709160" y="1517904"/>
            <a:ext cx="3886200" cy="2962656"/>
          </a:xfrm>
          <a:prstGeom prst="roundRect">
            <a:avLst>
              <a:gd name="adj" fmla="val 3086"/>
            </a:avLst>
          </a:prstGeom>
          <a:solidFill>
            <a:srgbClr val="0A3D52"/>
          </a:solidFill>
          <a:ln/>
          <a:effectLst>
            <a:outerShdw blurRad="101600" dist="38100" dir="5400000" algn="bl" rotWithShape="0">
              <a:srgbClr val="0A3D52">
                <a:alpha val="16000"/>
              </a:srgbClr>
            </a:outerShdw>
          </a:effectLst>
        </p:spPr>
      </p:sp>
      <p:sp>
        <p:nvSpPr>
          <p:cNvPr id="10" name="Shape 7"/>
          <p:cNvSpPr/>
          <p:nvPr/>
        </p:nvSpPr>
        <p:spPr>
          <a:xfrm>
            <a:off x="4928616" y="1737360"/>
            <a:ext cx="548640" cy="548640"/>
          </a:xfrm>
          <a:prstGeom prst="ellipse">
            <a:avLst/>
          </a:prstGeom>
          <a:solidFill>
            <a:srgbClr val="2EC4B6"/>
          </a:solidFill>
          <a:ln/>
        </p:spPr>
      </p:sp>
      <p:pic>
        <p:nvPicPr>
          <p:cNvPr id="11" name="Image 1" descr="preencoded.png"/>
          <p:cNvPicPr>
            <a:picLocks noChangeAspect="1"/>
          </p:cNvPicPr>
          <p:nvPr/>
        </p:nvPicPr>
        <p:blipFill>
          <a:blip r:embed="rId4"/>
          <a:stretch>
            <a:fillRect/>
          </a:stretch>
        </p:blipFill>
        <p:spPr>
          <a:xfrm>
            <a:off x="5047488" y="1856232"/>
            <a:ext cx="310896" cy="310896"/>
          </a:xfrm>
          <a:prstGeom prst="rect">
            <a:avLst/>
          </a:prstGeom>
        </p:spPr>
      </p:pic>
      <p:sp>
        <p:nvSpPr>
          <p:cNvPr id="12" name="Text 8"/>
          <p:cNvSpPr/>
          <p:nvPr/>
        </p:nvSpPr>
        <p:spPr>
          <a:xfrm>
            <a:off x="4928616" y="2395728"/>
            <a:ext cx="3474720" cy="365760"/>
          </a:xfrm>
          <a:prstGeom prst="rect">
            <a:avLst/>
          </a:prstGeom>
          <a:noFill/>
          <a:ln/>
        </p:spPr>
        <p:txBody>
          <a:bodyPr wrap="square" lIns="0" tIns="0" rIns="0" bIns="0" rtlCol="0" anchor="ctr"/>
          <a:lstStyle/>
          <a:p>
            <a:pPr marL="0" indent="0">
              <a:buNone/>
            </a:pPr>
            <a:r>
              <a:rPr lang="en-US" sz="1600" b="1" dirty="0">
                <a:solidFill>
                  <a:srgbClr val="FFFFFF"/>
                </a:solidFill>
                <a:latin typeface="Bookman Old Style" pitchFamily="34" charset="0"/>
                <a:ea typeface="Bookman Old Style" pitchFamily="34" charset="-122"/>
                <a:cs typeface="Bookman Old Style" pitchFamily="34" charset="-120"/>
              </a:rPr>
              <a:t>The source &amp; its tables</a:t>
            </a:r>
            <a:endParaRPr lang="en-US" sz="1600" dirty="0"/>
          </a:p>
        </p:txBody>
      </p:sp>
      <p:sp>
        <p:nvSpPr>
          <p:cNvPr id="13" name="Text 9"/>
          <p:cNvSpPr/>
          <p:nvPr/>
        </p:nvSpPr>
        <p:spPr>
          <a:xfrm>
            <a:off x="4928616" y="2852928"/>
            <a:ext cx="3474720" cy="1463040"/>
          </a:xfrm>
          <a:prstGeom prst="rect">
            <a:avLst/>
          </a:prstGeom>
          <a:noFill/>
          <a:ln/>
        </p:spPr>
        <p:txBody>
          <a:bodyPr wrap="square" lIns="0" tIns="0" rIns="0" bIns="0" rtlCol="0" anchor="ctr"/>
          <a:lstStyle/>
          <a:p>
            <a:pPr marL="203200" indent="-203200">
              <a:lnSpc>
                <a:spcPct val="104000"/>
              </a:lnSpc>
              <a:spcAft>
                <a:spcPts val="800"/>
              </a:spcAft>
              <a:buSzPct val="100000"/>
              <a:buChar char="•"/>
            </a:pPr>
            <a:r>
              <a:rPr lang="en-US" sz="1150" dirty="0">
                <a:solidFill>
                  <a:srgbClr val="DCEEF5"/>
                </a:solidFill>
                <a:latin typeface="Calibri" pitchFamily="34" charset="0"/>
                <a:ea typeface="Calibri" pitchFamily="34" charset="-122"/>
                <a:cs typeface="Calibri" pitchFamily="34" charset="-120"/>
              </a:rPr>
              <a:t>One source: Arizona Water Operations (PostgreSQL)</a:t>
            </a:r>
            <a:endParaRPr lang="en-US" sz="1150" dirty="0"/>
          </a:p>
          <a:p>
            <a:pPr marL="203200" indent="-203200">
              <a:lnSpc>
                <a:spcPct val="104000"/>
              </a:lnSpc>
              <a:spcAft>
                <a:spcPts val="800"/>
              </a:spcAft>
              <a:buSzPct val="100000"/>
              <a:buChar char="•"/>
            </a:pPr>
            <a:r>
              <a:rPr lang="en-US" sz="1150" dirty="0">
                <a:solidFill>
                  <a:srgbClr val="DCEEF5"/>
                </a:solidFill>
                <a:latin typeface="Calibri" pitchFamily="34" charset="0"/>
                <a:ea typeface="Calibri" pitchFamily="34" charset="-122"/>
                <a:cs typeface="Calibri" pitchFamily="34" charset="-120"/>
              </a:rPr>
              <a:t>customers · monthly_usage · tiered_rates</a:t>
            </a:r>
            <a:endParaRPr lang="en-US" sz="1150" dirty="0"/>
          </a:p>
          <a:p>
            <a:pPr marL="203200" indent="-203200">
              <a:lnSpc>
                <a:spcPct val="104000"/>
              </a:lnSpc>
              <a:spcAft>
                <a:spcPts val="800"/>
              </a:spcAft>
              <a:buSzPct val="100000"/>
              <a:buChar char="•"/>
            </a:pPr>
            <a:r>
              <a:rPr lang="en-US" sz="1150" dirty="0">
                <a:solidFill>
                  <a:srgbClr val="DCEEF5"/>
                </a:solidFill>
                <a:latin typeface="Calibri" pitchFamily="34" charset="0"/>
                <a:ea typeface="Calibri" pitchFamily="34" charset="-122"/>
                <a:cs typeface="Calibri" pitchFamily="34" charset="-120"/>
              </a:rPr>
              <a:t>water_systems · water_quality_reports · account_alerts</a:t>
            </a:r>
            <a:endParaRPr lang="en-US" sz="1150" dirty="0"/>
          </a:p>
          <a:p>
            <a:pPr marL="203200" indent="-203200">
              <a:lnSpc>
                <a:spcPct val="104000"/>
              </a:lnSpc>
              <a:buSzPct val="100000"/>
              <a:buChar char="•"/>
            </a:pPr>
            <a:r>
              <a:rPr lang="en-US" sz="1150" dirty="0">
                <a:solidFill>
                  <a:srgbClr val="DCEEF5"/>
                </a:solidFill>
                <a:latin typeface="Calibri" pitchFamily="34" charset="0"/>
                <a:ea typeface="Calibri" pitchFamily="34" charset="-122"/>
                <a:cs typeface="Calibri" pitchFamily="34" charset="-120"/>
              </a:rPr>
              <a:t>6 governed tables, linked by customer &amp; account keys</a:t>
            </a:r>
            <a:endParaRPr lang="en-US" sz="1150" dirty="0"/>
          </a:p>
        </p:txBody>
      </p:sp>
      <p:sp>
        <p:nvSpPr>
          <p:cNvPr id="14" name="Text 10"/>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Course Overview · The glossary and tables you’ll govern across the course</a:t>
            </a:r>
            <a:endParaRPr lang="en-US" sz="950" dirty="0"/>
          </a:p>
        </p:txBody>
      </p:sp>
      <p:sp>
        <p:nvSpPr>
          <p:cNvPr id="15" name="Text 11"/>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WHO DOES WHAT</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Every PDC role, and who holds it</a:t>
            </a:r>
            <a:endParaRPr lang="en-US" sz="2700" dirty="0"/>
          </a:p>
        </p:txBody>
      </p:sp>
      <p:sp>
        <p:nvSpPr>
          <p:cNvPr id="4" name="Shape 2"/>
          <p:cNvSpPr/>
          <p:nvPr/>
        </p:nvSpPr>
        <p:spPr>
          <a:xfrm>
            <a:off x="548640" y="1517904"/>
            <a:ext cx="3886200" cy="2962656"/>
          </a:xfrm>
          <a:prstGeom prst="roundRect">
            <a:avLst>
              <a:gd name="adj" fmla="val 3086"/>
            </a:avLst>
          </a:prstGeom>
          <a:solidFill>
            <a:srgbClr val="EEF6FA"/>
          </a:solidFill>
          <a:ln/>
          <a:effectLst>
            <a:outerShdw blurRad="88900" dist="25400" dir="5400000" algn="bl" rotWithShape="0">
              <a:srgbClr val="0A3D52">
                <a:alpha val="10000"/>
              </a:srgbClr>
            </a:outerShdw>
          </a:effectLst>
        </p:spPr>
      </p:sp>
      <p:sp>
        <p:nvSpPr>
          <p:cNvPr id="5" name="Shape 3"/>
          <p:cNvSpPr/>
          <p:nvPr/>
        </p:nvSpPr>
        <p:spPr>
          <a:xfrm>
            <a:off x="768096" y="1737360"/>
            <a:ext cx="548640" cy="548640"/>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886968" y="1856232"/>
            <a:ext cx="310896" cy="310896"/>
          </a:xfrm>
          <a:prstGeom prst="rect">
            <a:avLst/>
          </a:prstGeom>
        </p:spPr>
      </p:pic>
      <p:sp>
        <p:nvSpPr>
          <p:cNvPr id="7" name="Text 4"/>
          <p:cNvSpPr/>
          <p:nvPr/>
        </p:nvSpPr>
        <p:spPr>
          <a:xfrm>
            <a:off x="768096" y="2395728"/>
            <a:ext cx="3474720" cy="365760"/>
          </a:xfrm>
          <a:prstGeom prst="rect">
            <a:avLst/>
          </a:prstGeom>
          <a:noFill/>
          <a:ln/>
        </p:spPr>
        <p:txBody>
          <a:bodyPr wrap="square" lIns="0" tIns="0" rIns="0" bIns="0" rtlCol="0" anchor="ctr"/>
          <a:lstStyle/>
          <a:p>
            <a:pPr marL="0" indent="0">
              <a:buNone/>
            </a:pPr>
            <a:r>
              <a:rPr lang="en-US" sz="1600" b="1" dirty="0">
                <a:solidFill>
                  <a:srgbClr val="14333F"/>
                </a:solidFill>
                <a:latin typeface="Bookman Old Style" pitchFamily="34" charset="0"/>
                <a:ea typeface="Bookman Old Style" pitchFamily="34" charset="-122"/>
                <a:cs typeface="Bookman Old Style" pitchFamily="34" charset="-120"/>
              </a:rPr>
              <a:t>Business tier · view &amp; use</a:t>
            </a:r>
            <a:endParaRPr lang="en-US" sz="1600" dirty="0"/>
          </a:p>
        </p:txBody>
      </p:sp>
      <p:sp>
        <p:nvSpPr>
          <p:cNvPr id="8" name="Text 5"/>
          <p:cNvSpPr/>
          <p:nvPr/>
        </p:nvSpPr>
        <p:spPr>
          <a:xfrm>
            <a:off x="768096" y="2852928"/>
            <a:ext cx="3474720" cy="1463040"/>
          </a:xfrm>
          <a:prstGeom prst="rect">
            <a:avLst/>
          </a:prstGeom>
          <a:noFill/>
          <a:ln/>
        </p:spPr>
        <p:txBody>
          <a:bodyPr wrap="square" lIns="0" tIns="0" rIns="0" bIns="0" rtlCol="0" anchor="ctr"/>
          <a:lstStyle/>
          <a:p>
            <a:pPr marL="203200" indent="-203200">
              <a:lnSpc>
                <a:spcPct val="104000"/>
              </a:lnSpc>
              <a:spcAft>
                <a:spcPts val="800"/>
              </a:spcAft>
              <a:buSzPct val="100000"/>
              <a:buChar char="•"/>
            </a:pPr>
            <a:r>
              <a:rPr lang="en-US" sz="1150" dirty="0" b="1">
                <a:solidFill>
                  <a:srgbClr val="5B7782"/>
                </a:solidFill>
                <a:latin typeface="Calibri" pitchFamily="34" charset="0"/>
                <a:ea typeface="Calibri" pitchFamily="34" charset="-122"/>
                <a:cs typeface="Calibri" pitchFamily="34" charset="-120"/>
              </a:rPr>
              <a:t xml:space="preserve">Business User</a:t>
            </a:r>
            <a:r>
              <a:rPr lang="en-US" sz="1150" dirty="0">
                <a:solidFill>
                  <a:srgbClr val="5B7782"/>
                </a:solidFill>
                <a:latin typeface="Calibri" pitchFamily="34" charset="0"/>
                <a:ea typeface="Calibri" pitchFamily="34" charset="-122"/>
                <a:cs typeface="Calibri" pitchFamily="34" charset="-120"/>
              </a:rPr>
              <a:t xml:space="preserve"> — views the glossary &amp; policies only. Leadership and reviewers.</a:t>
            </a:r>
            <a:endParaRPr lang="en-US" sz="1150" dirty="0"/>
          </a:p>
          <a:p>
            <a:pPr marL="203200" indent="-203200">
              <a:lnSpc>
                <a:spcPct val="104000"/>
              </a:lnSpc>
              <a:spcAft>
                <a:spcPts val="800"/>
              </a:spcAft>
              <a:buSzPct val="100000"/>
              <a:buChar char="•"/>
            </a:pPr>
            <a:r>
              <a:rPr lang="en-US" sz="1150" dirty="0" b="1">
                <a:solidFill>
                  <a:srgbClr val="5B7782"/>
                </a:solidFill>
                <a:latin typeface="Calibri" pitchFamily="34" charset="0"/>
                <a:ea typeface="Calibri" pitchFamily="34" charset="-122"/>
                <a:cs typeface="Calibri" pitchFamily="34" charset="-120"/>
              </a:rPr>
              <a:t xml:space="preserve">Data User</a:t>
            </a:r>
            <a:r>
              <a:rPr lang="en-US" sz="1150" dirty="0">
                <a:solidFill>
                  <a:srgbClr val="5B7782"/>
                </a:solidFill>
                <a:latin typeface="Calibri" pitchFamily="34" charset="0"/>
                <a:ea typeface="Calibri" pitchFamily="34" charset="-122"/>
                <a:cs typeface="Calibri" pitchFamily="34" charset="-120"/>
              </a:rPr>
              <a:t xml:space="preserve"> — finds and uses data for their work. Alex Rivera, the Business Analyst (you).</a:t>
            </a:r>
            <a:endParaRPr lang="en-US" sz="1150" dirty="0"/>
          </a:p>
        </p:txBody>
      </p:sp>
      <p:sp>
        <p:nvSpPr>
          <p:cNvPr id="9" name="Shape 6"/>
          <p:cNvSpPr/>
          <p:nvPr/>
        </p:nvSpPr>
        <p:spPr>
          <a:xfrm>
            <a:off x="4709160" y="1517904"/>
            <a:ext cx="3886200" cy="2962656"/>
          </a:xfrm>
          <a:prstGeom prst="roundRect">
            <a:avLst>
              <a:gd name="adj" fmla="val 3086"/>
            </a:avLst>
          </a:prstGeom>
          <a:solidFill>
            <a:srgbClr val="0A3D52"/>
          </a:solidFill>
          <a:ln/>
          <a:effectLst>
            <a:outerShdw blurRad="101600" dist="38100" dir="5400000" algn="bl" rotWithShape="0">
              <a:srgbClr val="0A3D52">
                <a:alpha val="16000"/>
              </a:srgbClr>
            </a:outerShdw>
          </a:effectLst>
        </p:spPr>
      </p:sp>
      <p:sp>
        <p:nvSpPr>
          <p:cNvPr id="10" name="Shape 7"/>
          <p:cNvSpPr/>
          <p:nvPr/>
        </p:nvSpPr>
        <p:spPr>
          <a:xfrm>
            <a:off x="4928616" y="1737360"/>
            <a:ext cx="548640" cy="548640"/>
          </a:xfrm>
          <a:prstGeom prst="ellipse">
            <a:avLst/>
          </a:prstGeom>
          <a:solidFill>
            <a:srgbClr val="2EC4B6"/>
          </a:solidFill>
          <a:ln/>
        </p:spPr>
      </p:sp>
      <p:pic>
        <p:nvPicPr>
          <p:cNvPr id="11" name="Image 1" descr="preencoded.png"/>
          <p:cNvPicPr>
            <a:picLocks noChangeAspect="1"/>
          </p:cNvPicPr>
          <p:nvPr/>
        </p:nvPicPr>
        <p:blipFill>
          <a:blip r:embed="rId4"/>
          <a:stretch>
            <a:fillRect/>
          </a:stretch>
        </p:blipFill>
        <p:spPr>
          <a:xfrm>
            <a:off x="5047488" y="1856232"/>
            <a:ext cx="310896" cy="310896"/>
          </a:xfrm>
          <a:prstGeom prst="rect">
            <a:avLst/>
          </a:prstGeom>
        </p:spPr>
      </p:pic>
      <p:sp>
        <p:nvSpPr>
          <p:cNvPr id="12" name="Text 8"/>
          <p:cNvSpPr/>
          <p:nvPr/>
        </p:nvSpPr>
        <p:spPr>
          <a:xfrm>
            <a:off x="4928616" y="2395728"/>
            <a:ext cx="3474720" cy="365760"/>
          </a:xfrm>
          <a:prstGeom prst="rect">
            <a:avLst/>
          </a:prstGeom>
          <a:noFill/>
          <a:ln/>
        </p:spPr>
        <p:txBody>
          <a:bodyPr wrap="square" lIns="0" tIns="0" rIns="0" bIns="0" rtlCol="0" anchor="ctr"/>
          <a:lstStyle/>
          <a:p>
            <a:pPr marL="0" indent="0">
              <a:buNone/>
            </a:pPr>
            <a:r>
              <a:rPr lang="en-US" sz="1600" b="1" dirty="0">
                <a:solidFill>
                  <a:srgbClr val="FFFFFF"/>
                </a:solidFill>
                <a:latin typeface="Bookman Old Style" pitchFamily="34" charset="0"/>
                <a:ea typeface="Bookman Old Style" pitchFamily="34" charset="-122"/>
                <a:cs typeface="Bookman Old Style" pitchFamily="34" charset="-120"/>
              </a:rPr>
              <a:t>Expert tier · steward &amp; run</a:t>
            </a:r>
            <a:endParaRPr lang="en-US" sz="1600" dirty="0"/>
          </a:p>
        </p:txBody>
      </p:sp>
      <p:sp>
        <p:nvSpPr>
          <p:cNvPr id="13" name="Text 9"/>
          <p:cNvSpPr/>
          <p:nvPr/>
        </p:nvSpPr>
        <p:spPr>
          <a:xfrm>
            <a:off x="4928616" y="2852928"/>
            <a:ext cx="3474720" cy="1463040"/>
          </a:xfrm>
          <a:prstGeom prst="rect">
            <a:avLst/>
          </a:prstGeom>
          <a:noFill/>
          <a:ln/>
        </p:spPr>
        <p:txBody>
          <a:bodyPr wrap="square" lIns="0" tIns="0" rIns="0" bIns="0" rtlCol="0" anchor="ctr"/>
          <a:lstStyle/>
          <a:p>
            <a:pPr marL="203200" indent="-203200">
              <a:lnSpc>
                <a:spcPct val="104000"/>
              </a:lnSpc>
              <a:spcAft>
                <a:spcPts val="800"/>
              </a:spcAft>
              <a:buSzPct val="100000"/>
              <a:buChar char="•"/>
            </a:pPr>
            <a:r>
              <a:rPr lang="en-US" sz="1150" dirty="0" b="1">
                <a:solidFill>
                  <a:srgbClr val="DCEEF5"/>
                </a:solidFill>
                <a:latin typeface="Calibri" pitchFamily="34" charset="0"/>
                <a:ea typeface="Calibri" pitchFamily="34" charset="-122"/>
                <a:cs typeface="Calibri" pitchFamily="34" charset="-120"/>
              </a:rPr>
              <a:t xml:space="preserve">Business Steward</a:t>
            </a:r>
            <a:r>
              <a:rPr lang="en-US" sz="1150" dirty="0">
                <a:solidFill>
                  <a:srgbClr val="DCEEF5"/>
                </a:solidFill>
                <a:latin typeface="Calibri" pitchFamily="34" charset="0"/>
                <a:ea typeface="Calibri" pitchFamily="34" charset="-122"/>
                <a:cs typeface="Calibri" pitchFamily="34" charset="-120"/>
              </a:rPr>
              <a:t xml:space="preserve"> — maintains glossaries, terms &amp; policies. Garcia, Hayes, Chen, Park.</a:t>
            </a:r>
            <a:endParaRPr lang="en-US" sz="1150" dirty="0"/>
          </a:p>
          <a:p>
            <a:pPr marL="203200" indent="-203200">
              <a:lnSpc>
                <a:spcPct val="104000"/>
              </a:lnSpc>
              <a:spcAft>
                <a:spcPts val="800"/>
              </a:spcAft>
              <a:buSzPct val="100000"/>
              <a:buChar char="•"/>
            </a:pPr>
            <a:r>
              <a:rPr lang="en-US" sz="1150" dirty="0" b="1">
                <a:solidFill>
                  <a:srgbClr val="DCEEF5"/>
                </a:solidFill>
                <a:latin typeface="Calibri" pitchFamily="34" charset="0"/>
                <a:ea typeface="Calibri" pitchFamily="34" charset="-122"/>
                <a:cs typeface="Calibri" pitchFamily="34" charset="-120"/>
              </a:rPr>
              <a:t xml:space="preserve">Data Steward</a:t>
            </a:r>
            <a:r>
              <a:rPr lang="en-US" sz="1150" dirty="0">
                <a:solidFill>
                  <a:srgbClr val="DCEEF5"/>
                </a:solidFill>
                <a:latin typeface="Calibri" pitchFamily="34" charset="0"/>
                <a:ea typeface="Calibri" pitchFamily="34" charset="-122"/>
                <a:cs typeface="Calibri" pitchFamily="34" charset="-120"/>
              </a:rPr>
              <a:t xml:space="preserve"> — profiles, processes &amp; curates data. Priya Nair, David Chen.</a:t>
            </a:r>
            <a:endParaRPr lang="en-US" sz="1150" dirty="0"/>
          </a:p>
          <a:p>
            <a:pPr marL="203200" indent="-203200">
              <a:lnSpc>
                <a:spcPct val="104000"/>
              </a:lnSpc>
              <a:spcAft>
                <a:spcPts val="800"/>
              </a:spcAft>
              <a:buSzPct val="100000"/>
              <a:buChar char="•"/>
            </a:pPr>
            <a:r>
              <a:rPr lang="en-US" sz="1150" dirty="0" b="1">
                <a:solidFill>
                  <a:srgbClr val="DCEEF5"/>
                </a:solidFill>
                <a:latin typeface="Calibri" pitchFamily="34" charset="0"/>
                <a:ea typeface="Calibri" pitchFamily="34" charset="-122"/>
                <a:cs typeface="Calibri" pitchFamily="34" charset="-120"/>
              </a:rPr>
              <a:t xml:space="preserve">Admin</a:t>
            </a:r>
            <a:r>
              <a:rPr lang="en-US" sz="1150" dirty="0">
                <a:solidFill>
                  <a:srgbClr val="DCEEF5"/>
                </a:solidFill>
                <a:latin typeface="Calibri" pitchFamily="34" charset="0"/>
                <a:ea typeface="Calibri" pitchFamily="34" charset="-122"/>
                <a:cs typeface="Calibri" pitchFamily="34" charset="-120"/>
              </a:rPr>
              <a:t xml:space="preserve"> — configures the product, users &amp; licence. Catalog Admin.</a:t>
            </a:r>
            <a:endParaRPr lang="en-US" sz="1150" dirty="0"/>
          </a:p>
          <a:p>
            <a:pPr marL="203200" indent="-203200">
              <a:lnSpc>
                <a:spcPct val="104000"/>
              </a:lnSpc>
              <a:buSzPct val="100000"/>
              <a:buChar char="•"/>
            </a:pPr>
            <a:r>
              <a:rPr lang="en-US" sz="1150" dirty="0" b="1">
                <a:solidFill>
                  <a:srgbClr val="DCEEF5"/>
                </a:solidFill>
                <a:latin typeface="Calibri" pitchFamily="34" charset="0"/>
                <a:ea typeface="Calibri" pitchFamily="34" charset="-122"/>
                <a:cs typeface="Calibri" pitchFamily="34" charset="-120"/>
              </a:rPr>
              <a:t xml:space="preserve">Data Developer</a:t>
            </a:r>
            <a:r>
              <a:rPr lang="en-US" sz="1150" dirty="0">
                <a:solidFill>
                  <a:srgbClr val="DCEEF5"/>
                </a:solidFill>
                <a:latin typeface="Calibri" pitchFamily="34" charset="0"/>
                <a:ea typeface="Calibri" pitchFamily="34" charset="-122"/>
                <a:cs typeface="Calibri" pitchFamily="34" charset="-120"/>
              </a:rPr>
              <a:t xml:space="preserve"> — creates &amp; updates business &amp; metadata rules.</a:t>
            </a:r>
            <a:endParaRPr lang="en-US" sz="1150" dirty="0"/>
          </a:p>
        </p:txBody>
      </p:sp>
      <p:sp>
        <p:nvSpPr>
          <p:cNvPr id="14" name="Text 10"/>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Course Overview · Plus a Data Storage Administrator role · permissions are cumulative across roles</a:t>
            </a:r>
            <a:endParaRPr lang="en-US" sz="950" dirty="0"/>
          </a:p>
        </p:txBody>
      </p:sp>
      <p:sp>
        <p:nvSpPr>
          <p:cNvPr id="15" name="Text 11"/>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GOING DEEPER · FOR THE TECHNICAL TRACK</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Data Identification: the engine behind PII &amp; sensitivity</a:t>
            </a:r>
            <a:endParaRPr lang="en-US" sz="2700" dirty="0"/>
          </a:p>
        </p:txBody>
      </p:sp>
      <p:sp>
        <p:nvSpPr>
          <p:cNvPr id="4" name="Shape 2"/>
          <p:cNvSpPr/>
          <p:nvPr/>
        </p:nvSpPr>
        <p:spPr>
          <a:xfrm>
            <a:off x="548640" y="1517904"/>
            <a:ext cx="3886200" cy="2962656"/>
          </a:xfrm>
          <a:prstGeom prst="roundRect">
            <a:avLst>
              <a:gd name="adj" fmla="val 3086"/>
            </a:avLst>
          </a:prstGeom>
          <a:solidFill>
            <a:srgbClr val="EEF6FA"/>
          </a:solidFill>
          <a:ln/>
          <a:effectLst>
            <a:outerShdw blurRad="88900" dist="25400" dir="5400000" algn="bl" rotWithShape="0">
              <a:srgbClr val="0A3D52">
                <a:alpha val="10000"/>
              </a:srgbClr>
            </a:outerShdw>
          </a:effectLst>
        </p:spPr>
      </p:sp>
      <p:sp>
        <p:nvSpPr>
          <p:cNvPr id="5" name="Shape 3"/>
          <p:cNvSpPr/>
          <p:nvPr/>
        </p:nvSpPr>
        <p:spPr>
          <a:xfrm>
            <a:off x="768096" y="1737360"/>
            <a:ext cx="548640" cy="548640"/>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886968" y="1856232"/>
            <a:ext cx="310896" cy="310896"/>
          </a:xfrm>
          <a:prstGeom prst="rect">
            <a:avLst/>
          </a:prstGeom>
        </p:spPr>
      </p:pic>
      <p:sp>
        <p:nvSpPr>
          <p:cNvPr id="7" name="Text 4"/>
          <p:cNvSpPr/>
          <p:nvPr/>
        </p:nvSpPr>
        <p:spPr>
          <a:xfrm>
            <a:off x="768096" y="2395728"/>
            <a:ext cx="3474720" cy="365760"/>
          </a:xfrm>
          <a:prstGeom prst="rect">
            <a:avLst/>
          </a:prstGeom>
          <a:noFill/>
          <a:ln/>
        </p:spPr>
        <p:txBody>
          <a:bodyPr wrap="square" lIns="0" tIns="0" rIns="0" bIns="0" rtlCol="0" anchor="ctr"/>
          <a:lstStyle/>
          <a:p>
            <a:pPr marL="0" indent="0">
              <a:buNone/>
            </a:pPr>
            <a:r>
              <a:rPr lang="en-US" sz="1600" b="1" dirty="0">
                <a:solidFill>
                  <a:srgbClr val="14333F"/>
                </a:solidFill>
                <a:latin typeface="Bookman Old Style" pitchFamily="34" charset="0"/>
                <a:ea typeface="Bookman Old Style" pitchFamily="34" charset="-122"/>
                <a:cs typeface="Bookman Old Style" pitchFamily="34" charset="-120"/>
              </a:rPr>
              <a:t>Dictionaries — by content</a:t>
            </a:r>
            <a:endParaRPr lang="en-US" sz="1600" dirty="0"/>
          </a:p>
        </p:txBody>
      </p:sp>
      <p:sp>
        <p:nvSpPr>
          <p:cNvPr id="8" name="Text 5"/>
          <p:cNvSpPr/>
          <p:nvPr/>
        </p:nvSpPr>
        <p:spPr>
          <a:xfrm>
            <a:off x="768096" y="2852928"/>
            <a:ext cx="3474720" cy="1463040"/>
          </a:xfrm>
          <a:prstGeom prst="rect">
            <a:avLst/>
          </a:prstGeom>
          <a:noFill/>
          <a:ln/>
        </p:spPr>
        <p:txBody>
          <a:bodyPr wrap="square" lIns="0" tIns="0" rIns="0" bIns="0" rtlCol="0" anchor="t"/>
          <a:lstStyle/>
          <a:p>
            <a:pPr marL="203200" indent="-203200">
              <a:lnSpc>
                <a:spcPct val="104000"/>
              </a:lnSpc>
              <a:spcAft>
                <a:spcPts val="800"/>
              </a:spcAft>
              <a:buSzPct val="100000"/>
              <a:buChar char="•"/>
            </a:pPr>
            <a:r>
              <a:rPr lang="en-US" sz="1150" dirty="0">
                <a:solidFill>
                  <a:srgbClr val="5B7782"/>
                </a:solidFill>
                <a:latin typeface="Calibri" pitchFamily="34" charset="0"/>
                <a:ea typeface="Calibri" pitchFamily="34" charset="-122"/>
                <a:cs typeface="Calibri" pitchFamily="34" charset="-120"/>
              </a:rPr>
              <a:t>Compare a column’s values to known lists: country codes, SKUs, marital status, custom vocabulary.</a:t>
            </a:r>
            <a:endParaRPr lang="en-US" sz="1150" dirty="0"/>
          </a:p>
          <a:p>
            <a:pPr marL="203200" indent="-203200">
              <a:lnSpc>
                <a:spcPct val="104000"/>
              </a:lnSpc>
              <a:spcAft>
                <a:spcPts val="800"/>
              </a:spcAft>
              <a:buSzPct val="100000"/>
              <a:buChar char="•"/>
            </a:pPr>
            <a:r>
              <a:rPr lang="en-US" sz="1150" dirty="0">
                <a:solidFill>
                  <a:srgbClr val="5B7782"/>
                </a:solidFill>
                <a:latin typeface="Calibri" pitchFamily="34" charset="0"/>
                <a:ea typeface="Calibri" pitchFamily="34" charset="-122"/>
                <a:cs typeface="Calibri" pitchFamily="34" charset="-120"/>
              </a:rPr>
              <a:t>95 dictionaries ship with PDC; author your own from a CSV + JSON rule.</a:t>
            </a:r>
            <a:endParaRPr lang="en-US" sz="1150" dirty="0"/>
          </a:p>
          <a:p>
            <a:pPr marL="203200" indent="-203200">
              <a:lnSpc>
                <a:spcPct val="104000"/>
              </a:lnSpc>
              <a:spcAft>
                <a:spcPts val="800"/>
              </a:spcAft>
              <a:buSzPct val="100000"/>
              <a:buChar char="•"/>
            </a:pPr>
            <a:r>
              <a:rPr lang="en-US" sz="1150" dirty="0">
                <a:solidFill>
                  <a:srgbClr val="5B7782"/>
                </a:solidFill>
                <a:latin typeface="Calibri" pitchFamily="34" charset="0"/>
                <a:ea typeface="Calibri" pitchFamily="34" charset="-122"/>
                <a:cs typeface="Calibri" pitchFamily="34" charset="-120"/>
              </a:rPr>
              <a:t>A weighted confidence score and a cardinality test decide when a rule fires.</a:t>
            </a:r>
            <a:endParaRPr lang="en-US" sz="1150" dirty="0"/>
          </a:p>
          <a:p>
            <a:pPr marL="203200" indent="-203200">
              <a:lnSpc>
                <a:spcPct val="104000"/>
              </a:lnSpc>
              <a:buSzPct val="100000"/>
              <a:buChar char="•"/>
            </a:pPr>
            <a:r>
              <a:rPr lang="en-US" sz="1150" dirty="0">
                <a:solidFill>
                  <a:srgbClr val="5B7782"/>
                </a:solidFill>
                <a:latin typeface="Calibri" pitchFamily="34" charset="0"/>
                <a:ea typeface="Calibri" pitchFamily="34" charset="-122"/>
                <a:cs typeface="Calibri" pitchFamily="34" charset="-120"/>
              </a:rPr>
              <a:t>On a match it applies Tags — and can assign a Business Term.</a:t>
            </a:r>
            <a:endParaRPr lang="en-US" sz="1150" dirty="0"/>
          </a:p>
        </p:txBody>
      </p:sp>
      <p:sp>
        <p:nvSpPr>
          <p:cNvPr id="9" name="Shape 6"/>
          <p:cNvSpPr/>
          <p:nvPr/>
        </p:nvSpPr>
        <p:spPr>
          <a:xfrm>
            <a:off x="4709160" y="1517904"/>
            <a:ext cx="3886200" cy="2962656"/>
          </a:xfrm>
          <a:prstGeom prst="roundRect">
            <a:avLst>
              <a:gd name="adj" fmla="val 3086"/>
            </a:avLst>
          </a:prstGeom>
          <a:solidFill>
            <a:srgbClr val="0A3D52"/>
          </a:solidFill>
          <a:ln/>
          <a:effectLst>
            <a:outerShdw blurRad="101600" dist="38100" dir="5400000" algn="bl" rotWithShape="0">
              <a:srgbClr val="0A3D52">
                <a:alpha val="16000"/>
              </a:srgbClr>
            </a:outerShdw>
          </a:effectLst>
        </p:spPr>
      </p:sp>
      <p:sp>
        <p:nvSpPr>
          <p:cNvPr id="10" name="Shape 7"/>
          <p:cNvSpPr/>
          <p:nvPr/>
        </p:nvSpPr>
        <p:spPr>
          <a:xfrm>
            <a:off x="4928616" y="1737360"/>
            <a:ext cx="548640" cy="548640"/>
          </a:xfrm>
          <a:prstGeom prst="ellipse">
            <a:avLst/>
          </a:prstGeom>
          <a:solidFill>
            <a:srgbClr val="2EC4B6"/>
          </a:solidFill>
          <a:ln/>
        </p:spPr>
      </p:sp>
      <p:pic>
        <p:nvPicPr>
          <p:cNvPr id="11" name="Image 1" descr="preencoded.png"/>
          <p:cNvPicPr>
            <a:picLocks noChangeAspect="1"/>
          </p:cNvPicPr>
          <p:nvPr/>
        </p:nvPicPr>
        <p:blipFill>
          <a:blip r:embed="rId4"/>
          <a:stretch>
            <a:fillRect/>
          </a:stretch>
        </p:blipFill>
        <p:spPr>
          <a:xfrm>
            <a:off x="5047488" y="1856232"/>
            <a:ext cx="310896" cy="310896"/>
          </a:xfrm>
          <a:prstGeom prst="rect">
            <a:avLst/>
          </a:prstGeom>
        </p:spPr>
      </p:pic>
      <p:sp>
        <p:nvSpPr>
          <p:cNvPr id="12" name="Text 8"/>
          <p:cNvSpPr/>
          <p:nvPr/>
        </p:nvSpPr>
        <p:spPr>
          <a:xfrm>
            <a:off x="4928616" y="2395728"/>
            <a:ext cx="3474720" cy="365760"/>
          </a:xfrm>
          <a:prstGeom prst="rect">
            <a:avLst/>
          </a:prstGeom>
          <a:noFill/>
          <a:ln/>
        </p:spPr>
        <p:txBody>
          <a:bodyPr wrap="square" lIns="0" tIns="0" rIns="0" bIns="0" rtlCol="0" anchor="ctr"/>
          <a:lstStyle/>
          <a:p>
            <a:pPr marL="0" indent="0">
              <a:buNone/>
            </a:pPr>
            <a:r>
              <a:rPr lang="en-US" sz="1600" b="1" dirty="0">
                <a:solidFill>
                  <a:srgbClr val="FFFFFF"/>
                </a:solidFill>
                <a:latin typeface="Bookman Old Style" pitchFamily="34" charset="0"/>
                <a:ea typeface="Bookman Old Style" pitchFamily="34" charset="-122"/>
                <a:cs typeface="Bookman Old Style" pitchFamily="34" charset="-120"/>
              </a:rPr>
              <a:t>Patterns — by shape</a:t>
            </a:r>
            <a:endParaRPr lang="en-US" sz="1600" dirty="0"/>
          </a:p>
        </p:txBody>
      </p:sp>
      <p:sp>
        <p:nvSpPr>
          <p:cNvPr id="13" name="Text 9"/>
          <p:cNvSpPr/>
          <p:nvPr/>
        </p:nvSpPr>
        <p:spPr>
          <a:xfrm>
            <a:off x="4928616" y="2852928"/>
            <a:ext cx="3474720" cy="1463040"/>
          </a:xfrm>
          <a:prstGeom prst="rect">
            <a:avLst/>
          </a:prstGeom>
          <a:noFill/>
          <a:ln/>
        </p:spPr>
        <p:txBody>
          <a:bodyPr wrap="square" lIns="0" tIns="0" rIns="0" bIns="0" rtlCol="0" anchor="t"/>
          <a:lstStyle/>
          <a:p>
            <a:pPr marL="203200" indent="-203200">
              <a:lnSpc>
                <a:spcPct val="104000"/>
              </a:lnSpc>
              <a:spcAft>
                <a:spcPts val="800"/>
              </a:spcAft>
              <a:buSzPct val="100000"/>
              <a:buChar char="•"/>
            </a:pPr>
            <a:r>
              <a:rPr lang="en-US" sz="1150" dirty="0">
                <a:solidFill>
                  <a:srgbClr val="DCEEF5"/>
                </a:solidFill>
                <a:latin typeface="Calibri" pitchFamily="34" charset="0"/>
                <a:ea typeface="Calibri" pitchFamily="34" charset="-122"/>
                <a:cs typeface="Calibri" pitchFamily="34" charset="-120"/>
              </a:rPr>
              <a:t>Reduce each value to a signature (KT1734-B → AAnnnn-A) and match the format.</a:t>
            </a:r>
            <a:endParaRPr lang="en-US" sz="1150" dirty="0"/>
          </a:p>
          <a:p>
            <a:pPr marL="203200" indent="-203200">
              <a:lnSpc>
                <a:spcPct val="104000"/>
              </a:lnSpc>
              <a:spcAft>
                <a:spcPts val="800"/>
              </a:spcAft>
              <a:buSzPct val="100000"/>
              <a:buChar char="•"/>
            </a:pPr>
            <a:r>
              <a:rPr lang="en-US" sz="1150" dirty="0">
                <a:solidFill>
                  <a:srgbClr val="DCEEF5"/>
                </a:solidFill>
                <a:latin typeface="Calibri" pitchFamily="34" charset="0"/>
                <a:ea typeface="Calibri" pitchFamily="34" charset="-122"/>
                <a:cs typeface="Calibri" pitchFamily="34" charset="-120"/>
              </a:rPr>
              <a:t>Catches emails, SSNs, passport and ZIP layouts — anything with a set format.</a:t>
            </a:r>
            <a:endParaRPr lang="en-US" sz="1150" dirty="0"/>
          </a:p>
          <a:p>
            <a:pPr marL="203200" indent="-203200">
              <a:lnSpc>
                <a:spcPct val="104000"/>
              </a:lnSpc>
              <a:spcAft>
                <a:spcPts val="800"/>
              </a:spcAft>
              <a:buSzPct val="100000"/>
              <a:buChar char="•"/>
            </a:pPr>
            <a:r>
              <a:rPr lang="en-US" sz="1150" dirty="0">
                <a:solidFill>
                  <a:srgbClr val="DCEEF5"/>
                </a:solidFill>
                <a:latin typeface="Calibri" pitchFamily="34" charset="0"/>
                <a:ea typeface="Calibri" pitchFamily="34" charset="-122"/>
                <a:cs typeface="Calibri" pitchFamily="34" charset="-120"/>
              </a:rPr>
              <a:t>Generates RegEx and flags data-quality outliers.</a:t>
            </a:r>
            <a:endParaRPr lang="en-US" sz="1150" dirty="0"/>
          </a:p>
          <a:p>
            <a:pPr marL="203200" indent="-203200">
              <a:lnSpc>
                <a:spcPct val="104000"/>
              </a:lnSpc>
              <a:buSzPct val="100000"/>
              <a:buChar char="•"/>
            </a:pPr>
            <a:r>
              <a:rPr lang="en-US" sz="1150" dirty="0">
                <a:solidFill>
                  <a:srgbClr val="DCEEF5"/>
                </a:solidFill>
                <a:latin typeface="Calibri" pitchFamily="34" charset="0"/>
                <a:ea typeface="Calibri" pitchFamily="34" charset="-122"/>
                <a:cs typeface="Calibri" pitchFamily="34" charset="-120"/>
              </a:rPr>
              <a:t>On a match it applies Tags and Sensitivity, just like a dictionary.</a:t>
            </a:r>
            <a:endParaRPr lang="en-US" sz="1150" dirty="0"/>
          </a:p>
        </p:txBody>
      </p:sp>
      <p:sp>
        <p:nvSpPr>
          <p:cNvPr id="14" name="Text 10"/>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A technical deep-dive for data stewards, developers &amp; admins — companion to Workshop 5 · Dictionaries + Patterns = a Policy → Tags + Business Terms</a:t>
            </a:r>
            <a:endParaRPr lang="en-US" sz="950" dirty="0"/>
          </a:p>
        </p:txBody>
      </p:sp>
      <p:sp>
        <p:nvSpPr>
          <p:cNvPr id="15" name="Text 11"/>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989</Words>
  <Application>Microsoft Office PowerPoint</Application>
  <PresentationFormat>On-screen Show (16:9)</PresentationFormat>
  <Paragraphs>121</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Overview &amp; Outcomes</dc:title>
  <dc:subject>PptxGenJS Presentation</dc:subject>
  <dc:creator>Arizona Water Company - PDC BA Course</dc:creator>
  <cp:lastModifiedBy>James O'Reilly</cp:lastModifiedBy>
  <cp:revision>2</cp:revision>
  <dcterms:created xsi:type="dcterms:W3CDTF">2026-06-11T09:53:22Z</dcterms:created>
  <dcterms:modified xsi:type="dcterms:W3CDTF">2026-06-15T15:35:16Z</dcterms:modified>
</cp:coreProperties>
</file>