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63" r:id="rId5"/>
    <p:sldId id="259" r:id="rId6"/>
    <p:sldId id="261" r:id="rId7"/>
    <p:sldId id="267" r:id="rId18"/>
    <p:sldId id="266" r:id="rId17"/>
    <p:sldId id="265" r:id="rId8"/>
    <p:sldId id="262" r:id="rId9"/>
    <p:sldId id="264" r:id="rId10"/>
    <p:sldId id="260"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44" d="100"/>
          <a:sy n="144" d="100"/>
        </p:scale>
        <p:origin x="606"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8.xml"/><Relationship Id="rId9" Type="http://schemas.openxmlformats.org/officeDocument/2006/relationships/slide" Target="slides/slide9.xml"/><Relationship Id="rId10" Type="http://schemas.openxmlformats.org/officeDocument/2006/relationships/slide" Target="slides/slide10.xml"/><Relationship Id="rId11" Type="http://schemas.openxmlformats.org/officeDocument/2006/relationships/slide" Target="slides/slide11.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slide" Target="slides/slide7.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427990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Workshop 2. The skill here is reading metadata fluently - the core literacy of a catalog-aware analyst. Frame it: they didn't create this data, so how do they learn to trust and understand it? Through the three layers of metadata PDC captures.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central idea of the whole workshop - the three layers. Technical is what the database knows: types, keys, sizes. Business is what humans need: definitions, owner, domain. Operational is how the data behaves: quality, freshness, lineage. Give the opted_out_marketing example - technically a boolean, but its business meaning is a GDPR consent flag. Same column, three layers.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asset tabs. Every tab they open maps to one of those three layers. Summary gives business and operational at a glance; Data Elements is the technical layer column by column; Related previews lineage; Custom Properties and Comments add organisational context. Tell them to navigate these on the customers table as you talk.</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worked example. These six columns each tell all three stories at once. Linger on the sensitivity column - PII and Confidential. This is the bridge to Workshop 4, where these flags become the basis for compliance. Have them find one column whose business meaning isn't obvious from its name.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Slow them down before the 57-link task on the next slide. The instinct is to link everything - resist it; volume doesn't lift the Trust Score, and it pollutes governance. Frame the decision in two moves: pick what to map by what the business actually reasons about, then prioritize how hard you govern it by risk - CDEs and PII first, reporting and KPI columns next, the long tail last. Make the CDE point concrete: flag a column like account_number as a Critical Data Element, then term it, classify it, and verify its lineage. Close by reminding them concepts like Trust Score and Tag are meant to stay unmapped - they name ideas, not columns.</a:t>
            </a:r>
          </a:p>
        </p:txBody>
      </p:sp>
      <p:sp>
        <p:nvSpPr>
          <p:cNvPr id="4" name="Slide Number Placeholder 3"/>
          <p:cNvSpPr>
            <a:spLocks noGrp="1"/>
          </p:cNvSpPr>
          <p:nvPr>
            <p:ph type="sldNum" sz="quarter" idx="10"/>
          </p:nvPr>
        </p:nvSpPr>
        <p:spPr/>
        <p:txBody>
          <a:bodyPr/>
          <a:lstStyle/>
          <a:p>
            <a:fld id="{F7021451-1387-4CA6-816F-3879F97B5CBE}" type="slidenum">
              <a:rPr lang="en-US"/>
              <a:t>7</a:t>
            </a:fld>
            <a:endParaRPr lang="en-US"/>
          </a:p>
        </p:txBody>
      </p:sp>
    </p:spTree>
    <p:extLst>
      <p:ext uri="{BB962C8B-B14F-4D97-AF65-F5344CB8AC3E}">
        <p14:creationId xmlns:p14="http://schemas.microsoft.com/office/powerpoint/2010/main" val="10240869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They've just linked the catalog by hand - now show the assist. Those Suggested Columns come from the Similarity Score: PDC's 0-to-1 confidence that a term fits a column, scored on meaning rather than names. Give the AWC example - it can propose Water System for system_name even when the names differ. Stress the asymmetry: Approve assigns the term instantly, but Reject is permanent and drops the match from future runs, so it's a judgement call, not a clean-up. Land the handoff: producing and tuning these suggestions - and fixing an empty Suggested pane - is the Technical track's job, not the steward's.</a:t>
            </a:r>
          </a:p>
        </p:txBody>
      </p:sp>
      <p:sp>
        <p:nvSpPr>
          <p:cNvPr id="4" name="Slide Number Placeholder 3"/>
          <p:cNvSpPr>
            <a:spLocks noGrp="1"/>
          </p:cNvSpPr>
          <p:nvPr>
            <p:ph type="sldNum" sz="quarter" idx="10"/>
          </p:nvPr>
        </p:nvSpPr>
        <p:spPr/>
        <p:txBody>
          <a:bodyPr/>
          <a:lstStyle/>
          <a:p>
            <a:fld id="{F7021451-1387-4CA6-816F-3879F97B5CBD}" type="slidenum">
              <a:rPr lang="en-US"/>
              <a:t>9</a:t>
            </a:fld>
            <a:endParaRPr lang="en-US"/>
          </a:p>
        </p:txBody>
      </p:sp>
    </p:spTree>
    <p:extLst>
      <p:ext uri="{BB962C8B-B14F-4D97-AF65-F5344CB8AC3E}">
        <p14:creationId xmlns:p14="http://schemas.microsoft.com/office/powerpoint/2010/main" val="10240869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Reinforce why a BA cares: metadata is how you trust data you didn't create. Use the stats to recap - 6 tables, 3 layers, 5 tabs. Then the discussion: the 'can I email everyone?' question, whose answer is a single column, opted_out_marketing. Transition to profiling in Workshop 3.</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B2B"/>
        </a:solidFill>
        <a:effectLst/>
      </p:bgPr>
    </p:bg>
    <p:spTree>
      <p:nvGrpSpPr>
        <p:cNvPr id="1" name=""/>
        <p:cNvGrpSpPr/>
        <p:nvPr/>
      </p:nvGrpSpPr>
      <p:grpSpPr>
        <a:xfrm>
          <a:off x="0" y="0"/>
          <a:ext cx="0" cy="0"/>
          <a:chOff x="0" y="0"/>
          <a:chExt cx="0" cy="0"/>
        </a:xfrm>
      </p:grpSpPr>
      <p:sp>
        <p:nvSpPr>
          <p:cNvPr id="2" name="Shape 0"/>
          <p:cNvSpPr/>
          <p:nvPr/>
        </p:nvSpPr>
        <p:spPr>
          <a:xfrm>
            <a:off x="6949440" y="-1463040"/>
            <a:ext cx="3840480" cy="3840480"/>
          </a:xfrm>
          <a:prstGeom prst="ellipse">
            <a:avLst/>
          </a:prstGeom>
          <a:solidFill>
            <a:srgbClr val="0A3D52"/>
          </a:solidFill>
          <a:ln/>
        </p:spPr>
      </p:sp>
      <p:sp>
        <p:nvSpPr>
          <p:cNvPr id="3" name="Shape 1"/>
          <p:cNvSpPr/>
          <p:nvPr/>
        </p:nvSpPr>
        <p:spPr>
          <a:xfrm>
            <a:off x="8138160" y="2651760"/>
            <a:ext cx="2377440" cy="2377440"/>
          </a:xfrm>
          <a:prstGeom prst="ellipse">
            <a:avLst/>
          </a:prstGeom>
          <a:solidFill>
            <a:srgbClr val="065A82">
              <a:alpha val="45000"/>
            </a:srgbClr>
          </a:solidFill>
          <a:ln/>
        </p:spPr>
        <p:txBody>
          <a:bodyPr/>
          <a:p/>
        </p:txBody>
      </p:sp>
      <p:sp>
        <p:nvSpPr>
          <p:cNvPr id="4" name="Shape 2"/>
          <p:cNvSpPr/>
          <p:nvPr/>
        </p:nvSpPr>
        <p:spPr>
          <a:xfrm>
            <a:off x="548640" y="566928"/>
            <a:ext cx="841248" cy="841248"/>
          </a:xfrm>
          <a:prstGeom prst="ellipse">
            <a:avLst/>
          </a:prstGeom>
          <a:solidFill>
            <a:srgbClr val="1C7293"/>
          </a:solidFill>
          <a:ln/>
        </p:spPr>
      </p:sp>
      <p:pic>
        <p:nvPicPr>
          <p:cNvPr id="5" name="Image 0" descr="preencoded.png"/>
          <p:cNvPicPr>
            <a:picLocks noChangeAspect="1"/>
          </p:cNvPicPr>
          <p:nvPr/>
        </p:nvPicPr>
        <p:blipFill>
          <a:blip r:embed="rId3"/>
          <a:stretch>
            <a:fillRect/>
          </a:stretch>
        </p:blipFill>
        <p:spPr>
          <a:xfrm>
            <a:off x="722376" y="740664"/>
            <a:ext cx="493776" cy="493776"/>
          </a:xfrm>
          <a:prstGeom prst="rect">
            <a:avLst/>
          </a:prstGeom>
        </p:spPr>
      </p:pic>
      <p:sp>
        <p:nvSpPr>
          <p:cNvPr id="6" name="Text 3"/>
          <p:cNvSpPr/>
          <p:nvPr/>
        </p:nvSpPr>
        <p:spPr>
          <a:xfrm>
            <a:off x="1554480" y="676656"/>
            <a:ext cx="6858000" cy="457200"/>
          </a:xfrm>
          <a:prstGeom prst="rect">
            <a:avLst/>
          </a:prstGeom>
          <a:noFill/>
          <a:ln/>
        </p:spPr>
        <p:txBody>
          <a:bodyPr wrap="square" lIns="0" tIns="0" rIns="0" bIns="0" rtlCol="0" anchor="ctr"/>
          <a:lstStyle/>
          <a:p>
            <a:pPr marL="0" indent="0">
              <a:buNone/>
            </a:pPr>
            <a:r>
              <a:rPr lang="en-US" sz="1400" b="1" kern="0" spc="300" dirty="0">
                <a:solidFill>
                  <a:srgbClr val="2EC4B6"/>
                </a:solidFill>
                <a:latin typeface="Calibri" pitchFamily="34" charset="0"/>
                <a:ea typeface="Calibri" pitchFamily="34" charset="-122"/>
                <a:cs typeface="Calibri" pitchFamily="34" charset="-120"/>
              </a:rPr>
              <a:t>WORKSHOP 3 · 45 MINUTES  ·  PDC · BUSINESS GLOSSARY</a:t>
            </a:r>
            <a:endParaRPr lang="en-US" sz="1400" dirty="0"/>
          </a:p>
        </p:txBody>
      </p:sp>
      <p:sp>
        <p:nvSpPr>
          <p:cNvPr id="7" name="Text 4"/>
          <p:cNvSpPr/>
          <p:nvPr/>
        </p:nvSpPr>
        <p:spPr>
          <a:xfrm>
            <a:off x="548640" y="1737360"/>
            <a:ext cx="8138160" cy="1737360"/>
          </a:xfrm>
          <a:prstGeom prst="rect">
            <a:avLst/>
          </a:prstGeom>
          <a:noFill/>
          <a:ln/>
        </p:spPr>
        <p:txBody>
          <a:bodyPr wrap="square" lIns="0" tIns="0" rIns="0" bIns="0" rtlCol="0" anchor="ctr"/>
          <a:lstStyle/>
          <a:p>
            <a:pPr marL="0" indent="0">
              <a:lnSpc>
                <a:spcPct val="98000"/>
              </a:lnSpc>
              <a:buNone/>
            </a:pPr>
            <a:r>
              <a:rPr lang="en-US" sz="4000" b="1" dirty="0">
                <a:solidFill>
                  <a:srgbClr val="FFFFFF"/>
                </a:solidFill>
                <a:latin typeface="Bookman Old Style" pitchFamily="34" charset="0"/>
                <a:ea typeface="Bookman Old Style" pitchFamily="34" charset="-122"/>
                <a:cs typeface="Bookman Old Style" pitchFamily="34" charset="-120"/>
              </a:rPr>
              <a:t>Build the Business</a:t>
            </a:r>
            <a:endParaRPr lang="en-US" sz="4000" dirty="0"/>
          </a:p>
          <a:p>
            <a:pPr marL="0" indent="0">
              <a:lnSpc>
                <a:spcPct val="98000"/>
              </a:lnSpc>
              <a:buNone/>
            </a:pPr>
            <a:r>
              <a:rPr lang="en-US" sz="4000" b="1" dirty="0">
                <a:solidFill>
                  <a:srgbClr val="FFFFFF"/>
                </a:solidFill>
                <a:latin typeface="Bookman Old Style" pitchFamily="34" charset="0"/>
                <a:ea typeface="Bookman Old Style" pitchFamily="34" charset="-122"/>
                <a:cs typeface="Bookman Old Style" pitchFamily="34" charset="-120"/>
              </a:rPr>
              <a:t>Glossary</a:t>
            </a:r>
            <a:endParaRPr lang="en-US" sz="4000" dirty="0"/>
          </a:p>
        </p:txBody>
      </p:sp>
      <p:sp>
        <p:nvSpPr>
          <p:cNvPr id="8" name="Text 5"/>
          <p:cNvSpPr/>
          <p:nvPr/>
        </p:nvSpPr>
        <p:spPr>
          <a:xfrm>
            <a:off x="566928" y="3520440"/>
            <a:ext cx="7863840" cy="914400"/>
          </a:xfrm>
          <a:prstGeom prst="rect">
            <a:avLst/>
          </a:prstGeom>
          <a:noFill/>
          <a:ln/>
        </p:spPr>
        <p:txBody>
          <a:bodyPr wrap="square" lIns="0" tIns="0" rIns="0" bIns="0" rtlCol="0" anchor="ctr"/>
          <a:lstStyle/>
          <a:p>
            <a:pPr marL="0" indent="0">
              <a:lnSpc>
                <a:spcPct val="105000"/>
              </a:lnSpc>
              <a:buNone/>
            </a:pPr>
            <a:r>
              <a:rPr lang="en-US" sz="1800" dirty="0">
                <a:solidFill>
                  <a:srgbClr val="DCEEF5"/>
                </a:solidFill>
                <a:latin typeface="Calibri" pitchFamily="34" charset="0"/>
                <a:ea typeface="Calibri" pitchFamily="34" charset="-122"/>
                <a:cs typeface="Calibri" pitchFamily="34" charset="-120"/>
              </a:rPr>
              <a:t>Build AWC’s business vocabulary — glossary, categories, and terms — then link it to the catalog so meaning, ownership, and sensitivity live where analysts can find them.</a:t>
            </a:r>
            <a:endParaRPr lang="en-US" sz="1800" dirty="0"/>
          </a:p>
        </p:txBody>
      </p:sp>
      <p:sp>
        <p:nvSpPr>
          <p:cNvPr id="9" name="Text 6"/>
          <p:cNvSpPr/>
          <p:nvPr/>
        </p:nvSpPr>
        <p:spPr>
          <a:xfrm>
            <a:off x="566928" y="4626864"/>
            <a:ext cx="8046720" cy="365760"/>
          </a:xfrm>
          <a:prstGeom prst="rect">
            <a:avLst/>
          </a:prstGeom>
          <a:noFill/>
          <a:ln/>
        </p:spPr>
        <p:txBody>
          <a:bodyPr wrap="square" lIns="0" tIns="0" rIns="0" bIns="0" rtlCol="0" anchor="ctr"/>
          <a:lstStyle/>
          <a:p>
            <a:pPr marL="0" indent="0">
              <a:buNone/>
            </a:pPr>
            <a:r>
              <a:rPr lang="en-US" sz="1200" dirty="0">
                <a:solidFill>
                  <a:srgbClr val="5B7782"/>
                </a:solidFill>
                <a:latin typeface="Calibri" pitchFamily="34" charset="0"/>
                <a:ea typeface="Calibri" pitchFamily="34" charset="-122"/>
                <a:cs typeface="Calibri" pitchFamily="34" charset="-120"/>
              </a:rPr>
              <a:t>Pentaho Data Catalog 10.2.11  ·  Glossary → Category → Term  ·  Arizona_Water_Operations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6766560" cy="292608"/>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THE HIERARCHY</a:t>
            </a:r>
            <a:endParaRPr lang="en-US" sz="1200" dirty="0"/>
          </a:p>
        </p:txBody>
      </p:sp>
      <p:sp>
        <p:nvSpPr>
          <p:cNvPr id="3" name="Text 1"/>
          <p:cNvSpPr/>
          <p:nvPr/>
        </p:nvSpPr>
        <p:spPr>
          <a:xfrm>
            <a:off x="548640" y="713232"/>
            <a:ext cx="7040880" cy="566928"/>
          </a:xfrm>
          <a:prstGeom prst="rect">
            <a:avLst/>
          </a:prstGeom>
          <a:noFill/>
          <a:ln/>
        </p:spPr>
        <p:txBody>
          <a:bodyPr wrap="square" lIns="0" tIns="0" rIns="0" bIns="0" rtlCol="0" anchor="ctr"/>
          <a:lstStyle/>
          <a:p>
            <a:pPr marL="0" indent="0">
              <a:buNone/>
            </a:pPr>
            <a:r>
              <a:rPr lang="en-US" sz="2700" b="1" dirty="0">
                <a:solidFill>
                  <a:srgbClr val="14333F"/>
                </a:solidFill>
                <a:latin typeface="Bookman Old Style" pitchFamily="34" charset="0"/>
                <a:ea typeface="Bookman Old Style" pitchFamily="34" charset="-122"/>
                <a:cs typeface="Bookman Old Style" pitchFamily="34" charset="-120"/>
              </a:rPr>
              <a:t>Glossary → Category → Term</a:t>
            </a:r>
            <a:endParaRPr lang="en-US" sz="2700" dirty="0"/>
          </a:p>
        </p:txBody>
      </p:sp>
      <p:sp>
        <p:nvSpPr>
          <p:cNvPr id="4" name="Shape 2"/>
          <p:cNvSpPr/>
          <p:nvPr/>
        </p:nvSpPr>
        <p:spPr>
          <a:xfrm>
            <a:off x="548640" y="1517904"/>
            <a:ext cx="2587752" cy="3017520"/>
          </a:xfrm>
          <a:prstGeom prst="roundRect">
            <a:avLst>
              <a:gd name="adj" fmla="val 3180"/>
            </a:avLst>
          </a:prstGeom>
          <a:solidFill>
            <a:srgbClr val="EEF6FA"/>
          </a:solidFill>
          <a:ln/>
          <a:effectLst>
            <a:outerShdw blurRad="101600" dist="25400" dir="5400000" algn="bl" rotWithShape="0">
              <a:srgbClr val="0A3D52">
                <a:alpha val="12000"/>
              </a:srgbClr>
            </a:outerShdw>
          </a:effectLst>
        </p:spPr>
      </p:sp>
      <p:sp>
        <p:nvSpPr>
          <p:cNvPr id="5" name="Shape 3"/>
          <p:cNvSpPr/>
          <p:nvPr/>
        </p:nvSpPr>
        <p:spPr>
          <a:xfrm>
            <a:off x="804672" y="1792224"/>
            <a:ext cx="713232" cy="713232"/>
          </a:xfrm>
          <a:prstGeom prst="ellipse">
            <a:avLst/>
          </a:prstGeom>
          <a:solidFill>
            <a:srgbClr val="065A82"/>
          </a:solidFill>
          <a:ln/>
        </p:spPr>
      </p:sp>
      <p:pic>
        <p:nvPicPr>
          <p:cNvPr id="6" name="Image 0" descr="preencoded.png"/>
          <p:cNvPicPr>
            <a:picLocks noChangeAspect="1"/>
          </p:cNvPicPr>
          <p:nvPr/>
        </p:nvPicPr>
        <p:blipFill>
          <a:blip r:embed="rId3"/>
          <a:stretch>
            <a:fillRect/>
          </a:stretch>
        </p:blipFill>
        <p:spPr>
          <a:xfrm>
            <a:off x="996696" y="1984248"/>
            <a:ext cx="329184" cy="329184"/>
          </a:xfrm>
          <a:prstGeom prst="rect">
            <a:avLst/>
          </a:prstGeom>
        </p:spPr>
      </p:pic>
      <p:sp>
        <p:nvSpPr>
          <p:cNvPr id="7" name="Text 4"/>
          <p:cNvSpPr/>
          <p:nvPr/>
        </p:nvSpPr>
        <p:spPr>
          <a:xfrm>
            <a:off x="804672" y="2651760"/>
            <a:ext cx="2130552" cy="384048"/>
          </a:xfrm>
          <a:prstGeom prst="rect">
            <a:avLst/>
          </a:prstGeom>
          <a:noFill/>
          <a:ln/>
        </p:spPr>
        <p:txBody>
          <a:bodyPr wrap="square" lIns="0" tIns="0" rIns="0" bIns="0" rtlCol="0" anchor="ctr"/>
          <a:lstStyle/>
          <a:p>
            <a:pPr marL="0" indent="0">
              <a:buNone/>
            </a:pPr>
            <a:r>
              <a:rPr lang="en-US" sz="2000" b="1" dirty="0">
                <a:solidFill>
                  <a:srgbClr val="14333F"/>
                </a:solidFill>
                <a:latin typeface="Bookman Old Style" pitchFamily="34" charset="0"/>
                <a:ea typeface="Bookman Old Style" pitchFamily="34" charset="-122"/>
                <a:cs typeface="Bookman Old Style" pitchFamily="34" charset="-120"/>
              </a:rPr>
              <a:t>Glossary</a:t>
            </a:r>
            <a:endParaRPr lang="en-US" sz="2000" dirty="0"/>
          </a:p>
        </p:txBody>
      </p:sp>
      <p:sp>
        <p:nvSpPr>
          <p:cNvPr id="8" name="Text 5"/>
          <p:cNvSpPr/>
          <p:nvPr/>
        </p:nvSpPr>
        <p:spPr>
          <a:xfrm>
            <a:off x="804672" y="3035808"/>
            <a:ext cx="2130552" cy="292608"/>
          </a:xfrm>
          <a:prstGeom prst="rect">
            <a:avLst/>
          </a:prstGeom>
          <a:noFill/>
          <a:ln/>
        </p:spPr>
        <p:txBody>
          <a:bodyPr wrap="square" lIns="0" tIns="0" rIns="0" bIns="0" rtlCol="0" anchor="ctr"/>
          <a:lstStyle/>
          <a:p>
            <a:pPr marL="0" indent="0">
              <a:buNone/>
            </a:pPr>
            <a:r>
              <a:rPr lang="en-US" sz="1100" b="1" i="1" dirty="0">
                <a:solidFill>
                  <a:srgbClr val="065A82"/>
                </a:solidFill>
                <a:latin typeface="Calibri" pitchFamily="34" charset="0"/>
                <a:ea typeface="Calibri" pitchFamily="34" charset="-122"/>
                <a:cs typeface="Calibri" pitchFamily="34" charset="-120"/>
              </a:rPr>
              <a:t>The container</a:t>
            </a:r>
            <a:endParaRPr lang="en-US" sz="1100" dirty="0"/>
          </a:p>
        </p:txBody>
      </p:sp>
      <p:sp>
        <p:nvSpPr>
          <p:cNvPr id="9" name="Text 6"/>
          <p:cNvSpPr/>
          <p:nvPr/>
        </p:nvSpPr>
        <p:spPr>
          <a:xfrm>
            <a:off x="804672" y="3383280"/>
            <a:ext cx="2112264" cy="1005840"/>
          </a:xfrm>
          <a:prstGeom prst="rect">
            <a:avLst/>
          </a:prstGeom>
          <a:noFill/>
          <a:ln/>
        </p:spPr>
        <p:txBody>
          <a:bodyPr wrap="square" lIns="0" tIns="0" rIns="0" bIns="0" rtlCol="0" anchor="ctr"/>
          <a:lstStyle/>
          <a:p>
            <a:pPr marL="0" indent="0">
              <a:lnSpc>
                <a:spcPct val="105000"/>
              </a:lnSpc>
              <a:buNone/>
            </a:pPr>
            <a:r>
              <a:rPr lang="en-US" sz="1100" dirty="0">
                <a:solidFill>
                  <a:srgbClr val="5B7782"/>
                </a:solidFill>
                <a:latin typeface="Calibri" pitchFamily="34" charset="0"/>
                <a:ea typeface="Calibri" pitchFamily="34" charset="-122"/>
                <a:cs typeface="Calibri" pitchFamily="34" charset="-120"/>
              </a:rPr>
              <a:t>The top-level home for a body of business language. Example: Arizona Water.</a:t>
            </a:r>
            <a:endParaRPr lang="en-US" sz="1100" dirty="0"/>
          </a:p>
        </p:txBody>
      </p:sp>
      <p:sp>
        <p:nvSpPr>
          <p:cNvPr id="10" name="Shape 7"/>
          <p:cNvSpPr/>
          <p:nvPr/>
        </p:nvSpPr>
        <p:spPr>
          <a:xfrm>
            <a:off x="3273552" y="1517904"/>
            <a:ext cx="2587752" cy="3017520"/>
          </a:xfrm>
          <a:prstGeom prst="roundRect">
            <a:avLst>
              <a:gd name="adj" fmla="val 3180"/>
            </a:avLst>
          </a:prstGeom>
          <a:solidFill>
            <a:srgbClr val="EEF6FA"/>
          </a:solidFill>
          <a:ln/>
          <a:effectLst>
            <a:outerShdw blurRad="101600" dist="25400" dir="5400000" algn="bl" rotWithShape="0">
              <a:srgbClr val="0A3D52">
                <a:alpha val="12000"/>
              </a:srgbClr>
            </a:outerShdw>
          </a:effectLst>
        </p:spPr>
      </p:sp>
      <p:sp>
        <p:nvSpPr>
          <p:cNvPr id="11" name="Shape 8"/>
          <p:cNvSpPr/>
          <p:nvPr/>
        </p:nvSpPr>
        <p:spPr>
          <a:xfrm>
            <a:off x="3529584" y="1792224"/>
            <a:ext cx="713232" cy="713232"/>
          </a:xfrm>
          <a:prstGeom prst="ellipse">
            <a:avLst/>
          </a:prstGeom>
          <a:solidFill>
            <a:srgbClr val="1C7293"/>
          </a:solidFill>
          <a:ln/>
        </p:spPr>
      </p:sp>
      <p:pic>
        <p:nvPicPr>
          <p:cNvPr id="12" name="Image 1" descr="preencoded.png"/>
          <p:cNvPicPr>
            <a:picLocks noChangeAspect="1"/>
          </p:cNvPicPr>
          <p:nvPr/>
        </p:nvPicPr>
        <p:blipFill>
          <a:blip r:embed="rId4"/>
          <a:stretch>
            <a:fillRect/>
          </a:stretch>
        </p:blipFill>
        <p:spPr>
          <a:xfrm>
            <a:off x="3721608" y="1984248"/>
            <a:ext cx="329184" cy="329184"/>
          </a:xfrm>
          <a:prstGeom prst="rect">
            <a:avLst/>
          </a:prstGeom>
        </p:spPr>
      </p:pic>
      <p:sp>
        <p:nvSpPr>
          <p:cNvPr id="13" name="Text 9"/>
          <p:cNvSpPr/>
          <p:nvPr/>
        </p:nvSpPr>
        <p:spPr>
          <a:xfrm>
            <a:off x="3529584" y="2651760"/>
            <a:ext cx="2130552" cy="384048"/>
          </a:xfrm>
          <a:prstGeom prst="rect">
            <a:avLst/>
          </a:prstGeom>
          <a:noFill/>
          <a:ln/>
        </p:spPr>
        <p:txBody>
          <a:bodyPr wrap="square" lIns="0" tIns="0" rIns="0" bIns="0" rtlCol="0" anchor="ctr"/>
          <a:lstStyle/>
          <a:p>
            <a:pPr marL="0" indent="0">
              <a:buNone/>
            </a:pPr>
            <a:r>
              <a:rPr lang="en-US" sz="2000" b="1" dirty="0">
                <a:solidFill>
                  <a:srgbClr val="14333F"/>
                </a:solidFill>
                <a:latin typeface="Bookman Old Style" pitchFamily="34" charset="0"/>
                <a:ea typeface="Bookman Old Style" pitchFamily="34" charset="-122"/>
                <a:cs typeface="Bookman Old Style" pitchFamily="34" charset="-120"/>
              </a:rPr>
              <a:t>Category</a:t>
            </a:r>
            <a:endParaRPr lang="en-US" sz="2000" dirty="0"/>
          </a:p>
        </p:txBody>
      </p:sp>
      <p:sp>
        <p:nvSpPr>
          <p:cNvPr id="14" name="Text 10"/>
          <p:cNvSpPr/>
          <p:nvPr/>
        </p:nvSpPr>
        <p:spPr>
          <a:xfrm>
            <a:off x="3529584" y="3035808"/>
            <a:ext cx="2130552" cy="292608"/>
          </a:xfrm>
          <a:prstGeom prst="rect">
            <a:avLst/>
          </a:prstGeom>
          <a:noFill/>
          <a:ln/>
        </p:spPr>
        <p:txBody>
          <a:bodyPr wrap="square" lIns="0" tIns="0" rIns="0" bIns="0" rtlCol="0" anchor="ctr"/>
          <a:lstStyle/>
          <a:p>
            <a:pPr marL="0" indent="0">
              <a:buNone/>
            </a:pPr>
            <a:r>
              <a:rPr lang="en-US" sz="1100" b="1" i="1" dirty="0">
                <a:solidFill>
                  <a:srgbClr val="1C7293"/>
                </a:solidFill>
                <a:latin typeface="Calibri" pitchFamily="34" charset="0"/>
                <a:ea typeface="Calibri" pitchFamily="34" charset="-122"/>
                <a:cs typeface="Calibri" pitchFamily="34" charset="-120"/>
              </a:rPr>
              <a:t>The grouping</a:t>
            </a:r>
            <a:endParaRPr lang="en-US" sz="1100" dirty="0"/>
          </a:p>
        </p:txBody>
      </p:sp>
      <p:sp>
        <p:nvSpPr>
          <p:cNvPr id="15" name="Text 11"/>
          <p:cNvSpPr/>
          <p:nvPr/>
        </p:nvSpPr>
        <p:spPr>
          <a:xfrm>
            <a:off x="3529584" y="3383280"/>
            <a:ext cx="2112264" cy="1005840"/>
          </a:xfrm>
          <a:prstGeom prst="rect">
            <a:avLst/>
          </a:prstGeom>
          <a:noFill/>
          <a:ln/>
        </p:spPr>
        <p:txBody>
          <a:bodyPr wrap="square" lIns="0" tIns="0" rIns="0" bIns="0" rtlCol="0" anchor="ctr"/>
          <a:lstStyle/>
          <a:p>
            <a:pPr marL="0" indent="0">
              <a:lnSpc>
                <a:spcPct val="105000"/>
              </a:lnSpc>
              <a:buNone/>
            </a:pPr>
            <a:r>
              <a:rPr lang="en-US" sz="1100" dirty="0">
                <a:solidFill>
                  <a:srgbClr val="5B7782"/>
                </a:solidFill>
                <a:latin typeface="Calibri" pitchFamily="34" charset="0"/>
                <a:ea typeface="Calibri" pitchFamily="34" charset="-122"/>
                <a:cs typeface="Calibri" pitchFamily="34" charset="-120"/>
              </a:rPr>
              <a:t>Related terms grouped together. Example: Customer, Water Quality.</a:t>
            </a:r>
            <a:endParaRPr lang="en-US" sz="1100" dirty="0"/>
          </a:p>
        </p:txBody>
      </p:sp>
      <p:sp>
        <p:nvSpPr>
          <p:cNvPr id="16" name="Shape 12"/>
          <p:cNvSpPr/>
          <p:nvPr/>
        </p:nvSpPr>
        <p:spPr>
          <a:xfrm>
            <a:off x="5998464" y="1517904"/>
            <a:ext cx="2587752" cy="3017520"/>
          </a:xfrm>
          <a:prstGeom prst="roundRect">
            <a:avLst>
              <a:gd name="adj" fmla="val 3180"/>
            </a:avLst>
          </a:prstGeom>
          <a:solidFill>
            <a:srgbClr val="EEF6FA"/>
          </a:solidFill>
          <a:ln/>
          <a:effectLst>
            <a:outerShdw blurRad="101600" dist="25400" dir="5400000" algn="bl" rotWithShape="0">
              <a:srgbClr val="0A3D52">
                <a:alpha val="12000"/>
              </a:srgbClr>
            </a:outerShdw>
          </a:effectLst>
        </p:spPr>
      </p:sp>
      <p:sp>
        <p:nvSpPr>
          <p:cNvPr id="17" name="Shape 13"/>
          <p:cNvSpPr/>
          <p:nvPr/>
        </p:nvSpPr>
        <p:spPr>
          <a:xfrm>
            <a:off x="6254496" y="1792224"/>
            <a:ext cx="713232" cy="713232"/>
          </a:xfrm>
          <a:prstGeom prst="ellipse">
            <a:avLst/>
          </a:prstGeom>
          <a:solidFill>
            <a:srgbClr val="2EC4B6"/>
          </a:solidFill>
          <a:ln/>
        </p:spPr>
      </p:sp>
      <p:pic>
        <p:nvPicPr>
          <p:cNvPr id="18" name="Image 2" descr="preencoded.png"/>
          <p:cNvPicPr>
            <a:picLocks noChangeAspect="1"/>
          </p:cNvPicPr>
          <p:nvPr/>
        </p:nvPicPr>
        <p:blipFill>
          <a:blip r:embed="rId5"/>
          <a:stretch>
            <a:fillRect/>
          </a:stretch>
        </p:blipFill>
        <p:spPr>
          <a:xfrm>
            <a:off x="6446520" y="1984248"/>
            <a:ext cx="329184" cy="329184"/>
          </a:xfrm>
          <a:prstGeom prst="rect">
            <a:avLst/>
          </a:prstGeom>
        </p:spPr>
      </p:pic>
      <p:sp>
        <p:nvSpPr>
          <p:cNvPr id="19" name="Text 14"/>
          <p:cNvSpPr/>
          <p:nvPr/>
        </p:nvSpPr>
        <p:spPr>
          <a:xfrm>
            <a:off x="6254496" y="2651760"/>
            <a:ext cx="2130552" cy="384048"/>
          </a:xfrm>
          <a:prstGeom prst="rect">
            <a:avLst/>
          </a:prstGeom>
          <a:noFill/>
          <a:ln/>
        </p:spPr>
        <p:txBody>
          <a:bodyPr wrap="square" lIns="0" tIns="0" rIns="0" bIns="0" rtlCol="0" anchor="ctr"/>
          <a:lstStyle/>
          <a:p>
            <a:pPr marL="0" indent="0">
              <a:buNone/>
            </a:pPr>
            <a:r>
              <a:rPr lang="en-US" sz="2000" b="1" dirty="0">
                <a:solidFill>
                  <a:srgbClr val="14333F"/>
                </a:solidFill>
                <a:latin typeface="Bookman Old Style" pitchFamily="34" charset="0"/>
                <a:ea typeface="Bookman Old Style" pitchFamily="34" charset="-122"/>
                <a:cs typeface="Bookman Old Style" pitchFamily="34" charset="-120"/>
              </a:rPr>
              <a:t>Term</a:t>
            </a:r>
            <a:endParaRPr lang="en-US" sz="2000" dirty="0"/>
          </a:p>
        </p:txBody>
      </p:sp>
      <p:sp>
        <p:nvSpPr>
          <p:cNvPr id="20" name="Text 15"/>
          <p:cNvSpPr/>
          <p:nvPr/>
        </p:nvSpPr>
        <p:spPr>
          <a:xfrm>
            <a:off x="6254496" y="3035808"/>
            <a:ext cx="2130552" cy="292608"/>
          </a:xfrm>
          <a:prstGeom prst="rect">
            <a:avLst/>
          </a:prstGeom>
          <a:noFill/>
          <a:ln/>
        </p:spPr>
        <p:txBody>
          <a:bodyPr wrap="square" lIns="0" tIns="0" rIns="0" bIns="0" rtlCol="0" anchor="ctr"/>
          <a:lstStyle/>
          <a:p>
            <a:pPr marL="0" indent="0">
              <a:buNone/>
            </a:pPr>
            <a:r>
              <a:rPr lang="en-US" sz="1100" b="1" i="1" dirty="0">
                <a:solidFill>
                  <a:srgbClr val="2EC4B6"/>
                </a:solidFill>
                <a:latin typeface="Calibri" pitchFamily="34" charset="0"/>
                <a:ea typeface="Calibri" pitchFamily="34" charset="-122"/>
                <a:cs typeface="Calibri" pitchFamily="34" charset="-120"/>
              </a:rPr>
              <a:t>The governed concept</a:t>
            </a:r>
            <a:endParaRPr lang="en-US" sz="1100" dirty="0"/>
          </a:p>
        </p:txBody>
      </p:sp>
      <p:sp>
        <p:nvSpPr>
          <p:cNvPr id="21" name="Text 16"/>
          <p:cNvSpPr/>
          <p:nvPr/>
        </p:nvSpPr>
        <p:spPr>
          <a:xfrm>
            <a:off x="6254496" y="3383280"/>
            <a:ext cx="2112264" cy="1005840"/>
          </a:xfrm>
          <a:prstGeom prst="rect">
            <a:avLst/>
          </a:prstGeom>
          <a:noFill/>
          <a:ln/>
        </p:spPr>
        <p:txBody>
          <a:bodyPr wrap="square" lIns="0" tIns="0" rIns="0" bIns="0" rtlCol="0" anchor="ctr"/>
          <a:lstStyle/>
          <a:p>
            <a:pPr marL="0" indent="0">
              <a:lnSpc>
                <a:spcPct val="105000"/>
              </a:lnSpc>
              <a:buNone/>
            </a:pPr>
            <a:r>
              <a:rPr lang="en-US" sz="1100" dirty="0">
                <a:solidFill>
                  <a:srgbClr val="5B7782"/>
                </a:solidFill>
                <a:latin typeface="Calibri" pitchFamily="34" charset="0"/>
                <a:ea typeface="Calibri" pitchFamily="34" charset="-122"/>
                <a:cs typeface="Calibri" pitchFamily="34" charset="-120"/>
              </a:rPr>
              <a:t>A single governed concept with a definition and properties. Example: Customer Name, EPA Compliance Status.</a:t>
            </a:r>
            <a:endParaRPr lang="en-US" sz="1100" dirty="0"/>
          </a:p>
        </p:txBody>
      </p:sp>
      <p:sp>
        <p:nvSpPr>
          <p:cNvPr id="22" name="Text 17"/>
          <p:cNvSpPr/>
          <p:nvPr/>
        </p:nvSpPr>
        <p:spPr>
          <a:xfrm>
            <a:off x="548640" y="4828032"/>
            <a:ext cx="7315200" cy="274320"/>
          </a:xfrm>
          <a:prstGeom prst="rect">
            <a:avLst/>
          </a:prstGeom>
          <a:noFill/>
          <a:ln/>
        </p:spPr>
        <p:txBody>
          <a:bodyPr wrap="square" lIns="0" tIns="0" rIns="0" bIns="0" rtlCol="0" anchor="ctr"/>
          <a:lstStyle/>
          <a:p>
            <a:pPr marL="0" indent="0">
              <a:buNone/>
            </a:pPr>
            <a:r>
              <a:rPr lang="en-US" sz="950" dirty="0">
                <a:solidFill>
                  <a:srgbClr val="5B7782"/>
                </a:solidFill>
                <a:latin typeface="Calibri" pitchFamily="34" charset="0"/>
                <a:ea typeface="Calibri" pitchFamily="34" charset="-122"/>
                <a:cs typeface="Calibri" pitchFamily="34" charset="-120"/>
              </a:rPr>
              <a:t>Workshop 3 · Tags are separate — quick labels that complement terms</a:t>
            </a:r>
            <a:endParaRPr lang="en-US" sz="950" dirty="0"/>
          </a:p>
        </p:txBody>
      </p:sp>
      <p:sp>
        <p:nvSpPr>
          <p:cNvPr id="23" name="Text 18"/>
          <p:cNvSpPr/>
          <p:nvPr/>
        </p:nvSpPr>
        <p:spPr>
          <a:xfrm>
            <a:off x="8366760" y="4828032"/>
            <a:ext cx="320040" cy="274320"/>
          </a:xfrm>
          <a:prstGeom prst="rect">
            <a:avLst/>
          </a:prstGeom>
          <a:noFill/>
          <a:ln/>
        </p:spPr>
        <p:txBody>
          <a:bodyPr wrap="square" lIns="0" tIns="0" rIns="0" bIns="0" rtlCol="0" anchor="ctr"/>
          <a:lstStyle/>
          <a:p>
            <a:pPr marL="0" indent="0" algn="r">
              <a:buNone/>
            </a:pPr>
            <a:r>
              <a:rPr lang="en-US" sz="950" dirty="0">
                <a:solidFill>
                  <a:srgbClr val="5B7782"/>
                </a:solidFill>
                <a:latin typeface="Calibri" pitchFamily="34" charset="0"/>
                <a:ea typeface="Calibri" pitchFamily="34" charset="-122"/>
                <a:cs typeface="Calibri" pitchFamily="34" charset="-120"/>
              </a:rPr>
              <a:t>2</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6766560" cy="292608"/>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WHERE GOVERNANCE LIVES</a:t>
            </a:r>
            <a:endParaRPr lang="en-US" sz="1200" dirty="0"/>
          </a:p>
        </p:txBody>
      </p:sp>
      <p:sp>
        <p:nvSpPr>
          <p:cNvPr id="3" name="Text 1"/>
          <p:cNvSpPr/>
          <p:nvPr/>
        </p:nvSpPr>
        <p:spPr>
          <a:xfrm>
            <a:off x="548640" y="713232"/>
            <a:ext cx="7040880" cy="566928"/>
          </a:xfrm>
          <a:prstGeom prst="rect">
            <a:avLst/>
          </a:prstGeom>
          <a:noFill/>
          <a:ln/>
        </p:spPr>
        <p:txBody>
          <a:bodyPr wrap="square" lIns="0" tIns="0" rIns="0" bIns="0" rtlCol="0" anchor="ctr"/>
          <a:lstStyle/>
          <a:p>
            <a:pPr marL="0" indent="0">
              <a:buNone/>
            </a:pPr>
            <a:r>
              <a:rPr lang="en-US" sz="2700" b="1" dirty="0">
                <a:solidFill>
                  <a:srgbClr val="14333F"/>
                </a:solidFill>
                <a:latin typeface="Bookman Old Style" pitchFamily="34" charset="0"/>
                <a:ea typeface="Bookman Old Style" pitchFamily="34" charset="-122"/>
                <a:cs typeface="Bookman Old Style" pitchFamily="34" charset="-120"/>
              </a:rPr>
              <a:t>The properties that govern a term</a:t>
            </a:r>
            <a:endParaRPr lang="en-US" sz="2700" dirty="0"/>
          </a:p>
        </p:txBody>
      </p:sp>
      <p:sp>
        <p:nvSpPr>
          <p:cNvPr id="4" name="Shape 2"/>
          <p:cNvSpPr/>
          <p:nvPr/>
        </p:nvSpPr>
        <p:spPr>
          <a:xfrm>
            <a:off x="548640" y="1499616"/>
            <a:ext cx="8046720" cy="585216"/>
          </a:xfrm>
          <a:prstGeom prst="roundRect">
            <a:avLst>
              <a:gd name="adj" fmla="val 10938"/>
            </a:avLst>
          </a:prstGeom>
          <a:solidFill>
            <a:srgbClr val="EEF6FA"/>
          </a:solidFill>
          <a:ln/>
          <a:effectLst>
            <a:outerShdw blurRad="50800" dist="12700" dir="5400000" algn="bl" rotWithShape="0">
              <a:srgbClr val="0A3D52">
                <a:alpha val="7000"/>
              </a:srgbClr>
            </a:outerShdw>
          </a:effectLst>
        </p:spPr>
      </p:sp>
      <p:sp>
        <p:nvSpPr>
          <p:cNvPr id="5" name="Shape 3"/>
          <p:cNvSpPr/>
          <p:nvPr/>
        </p:nvSpPr>
        <p:spPr>
          <a:xfrm>
            <a:off x="713232" y="1609344"/>
            <a:ext cx="384048" cy="384048"/>
          </a:xfrm>
          <a:prstGeom prst="ellipse">
            <a:avLst/>
          </a:prstGeom>
          <a:solidFill>
            <a:srgbClr val="1C7293"/>
          </a:solidFill>
          <a:ln/>
        </p:spPr>
      </p:sp>
      <p:pic>
        <p:nvPicPr>
          <p:cNvPr id="6" name="Image 0" descr="preencoded.png"/>
          <p:cNvPicPr>
            <a:picLocks noChangeAspect="1"/>
          </p:cNvPicPr>
          <p:nvPr/>
        </p:nvPicPr>
        <p:blipFill>
          <a:blip r:embed="rId3"/>
          <a:stretch>
            <a:fillRect/>
          </a:stretch>
        </p:blipFill>
        <p:spPr>
          <a:xfrm>
            <a:off x="800100" y="1696212"/>
            <a:ext cx="210312" cy="210312"/>
          </a:xfrm>
          <a:prstGeom prst="rect">
            <a:avLst/>
          </a:prstGeom>
        </p:spPr>
      </p:pic>
      <p:sp>
        <p:nvSpPr>
          <p:cNvPr id="7" name="Text 4"/>
          <p:cNvSpPr/>
          <p:nvPr/>
        </p:nvSpPr>
        <p:spPr>
          <a:xfrm>
            <a:off x="1280160" y="1499616"/>
            <a:ext cx="2103120" cy="585216"/>
          </a:xfrm>
          <a:prstGeom prst="rect">
            <a:avLst/>
          </a:prstGeom>
          <a:noFill/>
          <a:ln/>
        </p:spPr>
        <p:txBody>
          <a:bodyPr wrap="square" lIns="0" tIns="0" rIns="0" bIns="0" rtlCol="0" anchor="ctr"/>
          <a:lstStyle/>
          <a:p>
            <a:pPr marL="0" indent="0">
              <a:buNone/>
            </a:pPr>
            <a:r>
              <a:rPr lang="en-US" sz="1400" b="1" dirty="0">
                <a:solidFill>
                  <a:srgbClr val="14333F"/>
                </a:solidFill>
                <a:latin typeface="Calibri" pitchFamily="34" charset="0"/>
                <a:ea typeface="Calibri" pitchFamily="34" charset="-122"/>
                <a:cs typeface="Calibri" pitchFamily="34" charset="-120"/>
              </a:rPr>
              <a:t>Sensitivity</a:t>
            </a:r>
            <a:endParaRPr lang="en-US" sz="1400" dirty="0"/>
          </a:p>
        </p:txBody>
      </p:sp>
      <p:sp>
        <p:nvSpPr>
          <p:cNvPr id="8" name="Text 5"/>
          <p:cNvSpPr/>
          <p:nvPr/>
        </p:nvSpPr>
        <p:spPr>
          <a:xfrm>
            <a:off x="3383280" y="1499616"/>
            <a:ext cx="5029200" cy="585216"/>
          </a:xfrm>
          <a:prstGeom prst="rect">
            <a:avLst/>
          </a:prstGeom>
          <a:noFill/>
          <a:ln/>
        </p:spPr>
        <p:txBody>
          <a:bodyPr wrap="square" lIns="0" tIns="0" rIns="0" bIns="0" rtlCol="0" anchor="ctr"/>
          <a:lstStyle/>
          <a:p>
            <a:pPr marL="0" indent="0">
              <a:buNone/>
            </a:pPr>
            <a:r>
              <a:rPr lang="en-US" sz="1150" dirty="0">
                <a:solidFill>
                  <a:srgbClr val="5B7782"/>
                </a:solidFill>
                <a:latin typeface="Calibri" pitchFamily="34" charset="0"/>
                <a:ea typeface="Calibri" pitchFamily="34" charset="-122"/>
                <a:cs typeface="Calibri" pitchFamily="34" charset="-120"/>
              </a:rPr>
              <a:t>Unknown, Low, Medium, or High — the term’s confidentiality level. Always shown, defaults to Unknown.</a:t>
            </a:r>
            <a:endParaRPr lang="en-US" sz="1150" dirty="0"/>
          </a:p>
        </p:txBody>
      </p:sp>
      <p:sp>
        <p:nvSpPr>
          <p:cNvPr id="9" name="Shape 6"/>
          <p:cNvSpPr/>
          <p:nvPr/>
        </p:nvSpPr>
        <p:spPr>
          <a:xfrm>
            <a:off x="548640" y="2176272"/>
            <a:ext cx="8046720" cy="585216"/>
          </a:xfrm>
          <a:prstGeom prst="roundRect">
            <a:avLst>
              <a:gd name="adj" fmla="val 10938"/>
            </a:avLst>
          </a:prstGeom>
          <a:solidFill>
            <a:srgbClr val="EEF6FA"/>
          </a:solidFill>
          <a:ln/>
          <a:effectLst>
            <a:outerShdw blurRad="50800" dist="12700" dir="5400000" algn="bl" rotWithShape="0">
              <a:srgbClr val="0A3D52">
                <a:alpha val="7000"/>
              </a:srgbClr>
            </a:outerShdw>
          </a:effectLst>
        </p:spPr>
      </p:sp>
      <p:sp>
        <p:nvSpPr>
          <p:cNvPr id="10" name="Shape 7"/>
          <p:cNvSpPr/>
          <p:nvPr/>
        </p:nvSpPr>
        <p:spPr>
          <a:xfrm>
            <a:off x="713232" y="2286000"/>
            <a:ext cx="384048" cy="384048"/>
          </a:xfrm>
          <a:prstGeom prst="ellipse">
            <a:avLst/>
          </a:prstGeom>
          <a:solidFill>
            <a:srgbClr val="1C7293"/>
          </a:solidFill>
          <a:ln/>
        </p:spPr>
      </p:sp>
      <p:pic>
        <p:nvPicPr>
          <p:cNvPr id="11" name="Image 1" descr="preencoded.png"/>
          <p:cNvPicPr>
            <a:picLocks noChangeAspect="1"/>
          </p:cNvPicPr>
          <p:nvPr/>
        </p:nvPicPr>
        <p:blipFill>
          <a:blip r:embed="rId4"/>
          <a:stretch>
            <a:fillRect/>
          </a:stretch>
        </p:blipFill>
        <p:spPr>
          <a:xfrm>
            <a:off x="800100" y="2372868"/>
            <a:ext cx="210312" cy="210312"/>
          </a:xfrm>
          <a:prstGeom prst="rect">
            <a:avLst/>
          </a:prstGeom>
        </p:spPr>
      </p:pic>
      <p:sp>
        <p:nvSpPr>
          <p:cNvPr id="12" name="Text 8"/>
          <p:cNvSpPr/>
          <p:nvPr/>
        </p:nvSpPr>
        <p:spPr>
          <a:xfrm>
            <a:off x="1280160" y="2176272"/>
            <a:ext cx="2103120" cy="585216"/>
          </a:xfrm>
          <a:prstGeom prst="rect">
            <a:avLst/>
          </a:prstGeom>
          <a:noFill/>
          <a:ln/>
        </p:spPr>
        <p:txBody>
          <a:bodyPr wrap="square" lIns="0" tIns="0" rIns="0" bIns="0" rtlCol="0" anchor="ctr"/>
          <a:lstStyle/>
          <a:p>
            <a:pPr marL="0" indent="0">
              <a:buNone/>
            </a:pPr>
            <a:r>
              <a:rPr lang="en-US" sz="1400" b="1" dirty="0">
                <a:solidFill>
                  <a:srgbClr val="14333F"/>
                </a:solidFill>
                <a:latin typeface="Calibri" pitchFamily="34" charset="0"/>
                <a:ea typeface="Calibri" pitchFamily="34" charset="-122"/>
                <a:cs typeface="Calibri" pitchFamily="34" charset="-120"/>
              </a:rPr>
              <a:t>Domain</a:t>
            </a:r>
            <a:endParaRPr lang="en-US" sz="1400" dirty="0"/>
          </a:p>
        </p:txBody>
      </p:sp>
      <p:sp>
        <p:nvSpPr>
          <p:cNvPr id="13" name="Text 9"/>
          <p:cNvSpPr/>
          <p:nvPr/>
        </p:nvSpPr>
        <p:spPr>
          <a:xfrm>
            <a:off x="3383280" y="2176272"/>
            <a:ext cx="5029200" cy="585216"/>
          </a:xfrm>
          <a:prstGeom prst="rect">
            <a:avLst/>
          </a:prstGeom>
          <a:noFill/>
          <a:ln/>
        </p:spPr>
        <p:txBody>
          <a:bodyPr wrap="square" lIns="0" tIns="0" rIns="0" bIns="0" rtlCol="0" anchor="ctr"/>
          <a:lstStyle/>
          <a:p>
            <a:pPr marL="0" indent="0">
              <a:buNone/>
            </a:pPr>
            <a:r>
              <a:rPr lang="en-US" sz="1150" dirty="0">
                <a:solidFill>
                  <a:srgbClr val="5B7782"/>
                </a:solidFill>
                <a:latin typeface="Calibri" pitchFamily="34" charset="0"/>
                <a:ea typeface="Calibri" pitchFamily="34" charset="-122"/>
                <a:cs typeface="Calibri" pitchFamily="34" charset="-120"/>
              </a:rPr>
              <a:t>The industry domain, picked from PDC’s built-in list — for AWC, Utilities. Always shown.</a:t>
            </a:r>
            <a:endParaRPr lang="en-US" sz="1150" dirty="0"/>
          </a:p>
        </p:txBody>
      </p:sp>
      <p:sp>
        <p:nvSpPr>
          <p:cNvPr id="14" name="Shape 10"/>
          <p:cNvSpPr/>
          <p:nvPr/>
        </p:nvSpPr>
        <p:spPr>
          <a:xfrm>
            <a:off x="548640" y="2852928"/>
            <a:ext cx="8046720" cy="585216"/>
          </a:xfrm>
          <a:prstGeom prst="roundRect">
            <a:avLst>
              <a:gd name="adj" fmla="val 10938"/>
            </a:avLst>
          </a:prstGeom>
          <a:solidFill>
            <a:srgbClr val="EEF6FA"/>
          </a:solidFill>
          <a:ln/>
          <a:effectLst>
            <a:outerShdw blurRad="50800" dist="12700" dir="5400000" algn="bl" rotWithShape="0">
              <a:srgbClr val="0A3D52">
                <a:alpha val="7000"/>
              </a:srgbClr>
            </a:outerShdw>
          </a:effectLst>
        </p:spPr>
      </p:sp>
      <p:sp>
        <p:nvSpPr>
          <p:cNvPr id="15" name="Shape 11"/>
          <p:cNvSpPr/>
          <p:nvPr/>
        </p:nvSpPr>
        <p:spPr>
          <a:xfrm>
            <a:off x="713232" y="2962656"/>
            <a:ext cx="384048" cy="384048"/>
          </a:xfrm>
          <a:prstGeom prst="ellipse">
            <a:avLst/>
          </a:prstGeom>
          <a:solidFill>
            <a:srgbClr val="1C7293"/>
          </a:solidFill>
          <a:ln/>
        </p:spPr>
      </p:sp>
      <p:pic>
        <p:nvPicPr>
          <p:cNvPr id="16" name="Image 2" descr="preencoded.png"/>
          <p:cNvPicPr>
            <a:picLocks noChangeAspect="1"/>
          </p:cNvPicPr>
          <p:nvPr/>
        </p:nvPicPr>
        <p:blipFill>
          <a:blip r:embed="rId5"/>
          <a:stretch>
            <a:fillRect/>
          </a:stretch>
        </p:blipFill>
        <p:spPr>
          <a:xfrm>
            <a:off x="800100" y="3049524"/>
            <a:ext cx="210312" cy="210312"/>
          </a:xfrm>
          <a:prstGeom prst="rect">
            <a:avLst/>
          </a:prstGeom>
        </p:spPr>
      </p:pic>
      <p:sp>
        <p:nvSpPr>
          <p:cNvPr id="17" name="Text 12"/>
          <p:cNvSpPr/>
          <p:nvPr/>
        </p:nvSpPr>
        <p:spPr>
          <a:xfrm>
            <a:off x="1280160" y="2852928"/>
            <a:ext cx="2103120" cy="585216"/>
          </a:xfrm>
          <a:prstGeom prst="rect">
            <a:avLst/>
          </a:prstGeom>
          <a:noFill/>
          <a:ln/>
        </p:spPr>
        <p:txBody>
          <a:bodyPr wrap="square" lIns="0" tIns="0" rIns="0" bIns="0" rtlCol="0" anchor="ctr"/>
          <a:lstStyle/>
          <a:p>
            <a:pPr marL="0" indent="0">
              <a:buNone/>
            </a:pPr>
            <a:r>
              <a:rPr lang="en-US" sz="1400" b="1" dirty="0">
                <a:solidFill>
                  <a:srgbClr val="14333F"/>
                </a:solidFill>
                <a:latin typeface="Calibri" pitchFamily="34" charset="0"/>
                <a:ea typeface="Calibri" pitchFamily="34" charset="-122"/>
                <a:cs typeface="Calibri" pitchFamily="34" charset="-120"/>
              </a:rPr>
              <a:t>Classification</a:t>
            </a:r>
            <a:endParaRPr lang="en-US" sz="1400" dirty="0"/>
          </a:p>
        </p:txBody>
      </p:sp>
      <p:sp>
        <p:nvSpPr>
          <p:cNvPr id="18" name="Text 13"/>
          <p:cNvSpPr/>
          <p:nvPr/>
        </p:nvSpPr>
        <p:spPr>
          <a:xfrm>
            <a:off x="3383280" y="2852928"/>
            <a:ext cx="5029200" cy="585216"/>
          </a:xfrm>
          <a:prstGeom prst="rect">
            <a:avLst/>
          </a:prstGeom>
          <a:noFill/>
          <a:ln/>
        </p:spPr>
        <p:txBody>
          <a:bodyPr wrap="square" lIns="0" tIns="0" rIns="0" bIns="0" rtlCol="0" anchor="ctr"/>
          <a:lstStyle/>
          <a:p>
            <a:pPr marL="0" indent="0">
              <a:buNone/>
            </a:pPr>
            <a:r>
              <a:rPr lang="en-US" sz="1150" dirty="0">
                <a:solidFill>
                  <a:srgbClr val="5B7782"/>
                </a:solidFill>
                <a:latin typeface="Calibri" pitchFamily="34" charset="0"/>
                <a:ea typeface="Calibri" pitchFamily="34" charset="-122"/>
                <a:cs typeface="Calibri" pitchFamily="34" charset="-120"/>
              </a:rPr>
              <a:t>Public, Private, or Company Confidential.</a:t>
            </a:r>
            <a:endParaRPr lang="en-US" sz="1150" dirty="0"/>
          </a:p>
        </p:txBody>
      </p:sp>
      <p:sp>
        <p:nvSpPr>
          <p:cNvPr id="19" name="Shape 14"/>
          <p:cNvSpPr/>
          <p:nvPr/>
        </p:nvSpPr>
        <p:spPr>
          <a:xfrm>
            <a:off x="548640" y="3529584"/>
            <a:ext cx="8046720" cy="585216"/>
          </a:xfrm>
          <a:prstGeom prst="roundRect">
            <a:avLst>
              <a:gd name="adj" fmla="val 10938"/>
            </a:avLst>
          </a:prstGeom>
          <a:solidFill>
            <a:srgbClr val="EEF6FA"/>
          </a:solidFill>
          <a:ln/>
          <a:effectLst>
            <a:outerShdw blurRad="50800" dist="12700" dir="5400000" algn="bl" rotWithShape="0">
              <a:srgbClr val="0A3D52">
                <a:alpha val="7000"/>
              </a:srgbClr>
            </a:outerShdw>
          </a:effectLst>
        </p:spPr>
      </p:sp>
      <p:sp>
        <p:nvSpPr>
          <p:cNvPr id="20" name="Shape 15"/>
          <p:cNvSpPr/>
          <p:nvPr/>
        </p:nvSpPr>
        <p:spPr>
          <a:xfrm>
            <a:off x="713232" y="3639312"/>
            <a:ext cx="384048" cy="384048"/>
          </a:xfrm>
          <a:prstGeom prst="ellipse">
            <a:avLst/>
          </a:prstGeom>
          <a:solidFill>
            <a:srgbClr val="1C7293"/>
          </a:solidFill>
          <a:ln/>
        </p:spPr>
      </p:sp>
      <p:pic>
        <p:nvPicPr>
          <p:cNvPr id="21" name="Image 3" descr="preencoded.png"/>
          <p:cNvPicPr>
            <a:picLocks noChangeAspect="1"/>
          </p:cNvPicPr>
          <p:nvPr/>
        </p:nvPicPr>
        <p:blipFill>
          <a:blip r:embed="rId6"/>
          <a:stretch>
            <a:fillRect/>
          </a:stretch>
        </p:blipFill>
        <p:spPr>
          <a:xfrm>
            <a:off x="800100" y="3726180"/>
            <a:ext cx="210312" cy="210312"/>
          </a:xfrm>
          <a:prstGeom prst="rect">
            <a:avLst/>
          </a:prstGeom>
        </p:spPr>
      </p:pic>
      <p:sp>
        <p:nvSpPr>
          <p:cNvPr id="22" name="Text 16"/>
          <p:cNvSpPr/>
          <p:nvPr/>
        </p:nvSpPr>
        <p:spPr>
          <a:xfrm>
            <a:off x="1280160" y="3529584"/>
            <a:ext cx="2103120" cy="585216"/>
          </a:xfrm>
          <a:prstGeom prst="rect">
            <a:avLst/>
          </a:prstGeom>
          <a:noFill/>
          <a:ln/>
        </p:spPr>
        <p:txBody>
          <a:bodyPr wrap="square" lIns="0" tIns="0" rIns="0" bIns="0" rtlCol="0" anchor="ctr"/>
          <a:lstStyle/>
          <a:p>
            <a:pPr marL="0" indent="0">
              <a:buNone/>
            </a:pPr>
            <a:r>
              <a:rPr lang="en-US" sz="1400" b="1" dirty="0">
                <a:solidFill>
                  <a:srgbClr val="14333F"/>
                </a:solidFill>
                <a:latin typeface="Calibri" pitchFamily="34" charset="0"/>
                <a:ea typeface="Calibri" pitchFamily="34" charset="-122"/>
                <a:cs typeface="Calibri" pitchFamily="34" charset="-120"/>
              </a:rPr>
              <a:t>Business Steward</a:t>
            </a:r>
            <a:endParaRPr lang="en-US" sz="1400" dirty="0"/>
          </a:p>
        </p:txBody>
      </p:sp>
      <p:sp>
        <p:nvSpPr>
          <p:cNvPr id="23" name="Text 17"/>
          <p:cNvSpPr/>
          <p:nvPr/>
        </p:nvSpPr>
        <p:spPr>
          <a:xfrm>
            <a:off x="3383280" y="3529584"/>
            <a:ext cx="5029200" cy="585216"/>
          </a:xfrm>
          <a:prstGeom prst="rect">
            <a:avLst/>
          </a:prstGeom>
          <a:noFill/>
          <a:ln/>
        </p:spPr>
        <p:txBody>
          <a:bodyPr wrap="square" lIns="0" tIns="0" rIns="0" bIns="0" rtlCol="0" anchor="ctr"/>
          <a:lstStyle/>
          <a:p>
            <a:pPr marL="0" indent="0">
              <a:buNone/>
            </a:pPr>
            <a:r>
              <a:rPr lang="en-US" sz="1150" dirty="0">
                <a:solidFill>
                  <a:srgbClr val="5B7782"/>
                </a:solidFill>
                <a:latin typeface="Calibri" pitchFamily="34" charset="0"/>
                <a:ea typeface="Calibri" pitchFamily="34" charset="-122"/>
                <a:cs typeface="Calibri" pitchFamily="34" charset="-120"/>
              </a:rPr>
              <a:t>The role accountable for changes to the term.</a:t>
            </a:r>
            <a:endParaRPr lang="en-US" sz="1150" dirty="0"/>
          </a:p>
        </p:txBody>
      </p:sp>
      <p:sp>
        <p:nvSpPr>
          <p:cNvPr id="24" name="Shape 18"/>
          <p:cNvSpPr/>
          <p:nvPr/>
        </p:nvSpPr>
        <p:spPr>
          <a:xfrm>
            <a:off x="548640" y="4206240"/>
            <a:ext cx="8046720" cy="585216"/>
          </a:xfrm>
          <a:prstGeom prst="roundRect">
            <a:avLst>
              <a:gd name="adj" fmla="val 10938"/>
            </a:avLst>
          </a:prstGeom>
          <a:solidFill>
            <a:srgbClr val="EEF6FA"/>
          </a:solidFill>
          <a:ln/>
          <a:effectLst>
            <a:outerShdw blurRad="50800" dist="12700" dir="5400000" algn="bl" rotWithShape="0">
              <a:srgbClr val="0A3D52">
                <a:alpha val="7000"/>
              </a:srgbClr>
            </a:outerShdw>
          </a:effectLst>
        </p:spPr>
      </p:sp>
      <p:sp>
        <p:nvSpPr>
          <p:cNvPr id="25" name="Shape 19"/>
          <p:cNvSpPr/>
          <p:nvPr/>
        </p:nvSpPr>
        <p:spPr>
          <a:xfrm>
            <a:off x="713232" y="4315968"/>
            <a:ext cx="384048" cy="384048"/>
          </a:xfrm>
          <a:prstGeom prst="ellipse">
            <a:avLst/>
          </a:prstGeom>
          <a:solidFill>
            <a:srgbClr val="1C7293"/>
          </a:solidFill>
          <a:ln/>
        </p:spPr>
      </p:sp>
      <p:pic>
        <p:nvPicPr>
          <p:cNvPr id="26" name="Image 4" descr="preencoded.png"/>
          <p:cNvPicPr>
            <a:picLocks noChangeAspect="1"/>
          </p:cNvPicPr>
          <p:nvPr/>
        </p:nvPicPr>
        <p:blipFill>
          <a:blip r:embed="rId7"/>
          <a:stretch>
            <a:fillRect/>
          </a:stretch>
        </p:blipFill>
        <p:spPr>
          <a:xfrm>
            <a:off x="800100" y="4402836"/>
            <a:ext cx="210312" cy="210312"/>
          </a:xfrm>
          <a:prstGeom prst="rect">
            <a:avLst/>
          </a:prstGeom>
        </p:spPr>
      </p:pic>
      <p:sp>
        <p:nvSpPr>
          <p:cNvPr id="27" name="Text 20"/>
          <p:cNvSpPr/>
          <p:nvPr/>
        </p:nvSpPr>
        <p:spPr>
          <a:xfrm>
            <a:off x="1280160" y="4206240"/>
            <a:ext cx="2103120" cy="585216"/>
          </a:xfrm>
          <a:prstGeom prst="rect">
            <a:avLst/>
          </a:prstGeom>
          <a:noFill/>
          <a:ln/>
        </p:spPr>
        <p:txBody>
          <a:bodyPr wrap="square" lIns="0" tIns="0" rIns="0" bIns="0" rtlCol="0" anchor="ctr"/>
          <a:lstStyle/>
          <a:p>
            <a:pPr marL="0" indent="0">
              <a:buNone/>
            </a:pPr>
            <a:r>
              <a:rPr lang="en-US" sz="1400" b="1" dirty="0">
                <a:solidFill>
                  <a:srgbClr val="14333F"/>
                </a:solidFill>
                <a:latin typeface="Calibri" pitchFamily="34" charset="0"/>
                <a:ea typeface="Calibri" pitchFamily="34" charset="-122"/>
                <a:cs typeface="Calibri" pitchFamily="34" charset="-120"/>
              </a:rPr>
              <a:t>Owner</a:t>
            </a:r>
            <a:endParaRPr lang="en-US" sz="1400" dirty="0"/>
          </a:p>
        </p:txBody>
      </p:sp>
      <p:sp>
        <p:nvSpPr>
          <p:cNvPr id="28" name="Text 21"/>
          <p:cNvSpPr/>
          <p:nvPr/>
        </p:nvSpPr>
        <p:spPr>
          <a:xfrm>
            <a:off x="3383280" y="4206240"/>
            <a:ext cx="5029200" cy="585216"/>
          </a:xfrm>
          <a:prstGeom prst="rect">
            <a:avLst/>
          </a:prstGeom>
          <a:noFill/>
          <a:ln/>
        </p:spPr>
        <p:txBody>
          <a:bodyPr wrap="square" lIns="0" tIns="0" rIns="0" bIns="0" rtlCol="0" anchor="ctr"/>
          <a:lstStyle/>
          <a:p>
            <a:pPr marL="0" indent="0">
              <a:buNone/>
            </a:pPr>
            <a:r>
              <a:rPr lang="en-US" sz="1150" dirty="0">
                <a:solidFill>
                  <a:srgbClr val="5B7782"/>
                </a:solidFill>
                <a:latin typeface="Calibri" pitchFamily="34" charset="0"/>
                <a:ea typeface="Calibri" pitchFamily="34" charset="-122"/>
                <a:cs typeface="Calibri" pitchFamily="34" charset="-120"/>
              </a:rPr>
              <a:t>The role responsible for maintaining the term.</a:t>
            </a:r>
            <a:endParaRPr lang="en-US" sz="1150" dirty="0"/>
          </a:p>
        </p:txBody>
      </p:sp>
      <p:sp>
        <p:nvSpPr>
          <p:cNvPr id="29" name="Text 22"/>
          <p:cNvSpPr/>
          <p:nvPr/>
        </p:nvSpPr>
        <p:spPr>
          <a:xfrm>
            <a:off x="548640" y="4828032"/>
            <a:ext cx="7315200" cy="274320"/>
          </a:xfrm>
          <a:prstGeom prst="rect">
            <a:avLst/>
          </a:prstGeom>
          <a:noFill/>
          <a:ln/>
        </p:spPr>
        <p:txBody>
          <a:bodyPr wrap="square" lIns="0" tIns="0" rIns="0" bIns="0" rtlCol="0" anchor="ctr"/>
          <a:lstStyle/>
          <a:p>
            <a:pPr marL="0" indent="0">
              <a:buNone/>
            </a:pPr>
            <a:r>
              <a:rPr lang="en-US" sz="950" dirty="0">
                <a:solidFill>
                  <a:srgbClr val="5B7782"/>
                </a:solidFill>
                <a:latin typeface="Calibri" pitchFamily="34" charset="0"/>
                <a:ea typeface="Calibri" pitchFamily="34" charset="-122"/>
                <a:cs typeface="Calibri" pitchFamily="34" charset="-120"/>
              </a:rPr>
              <a:t>Workshop 3 · Each term also carries Tags and admin-defined Custom Properties — set on its Summary page, then link it to your data</a:t>
            </a:r>
            <a:endParaRPr lang="en-US" sz="950" dirty="0"/>
          </a:p>
        </p:txBody>
      </p:sp>
      <p:sp>
        <p:nvSpPr>
          <p:cNvPr id="30" name="Text 23"/>
          <p:cNvSpPr/>
          <p:nvPr/>
        </p:nvSpPr>
        <p:spPr>
          <a:xfrm>
            <a:off x="8366760" y="4828032"/>
            <a:ext cx="320040" cy="274320"/>
          </a:xfrm>
          <a:prstGeom prst="rect">
            <a:avLst/>
          </a:prstGeom>
          <a:noFill/>
          <a:ln/>
        </p:spPr>
        <p:txBody>
          <a:bodyPr wrap="square" lIns="0" tIns="0" rIns="0" bIns="0" rtlCol="0" anchor="ctr"/>
          <a:lstStyle/>
          <a:p>
            <a:pPr marL="0" indent="0" algn="r">
              <a:buNone/>
            </a:pPr>
            <a:r>
              <a:rPr lang="en-US" sz="950" dirty="0">
                <a:solidFill>
                  <a:srgbClr val="5B7782"/>
                </a:solidFill>
                <a:latin typeface="Calibri" pitchFamily="34" charset="0"/>
                <a:ea typeface="Calibri" pitchFamily="34" charset="-122"/>
                <a:cs typeface="Calibri" pitchFamily="34" charset="-120"/>
              </a:rPr>
              <a:t>3</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6766560" cy="292608"/>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SENSITIVITY</a:t>
            </a:r>
            <a:endParaRPr lang="en-US" sz="1200" dirty="0"/>
          </a:p>
        </p:txBody>
      </p:sp>
      <p:sp>
        <p:nvSpPr>
          <p:cNvPr id="3" name="Text 1"/>
          <p:cNvSpPr/>
          <p:nvPr/>
        </p:nvSpPr>
        <p:spPr>
          <a:xfrm>
            <a:off x="548640" y="713232"/>
            <a:ext cx="7040880" cy="566928"/>
          </a:xfrm>
          <a:prstGeom prst="rect">
            <a:avLst/>
          </a:prstGeom>
          <a:noFill/>
          <a:ln/>
        </p:spPr>
        <p:txBody>
          <a:bodyPr wrap="square" lIns="0" tIns="0" rIns="0" bIns="0" rtlCol="0" anchor="ctr"/>
          <a:lstStyle/>
          <a:p>
            <a:pPr marL="0" indent="0">
              <a:buNone/>
            </a:pPr>
            <a:r>
              <a:rPr lang="en-US" sz="2700" b="1" dirty="0">
                <a:solidFill>
                  <a:srgbClr val="14333F"/>
                </a:solidFill>
                <a:latin typeface="Bookman Old Style" pitchFamily="34" charset="0"/>
                <a:ea typeface="Bookman Old Style" pitchFamily="34" charset="-122"/>
                <a:cs typeface="Bookman Old Style" pitchFamily="34" charset="-120"/>
              </a:rPr>
              <a:t>How sensitive is the data behind the term?</a:t>
            </a:r>
            <a:endParaRPr lang="en-US" sz="2700" dirty="0"/>
          </a:p>
        </p:txBody>
      </p:sp>
      <p:sp>
        <p:nvSpPr>
          <p:cNvPr id="4" name="Shape 2"/>
          <p:cNvSpPr/>
          <p:nvPr/>
        </p:nvSpPr>
        <p:spPr>
          <a:xfrm>
            <a:off x="548640" y="1499616"/>
            <a:ext cx="8046720" cy="585216"/>
          </a:xfrm>
          <a:prstGeom prst="roundRect">
            <a:avLst>
              <a:gd name="adj" fmla="val 10938"/>
            </a:avLst>
          </a:prstGeom>
          <a:solidFill>
            <a:srgbClr val="EEF6FA"/>
          </a:solidFill>
          <a:ln/>
          <a:effectLst>
            <a:outerShdw blurRad="50800" dist="12700" dir="5400000" algn="bl" rotWithShape="0">
              <a:srgbClr val="0A3D52">
                <a:alpha val="7000"/>
              </a:srgbClr>
            </a:outerShdw>
          </a:effectLst>
        </p:spPr>
      </p:sp>
      <p:sp>
        <p:nvSpPr>
          <p:cNvPr id="5" name="Shape 3"/>
          <p:cNvSpPr/>
          <p:nvPr/>
        </p:nvSpPr>
        <p:spPr>
          <a:xfrm>
            <a:off x="713232" y="1609344"/>
            <a:ext cx="384048" cy="384048"/>
          </a:xfrm>
          <a:prstGeom prst="ellipse">
            <a:avLst/>
          </a:prstGeom>
          <a:solidFill>
            <a:srgbClr val="1C7293"/>
          </a:solidFill>
          <a:ln/>
        </p:spPr>
      </p:sp>
      <p:pic>
        <p:nvPicPr>
          <p:cNvPr id="6" name="Image 0" descr="preencoded.png"/>
          <p:cNvPicPr>
            <a:picLocks noChangeAspect="1"/>
          </p:cNvPicPr>
          <p:nvPr/>
        </p:nvPicPr>
        <p:blipFill>
          <a:blip r:embed="rId2"/>
          <a:stretch>
            <a:fillRect/>
          </a:stretch>
        </p:blipFill>
        <p:spPr>
          <a:xfrm>
            <a:off x="800100" y="1696212"/>
            <a:ext cx="210312" cy="210312"/>
          </a:xfrm>
          <a:prstGeom prst="rect">
            <a:avLst/>
          </a:prstGeom>
        </p:spPr>
      </p:pic>
      <p:sp>
        <p:nvSpPr>
          <p:cNvPr id="7" name="Text 4"/>
          <p:cNvSpPr/>
          <p:nvPr/>
        </p:nvSpPr>
        <p:spPr>
          <a:xfrm>
            <a:off x="1280160" y="1499616"/>
            <a:ext cx="2103120" cy="585216"/>
          </a:xfrm>
          <a:prstGeom prst="rect">
            <a:avLst/>
          </a:prstGeom>
          <a:noFill/>
          <a:ln/>
        </p:spPr>
        <p:txBody>
          <a:bodyPr wrap="square" lIns="0" tIns="0" rIns="0" bIns="0" rtlCol="0" anchor="ctr"/>
          <a:lstStyle/>
          <a:p>
            <a:pPr marL="0" indent="0">
              <a:buNone/>
            </a:pPr>
            <a:r>
              <a:rPr lang="en-US" sz="1400" b="1" dirty="0">
                <a:solidFill>
                  <a:srgbClr val="14333F"/>
                </a:solidFill>
                <a:latin typeface="Calibri" pitchFamily="34" charset="0"/>
                <a:ea typeface="Calibri" pitchFamily="34" charset="-122"/>
                <a:cs typeface="Calibri" pitchFamily="34" charset="-120"/>
              </a:rPr>
              <a:t>What it is</a:t>
            </a:r>
            <a:endParaRPr lang="en-US" sz="1400" dirty="0"/>
          </a:p>
        </p:txBody>
      </p:sp>
      <p:sp>
        <p:nvSpPr>
          <p:cNvPr id="8" name="Text 5"/>
          <p:cNvSpPr/>
          <p:nvPr/>
        </p:nvSpPr>
        <p:spPr>
          <a:xfrm>
            <a:off x="3383280" y="1499616"/>
            <a:ext cx="5029200" cy="585216"/>
          </a:xfrm>
          <a:prstGeom prst="rect">
            <a:avLst/>
          </a:prstGeom>
          <a:noFill/>
          <a:ln/>
        </p:spPr>
        <p:txBody>
          <a:bodyPr wrap="square" lIns="0" tIns="0" rIns="0" bIns="0" rtlCol="0" anchor="ctr"/>
          <a:lstStyle/>
          <a:p>
            <a:pPr marL="0" indent="0">
              <a:buNone/>
            </a:pPr>
            <a:r>
              <a:rPr lang="en-US" sz="1150" dirty="0">
                <a:solidFill>
                  <a:srgbClr val="5B7782"/>
                </a:solidFill>
                <a:latin typeface="Calibri" pitchFamily="34" charset="0"/>
                <a:ea typeface="Calibri" pitchFamily="34" charset="-122"/>
                <a:cs typeface="Calibri" pitchFamily="34" charset="-120"/>
              </a:rPr>
              <a:t>A governance flag for how much of a liability the data is if exposed — shown on every term, and a Key Metric on the data. Levels: Unknown, Low, Medium, High.</a:t>
            </a:r>
            <a:endParaRPr lang="en-US" sz="1150" dirty="0"/>
          </a:p>
        </p:txBody>
      </p:sp>
      <p:sp>
        <p:nvSpPr>
          <p:cNvPr id="9" name="Shape 6"/>
          <p:cNvSpPr/>
          <p:nvPr/>
        </p:nvSpPr>
        <p:spPr>
          <a:xfrm>
            <a:off x="548640" y="2176272"/>
            <a:ext cx="8046720" cy="585216"/>
          </a:xfrm>
          <a:prstGeom prst="roundRect">
            <a:avLst>
              <a:gd name="adj" fmla="val 10938"/>
            </a:avLst>
          </a:prstGeom>
          <a:solidFill>
            <a:srgbClr val="EEF6FA"/>
          </a:solidFill>
          <a:ln/>
          <a:effectLst>
            <a:outerShdw blurRad="50800" dist="12700" dir="5400000" algn="bl" rotWithShape="0">
              <a:srgbClr val="0A3D52">
                <a:alpha val="7000"/>
              </a:srgbClr>
            </a:outerShdw>
          </a:effectLst>
        </p:spPr>
      </p:sp>
      <p:sp>
        <p:nvSpPr>
          <p:cNvPr id="10" name="Shape 7"/>
          <p:cNvSpPr/>
          <p:nvPr/>
        </p:nvSpPr>
        <p:spPr>
          <a:xfrm>
            <a:off x="713232" y="2286000"/>
            <a:ext cx="384048" cy="384048"/>
          </a:xfrm>
          <a:prstGeom prst="ellipse">
            <a:avLst/>
          </a:prstGeom>
          <a:solidFill>
            <a:srgbClr val="1C7293"/>
          </a:solidFill>
          <a:ln/>
        </p:spPr>
      </p:sp>
      <p:pic>
        <p:nvPicPr>
          <p:cNvPr id="11" name="Image 1" descr="preencoded.png"/>
          <p:cNvPicPr>
            <a:picLocks noChangeAspect="1"/>
          </p:cNvPicPr>
          <p:nvPr/>
        </p:nvPicPr>
        <p:blipFill>
          <a:blip r:embed="rId3"/>
          <a:stretch>
            <a:fillRect/>
          </a:stretch>
        </p:blipFill>
        <p:spPr>
          <a:xfrm>
            <a:off x="800100" y="2372868"/>
            <a:ext cx="210312" cy="210312"/>
          </a:xfrm>
          <a:prstGeom prst="rect">
            <a:avLst/>
          </a:prstGeom>
        </p:spPr>
      </p:pic>
      <p:sp>
        <p:nvSpPr>
          <p:cNvPr id="12" name="Text 8"/>
          <p:cNvSpPr/>
          <p:nvPr/>
        </p:nvSpPr>
        <p:spPr>
          <a:xfrm>
            <a:off x="1280160" y="2176272"/>
            <a:ext cx="2103120" cy="585216"/>
          </a:xfrm>
          <a:prstGeom prst="rect">
            <a:avLst/>
          </a:prstGeom>
          <a:noFill/>
          <a:ln/>
        </p:spPr>
        <p:txBody>
          <a:bodyPr wrap="square" lIns="0" tIns="0" rIns="0" bIns="0" rtlCol="0" anchor="ctr"/>
          <a:lstStyle/>
          <a:p>
            <a:pPr marL="0" indent="0">
              <a:buNone/>
            </a:pPr>
            <a:r>
              <a:rPr lang="en-US" sz="1400" b="1" dirty="0">
                <a:solidFill>
                  <a:srgbClr val="14333F"/>
                </a:solidFill>
                <a:latin typeface="Calibri" pitchFamily="34" charset="0"/>
                <a:ea typeface="Calibri" pitchFamily="34" charset="-122"/>
                <a:cs typeface="Calibri" pitchFamily="34" charset="-120"/>
              </a:rPr>
              <a:t>High</a:t>
            </a:r>
            <a:endParaRPr lang="en-US" sz="1400" dirty="0"/>
          </a:p>
        </p:txBody>
      </p:sp>
      <p:sp>
        <p:nvSpPr>
          <p:cNvPr id="13" name="Text 9"/>
          <p:cNvSpPr/>
          <p:nvPr/>
        </p:nvSpPr>
        <p:spPr>
          <a:xfrm>
            <a:off x="3383280" y="2176272"/>
            <a:ext cx="5029200" cy="585216"/>
          </a:xfrm>
          <a:prstGeom prst="rect">
            <a:avLst/>
          </a:prstGeom>
          <a:noFill/>
          <a:ln/>
        </p:spPr>
        <p:txBody>
          <a:bodyPr wrap="square" lIns="0" tIns="0" rIns="0" bIns="0" rtlCol="0" anchor="ctr"/>
          <a:lstStyle/>
          <a:p>
            <a:pPr marL="0" indent="0">
              <a:buNone/>
            </a:pPr>
            <a:r>
              <a:rPr lang="en-US" sz="1150" dirty="0">
                <a:solidFill>
                  <a:srgbClr val="5B7782"/>
                </a:solidFill>
                <a:latin typeface="Calibri" pitchFamily="34" charset="0"/>
                <a:ea typeface="Calibri" pitchFamily="34" charset="-122"/>
                <a:cs typeface="Calibri" pitchFamily="34" charset="-120"/>
              </a:rPr>
              <a:t>Direct identifiers, financial, or contact data — e.g. Customer Name, Customer Account Number, Service Address.</a:t>
            </a:r>
            <a:endParaRPr lang="en-US" sz="1150" dirty="0"/>
          </a:p>
        </p:txBody>
      </p:sp>
      <p:sp>
        <p:nvSpPr>
          <p:cNvPr id="14" name="Shape 10"/>
          <p:cNvSpPr/>
          <p:nvPr/>
        </p:nvSpPr>
        <p:spPr>
          <a:xfrm>
            <a:off x="548640" y="2852928"/>
            <a:ext cx="8046720" cy="585216"/>
          </a:xfrm>
          <a:prstGeom prst="roundRect">
            <a:avLst>
              <a:gd name="adj" fmla="val 10938"/>
            </a:avLst>
          </a:prstGeom>
          <a:solidFill>
            <a:srgbClr val="EEF6FA"/>
          </a:solidFill>
          <a:ln/>
          <a:effectLst>
            <a:outerShdw blurRad="50800" dist="12700" dir="5400000" algn="bl" rotWithShape="0">
              <a:srgbClr val="0A3D52">
                <a:alpha val="7000"/>
              </a:srgbClr>
            </a:outerShdw>
          </a:effectLst>
        </p:spPr>
      </p:sp>
      <p:sp>
        <p:nvSpPr>
          <p:cNvPr id="15" name="Shape 11"/>
          <p:cNvSpPr/>
          <p:nvPr/>
        </p:nvSpPr>
        <p:spPr>
          <a:xfrm>
            <a:off x="713232" y="2962656"/>
            <a:ext cx="384048" cy="384048"/>
          </a:xfrm>
          <a:prstGeom prst="ellipse">
            <a:avLst/>
          </a:prstGeom>
          <a:solidFill>
            <a:srgbClr val="1C7293"/>
          </a:solidFill>
          <a:ln/>
        </p:spPr>
      </p:sp>
      <p:pic>
        <p:nvPicPr>
          <p:cNvPr id="16" name="Image 2" descr="preencoded.png"/>
          <p:cNvPicPr>
            <a:picLocks noChangeAspect="1"/>
          </p:cNvPicPr>
          <p:nvPr/>
        </p:nvPicPr>
        <p:blipFill>
          <a:blip r:embed="rId4"/>
          <a:stretch>
            <a:fillRect/>
          </a:stretch>
        </p:blipFill>
        <p:spPr>
          <a:xfrm>
            <a:off x="800100" y="3049524"/>
            <a:ext cx="210312" cy="210312"/>
          </a:xfrm>
          <a:prstGeom prst="rect">
            <a:avLst/>
          </a:prstGeom>
        </p:spPr>
      </p:pic>
      <p:sp>
        <p:nvSpPr>
          <p:cNvPr id="17" name="Text 12"/>
          <p:cNvSpPr/>
          <p:nvPr/>
        </p:nvSpPr>
        <p:spPr>
          <a:xfrm>
            <a:off x="1280160" y="2852928"/>
            <a:ext cx="2103120" cy="585216"/>
          </a:xfrm>
          <a:prstGeom prst="rect">
            <a:avLst/>
          </a:prstGeom>
          <a:noFill/>
          <a:ln/>
        </p:spPr>
        <p:txBody>
          <a:bodyPr wrap="square" lIns="0" tIns="0" rIns="0" bIns="0" rtlCol="0" anchor="ctr"/>
          <a:lstStyle/>
          <a:p>
            <a:pPr marL="0" indent="0">
              <a:buNone/>
            </a:pPr>
            <a:r>
              <a:rPr lang="en-US" sz="1400" b="1" dirty="0">
                <a:solidFill>
                  <a:srgbClr val="14333F"/>
                </a:solidFill>
                <a:latin typeface="Calibri" pitchFamily="34" charset="0"/>
                <a:ea typeface="Calibri" pitchFamily="34" charset="-122"/>
                <a:cs typeface="Calibri" pitchFamily="34" charset="-120"/>
              </a:rPr>
              <a:t>Medium</a:t>
            </a:r>
            <a:endParaRPr lang="en-US" sz="1400" dirty="0"/>
          </a:p>
        </p:txBody>
      </p:sp>
      <p:sp>
        <p:nvSpPr>
          <p:cNvPr id="18" name="Text 13"/>
          <p:cNvSpPr/>
          <p:nvPr/>
        </p:nvSpPr>
        <p:spPr>
          <a:xfrm>
            <a:off x="3383280" y="2852928"/>
            <a:ext cx="5029200" cy="585216"/>
          </a:xfrm>
          <a:prstGeom prst="rect">
            <a:avLst/>
          </a:prstGeom>
          <a:noFill/>
          <a:ln/>
        </p:spPr>
        <p:txBody>
          <a:bodyPr wrap="square" lIns="0" tIns="0" rIns="0" bIns="0" rtlCol="0" anchor="ctr"/>
          <a:lstStyle/>
          <a:p>
            <a:pPr marL="0" indent="0">
              <a:buNone/>
            </a:pPr>
            <a:r>
              <a:rPr lang="en-US" sz="1150" dirty="0">
                <a:solidFill>
                  <a:srgbClr val="5B7782"/>
                </a:solidFill>
                <a:latin typeface="Calibri" pitchFamily="34" charset="0"/>
                <a:ea typeface="Calibri" pitchFamily="34" charset="-122"/>
                <a:cs typeface="Calibri" pitchFamily="34" charset="-120"/>
              </a:rPr>
              <a:t>Regulated or health-related readings — e.g. Lead Level, EPA Compliance Status.</a:t>
            </a:r>
            <a:endParaRPr lang="en-US" sz="1150" dirty="0"/>
          </a:p>
        </p:txBody>
      </p:sp>
      <p:sp>
        <p:nvSpPr>
          <p:cNvPr id="19" name="Shape 14"/>
          <p:cNvSpPr/>
          <p:nvPr/>
        </p:nvSpPr>
        <p:spPr>
          <a:xfrm>
            <a:off x="548640" y="3529584"/>
            <a:ext cx="8046720" cy="585216"/>
          </a:xfrm>
          <a:prstGeom prst="roundRect">
            <a:avLst>
              <a:gd name="adj" fmla="val 10938"/>
            </a:avLst>
          </a:prstGeom>
          <a:solidFill>
            <a:srgbClr val="EEF6FA"/>
          </a:solidFill>
          <a:ln/>
          <a:effectLst>
            <a:outerShdw blurRad="50800" dist="12700" dir="5400000" algn="bl" rotWithShape="0">
              <a:srgbClr val="0A3D52">
                <a:alpha val="7000"/>
              </a:srgbClr>
            </a:outerShdw>
          </a:effectLst>
        </p:spPr>
      </p:sp>
      <p:sp>
        <p:nvSpPr>
          <p:cNvPr id="20" name="Shape 15"/>
          <p:cNvSpPr/>
          <p:nvPr/>
        </p:nvSpPr>
        <p:spPr>
          <a:xfrm>
            <a:off x="713232" y="3639312"/>
            <a:ext cx="384048" cy="384048"/>
          </a:xfrm>
          <a:prstGeom prst="ellipse">
            <a:avLst/>
          </a:prstGeom>
          <a:solidFill>
            <a:srgbClr val="1C7293"/>
          </a:solidFill>
          <a:ln/>
        </p:spPr>
      </p:sp>
      <p:pic>
        <p:nvPicPr>
          <p:cNvPr id="21" name="Image 3" descr="preencoded.png"/>
          <p:cNvPicPr>
            <a:picLocks noChangeAspect="1"/>
          </p:cNvPicPr>
          <p:nvPr/>
        </p:nvPicPr>
        <p:blipFill>
          <a:blip r:embed="rId5"/>
          <a:stretch>
            <a:fillRect/>
          </a:stretch>
        </p:blipFill>
        <p:spPr>
          <a:xfrm>
            <a:off x="800100" y="3726180"/>
            <a:ext cx="210312" cy="210312"/>
          </a:xfrm>
          <a:prstGeom prst="rect">
            <a:avLst/>
          </a:prstGeom>
        </p:spPr>
      </p:pic>
      <p:sp>
        <p:nvSpPr>
          <p:cNvPr id="22" name="Text 16"/>
          <p:cNvSpPr/>
          <p:nvPr/>
        </p:nvSpPr>
        <p:spPr>
          <a:xfrm>
            <a:off x="1280160" y="3529584"/>
            <a:ext cx="2103120" cy="585216"/>
          </a:xfrm>
          <a:prstGeom prst="rect">
            <a:avLst/>
          </a:prstGeom>
          <a:noFill/>
          <a:ln/>
        </p:spPr>
        <p:txBody>
          <a:bodyPr wrap="square" lIns="0" tIns="0" rIns="0" bIns="0" rtlCol="0" anchor="ctr"/>
          <a:lstStyle/>
          <a:p>
            <a:pPr marL="0" indent="0">
              <a:buNone/>
            </a:pPr>
            <a:r>
              <a:rPr lang="en-US" sz="1400" b="1" dirty="0">
                <a:solidFill>
                  <a:srgbClr val="14333F"/>
                </a:solidFill>
                <a:latin typeface="Calibri" pitchFamily="34" charset="0"/>
                <a:ea typeface="Calibri" pitchFamily="34" charset="-122"/>
                <a:cs typeface="Calibri" pitchFamily="34" charset="-120"/>
              </a:rPr>
              <a:t>Low</a:t>
            </a:r>
            <a:endParaRPr lang="en-US" sz="1400" dirty="0"/>
          </a:p>
        </p:txBody>
      </p:sp>
      <p:sp>
        <p:nvSpPr>
          <p:cNvPr id="23" name="Text 17"/>
          <p:cNvSpPr/>
          <p:nvPr/>
        </p:nvSpPr>
        <p:spPr>
          <a:xfrm>
            <a:off x="3383280" y="3529584"/>
            <a:ext cx="5029200" cy="585216"/>
          </a:xfrm>
          <a:prstGeom prst="rect">
            <a:avLst/>
          </a:prstGeom>
          <a:noFill/>
          <a:ln/>
        </p:spPr>
        <p:txBody>
          <a:bodyPr wrap="square" lIns="0" tIns="0" rIns="0" bIns="0" rtlCol="0" anchor="ctr"/>
          <a:lstStyle/>
          <a:p>
            <a:pPr marL="0" indent="0">
              <a:buNone/>
            </a:pPr>
            <a:r>
              <a:rPr lang="en-US" sz="1150" dirty="0">
                <a:solidFill>
                  <a:srgbClr val="5B7782"/>
                </a:solidFill>
                <a:latin typeface="Calibri" pitchFamily="34" charset="0"/>
                <a:ea typeface="Calibri" pitchFamily="34" charset="-122"/>
                <a:cs typeface="Calibri" pitchFamily="34" charset="-120"/>
              </a:rPr>
              <a:t>Public or reference data — e.g. Water System, Rate Tier, Trust Score.</a:t>
            </a:r>
            <a:endParaRPr lang="en-US" sz="1150" dirty="0"/>
          </a:p>
        </p:txBody>
      </p:sp>
      <p:sp>
        <p:nvSpPr>
          <p:cNvPr id="24" name="Shape 18"/>
          <p:cNvSpPr/>
          <p:nvPr/>
        </p:nvSpPr>
        <p:spPr>
          <a:xfrm>
            <a:off x="548640" y="4206240"/>
            <a:ext cx="8046720" cy="585216"/>
          </a:xfrm>
          <a:prstGeom prst="roundRect">
            <a:avLst>
              <a:gd name="adj" fmla="val 10938"/>
            </a:avLst>
          </a:prstGeom>
          <a:solidFill>
            <a:srgbClr val="EEF6FA"/>
          </a:solidFill>
          <a:ln/>
          <a:effectLst>
            <a:outerShdw blurRad="50800" dist="12700" dir="5400000" algn="bl" rotWithShape="0">
              <a:srgbClr val="0A3D52">
                <a:alpha val="7000"/>
              </a:srgbClr>
            </a:outerShdw>
          </a:effectLst>
        </p:spPr>
      </p:sp>
      <p:sp>
        <p:nvSpPr>
          <p:cNvPr id="25" name="Shape 19"/>
          <p:cNvSpPr/>
          <p:nvPr/>
        </p:nvSpPr>
        <p:spPr>
          <a:xfrm>
            <a:off x="713232" y="4315968"/>
            <a:ext cx="384048" cy="384048"/>
          </a:xfrm>
          <a:prstGeom prst="ellipse">
            <a:avLst/>
          </a:prstGeom>
          <a:solidFill>
            <a:srgbClr val="1C7293"/>
          </a:solidFill>
          <a:ln/>
        </p:spPr>
      </p:sp>
      <p:pic>
        <p:nvPicPr>
          <p:cNvPr id="26" name="Image 4" descr="preencoded.png"/>
          <p:cNvPicPr>
            <a:picLocks noChangeAspect="1"/>
          </p:cNvPicPr>
          <p:nvPr/>
        </p:nvPicPr>
        <p:blipFill>
          <a:blip r:embed="rId6"/>
          <a:stretch>
            <a:fillRect/>
          </a:stretch>
        </p:blipFill>
        <p:spPr>
          <a:xfrm>
            <a:off x="800100" y="4402836"/>
            <a:ext cx="210312" cy="210312"/>
          </a:xfrm>
          <a:prstGeom prst="rect">
            <a:avLst/>
          </a:prstGeom>
        </p:spPr>
      </p:pic>
      <p:sp>
        <p:nvSpPr>
          <p:cNvPr id="27" name="Text 20"/>
          <p:cNvSpPr/>
          <p:nvPr/>
        </p:nvSpPr>
        <p:spPr>
          <a:xfrm>
            <a:off x="1280160" y="4206240"/>
            <a:ext cx="2103120" cy="585216"/>
          </a:xfrm>
          <a:prstGeom prst="rect">
            <a:avLst/>
          </a:prstGeom>
          <a:noFill/>
          <a:ln/>
        </p:spPr>
        <p:txBody>
          <a:bodyPr wrap="square" lIns="0" tIns="0" rIns="0" bIns="0" rtlCol="0" anchor="ctr"/>
          <a:lstStyle/>
          <a:p>
            <a:pPr marL="0" indent="0">
              <a:buNone/>
            </a:pPr>
            <a:r>
              <a:rPr lang="en-US" sz="1400" b="1" dirty="0">
                <a:solidFill>
                  <a:srgbClr val="14333F"/>
                </a:solidFill>
                <a:latin typeface="Calibri" pitchFamily="34" charset="0"/>
                <a:ea typeface="Calibri" pitchFamily="34" charset="-122"/>
                <a:cs typeface="Calibri" pitchFamily="34" charset="-120"/>
              </a:rPr>
              <a:t>How to set it</a:t>
            </a:r>
            <a:endParaRPr lang="en-US" sz="1400" dirty="0"/>
          </a:p>
        </p:txBody>
      </p:sp>
      <p:sp>
        <p:nvSpPr>
          <p:cNvPr id="28" name="Text 21"/>
          <p:cNvSpPr/>
          <p:nvPr/>
        </p:nvSpPr>
        <p:spPr>
          <a:xfrm>
            <a:off x="3383280" y="4206240"/>
            <a:ext cx="5029200" cy="585216"/>
          </a:xfrm>
          <a:prstGeom prst="rect">
            <a:avLst/>
          </a:prstGeom>
          <a:noFill/>
          <a:ln/>
        </p:spPr>
        <p:txBody>
          <a:bodyPr wrap="square" lIns="0" tIns="0" rIns="0" bIns="0" rtlCol="0" anchor="ctr"/>
          <a:lstStyle/>
          <a:p>
            <a:pPr marL="0" indent="0">
              <a:buNone/>
            </a:pPr>
            <a:r>
              <a:rPr lang="en-US" sz="1150" dirty="0">
                <a:solidFill>
                  <a:srgbClr val="5B7782"/>
                </a:solidFill>
                <a:latin typeface="Calibri" pitchFamily="34" charset="0"/>
                <a:ea typeface="Calibri" pitchFamily="34" charset="-122"/>
                <a:cs typeface="Calibri" pitchFamily="34" charset="-120"/>
              </a:rPr>
              <a:t>Set it on the term, or on the asset’s Key Metrics; Data Identification’s PII tagging guides the level. Defaults to Unknown.</a:t>
            </a:r>
            <a:endParaRPr lang="en-US" sz="1150" dirty="0"/>
          </a:p>
        </p:txBody>
      </p:sp>
      <p:sp>
        <p:nvSpPr>
          <p:cNvPr id="29" name="Text 22"/>
          <p:cNvSpPr/>
          <p:nvPr/>
        </p:nvSpPr>
        <p:spPr>
          <a:xfrm>
            <a:off x="548640" y="4828032"/>
            <a:ext cx="7315200" cy="274320"/>
          </a:xfrm>
          <a:prstGeom prst="rect">
            <a:avLst/>
          </a:prstGeom>
          <a:noFill/>
          <a:ln/>
        </p:spPr>
        <p:txBody>
          <a:bodyPr wrap="square" lIns="0" tIns="0" rIns="0" bIns="0" rtlCol="0" anchor="ctr"/>
          <a:lstStyle/>
          <a:p>
            <a:pPr marL="0" indent="0">
              <a:buNone/>
            </a:pPr>
            <a:r>
              <a:rPr lang="en-US" sz="950" dirty="0">
                <a:solidFill>
                  <a:srgbClr val="5B7782"/>
                </a:solidFill>
                <a:latin typeface="Calibri" pitchFamily="34" charset="0"/>
                <a:ea typeface="Calibri" pitchFamily="34" charset="-122"/>
                <a:cs typeface="Calibri" pitchFamily="34" charset="-120"/>
              </a:rPr>
              <a:t>Workshop 3 · Set Low / Medium / High by the harm if the data were exposed; it defaults to Unknown</a:t>
            </a:r>
            <a:endParaRPr lang="en-US" sz="950" dirty="0"/>
          </a:p>
        </p:txBody>
      </p:sp>
      <p:sp>
        <p:nvSpPr>
          <p:cNvPr id="30" name="Text 23"/>
          <p:cNvSpPr/>
          <p:nvPr/>
        </p:nvSpPr>
        <p:spPr>
          <a:xfrm>
            <a:off x="8366760" y="4828032"/>
            <a:ext cx="320040" cy="274320"/>
          </a:xfrm>
          <a:prstGeom prst="rect">
            <a:avLst/>
          </a:prstGeom>
          <a:noFill/>
          <a:ln/>
        </p:spPr>
        <p:txBody>
          <a:bodyPr wrap="square" lIns="0" tIns="0" rIns="0" bIns="0" rtlCol="0" anchor="ctr"/>
          <a:lstStyle/>
          <a:p>
            <a:pPr marL="0" indent="0" algn="r">
              <a:buNone/>
            </a:pPr>
            <a:r>
              <a:rPr lang="en-US" sz="950" dirty="0">
                <a:solidFill>
                  <a:srgbClr val="5B7782"/>
                </a:solidFill>
                <a:latin typeface="Calibri" pitchFamily="34" charset="0"/>
                <a:ea typeface="Calibri" pitchFamily="34" charset="-122"/>
                <a:cs typeface="Calibri" pitchFamily="34" charset="-120"/>
              </a:rPr>
              <a:t>4</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6766560" cy="292608"/>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WORKED EXAMPLE</a:t>
            </a:r>
            <a:endParaRPr lang="en-US" sz="1200" dirty="0"/>
          </a:p>
        </p:txBody>
      </p:sp>
      <p:sp>
        <p:nvSpPr>
          <p:cNvPr id="3" name="Text 1"/>
          <p:cNvSpPr/>
          <p:nvPr/>
        </p:nvSpPr>
        <p:spPr>
          <a:xfrm>
            <a:off x="548640" y="713232"/>
            <a:ext cx="7040880" cy="566928"/>
          </a:xfrm>
          <a:prstGeom prst="rect">
            <a:avLst/>
          </a:prstGeom>
          <a:noFill/>
          <a:ln/>
        </p:spPr>
        <p:txBody>
          <a:bodyPr wrap="square" lIns="0" tIns="0" rIns="0" bIns="0" rtlCol="0" anchor="ctr"/>
          <a:lstStyle/>
          <a:p>
            <a:pPr marL="0" indent="0">
              <a:buNone/>
            </a:pPr>
            <a:r>
              <a:rPr lang="en-US" sz="2700" b="1" dirty="0">
                <a:solidFill>
                  <a:srgbClr val="14333F"/>
                </a:solidFill>
                <a:latin typeface="Bookman Old Style" pitchFamily="34" charset="0"/>
                <a:ea typeface="Bookman Old Style" pitchFamily="34" charset="-122"/>
                <a:cs typeface="Bookman Old Style" pitchFamily="34" charset="-120"/>
              </a:rPr>
              <a:t>The AWC glossary, in brief</a:t>
            </a:r>
            <a:endParaRPr lang="en-US" sz="2700" dirty="0"/>
          </a:p>
        </p:txBody>
      </p:sp>
      <p:sp>
        <p:nvSpPr>
          <p:cNvPr id="4" name="Text 2"/>
          <p:cNvSpPr/>
          <p:nvPr/>
        </p:nvSpPr>
        <p:spPr>
          <a:xfrm>
            <a:off x="548640" y="1389888"/>
            <a:ext cx="8046720" cy="457200"/>
          </a:xfrm>
          <a:prstGeom prst="rect">
            <a:avLst/>
          </a:prstGeom>
          <a:noFill/>
          <a:ln/>
        </p:spPr>
        <p:txBody>
          <a:bodyPr wrap="square" lIns="0" tIns="0" rIns="0" bIns="0" rtlCol="0" anchor="ctr"/>
          <a:lstStyle/>
          <a:p>
            <a:pPr marL="0" indent="0">
              <a:lnSpc>
                <a:spcPct val="104000"/>
              </a:lnSpc>
              <a:buNone/>
            </a:pPr>
            <a:r>
              <a:rPr lang="en-US" sz="1250" dirty="0">
                <a:solidFill>
                  <a:srgbClr val="5B7782"/>
                </a:solidFill>
                <a:latin typeface="Calibri" pitchFamily="34" charset="0"/>
                <a:ea typeface="Calibri" pitchFamily="34" charset="-122"/>
                <a:cs typeface="Calibri" pitchFamily="34" charset="-120"/>
              </a:rPr>
              <a:t>A handful of governed terms covers AWC’s core data — each with a home category, a sensitivity, and a classification.</a:t>
            </a:r>
            <a:endParaRPr lang="en-US" sz="12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938528"/>
          <a:ext cx="8046720" cy="914400"/>
        </p:xfrm>
        <a:graphic>
          <a:graphicData uri="http://schemas.openxmlformats.org/drawingml/2006/table">
            <a:tbl>
              <a:tblPr/>
              <a:tblGrid>
                <a:gridCol w="192024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3200400">
                  <a:extLst>
                    <a:ext uri="{9D8B030D-6E8A-4147-A177-3AD203B41FA5}">
                      <a16:colId xmlns:a16="http://schemas.microsoft.com/office/drawing/2014/main" val="20002"/>
                    </a:ext>
                  </a:extLst>
                </a:gridCol>
                <a:gridCol w="1554480">
                  <a:extLst>
                    <a:ext uri="{9D8B030D-6E8A-4147-A177-3AD203B41FA5}">
                      <a16:colId xmlns:a16="http://schemas.microsoft.com/office/drawing/2014/main" val="20003"/>
                    </a:ext>
                  </a:extLst>
                </a:gridCol>
              </a:tblGrid>
              <a:tr h="420624">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Term</a:t>
                      </a:r>
                      <a:endParaRPr lang="en-US" sz="120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0A3D52"/>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Category</a:t>
                      </a:r>
                      <a:endParaRPr lang="en-US" sz="120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0A3D52"/>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Sensitivity</a:t>
                      </a:r>
                      <a:endParaRPr lang="en-US" sz="120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0A3D52"/>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Classification</a:t>
                      </a:r>
                      <a:endParaRPr lang="en-US" sz="120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0A3D52"/>
                    </a:solidFill>
                  </a:tcPr>
                </a:tc>
                <a:extLst>
                  <a:ext uri="{0D108BD9-81ED-4DB2-BD59-A6C34878D82A}">
                    <a16:rowId xmlns:a16="http://schemas.microsoft.com/office/drawing/2014/main" val="10000"/>
                  </a:ext>
                </a:extLst>
              </a:tr>
              <a:tr h="420624">
                <a:tc>
                  <a:txBody>
                    <a:bodyPr/>
                    <a:lstStyle/>
                    <a:p>
                      <a:pPr marL="0" indent="0" algn="l">
                        <a:buNone/>
                      </a:pPr>
                      <a:r>
                        <a:rPr lang="en-US" sz="1200" dirty="0">
                          <a:solidFill>
                            <a:srgbClr val="14333F"/>
                          </a:solidFill>
                          <a:latin typeface="Calibri" pitchFamily="34" charset="0"/>
                          <a:ea typeface="Calibri" pitchFamily="34" charset="-122"/>
                          <a:cs typeface="Calibri" pitchFamily="34" charset="-120"/>
                        </a:rPr>
                        <a:t>Customer Name</a:t>
                      </a:r>
                      <a:endParaRPr lang="en-US" sz="120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4333F"/>
                          </a:solidFill>
                          <a:latin typeface="Calibri" pitchFamily="34" charset="0"/>
                          <a:ea typeface="Calibri" pitchFamily="34" charset="-122"/>
                          <a:cs typeface="Calibri" pitchFamily="34" charset="-120"/>
                        </a:rPr>
                        <a:t>Customer</a:t>
                      </a:r>
                      <a:endParaRPr lang="en-US" sz="120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4333F"/>
                          </a:solidFill>
                          <a:latin typeface="Calibri" pitchFamily="34" charset="0"/>
                          <a:ea typeface="Calibri" pitchFamily="34" charset="-122"/>
                          <a:cs typeface="Calibri" pitchFamily="34" charset="-120"/>
                        </a:rPr>
                        <a:t>High</a:t>
                      </a:r>
                      <a:endParaRPr lang="en-US" sz="120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4333F"/>
                          </a:solidFill>
                          <a:latin typeface="Calibri" pitchFamily="34" charset="0"/>
                          <a:ea typeface="Calibri" pitchFamily="34" charset="-122"/>
                          <a:cs typeface="Calibri" pitchFamily="34" charset="-120"/>
                        </a:rPr>
                        <a:t>Private</a:t>
                      </a:r>
                      <a:endParaRPr lang="en-US" sz="120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20624">
                <a:tc>
                  <a:txBody>
                    <a:bodyPr/>
                    <a:lstStyle/>
                    <a:p>
                      <a:pPr marL="0" indent="0" algn="l">
                        <a:buNone/>
                      </a:pPr>
                      <a:r>
                        <a:rPr lang="en-US" sz="1200" dirty="0">
                          <a:solidFill>
                            <a:srgbClr val="14333F"/>
                          </a:solidFill>
                          <a:latin typeface="Calibri" pitchFamily="34" charset="0"/>
                          <a:ea typeface="Calibri" pitchFamily="34" charset="-122"/>
                          <a:cs typeface="Calibri" pitchFamily="34" charset="-120"/>
                        </a:rPr>
                        <a:t>Customer Account Number</a:t>
                      </a:r>
                      <a:endParaRPr lang="en-US" sz="120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4333F"/>
                          </a:solidFill>
                          <a:latin typeface="Calibri" pitchFamily="34" charset="0"/>
                          <a:ea typeface="Calibri" pitchFamily="34" charset="-122"/>
                          <a:cs typeface="Calibri" pitchFamily="34" charset="-120"/>
                        </a:rPr>
                        <a:t>Billing &amp; Rates</a:t>
                      </a:r>
                      <a:endParaRPr lang="en-US" sz="120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4333F"/>
                          </a:solidFill>
                          <a:latin typeface="Calibri" pitchFamily="34" charset="0"/>
                          <a:ea typeface="Calibri" pitchFamily="34" charset="-122"/>
                          <a:cs typeface="Calibri" pitchFamily="34" charset="-120"/>
                        </a:rPr>
                        <a:t>High</a:t>
                      </a:r>
                      <a:endParaRPr lang="en-US" sz="120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4333F"/>
                          </a:solidFill>
                          <a:latin typeface="Calibri" pitchFamily="34" charset="0"/>
                          <a:ea typeface="Calibri" pitchFamily="34" charset="-122"/>
                          <a:cs typeface="Calibri" pitchFamily="34" charset="-120"/>
                        </a:rPr>
                        <a:t>Company Confidential</a:t>
                      </a:r>
                      <a:endParaRPr lang="en-US" sz="120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20624">
                <a:tc>
                  <a:txBody>
                    <a:bodyPr/>
                    <a:lstStyle/>
                    <a:p>
                      <a:pPr marL="0" indent="0" algn="l">
                        <a:buNone/>
                      </a:pPr>
                      <a:r>
                        <a:rPr lang="en-US" sz="1200" dirty="0">
                          <a:solidFill>
                            <a:srgbClr val="14333F"/>
                          </a:solidFill>
                          <a:latin typeface="Calibri" pitchFamily="34" charset="0"/>
                          <a:ea typeface="Calibri" pitchFamily="34" charset="-122"/>
                          <a:cs typeface="Calibri" pitchFamily="34" charset="-120"/>
                        </a:rPr>
                        <a:t>Water System</a:t>
                      </a:r>
                      <a:endParaRPr lang="en-US" sz="120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4333F"/>
                          </a:solidFill>
                          <a:latin typeface="Calibri" pitchFamily="34" charset="0"/>
                          <a:ea typeface="Calibri" pitchFamily="34" charset="-122"/>
                          <a:cs typeface="Calibri" pitchFamily="34" charset="-120"/>
                        </a:rPr>
                        <a:t>Water System</a:t>
                      </a:r>
                      <a:endParaRPr lang="en-US" sz="120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4333F"/>
                          </a:solidFill>
                          <a:latin typeface="Calibri" pitchFamily="34" charset="0"/>
                          <a:ea typeface="Calibri" pitchFamily="34" charset="-122"/>
                          <a:cs typeface="Calibri" pitchFamily="34" charset="-120"/>
                        </a:rPr>
                        <a:t>Low</a:t>
                      </a:r>
                      <a:endParaRPr lang="en-US" sz="120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4333F"/>
                          </a:solidFill>
                          <a:latin typeface="Calibri" pitchFamily="34" charset="0"/>
                          <a:ea typeface="Calibri" pitchFamily="34" charset="-122"/>
                          <a:cs typeface="Calibri" pitchFamily="34" charset="-120"/>
                        </a:rPr>
                        <a:t>Public</a:t>
                      </a:r>
                      <a:endParaRPr lang="en-US" sz="120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20624">
                <a:tc>
                  <a:txBody>
                    <a:bodyPr/>
                    <a:lstStyle/>
                    <a:p>
                      <a:pPr marL="0" indent="0" algn="l">
                        <a:buNone/>
                      </a:pPr>
                      <a:r>
                        <a:rPr lang="en-US" sz="1200" dirty="0">
                          <a:solidFill>
                            <a:srgbClr val="14333F"/>
                          </a:solidFill>
                          <a:latin typeface="Calibri" pitchFamily="34" charset="0"/>
                          <a:ea typeface="Calibri" pitchFamily="34" charset="-122"/>
                          <a:cs typeface="Calibri" pitchFamily="34" charset="-120"/>
                        </a:rPr>
                        <a:t>Lead Level</a:t>
                      </a:r>
                      <a:endParaRPr lang="en-US" sz="120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4333F"/>
                          </a:solidFill>
                          <a:latin typeface="Calibri" pitchFamily="34" charset="0"/>
                          <a:ea typeface="Calibri" pitchFamily="34" charset="-122"/>
                          <a:cs typeface="Calibri" pitchFamily="34" charset="-120"/>
                        </a:rPr>
                        <a:t>Water Quality</a:t>
                      </a:r>
                      <a:endParaRPr lang="en-US" sz="120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4333F"/>
                          </a:solidFill>
                          <a:latin typeface="Calibri" pitchFamily="34" charset="0"/>
                          <a:ea typeface="Calibri" pitchFamily="34" charset="-122"/>
                          <a:cs typeface="Calibri" pitchFamily="34" charset="-120"/>
                        </a:rPr>
                        <a:t>Medium</a:t>
                      </a:r>
                      <a:endParaRPr lang="en-US" sz="120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4333F"/>
                          </a:solidFill>
                          <a:latin typeface="Calibri" pitchFamily="34" charset="0"/>
                          <a:ea typeface="Calibri" pitchFamily="34" charset="-122"/>
                          <a:cs typeface="Calibri" pitchFamily="34" charset="-120"/>
                        </a:rPr>
                        <a:t>Company Confidential</a:t>
                      </a:r>
                      <a:endParaRPr lang="en-US" sz="120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20624">
                <a:tc>
                  <a:txBody>
                    <a:bodyPr/>
                    <a:lstStyle/>
                    <a:p>
                      <a:pPr marL="0" indent="0" algn="l">
                        <a:buNone/>
                      </a:pPr>
                      <a:r>
                        <a:rPr lang="en-US" sz="1200" dirty="0">
                          <a:solidFill>
                            <a:srgbClr val="14333F"/>
                          </a:solidFill>
                          <a:latin typeface="Calibri" pitchFamily="34" charset="0"/>
                          <a:ea typeface="Calibri" pitchFamily="34" charset="-122"/>
                          <a:cs typeface="Calibri" pitchFamily="34" charset="-120"/>
                        </a:rPr>
                        <a:t>Trust Score</a:t>
                      </a:r>
                      <a:endParaRPr lang="en-US" sz="120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4333F"/>
                          </a:solidFill>
                          <a:latin typeface="Calibri" pitchFamily="34" charset="0"/>
                          <a:ea typeface="Calibri" pitchFamily="34" charset="-122"/>
                          <a:cs typeface="Calibri" pitchFamily="34" charset="-120"/>
                        </a:rPr>
                        <a:t>Governance</a:t>
                      </a:r>
                      <a:endParaRPr lang="en-US" sz="120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4333F"/>
                          </a:solidFill>
                          <a:latin typeface="Calibri" pitchFamily="34" charset="0"/>
                          <a:ea typeface="Calibri" pitchFamily="34" charset="-122"/>
                          <a:cs typeface="Calibri" pitchFamily="34" charset="-120"/>
                        </a:rPr>
                        <a:t>Low</a:t>
                      </a:r>
                      <a:endParaRPr lang="en-US" sz="120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4333F"/>
                          </a:solidFill>
                          <a:latin typeface="Calibri" pitchFamily="34" charset="0"/>
                          <a:ea typeface="Calibri" pitchFamily="34" charset="-122"/>
                          <a:cs typeface="Calibri" pitchFamily="34" charset="-120"/>
                        </a:rPr>
                        <a:t>Public</a:t>
                      </a:r>
                      <a:endParaRPr lang="en-US" sz="120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Text 3"/>
          <p:cNvSpPr/>
          <p:nvPr/>
        </p:nvSpPr>
        <p:spPr>
          <a:xfrm>
            <a:off x="548640" y="4572000"/>
            <a:ext cx="8046720" cy="274320"/>
          </a:xfrm>
          <a:prstGeom prst="rect">
            <a:avLst/>
          </a:prstGeom>
          <a:noFill/>
          <a:ln/>
        </p:spPr>
        <p:txBody>
          <a:bodyPr wrap="square" lIns="0" tIns="0" rIns="0" bIns="0" rtlCol="0" anchor="ctr"/>
          <a:lstStyle/>
          <a:p>
            <a:pPr marL="0" indent="0">
              <a:buNone/>
            </a:pPr>
            <a:r>
              <a:rPr lang="en-US" sz="1050" i="1" dirty="0">
                <a:solidFill>
                  <a:srgbClr val="5B7782"/>
                </a:solidFill>
                <a:latin typeface="Calibri" pitchFamily="34" charset="0"/>
                <a:ea typeface="Calibri" pitchFamily="34" charset="-122"/>
                <a:cs typeface="Calibri" pitchFamily="34" charset="-120"/>
              </a:rPr>
              <a:t>Each term has a home category, a sensitivity, and a classification — set once, then linked to every matching column.</a:t>
            </a:r>
            <a:endParaRPr lang="en-US" sz="1050" dirty="0"/>
          </a:p>
        </p:txBody>
      </p:sp>
      <p:sp>
        <p:nvSpPr>
          <p:cNvPr id="7" name="Text 4"/>
          <p:cNvSpPr/>
          <p:nvPr/>
        </p:nvSpPr>
        <p:spPr>
          <a:xfrm>
            <a:off x="548640" y="4828032"/>
            <a:ext cx="7315200" cy="274320"/>
          </a:xfrm>
          <a:prstGeom prst="rect">
            <a:avLst/>
          </a:prstGeom>
          <a:noFill/>
          <a:ln/>
        </p:spPr>
        <p:txBody>
          <a:bodyPr wrap="square" lIns="0" tIns="0" rIns="0" bIns="0" rtlCol="0" anchor="ctr"/>
          <a:lstStyle/>
          <a:p>
            <a:pPr marL="0" indent="0">
              <a:buNone/>
            </a:pPr>
            <a:r>
              <a:rPr lang="en-US" sz="950" dirty="0">
                <a:solidFill>
                  <a:srgbClr val="5B7782"/>
                </a:solidFill>
                <a:latin typeface="Calibri" pitchFamily="34" charset="0"/>
                <a:ea typeface="Calibri" pitchFamily="34" charset="-122"/>
                <a:cs typeface="Calibri" pitchFamily="34" charset="-120"/>
              </a:rPr>
              <a:t>Workshop 3 · Arizona Water glossary</a:t>
            </a:r>
            <a:endParaRPr lang="en-US" sz="950" dirty="0"/>
          </a:p>
        </p:txBody>
      </p:sp>
      <p:sp>
        <p:nvSpPr>
          <p:cNvPr id="8" name="Text 5"/>
          <p:cNvSpPr/>
          <p:nvPr/>
        </p:nvSpPr>
        <p:spPr>
          <a:xfrm>
            <a:off x="8366760" y="4828032"/>
            <a:ext cx="320040" cy="274320"/>
          </a:xfrm>
          <a:prstGeom prst="rect">
            <a:avLst/>
          </a:prstGeom>
          <a:noFill/>
          <a:ln/>
        </p:spPr>
        <p:txBody>
          <a:bodyPr wrap="square" lIns="0" tIns="0" rIns="0" bIns="0" rtlCol="0" anchor="ctr"/>
          <a:lstStyle/>
          <a:p>
            <a:pPr marL="0" indent="0" algn="r">
              <a:buNone/>
            </a:pPr>
            <a:r>
              <a:rPr lang="en-US" sz="950" dirty="0">
                <a:solidFill>
                  <a:srgbClr val="5B7782"/>
                </a:solidFill>
                <a:latin typeface="Calibri" pitchFamily="34" charset="0"/>
                <a:ea typeface="Calibri" pitchFamily="34" charset="-122"/>
                <a:cs typeface="Calibri" pitchFamily="34" charset="-120"/>
              </a:rPr>
              <a:t>5</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6766560" cy="292608"/>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FROM TERM TO COLUMN</a:t>
            </a:r>
            <a:endParaRPr lang="en-US" sz="1200" dirty="0"/>
          </a:p>
        </p:txBody>
      </p:sp>
      <p:sp>
        <p:nvSpPr>
          <p:cNvPr id="3" name="Text 1"/>
          <p:cNvSpPr/>
          <p:nvPr/>
        </p:nvSpPr>
        <p:spPr>
          <a:xfrm>
            <a:off x="548640" y="713232"/>
            <a:ext cx="7040880" cy="566928"/>
          </a:xfrm>
          <a:prstGeom prst="rect">
            <a:avLst/>
          </a:prstGeom>
          <a:noFill/>
          <a:ln/>
        </p:spPr>
        <p:txBody>
          <a:bodyPr wrap="square" lIns="0" tIns="0" rIns="0" bIns="0" rtlCol="0" anchor="ctr"/>
          <a:lstStyle/>
          <a:p>
            <a:pPr marL="0" indent="0">
              <a:buNone/>
            </a:pPr>
            <a:r>
              <a:rPr lang="en-US" sz="2700" b="1" dirty="0">
                <a:solidFill>
                  <a:srgbClr val="14333F"/>
                </a:solidFill>
                <a:latin typeface="Bookman Old Style" pitchFamily="34" charset="0"/>
                <a:ea typeface="Bookman Old Style" pitchFamily="34" charset="-122"/>
                <a:cs typeface="Bookman Old Style" pitchFamily="34" charset="-120"/>
              </a:rPr>
              <a:t>Link a term to its columns</a:t>
            </a:r>
            <a:endParaRPr lang="en-US" sz="2700" dirty="0"/>
          </a:p>
        </p:txBody>
      </p:sp>
      <p:sp>
        <p:nvSpPr>
          <p:cNvPr id="4" name="Shape 2"/>
          <p:cNvSpPr/>
          <p:nvPr/>
        </p:nvSpPr>
        <p:spPr>
          <a:xfrm>
            <a:off x="548640" y="1499616"/>
            <a:ext cx="8046720" cy="585216"/>
          </a:xfrm>
          <a:prstGeom prst="roundRect">
            <a:avLst>
              <a:gd name="adj" fmla="val 10938"/>
            </a:avLst>
          </a:prstGeom>
          <a:solidFill>
            <a:srgbClr val="EEF6FA"/>
          </a:solidFill>
          <a:ln/>
          <a:effectLst>
            <a:outerShdw blurRad="50800" dist="12700" dir="5400000" algn="bl" rotWithShape="0">
              <a:srgbClr val="0A3D52">
                <a:alpha val="7000"/>
              </a:srgbClr>
            </a:outerShdw>
          </a:effectLst>
        </p:spPr>
      </p:sp>
      <p:sp>
        <p:nvSpPr>
          <p:cNvPr id="5" name="Shape 3"/>
          <p:cNvSpPr/>
          <p:nvPr/>
        </p:nvSpPr>
        <p:spPr>
          <a:xfrm>
            <a:off x="713232" y="1609344"/>
            <a:ext cx="384048" cy="384048"/>
          </a:xfrm>
          <a:prstGeom prst="ellipse">
            <a:avLst/>
          </a:prstGeom>
          <a:solidFill>
            <a:srgbClr val="1C7293"/>
          </a:solidFill>
          <a:ln/>
        </p:spPr>
      </p:sp>
      <p:pic>
        <p:nvPicPr>
          <p:cNvPr id="6" name="Image 0" descr="preencoded.png"/>
          <p:cNvPicPr>
            <a:picLocks noChangeAspect="1"/>
          </p:cNvPicPr>
          <p:nvPr/>
        </p:nvPicPr>
        <p:blipFill>
          <a:blip r:embed="rId2"/>
          <a:stretch>
            <a:fillRect/>
          </a:stretch>
        </p:blipFill>
        <p:spPr>
          <a:xfrm>
            <a:off x="800100" y="1696212"/>
            <a:ext cx="210312" cy="210312"/>
          </a:xfrm>
          <a:prstGeom prst="rect">
            <a:avLst/>
          </a:prstGeom>
        </p:spPr>
      </p:pic>
      <p:sp>
        <p:nvSpPr>
          <p:cNvPr id="7" name="Text 4"/>
          <p:cNvSpPr/>
          <p:nvPr/>
        </p:nvSpPr>
        <p:spPr>
          <a:xfrm>
            <a:off x="1280160" y="1499616"/>
            <a:ext cx="2103120" cy="585216"/>
          </a:xfrm>
          <a:prstGeom prst="rect">
            <a:avLst/>
          </a:prstGeom>
          <a:noFill/>
          <a:ln/>
        </p:spPr>
        <p:txBody>
          <a:bodyPr wrap="square" lIns="0" tIns="0" rIns="0" bIns="0" rtlCol="0" anchor="ctr"/>
          <a:lstStyle/>
          <a:p>
            <a:pPr marL="0" indent="0">
              <a:buNone/>
            </a:pPr>
            <a:r>
              <a:rPr lang="en-US" sz="1400" b="1" dirty="0">
                <a:solidFill>
                  <a:srgbClr val="14333F"/>
                </a:solidFill>
                <a:latin typeface="Calibri" pitchFamily="34" charset="0"/>
                <a:ea typeface="Calibri" pitchFamily="34" charset="-122"/>
                <a:cs typeface="Calibri" pitchFamily="34" charset="-120"/>
              </a:rPr>
              <a:t>Open the term</a:t>
            </a:r>
            <a:endParaRPr lang="en-US" sz="1400" dirty="0"/>
          </a:p>
        </p:txBody>
      </p:sp>
      <p:sp>
        <p:nvSpPr>
          <p:cNvPr id="8" name="Text 5"/>
          <p:cNvSpPr/>
          <p:nvPr/>
        </p:nvSpPr>
        <p:spPr>
          <a:xfrm>
            <a:off x="3383280" y="1499616"/>
            <a:ext cx="5029200" cy="585216"/>
          </a:xfrm>
          <a:prstGeom prst="rect">
            <a:avLst/>
          </a:prstGeom>
          <a:noFill/>
          <a:ln/>
        </p:spPr>
        <p:txBody>
          <a:bodyPr wrap="square" lIns="0" tIns="0" rIns="0" bIns="0" rtlCol="0" anchor="ctr"/>
          <a:lstStyle/>
          <a:p>
            <a:pPr marL="0" indent="0">
              <a:buNone/>
            </a:pPr>
            <a:r>
              <a:rPr lang="en-US" sz="1150" dirty="0">
                <a:solidFill>
                  <a:srgbClr val="5B7782"/>
                </a:solidFill>
                <a:latin typeface="Calibri" pitchFamily="34" charset="0"/>
                <a:ea typeface="Calibri" pitchFamily="34" charset="-122"/>
                <a:cs typeface="Calibri" pitchFamily="34" charset="-120"/>
              </a:rPr>
              <a:t>In Glossary, open a term — for example Customer Name, under the Customer category.</a:t>
            </a:r>
            <a:endParaRPr lang="en-US" sz="1150" dirty="0"/>
          </a:p>
        </p:txBody>
      </p:sp>
      <p:sp>
        <p:nvSpPr>
          <p:cNvPr id="9" name="Shape 6"/>
          <p:cNvSpPr/>
          <p:nvPr/>
        </p:nvSpPr>
        <p:spPr>
          <a:xfrm>
            <a:off x="548640" y="2176272"/>
            <a:ext cx="8046720" cy="585216"/>
          </a:xfrm>
          <a:prstGeom prst="roundRect">
            <a:avLst>
              <a:gd name="adj" fmla="val 10938"/>
            </a:avLst>
          </a:prstGeom>
          <a:solidFill>
            <a:srgbClr val="EEF6FA"/>
          </a:solidFill>
          <a:ln/>
          <a:effectLst>
            <a:outerShdw blurRad="50800" dist="12700" dir="5400000" algn="bl" rotWithShape="0">
              <a:srgbClr val="0A3D52">
                <a:alpha val="7000"/>
              </a:srgbClr>
            </a:outerShdw>
          </a:effectLst>
        </p:spPr>
      </p:sp>
      <p:sp>
        <p:nvSpPr>
          <p:cNvPr id="10" name="Shape 7"/>
          <p:cNvSpPr/>
          <p:nvPr/>
        </p:nvSpPr>
        <p:spPr>
          <a:xfrm>
            <a:off x="713232" y="2286000"/>
            <a:ext cx="384048" cy="384048"/>
          </a:xfrm>
          <a:prstGeom prst="ellipse">
            <a:avLst/>
          </a:prstGeom>
          <a:solidFill>
            <a:srgbClr val="1C7293"/>
          </a:solidFill>
          <a:ln/>
        </p:spPr>
      </p:sp>
      <p:pic>
        <p:nvPicPr>
          <p:cNvPr id="11" name="Image 1" descr="preencoded.png"/>
          <p:cNvPicPr>
            <a:picLocks noChangeAspect="1"/>
          </p:cNvPicPr>
          <p:nvPr/>
        </p:nvPicPr>
        <p:blipFill>
          <a:blip r:embed="rId3"/>
          <a:stretch>
            <a:fillRect/>
          </a:stretch>
        </p:blipFill>
        <p:spPr>
          <a:xfrm>
            <a:off x="800100" y="2372868"/>
            <a:ext cx="210312" cy="210312"/>
          </a:xfrm>
          <a:prstGeom prst="rect">
            <a:avLst/>
          </a:prstGeom>
        </p:spPr>
      </p:pic>
      <p:sp>
        <p:nvSpPr>
          <p:cNvPr id="12" name="Text 8"/>
          <p:cNvSpPr/>
          <p:nvPr/>
        </p:nvSpPr>
        <p:spPr>
          <a:xfrm>
            <a:off x="1280160" y="2176272"/>
            <a:ext cx="2103120" cy="585216"/>
          </a:xfrm>
          <a:prstGeom prst="rect">
            <a:avLst/>
          </a:prstGeom>
          <a:noFill/>
          <a:ln/>
        </p:spPr>
        <p:txBody>
          <a:bodyPr wrap="square" lIns="0" tIns="0" rIns="0" bIns="0" rtlCol="0" anchor="ctr"/>
          <a:lstStyle/>
          <a:p>
            <a:pPr marL="0" indent="0">
              <a:buNone/>
            </a:pPr>
            <a:r>
              <a:rPr lang="en-US" sz="1400" b="1" dirty="0">
                <a:solidFill>
                  <a:srgbClr val="14333F"/>
                </a:solidFill>
                <a:latin typeface="Calibri" pitchFamily="34" charset="0"/>
                <a:ea typeface="Calibri" pitchFamily="34" charset="-122"/>
                <a:cs typeface="Calibri" pitchFamily="34" charset="-120"/>
              </a:rPr>
              <a:t>Data Elements tab</a:t>
            </a:r>
            <a:endParaRPr lang="en-US" sz="1400" dirty="0"/>
          </a:p>
        </p:txBody>
      </p:sp>
      <p:sp>
        <p:nvSpPr>
          <p:cNvPr id="13" name="Text 9"/>
          <p:cNvSpPr/>
          <p:nvPr/>
        </p:nvSpPr>
        <p:spPr>
          <a:xfrm>
            <a:off x="3383280" y="2176272"/>
            <a:ext cx="5029200" cy="585216"/>
          </a:xfrm>
          <a:prstGeom prst="rect">
            <a:avLst/>
          </a:prstGeom>
          <a:noFill/>
          <a:ln/>
        </p:spPr>
        <p:txBody>
          <a:bodyPr wrap="square" lIns="0" tIns="0" rIns="0" bIns="0" rtlCol="0" anchor="ctr"/>
          <a:lstStyle/>
          <a:p>
            <a:pPr marL="0" indent="0">
              <a:buNone/>
            </a:pPr>
            <a:r>
              <a:rPr lang="en-US" sz="1150" dirty="0">
                <a:solidFill>
                  <a:srgbClr val="5B7782"/>
                </a:solidFill>
                <a:latin typeface="Calibri" pitchFamily="34" charset="0"/>
                <a:ea typeface="Calibri" pitchFamily="34" charset="-122"/>
                <a:cs typeface="Calibri" pitchFamily="34" charset="-120"/>
              </a:rPr>
              <a:t>On the term, open the Data Elements tab — with its Elements and Suggested Columns views.</a:t>
            </a:r>
            <a:endParaRPr lang="en-US" sz="1150" dirty="0"/>
          </a:p>
        </p:txBody>
      </p:sp>
      <p:sp>
        <p:nvSpPr>
          <p:cNvPr id="14" name="Shape 10"/>
          <p:cNvSpPr/>
          <p:nvPr/>
        </p:nvSpPr>
        <p:spPr>
          <a:xfrm>
            <a:off x="548640" y="2852928"/>
            <a:ext cx="8046720" cy="585216"/>
          </a:xfrm>
          <a:prstGeom prst="roundRect">
            <a:avLst>
              <a:gd name="adj" fmla="val 10938"/>
            </a:avLst>
          </a:prstGeom>
          <a:solidFill>
            <a:srgbClr val="EEF6FA"/>
          </a:solidFill>
          <a:ln/>
          <a:effectLst>
            <a:outerShdw blurRad="50800" dist="12700" dir="5400000" algn="bl" rotWithShape="0">
              <a:srgbClr val="0A3D52">
                <a:alpha val="7000"/>
              </a:srgbClr>
            </a:outerShdw>
          </a:effectLst>
        </p:spPr>
      </p:sp>
      <p:sp>
        <p:nvSpPr>
          <p:cNvPr id="15" name="Shape 11"/>
          <p:cNvSpPr/>
          <p:nvPr/>
        </p:nvSpPr>
        <p:spPr>
          <a:xfrm>
            <a:off x="713232" y="2962656"/>
            <a:ext cx="384048" cy="384048"/>
          </a:xfrm>
          <a:prstGeom prst="ellipse">
            <a:avLst/>
          </a:prstGeom>
          <a:solidFill>
            <a:srgbClr val="1C7293"/>
          </a:solidFill>
          <a:ln/>
        </p:spPr>
      </p:sp>
      <p:pic>
        <p:nvPicPr>
          <p:cNvPr id="16" name="Image 2" descr="preencoded.png"/>
          <p:cNvPicPr>
            <a:picLocks noChangeAspect="1"/>
          </p:cNvPicPr>
          <p:nvPr/>
        </p:nvPicPr>
        <p:blipFill>
          <a:blip r:embed="rId4"/>
          <a:stretch>
            <a:fillRect/>
          </a:stretch>
        </p:blipFill>
        <p:spPr>
          <a:xfrm>
            <a:off x="800100" y="3049524"/>
            <a:ext cx="210312" cy="210312"/>
          </a:xfrm>
          <a:prstGeom prst="rect">
            <a:avLst/>
          </a:prstGeom>
        </p:spPr>
      </p:pic>
      <p:sp>
        <p:nvSpPr>
          <p:cNvPr id="17" name="Text 12"/>
          <p:cNvSpPr/>
          <p:nvPr/>
        </p:nvSpPr>
        <p:spPr>
          <a:xfrm>
            <a:off x="1280160" y="2852928"/>
            <a:ext cx="2103120" cy="585216"/>
          </a:xfrm>
          <a:prstGeom prst="rect">
            <a:avLst/>
          </a:prstGeom>
          <a:noFill/>
          <a:ln/>
        </p:spPr>
        <p:txBody>
          <a:bodyPr wrap="square" lIns="0" tIns="0" rIns="0" bIns="0" rtlCol="0" anchor="ctr"/>
          <a:lstStyle/>
          <a:p>
            <a:pPr marL="0" indent="0">
              <a:buNone/>
            </a:pPr>
            <a:r>
              <a:rPr lang="en-US" sz="1400" b="1" dirty="0">
                <a:solidFill>
                  <a:srgbClr val="14333F"/>
                </a:solidFill>
                <a:latin typeface="Calibri" pitchFamily="34" charset="0"/>
                <a:ea typeface="Calibri" pitchFamily="34" charset="-122"/>
                <a:cs typeface="Calibri" pitchFamily="34" charset="-120"/>
              </a:rPr>
              <a:t>Add Data Element</a:t>
            </a:r>
            <a:endParaRPr lang="en-US" sz="1400" dirty="0"/>
          </a:p>
        </p:txBody>
      </p:sp>
      <p:sp>
        <p:nvSpPr>
          <p:cNvPr id="18" name="Text 13"/>
          <p:cNvSpPr/>
          <p:nvPr/>
        </p:nvSpPr>
        <p:spPr>
          <a:xfrm>
            <a:off x="3383280" y="2852928"/>
            <a:ext cx="5029200" cy="585216"/>
          </a:xfrm>
          <a:prstGeom prst="rect">
            <a:avLst/>
          </a:prstGeom>
          <a:noFill/>
          <a:ln/>
        </p:spPr>
        <p:txBody>
          <a:bodyPr wrap="square" lIns="0" tIns="0" rIns="0" bIns="0" rtlCol="0" anchor="ctr"/>
          <a:lstStyle/>
          <a:p>
            <a:pPr marL="0" indent="0">
              <a:buNone/>
            </a:pPr>
            <a:r>
              <a:rPr lang="en-US" sz="1150" dirty="0">
                <a:solidFill>
                  <a:srgbClr val="5B7782"/>
                </a:solidFill>
                <a:latin typeface="Calibri" pitchFamily="34" charset="0"/>
                <a:ea typeface="Calibri" pitchFamily="34" charset="-122"/>
                <a:cs typeface="Calibri" pitchFamily="34" charset="-120"/>
              </a:rPr>
              <a:t>Click + Add Data Element and pick the column — or Approve a Suggested Column. Link the same term to matching columns in other tables and views; Water System links to four. All inherit its meaning.</a:t>
            </a:r>
            <a:endParaRPr lang="en-US" sz="1150" dirty="0"/>
          </a:p>
        </p:txBody>
      </p:sp>
      <p:sp>
        <p:nvSpPr>
          <p:cNvPr id="19" name="Shape 14"/>
          <p:cNvSpPr/>
          <p:nvPr/>
        </p:nvSpPr>
        <p:spPr>
          <a:xfrm>
            <a:off x="548640" y="3529584"/>
            <a:ext cx="8046720" cy="585216"/>
          </a:xfrm>
          <a:prstGeom prst="roundRect">
            <a:avLst>
              <a:gd name="adj" fmla="val 10938"/>
            </a:avLst>
          </a:prstGeom>
          <a:solidFill>
            <a:srgbClr val="EEF6FA"/>
          </a:solidFill>
          <a:ln/>
          <a:effectLst>
            <a:outerShdw blurRad="50800" dist="12700" dir="5400000" algn="bl" rotWithShape="0">
              <a:srgbClr val="0A3D52">
                <a:alpha val="7000"/>
              </a:srgbClr>
            </a:outerShdw>
          </a:effectLst>
        </p:spPr>
      </p:sp>
      <p:sp>
        <p:nvSpPr>
          <p:cNvPr id="20" name="Shape 15"/>
          <p:cNvSpPr/>
          <p:nvPr/>
        </p:nvSpPr>
        <p:spPr>
          <a:xfrm>
            <a:off x="713232" y="3639312"/>
            <a:ext cx="384048" cy="384048"/>
          </a:xfrm>
          <a:prstGeom prst="ellipse">
            <a:avLst/>
          </a:prstGeom>
          <a:solidFill>
            <a:srgbClr val="1C7293"/>
          </a:solidFill>
          <a:ln/>
        </p:spPr>
      </p:sp>
      <p:pic>
        <p:nvPicPr>
          <p:cNvPr id="21" name="Image 3" descr="preencoded.png"/>
          <p:cNvPicPr>
            <a:picLocks noChangeAspect="1"/>
          </p:cNvPicPr>
          <p:nvPr/>
        </p:nvPicPr>
        <p:blipFill>
          <a:blip r:embed="rId5"/>
          <a:stretch>
            <a:fillRect/>
          </a:stretch>
        </p:blipFill>
        <p:spPr>
          <a:xfrm>
            <a:off x="800100" y="3726180"/>
            <a:ext cx="210312" cy="210312"/>
          </a:xfrm>
          <a:prstGeom prst="rect">
            <a:avLst/>
          </a:prstGeom>
        </p:spPr>
      </p:pic>
      <p:sp>
        <p:nvSpPr>
          <p:cNvPr id="22" name="Text 16"/>
          <p:cNvSpPr/>
          <p:nvPr/>
        </p:nvSpPr>
        <p:spPr>
          <a:xfrm>
            <a:off x="1280160" y="3529584"/>
            <a:ext cx="2103120" cy="585216"/>
          </a:xfrm>
          <a:prstGeom prst="rect">
            <a:avLst/>
          </a:prstGeom>
          <a:noFill/>
          <a:ln/>
        </p:spPr>
        <p:txBody>
          <a:bodyPr wrap="square" lIns="0" tIns="0" rIns="0" bIns="0" rtlCol="0" anchor="ctr"/>
          <a:lstStyle/>
          <a:p>
            <a:pPr marL="0" indent="0">
              <a:buNone/>
            </a:pPr>
            <a:r>
              <a:rPr lang="en-US" sz="1400" b="1" dirty="0">
                <a:solidFill>
                  <a:srgbClr val="14333F"/>
                </a:solidFill>
                <a:latin typeface="Calibri" pitchFamily="34" charset="0"/>
                <a:ea typeface="Calibri" pitchFamily="34" charset="-122"/>
                <a:cs typeface="Calibri" pitchFamily="34" charset="-120"/>
              </a:rPr>
              <a:t>The column is linked</a:t>
            </a:r>
            <a:endParaRPr lang="en-US" sz="1400" dirty="0"/>
          </a:p>
        </p:txBody>
      </p:sp>
      <p:sp>
        <p:nvSpPr>
          <p:cNvPr id="23" name="Text 17"/>
          <p:cNvSpPr/>
          <p:nvPr/>
        </p:nvSpPr>
        <p:spPr>
          <a:xfrm>
            <a:off x="3383280" y="3529584"/>
            <a:ext cx="5029200" cy="585216"/>
          </a:xfrm>
          <a:prstGeom prst="rect">
            <a:avLst/>
          </a:prstGeom>
          <a:noFill/>
          <a:ln/>
        </p:spPr>
        <p:txBody>
          <a:bodyPr wrap="square" lIns="0" tIns="0" rIns="0" bIns="0" rtlCol="0" anchor="ctr"/>
          <a:lstStyle/>
          <a:p>
            <a:pPr marL="0" indent="0">
              <a:buNone/>
            </a:pPr>
            <a:r>
              <a:rPr lang="en-US" sz="1150" dirty="0">
                <a:solidFill>
                  <a:srgbClr val="5B7782"/>
                </a:solidFill>
                <a:latin typeface="Calibri" pitchFamily="34" charset="0"/>
                <a:ea typeface="Calibri" pitchFamily="34" charset="-122"/>
                <a:cs typeface="Calibri" pitchFamily="34" charset="-120"/>
              </a:rPr>
              <a:t>customers.customer_name now lists under the term as Item Type COLUMN, from Arizona_Water_Operations.</a:t>
            </a:r>
            <a:endParaRPr lang="en-US" sz="1150" dirty="0"/>
          </a:p>
        </p:txBody>
      </p:sp>
      <p:sp>
        <p:nvSpPr>
          <p:cNvPr id="24" name="Shape 18"/>
          <p:cNvSpPr/>
          <p:nvPr/>
        </p:nvSpPr>
        <p:spPr>
          <a:xfrm>
            <a:off x="548640" y="4206240"/>
            <a:ext cx="8046720" cy="585216"/>
          </a:xfrm>
          <a:prstGeom prst="roundRect">
            <a:avLst>
              <a:gd name="adj" fmla="val 10938"/>
            </a:avLst>
          </a:prstGeom>
          <a:solidFill>
            <a:srgbClr val="EEF6FA"/>
          </a:solidFill>
          <a:ln/>
          <a:effectLst>
            <a:outerShdw blurRad="50800" dist="12700" dir="5400000" algn="bl" rotWithShape="0">
              <a:srgbClr val="0A3D52">
                <a:alpha val="7000"/>
              </a:srgbClr>
            </a:outerShdw>
          </a:effectLst>
        </p:spPr>
      </p:sp>
      <p:sp>
        <p:nvSpPr>
          <p:cNvPr id="25" name="Shape 19"/>
          <p:cNvSpPr/>
          <p:nvPr/>
        </p:nvSpPr>
        <p:spPr>
          <a:xfrm>
            <a:off x="713232" y="4315968"/>
            <a:ext cx="384048" cy="384048"/>
          </a:xfrm>
          <a:prstGeom prst="ellipse">
            <a:avLst/>
          </a:prstGeom>
          <a:solidFill>
            <a:srgbClr val="1C7293"/>
          </a:solidFill>
          <a:ln/>
        </p:spPr>
      </p:sp>
      <p:pic>
        <p:nvPicPr>
          <p:cNvPr id="26" name="Image 4" descr="preencoded.png"/>
          <p:cNvPicPr>
            <a:picLocks noChangeAspect="1"/>
          </p:cNvPicPr>
          <p:nvPr/>
        </p:nvPicPr>
        <p:blipFill>
          <a:blip r:embed="rId6"/>
          <a:stretch>
            <a:fillRect/>
          </a:stretch>
        </p:blipFill>
        <p:spPr>
          <a:xfrm>
            <a:off x="800100" y="4402836"/>
            <a:ext cx="210312" cy="210312"/>
          </a:xfrm>
          <a:prstGeom prst="rect">
            <a:avLst/>
          </a:prstGeom>
        </p:spPr>
      </p:pic>
      <p:sp>
        <p:nvSpPr>
          <p:cNvPr id="27" name="Text 20"/>
          <p:cNvSpPr/>
          <p:nvPr/>
        </p:nvSpPr>
        <p:spPr>
          <a:xfrm>
            <a:off x="1280160" y="4206240"/>
            <a:ext cx="2103120" cy="585216"/>
          </a:xfrm>
          <a:prstGeom prst="rect">
            <a:avLst/>
          </a:prstGeom>
          <a:noFill/>
          <a:ln/>
        </p:spPr>
        <p:txBody>
          <a:bodyPr wrap="square" lIns="0" tIns="0" rIns="0" bIns="0" rtlCol="0" anchor="ctr"/>
          <a:lstStyle/>
          <a:p>
            <a:pPr marL="0" indent="0">
              <a:buNone/>
            </a:pPr>
            <a:r>
              <a:rPr lang="en-US" sz="1400" b="1" dirty="0">
                <a:solidFill>
                  <a:srgbClr val="14333F"/>
                </a:solidFill>
                <a:latin typeface="Calibri" pitchFamily="34" charset="0"/>
                <a:ea typeface="Calibri" pitchFamily="34" charset="-122"/>
                <a:cs typeface="Calibri" pitchFamily="34" charset="-120"/>
              </a:rPr>
              <a:t>Then feed the table score</a:t>
            </a:r>
            <a:endParaRPr lang="en-US" sz="1400" dirty="0"/>
          </a:p>
        </p:txBody>
      </p:sp>
      <p:sp>
        <p:nvSpPr>
          <p:cNvPr id="28" name="Text 21"/>
          <p:cNvSpPr/>
          <p:nvPr/>
        </p:nvSpPr>
        <p:spPr>
          <a:xfrm>
            <a:off x="3383280" y="4206240"/>
            <a:ext cx="5029200" cy="585216"/>
          </a:xfrm>
          <a:prstGeom prst="rect">
            <a:avLst/>
          </a:prstGeom>
          <a:noFill/>
          <a:ln/>
        </p:spPr>
        <p:txBody>
          <a:bodyPr wrap="square" lIns="0" tIns="0" rIns="0" bIns="0" rtlCol="0" anchor="ctr"/>
          <a:lstStyle/>
          <a:p>
            <a:pPr marL="0" indent="0">
              <a:buNone/>
            </a:pPr>
            <a:r>
              <a:rPr lang="en-US" sz="1150" dirty="0">
                <a:solidFill>
                  <a:srgbClr val="5B7782"/>
                </a:solidFill>
                <a:latin typeface="Calibri" pitchFamily="34" charset="0"/>
                <a:ea typeface="Calibri" pitchFamily="34" charset="-122"/>
                <a:cs typeface="Calibri" pitchFamily="34" charset="-120"/>
              </a:rPr>
              <a:t>The column links above are enrichment — they don’t feed the score. To feed it, link the table-level term (Customer Record) to the customers table, then Actions → Process → Calculate Trust Score. A term is 1 of 4 inputs; it climbs furthest after Workshop 4.</a:t>
            </a:r>
            <a:endParaRPr lang="en-US" sz="1150" dirty="0"/>
          </a:p>
        </p:txBody>
      </p:sp>
      <p:sp>
        <p:nvSpPr>
          <p:cNvPr id="29" name="Text 22"/>
          <p:cNvSpPr/>
          <p:nvPr/>
        </p:nvSpPr>
        <p:spPr>
          <a:xfrm>
            <a:off x="548640" y="4828032"/>
            <a:ext cx="7315200" cy="274320"/>
          </a:xfrm>
          <a:prstGeom prst="rect">
            <a:avLst/>
          </a:prstGeom>
          <a:noFill/>
          <a:ln/>
        </p:spPr>
        <p:txBody>
          <a:bodyPr wrap="square" lIns="0" tIns="0" rIns="0" bIns="0" rtlCol="0" anchor="ctr"/>
          <a:lstStyle/>
          <a:p>
            <a:pPr marL="0" indent="0">
              <a:buNone/>
            </a:pPr>
            <a:r>
              <a:rPr lang="en-US" sz="950" dirty="0">
                <a:solidFill>
                  <a:srgbClr val="5B7782"/>
                </a:solidFill>
                <a:latin typeface="Calibri" pitchFamily="34" charset="0"/>
                <a:ea typeface="Calibri" pitchFamily="34" charset="-122"/>
                <a:cs typeface="Calibri" pitchFamily="34" charset="-120"/>
              </a:rPr>
              <a:t>Workshop 3 · Linking is done from the term’s Data Elements tab — not from an Add Term button on the table</a:t>
            </a:r>
            <a:endParaRPr lang="en-US" sz="950" dirty="0"/>
          </a:p>
        </p:txBody>
      </p:sp>
      <p:sp>
        <p:nvSpPr>
          <p:cNvPr id="30" name="Text 23"/>
          <p:cNvSpPr/>
          <p:nvPr/>
        </p:nvSpPr>
        <p:spPr>
          <a:xfrm>
            <a:off x="8366760" y="4828032"/>
            <a:ext cx="320040" cy="274320"/>
          </a:xfrm>
          <a:prstGeom prst="rect">
            <a:avLst/>
          </a:prstGeom>
          <a:noFill/>
          <a:ln/>
        </p:spPr>
        <p:txBody>
          <a:bodyPr wrap="square" lIns="0" tIns="0" rIns="0" bIns="0" rtlCol="0" anchor="ctr"/>
          <a:lstStyle/>
          <a:p>
            <a:pPr marL="0" indent="0" algn="r">
              <a:buNone/>
            </a:pPr>
            <a:r>
              <a:rPr lang="en-US" sz="950" dirty="0">
                <a:solidFill>
                  <a:srgbClr val="5B7782"/>
                </a:solidFill>
                <a:latin typeface="Calibri" pitchFamily="34" charset="0"/>
                <a:ea typeface="Calibri" pitchFamily="34" charset="-122"/>
                <a:cs typeface="Calibri" pitchFamily="34" charset="-120"/>
              </a:rPr>
              <a:t>6</a:t>
            </a:r>
            <a:endParaRPr lang="en-US" sz="950" dirty="0"/>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7680960" cy="292608"/>
          </a:xfrm>
          <a:prstGeom prst="rect">
            <a:avLst/>
          </a:prstGeom>
          <a:noFill/>
        </p:spPr>
        <p:txBody>
          <a:bodyPr wrap="square" lIns="0" rIns="0" tIns="0" bIns="0">
            <a:spAutoFit/>
          </a:bodyPr>
          <a:lstStyle/>
          <a:p>
            <a:r>
              <a:rPr sz="1200" b="1" spc="200">
                <a:solidFill>
                  <a:srgbClr val="1C7293"/>
                </a:solidFill>
                <a:latin typeface="Calibri"/>
              </a:rPr>
              <a:t>TRUST SCORE</a:t>
            </a:r>
          </a:p>
        </p:txBody>
      </p:sp>
      <p:sp>
        <p:nvSpPr>
          <p:cNvPr id="3" name="TextBox 2"/>
          <p:cNvSpPr txBox="1"/>
          <p:nvPr/>
        </p:nvSpPr>
        <p:spPr>
          <a:xfrm>
            <a:off x="548640" y="713232"/>
            <a:ext cx="7863840" cy="566928"/>
          </a:xfrm>
          <a:prstGeom prst="rect">
            <a:avLst/>
          </a:prstGeom>
          <a:noFill/>
        </p:spPr>
        <p:txBody>
          <a:bodyPr wrap="square" lIns="0" rIns="0" tIns="0" bIns="0">
            <a:spAutoFit/>
          </a:bodyPr>
          <a:lstStyle/>
          <a:p>
            <a:r>
              <a:rPr sz="2700" b="0">
                <a:solidFill>
                  <a:srgbClr val="14333F"/>
                </a:solidFill>
                <a:latin typeface="Bookman Old Style"/>
              </a:rPr>
              <a:t>What your links did — and didn’t — do</a:t>
            </a:r>
          </a:p>
        </p:txBody>
      </p:sp>
      <p:sp>
        <p:nvSpPr>
          <p:cNvPr id="4" name="Rectangle 3"/>
          <p:cNvSpPr/>
          <p:nvPr/>
        </p:nvSpPr>
        <p:spPr>
          <a:xfrm>
            <a:off x="548640" y="1444752"/>
            <a:ext cx="8046720" cy="475488"/>
          </a:xfrm>
          <a:prstGeom prst="rect">
            <a:avLst/>
          </a:prstGeom>
          <a:solidFill>
            <a:srgbClr val="0A3D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tIns="36576" bIns="36576"/>
          <a:lstStyle/>
          <a:p>
            <a:pPr algn="ctr"/>
            <a:r>
              <a:rPr sz="1350" b="1">
                <a:solidFill>
                  <a:srgbClr val="FFFFFF"/>
                </a:solidFill>
                <a:latin typeface="Calibri"/>
              </a:rPr>
              <a:t>Trust Score is a TABLE / FILE metric — a column never gets its own</a:t>
            </a:r>
          </a:p>
        </p:txBody>
      </p:sp>
      <p:sp>
        <p:nvSpPr>
          <p:cNvPr id="5" name="Rounded Rectangle 4"/>
          <p:cNvSpPr/>
          <p:nvPr/>
        </p:nvSpPr>
        <p:spPr>
          <a:xfrm>
            <a:off x="548640" y="2084831"/>
            <a:ext cx="3931920" cy="1371600"/>
          </a:xfrm>
          <a:prstGeom prst="roundRect">
            <a:avLst>
              <a:gd name="adj" fmla="val 5000"/>
            </a:avLst>
          </a:prstGeom>
          <a:solidFill>
            <a:srgbClr val="EEF6FA"/>
          </a:solidFill>
          <a:ln w="9525">
            <a:solidFill>
              <a:srgbClr val="D7E6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49808" y="2322576"/>
            <a:ext cx="146304" cy="146304"/>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231136"/>
            <a:ext cx="3291839" cy="365760"/>
          </a:xfrm>
          <a:prstGeom prst="rect">
            <a:avLst/>
          </a:prstGeom>
          <a:noFill/>
        </p:spPr>
        <p:txBody>
          <a:bodyPr wrap="square" lIns="0" rIns="0" tIns="0" bIns="0">
            <a:spAutoFit/>
          </a:bodyPr>
          <a:lstStyle/>
          <a:p>
            <a:r>
              <a:rPr sz="1400" b="0">
                <a:solidFill>
                  <a:srgbClr val="14333F"/>
                </a:solidFill>
                <a:latin typeface="Bookman Old Style"/>
              </a:rPr>
              <a:t>Feed it with a table-level term</a:t>
            </a:r>
          </a:p>
        </p:txBody>
      </p:sp>
      <p:sp>
        <p:nvSpPr>
          <p:cNvPr id="8" name="TextBox 7"/>
          <p:cNvSpPr txBox="1"/>
          <p:nvPr/>
        </p:nvSpPr>
        <p:spPr>
          <a:xfrm>
            <a:off x="749808" y="2651760"/>
            <a:ext cx="3529584" cy="731520"/>
          </a:xfrm>
          <a:prstGeom prst="rect">
            <a:avLst/>
          </a:prstGeom>
          <a:noFill/>
        </p:spPr>
        <p:txBody>
          <a:bodyPr wrap="square" lIns="0" rIns="0" tIns="0" bIns="0">
            <a:spAutoFit/>
          </a:bodyPr>
          <a:lstStyle/>
          <a:p>
            <a:pPr>
              <a:lnSpc>
                <a:spcPct val="105000"/>
              </a:lnSpc>
            </a:pPr>
            <a:r>
              <a:rPr sz="1100" b="0">
                <a:solidFill>
                  <a:srgbClr val="5B7782"/>
                </a:solidFill>
                <a:latin typeface="Calibri"/>
              </a:rPr>
              <a:t>The score reads a term on the table itself (Customer Record, …). Link that term to the table, then Calculate Trust Score.</a:t>
            </a:r>
          </a:p>
        </p:txBody>
      </p:sp>
      <p:sp>
        <p:nvSpPr>
          <p:cNvPr id="9" name="Rounded Rectangle 8"/>
          <p:cNvSpPr/>
          <p:nvPr/>
        </p:nvSpPr>
        <p:spPr>
          <a:xfrm>
            <a:off x="4663440" y="2084831"/>
            <a:ext cx="3931920" cy="1371600"/>
          </a:xfrm>
          <a:prstGeom prst="roundRect">
            <a:avLst>
              <a:gd name="adj" fmla="val 5000"/>
            </a:avLst>
          </a:prstGeom>
          <a:solidFill>
            <a:srgbClr val="EEF6FA"/>
          </a:solidFill>
          <a:ln w="9525">
            <a:solidFill>
              <a:srgbClr val="D7E6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864607" y="2322576"/>
            <a:ext cx="146304" cy="146304"/>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120640" y="2231136"/>
            <a:ext cx="3291839" cy="365760"/>
          </a:xfrm>
          <a:prstGeom prst="rect">
            <a:avLst/>
          </a:prstGeom>
          <a:noFill/>
        </p:spPr>
        <p:txBody>
          <a:bodyPr wrap="square" lIns="0" rIns="0" tIns="0" bIns="0">
            <a:spAutoFit/>
          </a:bodyPr>
          <a:lstStyle/>
          <a:p>
            <a:r>
              <a:rPr sz="1400" b="0">
                <a:solidFill>
                  <a:srgbClr val="14333F"/>
                </a:solidFill>
                <a:latin typeface="Bookman Old Style"/>
              </a:rPr>
              <a:t>Column links are for meaning</a:t>
            </a:r>
          </a:p>
        </p:txBody>
      </p:sp>
      <p:sp>
        <p:nvSpPr>
          <p:cNvPr id="12" name="TextBox 11"/>
          <p:cNvSpPr txBox="1"/>
          <p:nvPr/>
        </p:nvSpPr>
        <p:spPr>
          <a:xfrm>
            <a:off x="4864607" y="2651760"/>
            <a:ext cx="3529584" cy="731520"/>
          </a:xfrm>
          <a:prstGeom prst="rect">
            <a:avLst/>
          </a:prstGeom>
          <a:noFill/>
        </p:spPr>
        <p:txBody>
          <a:bodyPr wrap="square" lIns="0" rIns="0" tIns="0" bIns="0">
            <a:spAutoFit/>
          </a:bodyPr>
          <a:lstStyle/>
          <a:p>
            <a:pPr>
              <a:lnSpc>
                <a:spcPct val="105000"/>
              </a:lnSpc>
            </a:pPr>
            <a:r>
              <a:rPr sz="1100" b="0">
                <a:solidFill>
                  <a:srgbClr val="5B7782"/>
                </a:solidFill>
                <a:latin typeface="Calibri"/>
              </a:rPr>
              <a:t>They carry definition, sensitivity and owner onto the column — for search, lineage and discovery, not for a score.</a:t>
            </a:r>
          </a:p>
        </p:txBody>
      </p:sp>
      <p:sp>
        <p:nvSpPr>
          <p:cNvPr id="13" name="Rounded Rectangle 12"/>
          <p:cNvSpPr/>
          <p:nvPr/>
        </p:nvSpPr>
        <p:spPr>
          <a:xfrm>
            <a:off x="548640" y="3566160"/>
            <a:ext cx="3931920" cy="1371600"/>
          </a:xfrm>
          <a:prstGeom prst="roundRect">
            <a:avLst>
              <a:gd name="adj" fmla="val 5000"/>
            </a:avLst>
          </a:prstGeom>
          <a:solidFill>
            <a:srgbClr val="EEF6FA"/>
          </a:solidFill>
          <a:ln w="9525">
            <a:solidFill>
              <a:srgbClr val="D7E6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49808" y="3803904"/>
            <a:ext cx="146304" cy="146304"/>
          </a:xfrm>
          <a:prstGeom prst="rect">
            <a:avLst/>
          </a:prstGeom>
          <a:solidFill>
            <a:srgbClr val="2E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3712463"/>
            <a:ext cx="3291839" cy="365760"/>
          </a:xfrm>
          <a:prstGeom prst="rect">
            <a:avLst/>
          </a:prstGeom>
          <a:noFill/>
        </p:spPr>
        <p:txBody>
          <a:bodyPr wrap="square" lIns="0" rIns="0" tIns="0" bIns="0">
            <a:spAutoFit/>
          </a:bodyPr>
          <a:lstStyle/>
          <a:p>
            <a:r>
              <a:rPr sz="1400" b="0">
                <a:solidFill>
                  <a:srgbClr val="14333F"/>
                </a:solidFill>
                <a:latin typeface="Bookman Old Style"/>
              </a:rPr>
              <a:t>The term input is binary</a:t>
            </a:r>
          </a:p>
        </p:txBody>
      </p:sp>
      <p:sp>
        <p:nvSpPr>
          <p:cNvPr id="16" name="TextBox 15"/>
          <p:cNvSpPr txBox="1"/>
          <p:nvPr/>
        </p:nvSpPr>
        <p:spPr>
          <a:xfrm>
            <a:off x="749808" y="4133087"/>
            <a:ext cx="3529584" cy="731520"/>
          </a:xfrm>
          <a:prstGeom prst="rect">
            <a:avLst/>
          </a:prstGeom>
          <a:noFill/>
        </p:spPr>
        <p:txBody>
          <a:bodyPr wrap="square" lIns="0" rIns="0" tIns="0" bIns="0">
            <a:spAutoFit/>
          </a:bodyPr>
          <a:lstStyle/>
          <a:p>
            <a:pPr>
              <a:lnSpc>
                <a:spcPct val="105000"/>
              </a:lnSpc>
            </a:pPr>
            <a:r>
              <a:rPr sz="1100" b="0">
                <a:solidFill>
                  <a:srgbClr val="5B7782"/>
                </a:solidFill>
                <a:latin typeface="Calibri"/>
              </a:rPr>
              <a:t>Term assigned or not — never how many. Over-linking to lift the number degrades the governance the score measures.</a:t>
            </a:r>
          </a:p>
        </p:txBody>
      </p:sp>
      <p:sp>
        <p:nvSpPr>
          <p:cNvPr id="17" name="Rounded Rectangle 16"/>
          <p:cNvSpPr/>
          <p:nvPr/>
        </p:nvSpPr>
        <p:spPr>
          <a:xfrm>
            <a:off x="4663440" y="3566160"/>
            <a:ext cx="3931920" cy="1371600"/>
          </a:xfrm>
          <a:prstGeom prst="roundRect">
            <a:avLst>
              <a:gd name="adj" fmla="val 5000"/>
            </a:avLst>
          </a:prstGeom>
          <a:solidFill>
            <a:srgbClr val="EEF6FA"/>
          </a:solidFill>
          <a:ln w="9525">
            <a:solidFill>
              <a:srgbClr val="D7E6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864607" y="3803904"/>
            <a:ext cx="146304" cy="146304"/>
          </a:xfrm>
          <a:prstGeom prst="rect">
            <a:avLst/>
          </a:prstGeom>
          <a:solidFill>
            <a:srgbClr val="0A3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120640" y="3712463"/>
            <a:ext cx="3291839" cy="365760"/>
          </a:xfrm>
          <a:prstGeom prst="rect">
            <a:avLst/>
          </a:prstGeom>
          <a:noFill/>
        </p:spPr>
        <p:txBody>
          <a:bodyPr wrap="square" lIns="0" rIns="0" tIns="0" bIns="0">
            <a:spAutoFit/>
          </a:bodyPr>
          <a:lstStyle/>
          <a:p>
            <a:r>
              <a:rPr sz="1400" b="0">
                <a:solidFill>
                  <a:srgbClr val="14333F"/>
                </a:solidFill>
                <a:latin typeface="Bookman Old Style"/>
              </a:rPr>
              <a:t>A column score is authored</a:t>
            </a:r>
          </a:p>
        </p:txBody>
      </p:sp>
      <p:sp>
        <p:nvSpPr>
          <p:cNvPr id="20" name="TextBox 19"/>
          <p:cNvSpPr txBox="1"/>
          <p:nvPr/>
        </p:nvSpPr>
        <p:spPr>
          <a:xfrm>
            <a:off x="4864607" y="4133087"/>
            <a:ext cx="3529584" cy="731520"/>
          </a:xfrm>
          <a:prstGeom prst="rect">
            <a:avLst/>
          </a:prstGeom>
          <a:noFill/>
        </p:spPr>
        <p:txBody>
          <a:bodyPr wrap="square" lIns="0" rIns="0" tIns="0" bIns="0">
            <a:spAutoFit/>
          </a:bodyPr>
          <a:lstStyle/>
          <a:p>
            <a:pPr>
              <a:lnSpc>
                <a:spcPct val="105000"/>
              </a:lnSpc>
            </a:pPr>
            <a:r>
              <a:rPr sz="1100" b="0">
                <a:solidFill>
                  <a:srgbClr val="5B7782"/>
                </a:solidFill>
                <a:latin typeface="Calibri"/>
              </a:rPr>
              <a:t>Not from the button. Extract entities, compute a value, then bulk-write it per column via API / OpenSearch — a Technical-track job.</a:t>
            </a:r>
          </a:p>
        </p:txBody>
      </p:sp>
      <p:sp>
        <p:nvSpPr>
          <p:cNvPr id="21" name="TextBox 20"/>
          <p:cNvSpPr txBox="1"/>
          <p:nvPr/>
        </p:nvSpPr>
        <p:spPr>
          <a:xfrm>
            <a:off x="548640" y="4828032"/>
            <a:ext cx="7315200" cy="274320"/>
          </a:xfrm>
          <a:prstGeom prst="rect">
            <a:avLst/>
          </a:prstGeom>
          <a:noFill/>
        </p:spPr>
        <p:txBody>
          <a:bodyPr wrap="square" lIns="0" rIns="0" tIns="0" bIns="0">
            <a:spAutoFit/>
          </a:bodyPr>
          <a:lstStyle/>
          <a:p>
            <a:r>
              <a:rPr sz="950" b="0">
                <a:solidFill>
                  <a:srgbClr val="5B7782"/>
                </a:solidFill>
                <a:latin typeface="Calibri"/>
              </a:rPr>
              <a:t>Workshop 3 · Build the Business Glossary</a:t>
            </a:r>
          </a:p>
        </p:txBody>
      </p:sp>
      <p:sp>
        <p:nvSpPr>
          <p:cNvPr id="22" name="TextBox 21"/>
          <p:cNvSpPr txBox="1"/>
          <p:nvPr/>
        </p:nvSpPr>
        <p:spPr>
          <a:xfrm>
            <a:off x="8366760" y="4828032"/>
            <a:ext cx="320040" cy="274320"/>
          </a:xfrm>
          <a:prstGeom prst="rect">
            <a:avLst/>
          </a:prstGeom>
          <a:noFill/>
        </p:spPr>
        <p:txBody>
          <a:bodyPr wrap="square" lIns="0" rIns="0" tIns="0" bIns="0">
            <a:spAutoFit/>
          </a:bodyPr>
          <a:lstStyle/>
          <a:p>
            <a:pPr algn="r"/>
            <a:r>
              <a:rPr sz="950" b="0">
                <a:solidFill>
                  <a:srgbClr val="5B7782"/>
                </a:solidFill>
                <a:latin typeface="Calibri"/>
              </a:rPr>
              <a:t>8</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6766560" cy="292608"/>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BEFORE YOU LINK</a:t>
            </a:r>
            <a:endParaRPr lang="en-US" sz="1200" dirty="0"/>
          </a:p>
        </p:txBody>
      </p:sp>
      <p:sp>
        <p:nvSpPr>
          <p:cNvPr id="3" name="Text 1"/>
          <p:cNvSpPr/>
          <p:nvPr/>
        </p:nvSpPr>
        <p:spPr>
          <a:xfrm>
            <a:off x="548640" y="713232"/>
            <a:ext cx="7040880" cy="566928"/>
          </a:xfrm>
          <a:prstGeom prst="rect">
            <a:avLst/>
          </a:prstGeom>
          <a:noFill/>
          <a:ln/>
        </p:spPr>
        <p:txBody>
          <a:bodyPr wrap="square" lIns="0" tIns="0" rIns="0" bIns="0" rtlCol="0" anchor="ctr"/>
          <a:lstStyle/>
          <a:p>
            <a:pPr marL="0" indent="0">
              <a:buNone/>
            </a:pPr>
            <a:r>
              <a:rPr lang="en-US" sz="2700" b="1" dirty="0">
                <a:solidFill>
                  <a:srgbClr val="14333F"/>
                </a:solidFill>
                <a:latin typeface="Bookman Old Style" pitchFamily="34" charset="0"/>
                <a:ea typeface="Bookman Old Style" pitchFamily="34" charset="-122"/>
                <a:cs typeface="Bookman Old Style" pitchFamily="34" charset="-120"/>
              </a:rPr>
              <a:t>Map by business value, not volume</a:t>
            </a:r>
            <a:endParaRPr lang="en-US" sz="2700" dirty="0"/>
          </a:p>
        </p:txBody>
      </p:sp>
      <p:sp>
        <p:nvSpPr>
          <p:cNvPr id="4" name="Shape 2"/>
          <p:cNvSpPr/>
          <p:nvPr/>
        </p:nvSpPr>
        <p:spPr>
          <a:xfrm>
            <a:off x="548640" y="1517904"/>
            <a:ext cx="2587752" cy="3017520"/>
          </a:xfrm>
          <a:prstGeom prst="roundRect">
            <a:avLst>
              <a:gd name="adj" fmla="val 3180"/>
            </a:avLst>
          </a:prstGeom>
          <a:solidFill>
            <a:srgbClr val="EEF6FA"/>
          </a:solidFill>
          <a:ln/>
          <a:effectLst>
            <a:outerShdw blurRad="101600" dist="25400" dir="5400000" algn="bl" rotWithShape="0">
              <a:srgbClr val="0A3D52">
                <a:alpha val="12000"/>
              </a:srgbClr>
            </a:outerShdw>
          </a:effectLst>
        </p:spPr>
      </p:sp>
      <p:sp>
        <p:nvSpPr>
          <p:cNvPr id="5" name="Shape 3"/>
          <p:cNvSpPr/>
          <p:nvPr/>
        </p:nvSpPr>
        <p:spPr>
          <a:xfrm>
            <a:off x="804672" y="1792224"/>
            <a:ext cx="713232" cy="713232"/>
          </a:xfrm>
          <a:prstGeom prst="ellipse">
            <a:avLst/>
          </a:prstGeom>
          <a:solidFill>
            <a:srgbClr val="065A82"/>
          </a:solidFill>
          <a:ln/>
        </p:spPr>
      </p:sp>
      <p:pic>
        <p:nvPicPr>
          <p:cNvPr id="6" name="Image 0" descr="preencoded.png"/>
          <p:cNvPicPr>
            <a:picLocks noChangeAspect="1"/>
          </p:cNvPicPr>
          <p:nvPr/>
        </p:nvPicPr>
        <p:blipFill>
          <a:blip r:embed="rId3"/>
          <a:stretch>
            <a:fillRect/>
          </a:stretch>
        </p:blipFill>
        <p:spPr>
          <a:xfrm>
            <a:off x="996696" y="1984248"/>
            <a:ext cx="329184" cy="329184"/>
          </a:xfrm>
          <a:prstGeom prst="rect">
            <a:avLst/>
          </a:prstGeom>
        </p:spPr>
      </p:pic>
      <p:sp>
        <p:nvSpPr>
          <p:cNvPr id="7" name="Text 4"/>
          <p:cNvSpPr/>
          <p:nvPr/>
        </p:nvSpPr>
        <p:spPr>
          <a:xfrm>
            <a:off x="804672" y="2651760"/>
            <a:ext cx="2130552" cy="384048"/>
          </a:xfrm>
          <a:prstGeom prst="rect">
            <a:avLst/>
          </a:prstGeom>
          <a:noFill/>
          <a:ln/>
        </p:spPr>
        <p:txBody>
          <a:bodyPr wrap="square" lIns="0" tIns="0" rIns="0" bIns="0" rtlCol="0" anchor="ctr"/>
          <a:lstStyle/>
          <a:p>
            <a:pPr marL="0" indent="0">
              <a:buNone/>
            </a:pPr>
            <a:r>
              <a:rPr lang="en-US" sz="2000" b="1" dirty="0">
                <a:solidFill>
                  <a:srgbClr val="14333F"/>
                </a:solidFill>
                <a:latin typeface="Bookman Old Style" pitchFamily="34" charset="0"/>
                <a:ea typeface="Bookman Old Style" pitchFamily="34" charset="-122"/>
                <a:cs typeface="Bookman Old Style" pitchFamily="34" charset="-120"/>
              </a:rPr>
              <a:t>CDEs &amp; PII</a:t>
            </a:r>
            <a:endParaRPr lang="en-US" sz="2000" dirty="0"/>
          </a:p>
        </p:txBody>
      </p:sp>
      <p:sp>
        <p:nvSpPr>
          <p:cNvPr id="8" name="Text 5"/>
          <p:cNvSpPr/>
          <p:nvPr/>
        </p:nvSpPr>
        <p:spPr>
          <a:xfrm>
            <a:off x="804672" y="3035808"/>
            <a:ext cx="2130552" cy="292608"/>
          </a:xfrm>
          <a:prstGeom prst="rect">
            <a:avLst/>
          </a:prstGeom>
          <a:noFill/>
          <a:ln/>
        </p:spPr>
        <p:txBody>
          <a:bodyPr wrap="square" lIns="0" tIns="0" rIns="0" bIns="0" rtlCol="0" anchor="ctr"/>
          <a:lstStyle/>
          <a:p>
            <a:pPr marL="0" indent="0">
              <a:buNone/>
            </a:pPr>
            <a:r>
              <a:rPr lang="en-US" sz="1100" b="1" i="1" dirty="0">
                <a:solidFill>
                  <a:srgbClr val="065A82"/>
                </a:solidFill>
                <a:latin typeface="Calibri" pitchFamily="34" charset="0"/>
                <a:ea typeface="Calibri" pitchFamily="34" charset="-122"/>
                <a:cs typeface="Calibri" pitchFamily="34" charset="-120"/>
              </a:rPr>
              <a:t>Map first</a:t>
            </a:r>
            <a:endParaRPr lang="en-US" sz="1100" dirty="0"/>
          </a:p>
        </p:txBody>
      </p:sp>
      <p:sp>
        <p:nvSpPr>
          <p:cNvPr id="9" name="Text 6"/>
          <p:cNvSpPr/>
          <p:nvPr/>
        </p:nvSpPr>
        <p:spPr>
          <a:xfrm>
            <a:off x="804672" y="3383280"/>
            <a:ext cx="2112264" cy="1005840"/>
          </a:xfrm>
          <a:prstGeom prst="rect">
            <a:avLst/>
          </a:prstGeom>
          <a:noFill/>
          <a:ln/>
        </p:spPr>
        <p:txBody>
          <a:bodyPr wrap="square" lIns="0" tIns="0" rIns="0" bIns="0" rtlCol="0" anchor="ctr"/>
          <a:lstStyle/>
          <a:p>
            <a:pPr marL="0" indent="0">
              <a:lnSpc>
                <a:spcPct val="105000"/>
              </a:lnSpc>
              <a:buNone/>
            </a:pPr>
            <a:r>
              <a:rPr lang="en-US" sz="1100" dirty="0">
                <a:solidFill>
                  <a:srgbClr val="5B7782"/>
                </a:solidFill>
                <a:latin typeface="Calibri" pitchFamily="34" charset="0"/>
                <a:ea typeface="Calibri" pitchFamily="34" charset="-122"/>
                <a:cs typeface="Calibri" pitchFamily="34" charset="-120"/>
              </a:rPr>
              <a:t>Critical Data Elements and regulated or PII columns — your highest-care data. Flag, term, classify, verify lineage.</a:t>
            </a:r>
            <a:endParaRPr lang="en-US" sz="1100" dirty="0"/>
          </a:p>
        </p:txBody>
      </p:sp>
      <p:sp>
        <p:nvSpPr>
          <p:cNvPr id="10" name="Shape 7"/>
          <p:cNvSpPr/>
          <p:nvPr/>
        </p:nvSpPr>
        <p:spPr>
          <a:xfrm>
            <a:off x="3273552" y="1517904"/>
            <a:ext cx="2587752" cy="3017520"/>
          </a:xfrm>
          <a:prstGeom prst="roundRect">
            <a:avLst>
              <a:gd name="adj" fmla="val 3180"/>
            </a:avLst>
          </a:prstGeom>
          <a:solidFill>
            <a:srgbClr val="EEF6FA"/>
          </a:solidFill>
          <a:ln/>
          <a:effectLst>
            <a:outerShdw blurRad="101600" dist="25400" dir="5400000" algn="bl" rotWithShape="0">
              <a:srgbClr val="0A3D52">
                <a:alpha val="12000"/>
              </a:srgbClr>
            </a:outerShdw>
          </a:effectLst>
        </p:spPr>
      </p:sp>
      <p:sp>
        <p:nvSpPr>
          <p:cNvPr id="11" name="Shape 8"/>
          <p:cNvSpPr/>
          <p:nvPr/>
        </p:nvSpPr>
        <p:spPr>
          <a:xfrm>
            <a:off x="3529584" y="1792224"/>
            <a:ext cx="713232" cy="713232"/>
          </a:xfrm>
          <a:prstGeom prst="ellipse">
            <a:avLst/>
          </a:prstGeom>
          <a:solidFill>
            <a:srgbClr val="1C7293"/>
          </a:solidFill>
          <a:ln/>
        </p:spPr>
      </p:sp>
      <p:pic>
        <p:nvPicPr>
          <p:cNvPr id="12" name="Image 1" descr="preencoded.png"/>
          <p:cNvPicPr>
            <a:picLocks noChangeAspect="1"/>
          </p:cNvPicPr>
          <p:nvPr/>
        </p:nvPicPr>
        <p:blipFill>
          <a:blip r:embed="rId4"/>
          <a:stretch>
            <a:fillRect/>
          </a:stretch>
        </p:blipFill>
        <p:spPr>
          <a:xfrm>
            <a:off x="3721608" y="1984248"/>
            <a:ext cx="329184" cy="329184"/>
          </a:xfrm>
          <a:prstGeom prst="rect">
            <a:avLst/>
          </a:prstGeom>
        </p:spPr>
      </p:pic>
      <p:sp>
        <p:nvSpPr>
          <p:cNvPr id="13" name="Text 9"/>
          <p:cNvSpPr/>
          <p:nvPr/>
        </p:nvSpPr>
        <p:spPr>
          <a:xfrm>
            <a:off x="3529584" y="2651760"/>
            <a:ext cx="2130552" cy="384048"/>
          </a:xfrm>
          <a:prstGeom prst="rect">
            <a:avLst/>
          </a:prstGeom>
          <a:noFill/>
          <a:ln/>
        </p:spPr>
        <p:txBody>
          <a:bodyPr wrap="square" lIns="0" tIns="0" rIns="0" bIns="0" rtlCol="0" anchor="ctr"/>
          <a:lstStyle/>
          <a:p>
            <a:pPr marL="0" indent="0">
              <a:buNone/>
            </a:pPr>
            <a:r>
              <a:rPr lang="en-US" sz="2000" b="1" dirty="0">
                <a:solidFill>
                  <a:srgbClr val="14333F"/>
                </a:solidFill>
                <a:latin typeface="Bookman Old Style" pitchFamily="34" charset="0"/>
                <a:ea typeface="Bookman Old Style" pitchFamily="34" charset="-122"/>
                <a:cs typeface="Bookman Old Style" pitchFamily="34" charset="-120"/>
              </a:rPr>
              <a:t>Reporting</a:t>
            </a:r>
            <a:endParaRPr lang="en-US" sz="2000" dirty="0"/>
          </a:p>
        </p:txBody>
      </p:sp>
      <p:sp>
        <p:nvSpPr>
          <p:cNvPr id="14" name="Text 10"/>
          <p:cNvSpPr/>
          <p:nvPr/>
        </p:nvSpPr>
        <p:spPr>
          <a:xfrm>
            <a:off x="3529584" y="3035808"/>
            <a:ext cx="2130552" cy="292608"/>
          </a:xfrm>
          <a:prstGeom prst="rect">
            <a:avLst/>
          </a:prstGeom>
          <a:noFill/>
          <a:ln/>
        </p:spPr>
        <p:txBody>
          <a:bodyPr wrap="square" lIns="0" tIns="0" rIns="0" bIns="0" rtlCol="0" anchor="ctr"/>
          <a:lstStyle/>
          <a:p>
            <a:pPr marL="0" indent="0">
              <a:buNone/>
            </a:pPr>
            <a:r>
              <a:rPr lang="en-US" sz="1100" b="1" i="1" dirty="0">
                <a:solidFill>
                  <a:srgbClr val="1C7293"/>
                </a:solidFill>
                <a:latin typeface="Calibri" pitchFamily="34" charset="0"/>
                <a:ea typeface="Calibri" pitchFamily="34" charset="-122"/>
                <a:cs typeface="Calibri" pitchFamily="34" charset="-120"/>
              </a:rPr>
              <a:t>Map next</a:t>
            </a:r>
            <a:endParaRPr lang="en-US" sz="1100" dirty="0"/>
          </a:p>
        </p:txBody>
      </p:sp>
      <p:sp>
        <p:nvSpPr>
          <p:cNvPr id="15" name="Text 11"/>
          <p:cNvSpPr/>
          <p:nvPr/>
        </p:nvSpPr>
        <p:spPr>
          <a:xfrm>
            <a:off x="3529584" y="3383280"/>
            <a:ext cx="2112264" cy="1005840"/>
          </a:xfrm>
          <a:prstGeom prst="rect">
            <a:avLst/>
          </a:prstGeom>
          <a:noFill/>
          <a:ln/>
        </p:spPr>
        <p:txBody>
          <a:bodyPr wrap="square" lIns="0" tIns="0" rIns="0" bIns="0" rtlCol="0" anchor="ctr"/>
          <a:lstStyle/>
          <a:p>
            <a:pPr marL="0" indent="0">
              <a:lnSpc>
                <a:spcPct val="105000"/>
              </a:lnSpc>
              <a:buNone/>
            </a:pPr>
            <a:r>
              <a:rPr lang="en-US" sz="1100" dirty="0">
                <a:solidFill>
                  <a:srgbClr val="5B7782"/>
                </a:solidFill>
                <a:latin typeface="Calibri" pitchFamily="34" charset="0"/>
                <a:ea typeface="Calibri" pitchFamily="34" charset="-122"/>
                <a:cs typeface="Calibri" pitchFamily="34" charset="-120"/>
              </a:rPr>
              <a:t>Columns that feed billing, KPIs, dashboards, and operational decisions across the business.</a:t>
            </a:r>
            <a:endParaRPr lang="en-US" sz="1100" dirty="0"/>
          </a:p>
        </p:txBody>
      </p:sp>
      <p:sp>
        <p:nvSpPr>
          <p:cNvPr id="16" name="Shape 12"/>
          <p:cNvSpPr/>
          <p:nvPr/>
        </p:nvSpPr>
        <p:spPr>
          <a:xfrm>
            <a:off x="5998464" y="1517904"/>
            <a:ext cx="2587752" cy="3017520"/>
          </a:xfrm>
          <a:prstGeom prst="roundRect">
            <a:avLst>
              <a:gd name="adj" fmla="val 3180"/>
            </a:avLst>
          </a:prstGeom>
          <a:solidFill>
            <a:srgbClr val="EEF6FA"/>
          </a:solidFill>
          <a:ln/>
          <a:effectLst>
            <a:outerShdw blurRad="101600" dist="25400" dir="5400000" algn="bl" rotWithShape="0">
              <a:srgbClr val="0A3D52">
                <a:alpha val="12000"/>
              </a:srgbClr>
            </a:outerShdw>
          </a:effectLst>
        </p:spPr>
      </p:sp>
      <p:sp>
        <p:nvSpPr>
          <p:cNvPr id="17" name="Shape 13"/>
          <p:cNvSpPr/>
          <p:nvPr/>
        </p:nvSpPr>
        <p:spPr>
          <a:xfrm>
            <a:off x="6254496" y="1792224"/>
            <a:ext cx="713232" cy="713232"/>
          </a:xfrm>
          <a:prstGeom prst="ellipse">
            <a:avLst/>
          </a:prstGeom>
          <a:solidFill>
            <a:srgbClr val="2EC4B6"/>
          </a:solidFill>
          <a:ln/>
        </p:spPr>
      </p:sp>
      <p:pic>
        <p:nvPicPr>
          <p:cNvPr id="18" name="Image 2" descr="preencoded.png"/>
          <p:cNvPicPr>
            <a:picLocks noChangeAspect="1"/>
          </p:cNvPicPr>
          <p:nvPr/>
        </p:nvPicPr>
        <p:blipFill>
          <a:blip r:embed="rId5"/>
          <a:stretch>
            <a:fillRect/>
          </a:stretch>
        </p:blipFill>
        <p:spPr>
          <a:xfrm>
            <a:off x="6446520" y="1984248"/>
            <a:ext cx="329184" cy="329184"/>
          </a:xfrm>
          <a:prstGeom prst="rect">
            <a:avLst/>
          </a:prstGeom>
        </p:spPr>
      </p:pic>
      <p:sp>
        <p:nvSpPr>
          <p:cNvPr id="19" name="Text 14"/>
          <p:cNvSpPr/>
          <p:nvPr/>
        </p:nvSpPr>
        <p:spPr>
          <a:xfrm>
            <a:off x="6254496" y="2651760"/>
            <a:ext cx="2130552" cy="384048"/>
          </a:xfrm>
          <a:prstGeom prst="rect">
            <a:avLst/>
          </a:prstGeom>
          <a:noFill/>
          <a:ln/>
        </p:spPr>
        <p:txBody>
          <a:bodyPr wrap="square" lIns="0" tIns="0" rIns="0" bIns="0" rtlCol="0" anchor="ctr"/>
          <a:lstStyle/>
          <a:p>
            <a:pPr marL="0" indent="0">
              <a:buNone/>
            </a:pPr>
            <a:r>
              <a:rPr lang="en-US" sz="2000" b="1" dirty="0">
                <a:solidFill>
                  <a:srgbClr val="14333F"/>
                </a:solidFill>
                <a:latin typeface="Bookman Old Style" pitchFamily="34" charset="0"/>
                <a:ea typeface="Bookman Old Style" pitchFamily="34" charset="-122"/>
                <a:cs typeface="Bookman Old Style" pitchFamily="34" charset="-120"/>
              </a:rPr>
              <a:t>The long tail</a:t>
            </a:r>
            <a:endParaRPr lang="en-US" sz="2000" dirty="0"/>
          </a:p>
        </p:txBody>
      </p:sp>
      <p:sp>
        <p:nvSpPr>
          <p:cNvPr id="20" name="Text 15"/>
          <p:cNvSpPr/>
          <p:nvPr/>
        </p:nvSpPr>
        <p:spPr>
          <a:xfrm>
            <a:off x="6254496" y="3035808"/>
            <a:ext cx="2130552" cy="292608"/>
          </a:xfrm>
          <a:prstGeom prst="rect">
            <a:avLst/>
          </a:prstGeom>
          <a:noFill/>
          <a:ln/>
        </p:spPr>
        <p:txBody>
          <a:bodyPr wrap="square" lIns="0" tIns="0" rIns="0" bIns="0" rtlCol="0" anchor="ctr"/>
          <a:lstStyle/>
          <a:p>
            <a:pPr marL="0" indent="0">
              <a:buNone/>
            </a:pPr>
            <a:r>
              <a:rPr lang="en-US" sz="1100" b="1" i="1" dirty="0">
                <a:solidFill>
                  <a:srgbClr val="2EC4B6"/>
                </a:solidFill>
                <a:latin typeface="Calibri" pitchFamily="34" charset="0"/>
                <a:ea typeface="Calibri" pitchFamily="34" charset="-122"/>
                <a:cs typeface="Calibri" pitchFamily="34" charset="-120"/>
              </a:rPr>
              <a:t>As capacity allows</a:t>
            </a:r>
            <a:endParaRPr lang="en-US" sz="1100" dirty="0"/>
          </a:p>
        </p:txBody>
      </p:sp>
      <p:sp>
        <p:nvSpPr>
          <p:cNvPr id="21" name="Text 16"/>
          <p:cNvSpPr/>
          <p:nvPr/>
        </p:nvSpPr>
        <p:spPr>
          <a:xfrm>
            <a:off x="6254496" y="3383280"/>
            <a:ext cx="2112264" cy="1005840"/>
          </a:xfrm>
          <a:prstGeom prst="rect">
            <a:avLst/>
          </a:prstGeom>
          <a:noFill/>
          <a:ln/>
        </p:spPr>
        <p:txBody>
          <a:bodyPr wrap="square" lIns="0" tIns="0" rIns="0" bIns="0" rtlCol="0" anchor="ctr"/>
          <a:lstStyle/>
          <a:p>
            <a:pPr marL="0" indent="0">
              <a:lnSpc>
                <a:spcPct val="105000"/>
              </a:lnSpc>
              <a:buNone/>
            </a:pPr>
            <a:r>
              <a:rPr lang="en-US" sz="1100" dirty="0">
                <a:solidFill>
                  <a:srgbClr val="5B7782"/>
                </a:solidFill>
                <a:latin typeface="Calibri" pitchFamily="34" charset="0"/>
                <a:ea typeface="Calibri" pitchFamily="34" charset="-122"/>
                <a:cs typeface="Calibri" pitchFamily="34" charset="-120"/>
              </a:rPr>
              <a:t>Useful but non-critical columns; map over time. Some may never need a term.</a:t>
            </a:r>
            <a:endParaRPr lang="en-US" sz="1100" dirty="0"/>
          </a:p>
        </p:txBody>
      </p:sp>
      <p:sp>
        <p:nvSpPr>
          <p:cNvPr id="22" name="Text 17"/>
          <p:cNvSpPr/>
          <p:nvPr/>
        </p:nvSpPr>
        <p:spPr>
          <a:xfrm>
            <a:off x="548640" y="4828032"/>
            <a:ext cx="7315200" cy="274320"/>
          </a:xfrm>
          <a:prstGeom prst="rect">
            <a:avLst/>
          </a:prstGeom>
          <a:noFill/>
          <a:ln/>
        </p:spPr>
        <p:txBody>
          <a:bodyPr wrap="square" lIns="0" tIns="0" rIns="0" bIns="0" rtlCol="0" anchor="ctr"/>
          <a:lstStyle/>
          <a:p>
            <a:pPr marL="0" indent="0">
              <a:buNone/>
            </a:pPr>
            <a:r>
              <a:rPr lang="en-US" sz="950" dirty="0">
                <a:solidFill>
                  <a:srgbClr val="5B7782"/>
                </a:solidFill>
                <a:latin typeface="Calibri" pitchFamily="34" charset="0"/>
                <a:ea typeface="Calibri" pitchFamily="34" charset="-122"/>
                <a:cs typeface="Calibri" pitchFamily="34" charset="-120"/>
              </a:rPr>
              <a:t>Workshop 3 · Concepts like Trust Score and Tag name ideas, not columns — leave them unmapped</a:t>
            </a:r>
            <a:endParaRPr lang="en-US" sz="950" dirty="0"/>
          </a:p>
        </p:txBody>
      </p:sp>
      <p:sp>
        <p:nvSpPr>
          <p:cNvPr id="23" name="Text 18"/>
          <p:cNvSpPr/>
          <p:nvPr/>
        </p:nvSpPr>
        <p:spPr>
          <a:xfrm>
            <a:off x="8366760" y="4828032"/>
            <a:ext cx="320040" cy="274320"/>
          </a:xfrm>
          <a:prstGeom prst="rect">
            <a:avLst/>
          </a:prstGeom>
          <a:noFill/>
          <a:ln/>
        </p:spPr>
        <p:txBody>
          <a:bodyPr wrap="square" lIns="0" tIns="0" rIns="0" bIns="0" rtlCol="0" anchor="ctr"/>
          <a:lstStyle/>
          <a:p>
            <a:pPr marL="0" indent="0" algn="r">
              <a:buNone/>
            </a:pPr>
            <a:r>
              <a:rPr lang="en-US" sz="950" dirty="0">
                <a:solidFill>
                  <a:srgbClr val="5B7782"/>
                </a:solidFill>
                <a:latin typeface="Calibri" pitchFamily="34" charset="0"/>
                <a:ea typeface="Calibri" pitchFamily="34" charset="-122"/>
                <a:cs typeface="Calibri" pitchFamily="34" charset="-120"/>
              </a:rPr>
              <a:t>9</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6766560" cy="292608"/>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YOUR TASK</a:t>
            </a:r>
            <a:endParaRPr lang="en-US" sz="1200" dirty="0"/>
          </a:p>
        </p:txBody>
      </p:sp>
      <p:sp>
        <p:nvSpPr>
          <p:cNvPr id="3" name="Text 1"/>
          <p:cNvSpPr/>
          <p:nvPr/>
        </p:nvSpPr>
        <p:spPr>
          <a:xfrm>
            <a:off x="548640" y="713232"/>
            <a:ext cx="7040880" cy="566928"/>
          </a:xfrm>
          <a:prstGeom prst="rect">
            <a:avLst/>
          </a:prstGeom>
          <a:noFill/>
          <a:ln/>
        </p:spPr>
        <p:txBody>
          <a:bodyPr wrap="square" lIns="0" tIns="0" rIns="0" bIns="0" rtlCol="0" anchor="ctr"/>
          <a:lstStyle/>
          <a:p>
            <a:pPr marL="0" indent="0">
              <a:buNone/>
            </a:pPr>
            <a:r>
              <a:rPr lang="en-US" sz="2700" b="1" dirty="0">
                <a:solidFill>
                  <a:srgbClr val="14333F"/>
                </a:solidFill>
                <a:latin typeface="Bookman Old Style" pitchFamily="34" charset="0"/>
                <a:ea typeface="Bookman Old Style" pitchFamily="34" charset="-122"/>
                <a:cs typeface="Bookman Old Style" pitchFamily="34" charset="-120"/>
              </a:rPr>
              <a:t>Now link the whole catalog</a:t>
            </a:r>
            <a:endParaRPr lang="en-US" sz="2700" dirty="0"/>
          </a:p>
        </p:txBody>
      </p:sp>
      <p:sp>
        <p:nvSpPr>
          <p:cNvPr id="4" name="Text 2"/>
          <p:cNvSpPr/>
          <p:nvPr/>
        </p:nvSpPr>
        <p:spPr>
          <a:xfrm>
            <a:off x="548640" y="1140494"/>
            <a:ext cx="8046720" cy="457200"/>
          </a:xfrm>
          <a:prstGeom prst="rect">
            <a:avLst/>
          </a:prstGeom>
          <a:noFill/>
          <a:ln/>
        </p:spPr>
        <p:txBody>
          <a:bodyPr wrap="square" lIns="0" tIns="0" rIns="0" bIns="0" rtlCol="0" anchor="ctr"/>
          <a:lstStyle/>
          <a:p>
            <a:pPr marL="0" indent="0">
              <a:lnSpc>
                <a:spcPct val="104000"/>
              </a:lnSpc>
              <a:buNone/>
            </a:pPr>
            <a:r>
              <a:rPr lang="en-US" sz="1250" dirty="0">
                <a:solidFill>
                  <a:srgbClr val="5B7782"/>
                </a:solidFill>
                <a:latin typeface="Calibri" pitchFamily="34" charset="0"/>
                <a:ea typeface="Calibri" pitchFamily="34" charset="-122"/>
                <a:cs typeface="Calibri" pitchFamily="34" charset="-120"/>
              </a:rPr>
              <a:t>Part C linked one table. Repeat across all nine tables — 57 term links in all — then Calculate Trust Score on each.</a:t>
            </a:r>
            <a:endParaRPr lang="en-US" sz="1250" dirty="0"/>
          </a:p>
        </p:txBody>
      </p:sp>
      <p:graphicFrame>
        <p:nvGraphicFramePr>
          <p:cNvPr id="5" name="Table 0"/>
          <p:cNvGraphicFramePr>
            <a:graphicFrameLocks noGrp="1"/>
          </p:cNvGraphicFramePr>
          <p:nvPr>
            <p:extLst>
              <p:ext uri="{D42A27DB-BD31-4B8C-83A1-F6EECF244321}">
                <p14:modId xmlns:p14="http://schemas.microsoft.com/office/powerpoint/2010/main" val="1555216879"/>
              </p:ext>
            </p:extLst>
          </p:nvPr>
        </p:nvGraphicFramePr>
        <p:xfrm>
          <a:off x="548640" y="1594466"/>
          <a:ext cx="8046720" cy="2660000"/>
        </p:xfrm>
        <a:graphic>
          <a:graphicData uri="http://schemas.openxmlformats.org/drawingml/2006/table">
            <a:tbl>
              <a:tblPr/>
              <a:tblGrid>
                <a:gridCol w="192024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554480">
                  <a:extLst>
                    <a:ext uri="{9D8B030D-6E8A-4147-A177-3AD203B41FA5}">
                      <a16:colId xmlns:a16="http://schemas.microsoft.com/office/drawing/2014/main" val="20003"/>
                    </a:ext>
                  </a:extLst>
                </a:gridCol>
              </a:tblGrid>
              <a:tr h="266000">
                <a:tc>
                  <a:txBody>
                    <a:bodyPr/>
                    <a:lstStyle/>
                    <a:p>
                      <a:pPr marL="0" indent="0" algn="l">
                        <a:buNone/>
                      </a:pPr>
                      <a:r>
                        <a:rPr lang="en-US" sz="1050" b="1" dirty="0">
                          <a:solidFill>
                            <a:srgbClr val="FFFFFF"/>
                          </a:solidFill>
                          <a:latin typeface="Calibri" pitchFamily="34" charset="0"/>
                          <a:ea typeface="Calibri" pitchFamily="34" charset="-122"/>
                          <a:cs typeface="Calibri" pitchFamily="34" charset="-120"/>
                        </a:rPr>
                        <a:t>Table</a:t>
                      </a:r>
                      <a:endParaRPr lang="en-US" sz="105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0A3D52"/>
                    </a:solidFill>
                  </a:tcPr>
                </a:tc>
                <a:tc>
                  <a:txBody>
                    <a:bodyPr/>
                    <a:lstStyle/>
                    <a:p>
                      <a:pPr marL="0" indent="0" algn="l">
                        <a:buNone/>
                      </a:pPr>
                      <a:r>
                        <a:rPr lang="en-US" sz="1050" b="1" dirty="0">
                          <a:solidFill>
                            <a:srgbClr val="FFFFFF"/>
                          </a:solidFill>
                          <a:latin typeface="Calibri" pitchFamily="34" charset="0"/>
                          <a:ea typeface="Calibri" pitchFamily="34" charset="-122"/>
                          <a:cs typeface="Calibri" pitchFamily="34" charset="-120"/>
                        </a:rPr>
                        <a:t>Terms to link</a:t>
                      </a:r>
                      <a:endParaRPr lang="en-US" sz="105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0A3D52"/>
                    </a:solidFill>
                  </a:tcPr>
                </a:tc>
                <a:tc>
                  <a:txBody>
                    <a:bodyPr/>
                    <a:lstStyle/>
                    <a:p>
                      <a:pPr marL="0" indent="0" algn="l">
                        <a:buNone/>
                      </a:pPr>
                      <a:r>
                        <a:rPr lang="en-US" sz="1050" b="1" dirty="0">
                          <a:solidFill>
                            <a:srgbClr val="FFFFFF"/>
                          </a:solidFill>
                          <a:latin typeface="Calibri" pitchFamily="34" charset="0"/>
                          <a:ea typeface="Calibri" pitchFamily="34" charset="-122"/>
                          <a:cs typeface="Calibri" pitchFamily="34" charset="-120"/>
                        </a:rPr>
                        <a:t>Count</a:t>
                      </a:r>
                      <a:endParaRPr lang="en-US" sz="105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0A3D52"/>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Then</a:t>
                      </a:r>
                      <a:endParaRPr lang="en-US" sz="105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0A3D52"/>
                    </a:solidFill>
                  </a:tcPr>
                </a:tc>
                <a:extLst>
                  <a:ext uri="{0D108BD9-81ED-4DB2-BD59-A6C34878D82A}">
                    <a16:rowId xmlns:a16="http://schemas.microsoft.com/office/drawing/2014/main" val="10000"/>
                  </a:ext>
                </a:extLst>
              </a:tr>
              <a:tr h="266000">
                <a:tc>
                  <a:txBody>
                    <a:bodyPr/>
                    <a:lstStyle/>
                    <a:p>
                      <a:pPr marL="0" indent="0" algn="l">
                        <a:buNone/>
                      </a:pPr>
                      <a:r>
                        <a:rPr lang="en-US" sz="1050" dirty="0">
                          <a:solidFill>
                            <a:srgbClr val="14333F"/>
                          </a:solidFill>
                          <a:latin typeface="Calibri" pitchFamily="34" charset="0"/>
                          <a:ea typeface="Calibri" pitchFamily="34" charset="-122"/>
                          <a:cs typeface="Calibri" pitchFamily="34" charset="-120"/>
                        </a:rPr>
                        <a:t>customers</a:t>
                      </a:r>
                      <a:endParaRPr lang="en-US" sz="105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4333F"/>
                          </a:solidFill>
                          <a:latin typeface="Calibri" pitchFamily="34" charset="0"/>
                          <a:ea typeface="Calibri" pitchFamily="34" charset="-122"/>
                          <a:cs typeface="Calibri" pitchFamily="34" charset="-120"/>
                        </a:rPr>
                        <a:t>Customer, contact &amp; account</a:t>
                      </a:r>
                      <a:endParaRPr lang="en-US" sz="105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4333F"/>
                          </a:solidFill>
                          <a:latin typeface="Calibri" pitchFamily="34" charset="0"/>
                          <a:ea typeface="Calibri" pitchFamily="34" charset="-122"/>
                          <a:cs typeface="Calibri" pitchFamily="34" charset="-120"/>
                        </a:rPr>
                        <a:t>11</a:t>
                      </a:r>
                      <a:endParaRPr lang="en-US" sz="105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4333F"/>
                          </a:solidFill>
                          <a:latin typeface="Calibri" pitchFamily="34" charset="0"/>
                          <a:ea typeface="Calibri" pitchFamily="34" charset="-122"/>
                          <a:cs typeface="Calibri" pitchFamily="34" charset="-120"/>
                        </a:rPr>
                        <a:t>Calculate Trust Score</a:t>
                      </a:r>
                      <a:endParaRPr lang="en-US" sz="105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66000">
                <a:tc>
                  <a:txBody>
                    <a:bodyPr/>
                    <a:lstStyle/>
                    <a:p>
                      <a:pPr marL="0" indent="0" algn="l">
                        <a:buNone/>
                      </a:pPr>
                      <a:r>
                        <a:rPr lang="en-US" sz="1050" dirty="0">
                          <a:solidFill>
                            <a:srgbClr val="14333F"/>
                          </a:solidFill>
                          <a:latin typeface="Calibri" pitchFamily="34" charset="0"/>
                          <a:ea typeface="Calibri" pitchFamily="34" charset="-122"/>
                          <a:cs typeface="Calibri" pitchFamily="34" charset="-120"/>
                        </a:rPr>
                        <a:t>monthly_usage</a:t>
                      </a:r>
                      <a:endParaRPr lang="en-US" sz="105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4333F"/>
                          </a:solidFill>
                          <a:latin typeface="Calibri" pitchFamily="34" charset="0"/>
                          <a:ea typeface="Calibri" pitchFamily="34" charset="-122"/>
                          <a:cs typeface="Calibri" pitchFamily="34" charset="-120"/>
                        </a:rPr>
                        <a:t>Usage &amp; billing cycle</a:t>
                      </a:r>
                      <a:endParaRPr lang="en-US" sz="105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4333F"/>
                          </a:solidFill>
                          <a:latin typeface="Calibri" pitchFamily="34" charset="0"/>
                          <a:ea typeface="Calibri" pitchFamily="34" charset="-122"/>
                          <a:cs typeface="Calibri" pitchFamily="34" charset="-120"/>
                        </a:rPr>
                        <a:t>6</a:t>
                      </a:r>
                      <a:endParaRPr lang="en-US" sz="105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4333F"/>
                          </a:solidFill>
                          <a:latin typeface="Calibri" pitchFamily="34" charset="0"/>
                          <a:ea typeface="Calibri" pitchFamily="34" charset="-122"/>
                          <a:cs typeface="Calibri" pitchFamily="34" charset="-120"/>
                        </a:rPr>
                        <a:t>Calculate Trust Score</a:t>
                      </a:r>
                      <a:endParaRPr lang="en-US" sz="105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66000">
                <a:tc>
                  <a:txBody>
                    <a:bodyPr/>
                    <a:lstStyle/>
                    <a:p>
                      <a:pPr marL="0" indent="0" algn="l">
                        <a:buNone/>
                      </a:pPr>
                      <a:r>
                        <a:rPr lang="en-US" sz="1050" dirty="0">
                          <a:solidFill>
                            <a:srgbClr val="14333F"/>
                          </a:solidFill>
                          <a:latin typeface="Calibri" pitchFamily="34" charset="0"/>
                          <a:ea typeface="Calibri" pitchFamily="34" charset="-122"/>
                          <a:cs typeface="Calibri" pitchFamily="34" charset="-120"/>
                        </a:rPr>
                        <a:t>tiered_rates</a:t>
                      </a:r>
                      <a:endParaRPr lang="en-US" sz="105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4333F"/>
                          </a:solidFill>
                          <a:latin typeface="Calibri" pitchFamily="34" charset="0"/>
                          <a:ea typeface="Calibri" pitchFamily="34" charset="-122"/>
                          <a:cs typeface="Calibri" pitchFamily="34" charset="-120"/>
                        </a:rPr>
                        <a:t>Rate schedule &amp; charges</a:t>
                      </a:r>
                      <a:endParaRPr lang="en-US" sz="105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4333F"/>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4333F"/>
                          </a:solidFill>
                          <a:latin typeface="Calibri" pitchFamily="34" charset="0"/>
                          <a:ea typeface="Calibri" pitchFamily="34" charset="-122"/>
                          <a:cs typeface="Calibri" pitchFamily="34" charset="-120"/>
                        </a:rPr>
                        <a:t>Calculate Trust Score</a:t>
                      </a:r>
                      <a:endParaRPr lang="en-US" sz="105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66000">
                <a:tc>
                  <a:txBody>
                    <a:bodyPr/>
                    <a:lstStyle/>
                    <a:p>
                      <a:pPr marL="0" indent="0" algn="l">
                        <a:buNone/>
                      </a:pPr>
                      <a:r>
                        <a:rPr lang="en-US" sz="1050" dirty="0">
                          <a:solidFill>
                            <a:srgbClr val="14333F"/>
                          </a:solidFill>
                          <a:latin typeface="Calibri" pitchFamily="34" charset="0"/>
                          <a:ea typeface="Calibri" pitchFamily="34" charset="-122"/>
                          <a:cs typeface="Calibri" pitchFamily="34" charset="-120"/>
                        </a:rPr>
                        <a:t>water_systems</a:t>
                      </a:r>
                      <a:endParaRPr lang="en-US" sz="105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4333F"/>
                          </a:solidFill>
                          <a:latin typeface="Calibri" pitchFamily="34" charset="0"/>
                          <a:ea typeface="Calibri" pitchFamily="34" charset="-122"/>
                          <a:cs typeface="Calibri" pitchFamily="34" charset="-120"/>
                        </a:rPr>
                        <a:t>System &amp; source</a:t>
                      </a:r>
                      <a:endParaRPr lang="en-US" sz="105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4333F"/>
                          </a:solidFill>
                          <a:latin typeface="Calibri" pitchFamily="34" charset="0"/>
                          <a:ea typeface="Calibri" pitchFamily="34" charset="-122"/>
                          <a:cs typeface="Calibri" pitchFamily="34" charset="-120"/>
                        </a:rPr>
                        <a:t>4</a:t>
                      </a:r>
                      <a:endParaRPr lang="en-US" sz="105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4333F"/>
                          </a:solidFill>
                          <a:latin typeface="Calibri" pitchFamily="34" charset="0"/>
                          <a:ea typeface="Calibri" pitchFamily="34" charset="-122"/>
                          <a:cs typeface="Calibri" pitchFamily="34" charset="-120"/>
                        </a:rPr>
                        <a:t>Calculate Trust Score</a:t>
                      </a:r>
                      <a:endParaRPr lang="en-US" sz="105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66000">
                <a:tc>
                  <a:txBody>
                    <a:bodyPr/>
                    <a:lstStyle/>
                    <a:p>
                      <a:pPr marL="0" indent="0" algn="l">
                        <a:buNone/>
                      </a:pPr>
                      <a:r>
                        <a:rPr lang="en-US" sz="1050" dirty="0">
                          <a:solidFill>
                            <a:srgbClr val="14333F"/>
                          </a:solidFill>
                          <a:latin typeface="Calibri" pitchFamily="34" charset="0"/>
                          <a:ea typeface="Calibri" pitchFamily="34" charset="-122"/>
                          <a:cs typeface="Calibri" pitchFamily="34" charset="-120"/>
                        </a:rPr>
                        <a:t>water_quality_reports</a:t>
                      </a:r>
                      <a:endParaRPr lang="en-US" sz="105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4333F"/>
                          </a:solidFill>
                          <a:latin typeface="Calibri" pitchFamily="34" charset="0"/>
                          <a:ea typeface="Calibri" pitchFamily="34" charset="-122"/>
                          <a:cs typeface="Calibri" pitchFamily="34" charset="-120"/>
                        </a:rPr>
                        <a:t>Quality &amp; compliance</a:t>
                      </a:r>
                      <a:endParaRPr lang="en-US" sz="105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4333F"/>
                          </a:solidFill>
                          <a:latin typeface="Calibri" pitchFamily="34" charset="0"/>
                          <a:ea typeface="Calibri" pitchFamily="34" charset="-122"/>
                          <a:cs typeface="Calibri" pitchFamily="34" charset="-120"/>
                        </a:rPr>
                        <a:t>4</a:t>
                      </a:r>
                      <a:endParaRPr lang="en-US" sz="105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4333F"/>
                          </a:solidFill>
                          <a:latin typeface="Calibri" pitchFamily="34" charset="0"/>
                          <a:ea typeface="Calibri" pitchFamily="34" charset="-122"/>
                          <a:cs typeface="Calibri" pitchFamily="34" charset="-120"/>
                        </a:rPr>
                        <a:t>Calculate Trust Score</a:t>
                      </a:r>
                      <a:endParaRPr lang="en-US" sz="105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66000">
                <a:tc>
                  <a:txBody>
                    <a:bodyPr/>
                    <a:lstStyle/>
                    <a:p>
                      <a:pPr marL="0" indent="0" algn="l">
                        <a:buNone/>
                      </a:pPr>
                      <a:r>
                        <a:rPr lang="en-US" sz="1050" dirty="0">
                          <a:solidFill>
                            <a:srgbClr val="14333F"/>
                          </a:solidFill>
                          <a:latin typeface="Calibri" pitchFamily="34" charset="0"/>
                          <a:ea typeface="Calibri" pitchFamily="34" charset="-122"/>
                          <a:cs typeface="Calibri" pitchFamily="34" charset="-120"/>
                        </a:rPr>
                        <a:t>account_alerts</a:t>
                      </a:r>
                      <a:endParaRPr lang="en-US" sz="105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4333F"/>
                          </a:solidFill>
                          <a:latin typeface="Calibri" pitchFamily="34" charset="0"/>
                          <a:ea typeface="Calibri" pitchFamily="34" charset="-122"/>
                          <a:cs typeface="Calibri" pitchFamily="34" charset="-120"/>
                        </a:rPr>
                        <a:t>Account Alert</a:t>
                      </a:r>
                      <a:endParaRPr lang="en-US" sz="105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4333F"/>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4333F"/>
                          </a:solidFill>
                          <a:latin typeface="Calibri" pitchFamily="34" charset="0"/>
                          <a:ea typeface="Calibri" pitchFamily="34" charset="-122"/>
                          <a:cs typeface="Calibri" pitchFamily="34" charset="-120"/>
                        </a:rPr>
                        <a:t>Calculate Trust Score</a:t>
                      </a:r>
                      <a:endParaRPr lang="en-US" sz="105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266000">
                <a:tc>
                  <a:txBody>
                    <a:bodyPr/>
                    <a:lstStyle/>
                    <a:p>
                      <a:pPr marL="0" indent="0" algn="l">
                        <a:buNone/>
                      </a:pPr>
                      <a:r>
                        <a:rPr lang="en-US" sz="1050" dirty="0">
                          <a:solidFill>
                            <a:srgbClr val="14333F"/>
                          </a:solidFill>
                          <a:latin typeface="Calibri" pitchFamily="34" charset="0"/>
                          <a:ea typeface="Calibri" pitchFamily="34" charset="-122"/>
                          <a:cs typeface="Calibri" pitchFamily="34" charset="-120"/>
                        </a:rPr>
                        <a:t>customer_billing</a:t>
                      </a:r>
                      <a:endParaRPr lang="en-US" sz="105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4333F"/>
                          </a:solidFill>
                          <a:latin typeface="Calibri" pitchFamily="34" charset="0"/>
                          <a:ea typeface="Calibri" pitchFamily="34" charset="-122"/>
                          <a:cs typeface="Calibri" pitchFamily="34" charset="-120"/>
                        </a:rPr>
                        <a:t>Customer, billing &amp; usage</a:t>
                      </a:r>
                      <a:endParaRPr lang="en-US" sz="105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4333F"/>
                          </a:solidFill>
                          <a:latin typeface="Calibri" pitchFamily="34" charset="0"/>
                          <a:ea typeface="Calibri" pitchFamily="34" charset="-122"/>
                          <a:cs typeface="Calibri" pitchFamily="34" charset="-120"/>
                        </a:rPr>
                        <a:t>12</a:t>
                      </a:r>
                      <a:endParaRPr lang="en-US" sz="105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4333F"/>
                          </a:solidFill>
                          <a:latin typeface="Calibri" pitchFamily="34" charset="0"/>
                          <a:ea typeface="Calibri" pitchFamily="34" charset="-122"/>
                          <a:cs typeface="Calibri" pitchFamily="34" charset="-120"/>
                        </a:rPr>
                        <a:t>Calculate Trust Score</a:t>
                      </a:r>
                      <a:endParaRPr lang="en-US" sz="105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266000">
                <a:tc>
                  <a:txBody>
                    <a:bodyPr/>
                    <a:lstStyle/>
                    <a:p>
                      <a:pPr marL="0" indent="0" algn="l">
                        <a:buNone/>
                      </a:pPr>
                      <a:r>
                        <a:rPr lang="en-US" sz="1050" dirty="0">
                          <a:solidFill>
                            <a:srgbClr val="14333F"/>
                          </a:solidFill>
                          <a:latin typeface="Calibri" pitchFamily="34" charset="0"/>
                          <a:ea typeface="Calibri" pitchFamily="34" charset="-122"/>
                          <a:cs typeface="Calibri" pitchFamily="34" charset="-120"/>
                        </a:rPr>
                        <a:t>system_usage_summary</a:t>
                      </a:r>
                      <a:endParaRPr lang="en-US" sz="105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4333F"/>
                          </a:solidFill>
                          <a:latin typeface="Calibri" pitchFamily="34" charset="0"/>
                          <a:ea typeface="Calibri" pitchFamily="34" charset="-122"/>
                          <a:cs typeface="Calibri" pitchFamily="34" charset="-120"/>
                        </a:rPr>
                        <a:t>System usage &amp; revenue</a:t>
                      </a:r>
                      <a:endParaRPr lang="en-US" sz="105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4333F"/>
                          </a:solidFill>
                          <a:latin typeface="Calibri" pitchFamily="34" charset="0"/>
                          <a:ea typeface="Calibri" pitchFamily="34" charset="-122"/>
                          <a:cs typeface="Calibri" pitchFamily="34" charset="-120"/>
                        </a:rPr>
                        <a:t>7</a:t>
                      </a:r>
                      <a:endParaRPr lang="en-US" sz="105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4333F"/>
                          </a:solidFill>
                          <a:latin typeface="Calibri" pitchFamily="34" charset="0"/>
                          <a:ea typeface="Calibri" pitchFamily="34" charset="-122"/>
                          <a:cs typeface="Calibri" pitchFamily="34" charset="-120"/>
                        </a:rPr>
                        <a:t>Calculate Trust Score</a:t>
                      </a:r>
                      <a:endParaRPr lang="en-US" sz="105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266000">
                <a:tc>
                  <a:txBody>
                    <a:bodyPr/>
                    <a:lstStyle/>
                    <a:p>
                      <a:pPr marL="0" indent="0" algn="l">
                        <a:buNone/>
                      </a:pPr>
                      <a:r>
                        <a:rPr lang="en-US" sz="1050" dirty="0">
                          <a:solidFill>
                            <a:srgbClr val="14333F"/>
                          </a:solidFill>
                          <a:latin typeface="Calibri" pitchFamily="34" charset="0"/>
                          <a:ea typeface="Calibri" pitchFamily="34" charset="-122"/>
                          <a:cs typeface="Calibri" pitchFamily="34" charset="-120"/>
                        </a:rPr>
                        <a:t>system_water_quality</a:t>
                      </a:r>
                      <a:endParaRPr lang="en-US" sz="105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4333F"/>
                          </a:solidFill>
                          <a:latin typeface="Calibri" pitchFamily="34" charset="0"/>
                          <a:ea typeface="Calibri" pitchFamily="34" charset="-122"/>
                          <a:cs typeface="Calibri" pitchFamily="34" charset="-120"/>
                        </a:rPr>
                        <a:t>Water-quality readings</a:t>
                      </a:r>
                      <a:endParaRPr lang="en-US" sz="105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4333F"/>
                          </a:solidFill>
                          <a:latin typeface="Calibri" pitchFamily="34" charset="0"/>
                          <a:ea typeface="Calibri" pitchFamily="34" charset="-122"/>
                          <a:cs typeface="Calibri" pitchFamily="34" charset="-120"/>
                        </a:rPr>
                        <a:t>9</a:t>
                      </a:r>
                      <a:endParaRPr lang="en-US" sz="105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4333F"/>
                          </a:solidFill>
                          <a:latin typeface="Calibri" pitchFamily="34" charset="0"/>
                          <a:ea typeface="Calibri" pitchFamily="34" charset="-122"/>
                          <a:cs typeface="Calibri" pitchFamily="34" charset="-120"/>
                        </a:rPr>
                        <a:t>Calculate Trust Score</a:t>
                      </a:r>
                      <a:endParaRPr lang="en-US" sz="105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
        <p:nvSpPr>
          <p:cNvPr id="6" name="Text 3"/>
          <p:cNvSpPr/>
          <p:nvPr/>
        </p:nvSpPr>
        <p:spPr>
          <a:xfrm>
            <a:off x="548640" y="4430268"/>
            <a:ext cx="8046720" cy="274320"/>
          </a:xfrm>
          <a:prstGeom prst="rect">
            <a:avLst/>
          </a:prstGeom>
          <a:noFill/>
          <a:ln/>
        </p:spPr>
        <p:txBody>
          <a:bodyPr wrap="square" lIns="0" tIns="0" rIns="0" bIns="0" rtlCol="0" anchor="ctr"/>
          <a:lstStyle/>
          <a:p>
            <a:pPr marL="0" indent="0">
              <a:buNone/>
            </a:pPr>
            <a:r>
              <a:rPr lang="en-US" sz="1050" i="1" dirty="0">
                <a:solidFill>
                  <a:srgbClr val="5B7782"/>
                </a:solidFill>
                <a:latin typeface="Calibri" pitchFamily="34" charset="0"/>
                <a:ea typeface="Calibri" pitchFamily="34" charset="-122"/>
                <a:cs typeface="Calibri" pitchFamily="34" charset="-120"/>
              </a:rPr>
              <a:t>Two moves per table: link the columns (enrichment), then map the table-level term (Customer Record, etc.) — the table term is what the Trust Score reads. Governance terms aren’t linked to columns.</a:t>
            </a:r>
            <a:endParaRPr lang="en-US" sz="1050" dirty="0"/>
          </a:p>
        </p:txBody>
      </p:sp>
      <p:sp>
        <p:nvSpPr>
          <p:cNvPr id="7" name="Text 4"/>
          <p:cNvSpPr/>
          <p:nvPr/>
        </p:nvSpPr>
        <p:spPr>
          <a:xfrm>
            <a:off x="548640" y="4828032"/>
            <a:ext cx="7315200" cy="274320"/>
          </a:xfrm>
          <a:prstGeom prst="rect">
            <a:avLst/>
          </a:prstGeom>
          <a:noFill/>
          <a:ln/>
        </p:spPr>
        <p:txBody>
          <a:bodyPr wrap="square" lIns="0" tIns="0" rIns="0" bIns="0" rtlCol="0" anchor="ctr"/>
          <a:lstStyle/>
          <a:p>
            <a:pPr marL="0" indent="0">
              <a:buNone/>
            </a:pPr>
            <a:r>
              <a:rPr lang="en-US" sz="950" dirty="0">
                <a:solidFill>
                  <a:srgbClr val="5B7782"/>
                </a:solidFill>
                <a:latin typeface="Calibri" pitchFamily="34" charset="0"/>
                <a:ea typeface="Calibri" pitchFamily="34" charset="-122"/>
                <a:cs typeface="Calibri" pitchFamily="34" charset="-120"/>
              </a:rPr>
              <a:t>Workshop 3 · 57 column links + 6 table-level terms — the table term is what each Trust Score reads</a:t>
            </a:r>
            <a:endParaRPr lang="en-US" sz="950" dirty="0"/>
          </a:p>
        </p:txBody>
      </p:sp>
      <p:sp>
        <p:nvSpPr>
          <p:cNvPr id="8" name="Text 5"/>
          <p:cNvSpPr/>
          <p:nvPr/>
        </p:nvSpPr>
        <p:spPr>
          <a:xfrm>
            <a:off x="8366760" y="4828032"/>
            <a:ext cx="320040" cy="274320"/>
          </a:xfrm>
          <a:prstGeom prst="rect">
            <a:avLst/>
          </a:prstGeom>
          <a:noFill/>
          <a:ln/>
        </p:spPr>
        <p:txBody>
          <a:bodyPr wrap="square" lIns="0" tIns="0" rIns="0" bIns="0" rtlCol="0" anchor="ctr"/>
          <a:lstStyle/>
          <a:p>
            <a:pPr marL="0" indent="0" algn="r">
              <a:buNone/>
            </a:pPr>
            <a:r>
              <a:rPr lang="en-US" sz="950" dirty="0">
                <a:solidFill>
                  <a:srgbClr val="5B7782"/>
                </a:solidFill>
                <a:latin typeface="Calibri" pitchFamily="34" charset="0"/>
                <a:ea typeface="Calibri" pitchFamily="34" charset="-122"/>
                <a:cs typeface="Calibri" pitchFamily="34" charset="-120"/>
              </a:rPr>
              <a:t>10</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6766560" cy="292608"/>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BEHIND THE SUGGESTIONS</a:t>
            </a:r>
            <a:endParaRPr lang="en-US" sz="1200" dirty="0"/>
          </a:p>
        </p:txBody>
      </p:sp>
      <p:sp>
        <p:nvSpPr>
          <p:cNvPr id="3" name="Text 1"/>
          <p:cNvSpPr/>
          <p:nvPr/>
        </p:nvSpPr>
        <p:spPr>
          <a:xfrm>
            <a:off x="548640" y="713232"/>
            <a:ext cx="7040880" cy="566928"/>
          </a:xfrm>
          <a:prstGeom prst="rect">
            <a:avLst/>
          </a:prstGeom>
          <a:noFill/>
          <a:ln/>
        </p:spPr>
        <p:txBody>
          <a:bodyPr wrap="square" lIns="0" tIns="0" rIns="0" bIns="0" rtlCol="0" anchor="ctr"/>
          <a:lstStyle/>
          <a:p>
            <a:pPr marL="0" indent="0">
              <a:buNone/>
            </a:pPr>
            <a:r>
              <a:rPr lang="en-US" sz="2700" b="1" dirty="0">
                <a:solidFill>
                  <a:srgbClr val="14333F"/>
                </a:solidFill>
                <a:latin typeface="Bookman Old Style" pitchFamily="34" charset="0"/>
                <a:ea typeface="Bookman Old Style" pitchFamily="34" charset="-122"/>
                <a:cs typeface="Bookman Old Style" pitchFamily="34" charset="-120"/>
              </a:rPr>
              <a:t>Where Suggested Columns come from</a:t>
            </a:r>
            <a:endParaRPr lang="en-US" sz="2700" dirty="0"/>
          </a:p>
        </p:txBody>
      </p:sp>
      <p:sp>
        <p:nvSpPr>
          <p:cNvPr id="4" name="Shape 2"/>
          <p:cNvSpPr/>
          <p:nvPr/>
        </p:nvSpPr>
        <p:spPr>
          <a:xfrm>
            <a:off x="548640" y="1499616"/>
            <a:ext cx="8046720" cy="585216"/>
          </a:xfrm>
          <a:prstGeom prst="roundRect">
            <a:avLst>
              <a:gd name="adj" fmla="val 10938"/>
            </a:avLst>
          </a:prstGeom>
          <a:solidFill>
            <a:srgbClr val="EEF6FA"/>
          </a:solidFill>
          <a:ln/>
          <a:effectLst>
            <a:outerShdw blurRad="50800" dist="12700" dir="5400000" algn="bl" rotWithShape="0">
              <a:srgbClr val="0A3D52">
                <a:alpha val="7000"/>
              </a:srgbClr>
            </a:outerShdw>
          </a:effectLst>
        </p:spPr>
      </p:sp>
      <p:sp>
        <p:nvSpPr>
          <p:cNvPr id="5" name="Shape 3"/>
          <p:cNvSpPr/>
          <p:nvPr/>
        </p:nvSpPr>
        <p:spPr>
          <a:xfrm>
            <a:off x="713232" y="1609344"/>
            <a:ext cx="384048" cy="384048"/>
          </a:xfrm>
          <a:prstGeom prst="ellipse">
            <a:avLst/>
          </a:prstGeom>
          <a:solidFill>
            <a:srgbClr val="1C7293"/>
          </a:solidFill>
          <a:ln/>
        </p:spPr>
      </p:sp>
      <p:pic>
        <p:nvPicPr>
          <p:cNvPr id="6" name="Image 0" descr="preencoded.png"/>
          <p:cNvPicPr>
            <a:picLocks noChangeAspect="1"/>
          </p:cNvPicPr>
          <p:nvPr/>
        </p:nvPicPr>
        <p:blipFill>
          <a:blip r:embed="rId3"/>
          <a:stretch>
            <a:fillRect/>
          </a:stretch>
        </p:blipFill>
        <p:spPr>
          <a:xfrm>
            <a:off x="800100" y="1696212"/>
            <a:ext cx="210312" cy="210312"/>
          </a:xfrm>
          <a:prstGeom prst="rect">
            <a:avLst/>
          </a:prstGeom>
        </p:spPr>
      </p:pic>
      <p:sp>
        <p:nvSpPr>
          <p:cNvPr id="7" name="Text 4"/>
          <p:cNvSpPr/>
          <p:nvPr/>
        </p:nvSpPr>
        <p:spPr>
          <a:xfrm>
            <a:off x="1280160" y="1499616"/>
            <a:ext cx="2103120" cy="585216"/>
          </a:xfrm>
          <a:prstGeom prst="rect">
            <a:avLst/>
          </a:prstGeom>
          <a:noFill/>
          <a:ln/>
        </p:spPr>
        <p:txBody>
          <a:bodyPr wrap="square" lIns="0" tIns="0" rIns="0" bIns="0" rtlCol="0" anchor="ctr"/>
          <a:lstStyle/>
          <a:p>
            <a:pPr marL="0" indent="0">
              <a:buNone/>
            </a:pPr>
            <a:r>
              <a:rPr lang="en-US" sz="1400" b="1" dirty="0">
                <a:solidFill>
                  <a:srgbClr val="14333F"/>
                </a:solidFill>
                <a:latin typeface="Calibri" pitchFamily="34" charset="0"/>
                <a:ea typeface="Calibri" pitchFamily="34" charset="-122"/>
                <a:cs typeface="Calibri" pitchFamily="34" charset="-120"/>
              </a:rPr>
              <a:t>Similarity Score</a:t>
            </a:r>
            <a:endParaRPr lang="en-US" sz="1400" dirty="0"/>
          </a:p>
        </p:txBody>
      </p:sp>
      <p:sp>
        <p:nvSpPr>
          <p:cNvPr id="8" name="Text 5"/>
          <p:cNvSpPr/>
          <p:nvPr/>
        </p:nvSpPr>
        <p:spPr>
          <a:xfrm>
            <a:off x="3383280" y="1499616"/>
            <a:ext cx="5029200" cy="585216"/>
          </a:xfrm>
          <a:prstGeom prst="rect">
            <a:avLst/>
          </a:prstGeom>
          <a:noFill/>
          <a:ln/>
        </p:spPr>
        <p:txBody>
          <a:bodyPr wrap="square" lIns="0" tIns="0" rIns="0" bIns="0" rtlCol="0" anchor="ctr"/>
          <a:lstStyle/>
          <a:p>
            <a:pPr marL="0" indent="0">
              <a:buNone/>
            </a:pPr>
            <a:r>
              <a:rPr lang="en-US" sz="1150" dirty="0">
                <a:solidFill>
                  <a:srgbClr val="5B7782"/>
                </a:solidFill>
                <a:latin typeface="Calibri" pitchFamily="34" charset="0"/>
                <a:ea typeface="Calibri" pitchFamily="34" charset="-122"/>
                <a:cs typeface="Calibri" pitchFamily="34" charset="-120"/>
              </a:rPr>
              <a:t>Each Suggested Column carries a score from 0 to 1 — PDC’s confidence that the term fits the column.</a:t>
            </a:r>
            <a:endParaRPr lang="en-US" sz="1150" dirty="0"/>
          </a:p>
        </p:txBody>
      </p:sp>
      <p:sp>
        <p:nvSpPr>
          <p:cNvPr id="9" name="Shape 6"/>
          <p:cNvSpPr/>
          <p:nvPr/>
        </p:nvSpPr>
        <p:spPr>
          <a:xfrm>
            <a:off x="548640" y="2176272"/>
            <a:ext cx="8046720" cy="585216"/>
          </a:xfrm>
          <a:prstGeom prst="roundRect">
            <a:avLst>
              <a:gd name="adj" fmla="val 10938"/>
            </a:avLst>
          </a:prstGeom>
          <a:solidFill>
            <a:srgbClr val="EEF6FA"/>
          </a:solidFill>
          <a:ln/>
          <a:effectLst>
            <a:outerShdw blurRad="50800" dist="12700" dir="5400000" algn="bl" rotWithShape="0">
              <a:srgbClr val="0A3D52">
                <a:alpha val="7000"/>
              </a:srgbClr>
            </a:outerShdw>
          </a:effectLst>
        </p:spPr>
      </p:sp>
      <p:sp>
        <p:nvSpPr>
          <p:cNvPr id="10" name="Shape 7"/>
          <p:cNvSpPr/>
          <p:nvPr/>
        </p:nvSpPr>
        <p:spPr>
          <a:xfrm>
            <a:off x="713232" y="2286000"/>
            <a:ext cx="384048" cy="384048"/>
          </a:xfrm>
          <a:prstGeom prst="ellipse">
            <a:avLst/>
          </a:prstGeom>
          <a:solidFill>
            <a:srgbClr val="1C7293"/>
          </a:solidFill>
          <a:ln/>
        </p:spPr>
      </p:sp>
      <p:pic>
        <p:nvPicPr>
          <p:cNvPr id="11" name="Image 1" descr="preencoded.png"/>
          <p:cNvPicPr>
            <a:picLocks noChangeAspect="1"/>
          </p:cNvPicPr>
          <p:nvPr/>
        </p:nvPicPr>
        <p:blipFill>
          <a:blip r:embed="rId4"/>
          <a:stretch>
            <a:fillRect/>
          </a:stretch>
        </p:blipFill>
        <p:spPr>
          <a:xfrm>
            <a:off x="800100" y="2372868"/>
            <a:ext cx="210312" cy="210312"/>
          </a:xfrm>
          <a:prstGeom prst="rect">
            <a:avLst/>
          </a:prstGeom>
        </p:spPr>
      </p:pic>
      <p:sp>
        <p:nvSpPr>
          <p:cNvPr id="12" name="Text 8"/>
          <p:cNvSpPr/>
          <p:nvPr/>
        </p:nvSpPr>
        <p:spPr>
          <a:xfrm>
            <a:off x="1280160" y="2176272"/>
            <a:ext cx="2103120" cy="585216"/>
          </a:xfrm>
          <a:prstGeom prst="rect">
            <a:avLst/>
          </a:prstGeom>
          <a:noFill/>
          <a:ln/>
        </p:spPr>
        <p:txBody>
          <a:bodyPr wrap="square" lIns="0" tIns="0" rIns="0" bIns="0" rtlCol="0" anchor="ctr"/>
          <a:lstStyle/>
          <a:p>
            <a:pPr marL="0" indent="0">
              <a:buNone/>
            </a:pPr>
            <a:r>
              <a:rPr lang="en-US" sz="1400" b="1" dirty="0">
                <a:solidFill>
                  <a:srgbClr val="14333F"/>
                </a:solidFill>
                <a:latin typeface="Calibri" pitchFamily="34" charset="0"/>
                <a:ea typeface="Calibri" pitchFamily="34" charset="-122"/>
                <a:cs typeface="Calibri" pitchFamily="34" charset="-120"/>
              </a:rPr>
              <a:t>Meaning over names</a:t>
            </a:r>
            <a:endParaRPr lang="en-US" sz="1400" dirty="0"/>
          </a:p>
        </p:txBody>
      </p:sp>
      <p:sp>
        <p:nvSpPr>
          <p:cNvPr id="13" name="Text 9"/>
          <p:cNvSpPr/>
          <p:nvPr/>
        </p:nvSpPr>
        <p:spPr>
          <a:xfrm>
            <a:off x="3383280" y="2176272"/>
            <a:ext cx="5029200" cy="585216"/>
          </a:xfrm>
          <a:prstGeom prst="rect">
            <a:avLst/>
          </a:prstGeom>
          <a:noFill/>
          <a:ln/>
        </p:spPr>
        <p:txBody>
          <a:bodyPr wrap="square" lIns="0" tIns="0" rIns="0" bIns="0" rtlCol="0" anchor="ctr"/>
          <a:lstStyle/>
          <a:p>
            <a:pPr marL="0" indent="0">
              <a:buNone/>
            </a:pPr>
            <a:r>
              <a:rPr lang="en-US" sz="1150" dirty="0">
                <a:solidFill>
                  <a:srgbClr val="5B7782"/>
                </a:solidFill>
                <a:latin typeface="Calibri" pitchFamily="34" charset="0"/>
                <a:ea typeface="Calibri" pitchFamily="34" charset="-122"/>
                <a:cs typeface="Calibri" pitchFamily="34" charset="-120"/>
              </a:rPr>
              <a:t>Matches rank on metadata structure and meaning, so a column can match even when its name differs from the term.</a:t>
            </a:r>
            <a:endParaRPr lang="en-US" sz="1150" dirty="0"/>
          </a:p>
        </p:txBody>
      </p:sp>
      <p:sp>
        <p:nvSpPr>
          <p:cNvPr id="14" name="Shape 10"/>
          <p:cNvSpPr/>
          <p:nvPr/>
        </p:nvSpPr>
        <p:spPr>
          <a:xfrm>
            <a:off x="548640" y="2852928"/>
            <a:ext cx="8046720" cy="585216"/>
          </a:xfrm>
          <a:prstGeom prst="roundRect">
            <a:avLst>
              <a:gd name="adj" fmla="val 10938"/>
            </a:avLst>
          </a:prstGeom>
          <a:solidFill>
            <a:srgbClr val="EEF6FA"/>
          </a:solidFill>
          <a:ln/>
          <a:effectLst>
            <a:outerShdw blurRad="50800" dist="12700" dir="5400000" algn="bl" rotWithShape="0">
              <a:srgbClr val="0A3D52">
                <a:alpha val="7000"/>
              </a:srgbClr>
            </a:outerShdw>
          </a:effectLst>
        </p:spPr>
      </p:sp>
      <p:sp>
        <p:nvSpPr>
          <p:cNvPr id="15" name="Shape 11"/>
          <p:cNvSpPr/>
          <p:nvPr/>
        </p:nvSpPr>
        <p:spPr>
          <a:xfrm>
            <a:off x="713232" y="2962656"/>
            <a:ext cx="384048" cy="384048"/>
          </a:xfrm>
          <a:prstGeom prst="ellipse">
            <a:avLst/>
          </a:prstGeom>
          <a:solidFill>
            <a:srgbClr val="1C7293"/>
          </a:solidFill>
          <a:ln/>
        </p:spPr>
      </p:sp>
      <p:pic>
        <p:nvPicPr>
          <p:cNvPr id="16" name="Image 2" descr="preencoded.png"/>
          <p:cNvPicPr>
            <a:picLocks noChangeAspect="1"/>
          </p:cNvPicPr>
          <p:nvPr/>
        </p:nvPicPr>
        <p:blipFill>
          <a:blip r:embed="rId5"/>
          <a:stretch>
            <a:fillRect/>
          </a:stretch>
        </p:blipFill>
        <p:spPr>
          <a:xfrm>
            <a:off x="800100" y="3049524"/>
            <a:ext cx="210312" cy="210312"/>
          </a:xfrm>
          <a:prstGeom prst="rect">
            <a:avLst/>
          </a:prstGeom>
        </p:spPr>
      </p:pic>
      <p:sp>
        <p:nvSpPr>
          <p:cNvPr id="17" name="Text 12"/>
          <p:cNvSpPr/>
          <p:nvPr/>
        </p:nvSpPr>
        <p:spPr>
          <a:xfrm>
            <a:off x="1280160" y="2852928"/>
            <a:ext cx="2103120" cy="585216"/>
          </a:xfrm>
          <a:prstGeom prst="rect">
            <a:avLst/>
          </a:prstGeom>
          <a:noFill/>
          <a:ln/>
        </p:spPr>
        <p:txBody>
          <a:bodyPr wrap="square" lIns="0" tIns="0" rIns="0" bIns="0" rtlCol="0" anchor="ctr"/>
          <a:lstStyle/>
          <a:p>
            <a:pPr marL="0" indent="0">
              <a:buNone/>
            </a:pPr>
            <a:r>
              <a:rPr lang="en-US" sz="1400" b="1" dirty="0">
                <a:solidFill>
                  <a:srgbClr val="14333F"/>
                </a:solidFill>
                <a:latin typeface="Calibri" pitchFamily="34" charset="0"/>
                <a:ea typeface="Calibri" pitchFamily="34" charset="-122"/>
                <a:cs typeface="Calibri" pitchFamily="34" charset="-120"/>
              </a:rPr>
              <a:t>The 0.5 threshold</a:t>
            </a:r>
            <a:endParaRPr lang="en-US" sz="1400" dirty="0"/>
          </a:p>
        </p:txBody>
      </p:sp>
      <p:sp>
        <p:nvSpPr>
          <p:cNvPr id="18" name="Text 13"/>
          <p:cNvSpPr/>
          <p:nvPr/>
        </p:nvSpPr>
        <p:spPr>
          <a:xfrm>
            <a:off x="3383280" y="2852928"/>
            <a:ext cx="5029200" cy="585216"/>
          </a:xfrm>
          <a:prstGeom prst="rect">
            <a:avLst/>
          </a:prstGeom>
          <a:noFill/>
          <a:ln/>
        </p:spPr>
        <p:txBody>
          <a:bodyPr wrap="square" lIns="0" tIns="0" rIns="0" bIns="0" rtlCol="0" anchor="ctr"/>
          <a:lstStyle/>
          <a:p>
            <a:pPr marL="0" indent="0">
              <a:buNone/>
            </a:pPr>
            <a:r>
              <a:rPr lang="en-US" sz="1150" dirty="0">
                <a:solidFill>
                  <a:srgbClr val="5B7782"/>
                </a:solidFill>
                <a:latin typeface="Calibri" pitchFamily="34" charset="0"/>
                <a:ea typeface="Calibri" pitchFamily="34" charset="-122"/>
                <a:cs typeface="Calibri" pitchFamily="34" charset="-120"/>
              </a:rPr>
              <a:t>The list shows matches above a threshold — 0.5 by default. Lower it to see more candidates; raise it for only the closest.</a:t>
            </a:r>
            <a:endParaRPr lang="en-US" sz="1150" dirty="0"/>
          </a:p>
        </p:txBody>
      </p:sp>
      <p:sp>
        <p:nvSpPr>
          <p:cNvPr id="19" name="Shape 14"/>
          <p:cNvSpPr/>
          <p:nvPr/>
        </p:nvSpPr>
        <p:spPr>
          <a:xfrm>
            <a:off x="548640" y="3529584"/>
            <a:ext cx="8046720" cy="585216"/>
          </a:xfrm>
          <a:prstGeom prst="roundRect">
            <a:avLst>
              <a:gd name="adj" fmla="val 10938"/>
            </a:avLst>
          </a:prstGeom>
          <a:solidFill>
            <a:srgbClr val="EEF6FA"/>
          </a:solidFill>
          <a:ln/>
          <a:effectLst>
            <a:outerShdw blurRad="50800" dist="12700" dir="5400000" algn="bl" rotWithShape="0">
              <a:srgbClr val="0A3D52">
                <a:alpha val="7000"/>
              </a:srgbClr>
            </a:outerShdw>
          </a:effectLst>
        </p:spPr>
      </p:sp>
      <p:sp>
        <p:nvSpPr>
          <p:cNvPr id="20" name="Shape 15"/>
          <p:cNvSpPr/>
          <p:nvPr/>
        </p:nvSpPr>
        <p:spPr>
          <a:xfrm>
            <a:off x="713232" y="3639312"/>
            <a:ext cx="384048" cy="384048"/>
          </a:xfrm>
          <a:prstGeom prst="ellipse">
            <a:avLst/>
          </a:prstGeom>
          <a:solidFill>
            <a:srgbClr val="1C7293"/>
          </a:solidFill>
          <a:ln/>
        </p:spPr>
      </p:sp>
      <p:pic>
        <p:nvPicPr>
          <p:cNvPr id="21" name="Image 3" descr="preencoded.png"/>
          <p:cNvPicPr>
            <a:picLocks noChangeAspect="1"/>
          </p:cNvPicPr>
          <p:nvPr/>
        </p:nvPicPr>
        <p:blipFill>
          <a:blip r:embed="rId6"/>
          <a:stretch>
            <a:fillRect/>
          </a:stretch>
        </p:blipFill>
        <p:spPr>
          <a:xfrm>
            <a:off x="800100" y="3726180"/>
            <a:ext cx="210312" cy="210312"/>
          </a:xfrm>
          <a:prstGeom prst="rect">
            <a:avLst/>
          </a:prstGeom>
        </p:spPr>
      </p:pic>
      <p:sp>
        <p:nvSpPr>
          <p:cNvPr id="22" name="Text 16"/>
          <p:cNvSpPr/>
          <p:nvPr/>
        </p:nvSpPr>
        <p:spPr>
          <a:xfrm>
            <a:off x="1280160" y="3529584"/>
            <a:ext cx="2103120" cy="585216"/>
          </a:xfrm>
          <a:prstGeom prst="rect">
            <a:avLst/>
          </a:prstGeom>
          <a:noFill/>
          <a:ln/>
        </p:spPr>
        <p:txBody>
          <a:bodyPr wrap="square" lIns="0" tIns="0" rIns="0" bIns="0" rtlCol="0" anchor="ctr"/>
          <a:lstStyle/>
          <a:p>
            <a:pPr marL="0" indent="0">
              <a:buNone/>
            </a:pPr>
            <a:r>
              <a:rPr lang="en-US" sz="1400" b="1" dirty="0">
                <a:solidFill>
                  <a:srgbClr val="14333F"/>
                </a:solidFill>
                <a:latin typeface="Calibri" pitchFamily="34" charset="0"/>
                <a:ea typeface="Calibri" pitchFamily="34" charset="-122"/>
                <a:cs typeface="Calibri" pitchFamily="34" charset="-120"/>
              </a:rPr>
              <a:t>Approve or reject</a:t>
            </a:r>
            <a:endParaRPr lang="en-US" sz="1400" dirty="0"/>
          </a:p>
        </p:txBody>
      </p:sp>
      <p:sp>
        <p:nvSpPr>
          <p:cNvPr id="23" name="Text 17"/>
          <p:cNvSpPr/>
          <p:nvPr/>
        </p:nvSpPr>
        <p:spPr>
          <a:xfrm>
            <a:off x="3383280" y="3529584"/>
            <a:ext cx="5029200" cy="585216"/>
          </a:xfrm>
          <a:prstGeom prst="rect">
            <a:avLst/>
          </a:prstGeom>
          <a:noFill/>
          <a:ln/>
        </p:spPr>
        <p:txBody>
          <a:bodyPr wrap="square" lIns="0" tIns="0" rIns="0" bIns="0" rtlCol="0" anchor="ctr"/>
          <a:lstStyle/>
          <a:p>
            <a:pPr marL="0" indent="0">
              <a:buNone/>
            </a:pPr>
            <a:r>
              <a:rPr lang="en-US" sz="1150" dirty="0">
                <a:solidFill>
                  <a:srgbClr val="5B7782"/>
                </a:solidFill>
                <a:latin typeface="Calibri" pitchFamily="34" charset="0"/>
                <a:ea typeface="Calibri" pitchFamily="34" charset="-122"/>
                <a:cs typeface="Calibri" pitchFamily="34" charset="-120"/>
              </a:rPr>
              <a:t>Approve to assign the term automatically; Reject to dismiss it. A rejected match is excluded from future suggestions.</a:t>
            </a:r>
            <a:endParaRPr lang="en-US" sz="1150" dirty="0"/>
          </a:p>
        </p:txBody>
      </p:sp>
      <p:sp>
        <p:nvSpPr>
          <p:cNvPr id="24" name="Shape 18"/>
          <p:cNvSpPr/>
          <p:nvPr/>
        </p:nvSpPr>
        <p:spPr>
          <a:xfrm>
            <a:off x="548640" y="4206240"/>
            <a:ext cx="8046720" cy="585216"/>
          </a:xfrm>
          <a:prstGeom prst="roundRect">
            <a:avLst>
              <a:gd name="adj" fmla="val 10938"/>
            </a:avLst>
          </a:prstGeom>
          <a:solidFill>
            <a:srgbClr val="EEF6FA"/>
          </a:solidFill>
          <a:ln/>
          <a:effectLst>
            <a:outerShdw blurRad="50800" dist="12700" dir="5400000" algn="bl" rotWithShape="0">
              <a:srgbClr val="0A3D52">
                <a:alpha val="7000"/>
              </a:srgbClr>
            </a:outerShdw>
          </a:effectLst>
        </p:spPr>
      </p:sp>
      <p:sp>
        <p:nvSpPr>
          <p:cNvPr id="25" name="Shape 19"/>
          <p:cNvSpPr/>
          <p:nvPr/>
        </p:nvSpPr>
        <p:spPr>
          <a:xfrm>
            <a:off x="713232" y="4315968"/>
            <a:ext cx="384048" cy="384048"/>
          </a:xfrm>
          <a:prstGeom prst="ellipse">
            <a:avLst/>
          </a:prstGeom>
          <a:solidFill>
            <a:srgbClr val="1C7293"/>
          </a:solidFill>
          <a:ln/>
        </p:spPr>
      </p:sp>
      <p:pic>
        <p:nvPicPr>
          <p:cNvPr id="26" name="Image 4" descr="preencoded.png"/>
          <p:cNvPicPr>
            <a:picLocks noChangeAspect="1"/>
          </p:cNvPicPr>
          <p:nvPr/>
        </p:nvPicPr>
        <p:blipFill>
          <a:blip r:embed="rId7"/>
          <a:stretch>
            <a:fillRect/>
          </a:stretch>
        </p:blipFill>
        <p:spPr>
          <a:xfrm>
            <a:off x="800100" y="4402836"/>
            <a:ext cx="210312" cy="210312"/>
          </a:xfrm>
          <a:prstGeom prst="rect">
            <a:avLst/>
          </a:prstGeom>
        </p:spPr>
      </p:pic>
      <p:sp>
        <p:nvSpPr>
          <p:cNvPr id="27" name="Text 20"/>
          <p:cNvSpPr/>
          <p:nvPr/>
        </p:nvSpPr>
        <p:spPr>
          <a:xfrm>
            <a:off x="1280160" y="4206240"/>
            <a:ext cx="2103120" cy="585216"/>
          </a:xfrm>
          <a:prstGeom prst="rect">
            <a:avLst/>
          </a:prstGeom>
          <a:noFill/>
          <a:ln/>
        </p:spPr>
        <p:txBody>
          <a:bodyPr wrap="square" lIns="0" tIns="0" rIns="0" bIns="0" rtlCol="0" anchor="ctr"/>
          <a:lstStyle/>
          <a:p>
            <a:pPr marL="0" indent="0">
              <a:buNone/>
            </a:pPr>
            <a:r>
              <a:rPr lang="en-US" sz="1400" b="1" dirty="0">
                <a:solidFill>
                  <a:srgbClr val="14333F"/>
                </a:solidFill>
                <a:latin typeface="Calibri" pitchFamily="34" charset="0"/>
                <a:ea typeface="Calibri" pitchFamily="34" charset="-122"/>
                <a:cs typeface="Calibri" pitchFamily="34" charset="-120"/>
              </a:rPr>
              <a:t>The Technical track</a:t>
            </a:r>
            <a:endParaRPr lang="en-US" sz="1400" dirty="0"/>
          </a:p>
        </p:txBody>
      </p:sp>
      <p:sp>
        <p:nvSpPr>
          <p:cNvPr id="28" name="Text 21"/>
          <p:cNvSpPr/>
          <p:nvPr/>
        </p:nvSpPr>
        <p:spPr>
          <a:xfrm>
            <a:off x="3383280" y="4206240"/>
            <a:ext cx="5029200" cy="585216"/>
          </a:xfrm>
          <a:prstGeom prst="rect">
            <a:avLst/>
          </a:prstGeom>
          <a:noFill/>
          <a:ln/>
        </p:spPr>
        <p:txBody>
          <a:bodyPr wrap="square" lIns="0" tIns="0" rIns="0" bIns="0" rtlCol="0" anchor="ctr"/>
          <a:lstStyle/>
          <a:p>
            <a:pPr marL="0" indent="0">
              <a:buNone/>
            </a:pPr>
            <a:r>
              <a:rPr lang="en-US" sz="1150" dirty="0">
                <a:solidFill>
                  <a:srgbClr val="5B7782"/>
                </a:solidFill>
                <a:latin typeface="Calibri" pitchFamily="34" charset="0"/>
                <a:ea typeface="Calibri" pitchFamily="34" charset="-122"/>
                <a:cs typeface="Calibri" pitchFamily="34" charset="-120"/>
              </a:rPr>
              <a:t>An admin runs the job behind these matches. The Technical track goes deeper — running and tuning that engine.</a:t>
            </a:r>
            <a:endParaRPr lang="en-US" sz="1150" dirty="0"/>
          </a:p>
        </p:txBody>
      </p:sp>
      <p:sp>
        <p:nvSpPr>
          <p:cNvPr id="29" name="Text 22"/>
          <p:cNvSpPr/>
          <p:nvPr/>
        </p:nvSpPr>
        <p:spPr>
          <a:xfrm>
            <a:off x="548640" y="4828032"/>
            <a:ext cx="7315200" cy="274320"/>
          </a:xfrm>
          <a:prstGeom prst="rect">
            <a:avLst/>
          </a:prstGeom>
          <a:noFill/>
          <a:ln/>
        </p:spPr>
        <p:txBody>
          <a:bodyPr wrap="square" lIns="0" tIns="0" rIns="0" bIns="0" rtlCol="0" anchor="ctr"/>
          <a:lstStyle/>
          <a:p>
            <a:pPr marL="0" indent="0">
              <a:buNone/>
            </a:pPr>
            <a:r>
              <a:rPr lang="en-US" sz="950" dirty="0">
                <a:solidFill>
                  <a:srgbClr val="5B7782"/>
                </a:solidFill>
                <a:latin typeface="Calibri" pitchFamily="34" charset="0"/>
                <a:ea typeface="Calibri" pitchFamily="34" charset="-122"/>
                <a:cs typeface="Calibri" pitchFamily="34" charset="-120"/>
              </a:rPr>
              <a:t>Workshop 3 · The Similarity Score powers Suggested Columns — explored in depth in the Technical track</a:t>
            </a:r>
            <a:endParaRPr lang="en-US" sz="950" dirty="0"/>
          </a:p>
        </p:txBody>
      </p:sp>
      <p:sp>
        <p:nvSpPr>
          <p:cNvPr id="30" name="Text 23"/>
          <p:cNvSpPr/>
          <p:nvPr/>
        </p:nvSpPr>
        <p:spPr>
          <a:xfrm>
            <a:off x="8366760" y="4828032"/>
            <a:ext cx="320040" cy="274320"/>
          </a:xfrm>
          <a:prstGeom prst="rect">
            <a:avLst/>
          </a:prstGeom>
          <a:noFill/>
          <a:ln/>
        </p:spPr>
        <p:txBody>
          <a:bodyPr wrap="square" lIns="0" tIns="0" rIns="0" bIns="0" rtlCol="0" anchor="ctr"/>
          <a:lstStyle/>
          <a:p>
            <a:pPr marL="0" indent="0" algn="r">
              <a:buNone/>
            </a:pPr>
            <a:r>
              <a:rPr lang="en-US" sz="950" dirty="0">
                <a:solidFill>
                  <a:srgbClr val="5B7782"/>
                </a:solidFill>
                <a:latin typeface="Calibri" pitchFamily="34" charset="0"/>
                <a:ea typeface="Calibri" pitchFamily="34" charset="-122"/>
                <a:cs typeface="Calibri" pitchFamily="34" charset="-120"/>
              </a:rPr>
              <a:t>11</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5">
    <p:bg>
      <p:bgPr>
        <a:solidFill>
          <a:srgbClr val="0B1B2B"/>
        </a:solidFill>
        <a:effectLst/>
      </p:bgPr>
    </p:bg>
    <p:spTree>
      <p:nvGrpSpPr>
        <p:cNvPr id="1" name=""/>
        <p:cNvGrpSpPr/>
        <p:nvPr/>
      </p:nvGrpSpPr>
      <p:grpSpPr>
        <a:xfrm>
          <a:off x="0" y="0"/>
          <a:ext cx="0" cy="0"/>
          <a:chOff x="0" y="0"/>
          <a:chExt cx="0" cy="0"/>
        </a:xfrm>
      </p:grpSpPr>
      <p:sp>
        <p:nvSpPr>
          <p:cNvPr id="2" name="Shape 0"/>
          <p:cNvSpPr/>
          <p:nvPr/>
        </p:nvSpPr>
        <p:spPr>
          <a:xfrm>
            <a:off x="7498080" y="-1280160"/>
            <a:ext cx="3291840" cy="3291840"/>
          </a:xfrm>
          <a:prstGeom prst="ellipse">
            <a:avLst/>
          </a:prstGeom>
          <a:solidFill>
            <a:srgbClr val="0A3D52"/>
          </a:solidFill>
          <a:ln/>
        </p:spPr>
      </p:sp>
      <p:sp>
        <p:nvSpPr>
          <p:cNvPr id="3" name="Shape 1"/>
          <p:cNvSpPr/>
          <p:nvPr/>
        </p:nvSpPr>
        <p:spPr>
          <a:xfrm>
            <a:off x="548640" y="603504"/>
            <a:ext cx="841248" cy="841248"/>
          </a:xfrm>
          <a:prstGeom prst="ellipse">
            <a:avLst/>
          </a:prstGeom>
          <a:solidFill>
            <a:srgbClr val="1C7293"/>
          </a:solidFill>
          <a:ln/>
        </p:spPr>
      </p:sp>
      <p:pic>
        <p:nvPicPr>
          <p:cNvPr id="4" name="Image 0" descr="preencoded.png"/>
          <p:cNvPicPr>
            <a:picLocks noChangeAspect="1"/>
          </p:cNvPicPr>
          <p:nvPr/>
        </p:nvPicPr>
        <p:blipFill>
          <a:blip r:embed="rId3"/>
          <a:stretch>
            <a:fillRect/>
          </a:stretch>
        </p:blipFill>
        <p:spPr>
          <a:xfrm>
            <a:off x="722376" y="777240"/>
            <a:ext cx="493776" cy="493776"/>
          </a:xfrm>
          <a:prstGeom prst="rect">
            <a:avLst/>
          </a:prstGeom>
        </p:spPr>
      </p:pic>
      <p:sp>
        <p:nvSpPr>
          <p:cNvPr id="5" name="Text 2"/>
          <p:cNvSpPr/>
          <p:nvPr/>
        </p:nvSpPr>
        <p:spPr>
          <a:xfrm>
            <a:off x="1554480" y="713232"/>
            <a:ext cx="6400800" cy="457200"/>
          </a:xfrm>
          <a:prstGeom prst="rect">
            <a:avLst/>
          </a:prstGeom>
          <a:noFill/>
          <a:ln/>
        </p:spPr>
        <p:txBody>
          <a:bodyPr wrap="square" lIns="0" tIns="0" rIns="0" bIns="0" rtlCol="0" anchor="ctr"/>
          <a:lstStyle/>
          <a:p>
            <a:pPr marL="0" indent="0">
              <a:buNone/>
            </a:pPr>
            <a:r>
              <a:rPr lang="en-US" sz="1400" b="1" kern="0" spc="300" dirty="0">
                <a:solidFill>
                  <a:srgbClr val="2EC4B6"/>
                </a:solidFill>
                <a:latin typeface="Calibri" pitchFamily="34" charset="0"/>
                <a:ea typeface="Calibri" pitchFamily="34" charset="-122"/>
                <a:cs typeface="Calibri" pitchFamily="34" charset="-120"/>
              </a:rPr>
              <a:t>WHY IT MATTERS</a:t>
            </a:r>
            <a:endParaRPr lang="en-US" sz="1400" dirty="0"/>
          </a:p>
        </p:txBody>
      </p:sp>
      <p:sp>
        <p:nvSpPr>
          <p:cNvPr id="6" name="Text 3"/>
          <p:cNvSpPr/>
          <p:nvPr/>
        </p:nvSpPr>
        <p:spPr>
          <a:xfrm>
            <a:off x="548640" y="1517904"/>
            <a:ext cx="8046720" cy="1097280"/>
          </a:xfrm>
          <a:prstGeom prst="rect">
            <a:avLst/>
          </a:prstGeom>
          <a:noFill/>
          <a:ln/>
        </p:spPr>
        <p:txBody>
          <a:bodyPr wrap="square" lIns="0" tIns="0" rIns="0" bIns="0" rtlCol="0" anchor="ctr"/>
          <a:lstStyle/>
          <a:p>
            <a:pPr marL="0" indent="0">
              <a:lnSpc>
                <a:spcPct val="98000"/>
              </a:lnSpc>
              <a:buNone/>
            </a:pPr>
            <a:r>
              <a:rPr lang="en-US" sz="2800" b="1" dirty="0">
                <a:solidFill>
                  <a:srgbClr val="FFFFFF"/>
                </a:solidFill>
                <a:latin typeface="Bookman Old Style" pitchFamily="34" charset="0"/>
                <a:ea typeface="Bookman Old Style" pitchFamily="34" charset="-122"/>
                <a:cs typeface="Bookman Old Style" pitchFamily="34" charset="-120"/>
              </a:rPr>
              <a:t>A glossary is how everyone speaks</a:t>
            </a:r>
            <a:endParaRPr lang="en-US" sz="2800" dirty="0"/>
          </a:p>
          <a:p>
            <a:pPr marL="0" indent="0">
              <a:lnSpc>
                <a:spcPct val="98000"/>
              </a:lnSpc>
              <a:buNone/>
            </a:pPr>
            <a:r>
              <a:rPr lang="en-US" sz="2800" b="1" dirty="0">
                <a:solidFill>
                  <a:srgbClr val="FFFFFF"/>
                </a:solidFill>
                <a:latin typeface="Bookman Old Style" pitchFamily="34" charset="0"/>
                <a:ea typeface="Bookman Old Style" pitchFamily="34" charset="-122"/>
                <a:cs typeface="Bookman Old Style" pitchFamily="34" charset="-120"/>
              </a:rPr>
              <a:t>the same data language</a:t>
            </a:r>
            <a:endParaRPr lang="en-US" sz="2800" dirty="0"/>
          </a:p>
        </p:txBody>
      </p:sp>
      <p:sp>
        <p:nvSpPr>
          <p:cNvPr id="7" name="Text 4"/>
          <p:cNvSpPr/>
          <p:nvPr/>
        </p:nvSpPr>
        <p:spPr>
          <a:xfrm>
            <a:off x="777240" y="2926080"/>
            <a:ext cx="2194560" cy="822960"/>
          </a:xfrm>
          <a:prstGeom prst="rect">
            <a:avLst/>
          </a:prstGeom>
          <a:noFill/>
          <a:ln/>
        </p:spPr>
        <p:txBody>
          <a:bodyPr wrap="square" lIns="0" tIns="0" rIns="0" bIns="0" rtlCol="0" anchor="ctr"/>
          <a:lstStyle/>
          <a:p>
            <a:pPr marL="0" indent="0" algn="ctr">
              <a:buNone/>
            </a:pPr>
            <a:r>
              <a:rPr lang="en-US" sz="4600" b="1" dirty="0">
                <a:solidFill>
                  <a:srgbClr val="2EC4B6"/>
                </a:solidFill>
                <a:latin typeface="Bookman Old Style" pitchFamily="34" charset="0"/>
                <a:ea typeface="Bookman Old Style" pitchFamily="34" charset="-122"/>
                <a:cs typeface="Bookman Old Style" pitchFamily="34" charset="-120"/>
              </a:rPr>
              <a:t>64</a:t>
            </a:r>
            <a:endParaRPr lang="en-US" sz="4600" dirty="0"/>
          </a:p>
        </p:txBody>
      </p:sp>
      <p:sp>
        <p:nvSpPr>
          <p:cNvPr id="8" name="Text 5"/>
          <p:cNvSpPr/>
          <p:nvPr/>
        </p:nvSpPr>
        <p:spPr>
          <a:xfrm>
            <a:off x="777240" y="3730752"/>
            <a:ext cx="2194560" cy="365760"/>
          </a:xfrm>
          <a:prstGeom prst="rect">
            <a:avLst/>
          </a:prstGeom>
          <a:noFill/>
          <a:ln/>
        </p:spPr>
        <p:txBody>
          <a:bodyPr wrap="square" lIns="0" tIns="0" rIns="0" bIns="0" rtlCol="0" anchor="ctr"/>
          <a:lstStyle/>
          <a:p>
            <a:pPr marL="0" indent="0" algn="ctr">
              <a:buNone/>
            </a:pPr>
            <a:r>
              <a:rPr lang="en-US" sz="1100" b="1" kern="0" spc="100" dirty="0">
                <a:solidFill>
                  <a:srgbClr val="DCEEF5"/>
                </a:solidFill>
                <a:latin typeface="Calibri" pitchFamily="34" charset="0"/>
                <a:ea typeface="Calibri" pitchFamily="34" charset="-122"/>
                <a:cs typeface="Calibri" pitchFamily="34" charset="-120"/>
              </a:rPr>
              <a:t>GLOSSARY TERMS</a:t>
            </a:r>
            <a:endParaRPr lang="en-US" sz="1100" dirty="0"/>
          </a:p>
        </p:txBody>
      </p:sp>
      <p:sp>
        <p:nvSpPr>
          <p:cNvPr id="9" name="Text 6"/>
          <p:cNvSpPr/>
          <p:nvPr/>
        </p:nvSpPr>
        <p:spPr>
          <a:xfrm>
            <a:off x="3337560" y="2926080"/>
            <a:ext cx="2194560" cy="822960"/>
          </a:xfrm>
          <a:prstGeom prst="rect">
            <a:avLst/>
          </a:prstGeom>
          <a:noFill/>
          <a:ln/>
        </p:spPr>
        <p:txBody>
          <a:bodyPr wrap="square" lIns="0" tIns="0" rIns="0" bIns="0" rtlCol="0" anchor="ctr"/>
          <a:lstStyle/>
          <a:p>
            <a:pPr marL="0" indent="0" algn="ctr">
              <a:buNone/>
            </a:pPr>
            <a:r>
              <a:rPr lang="en-US" sz="4600" b="1" dirty="0">
                <a:solidFill>
                  <a:srgbClr val="2EC4B6"/>
                </a:solidFill>
                <a:latin typeface="Bookman Old Style" pitchFamily="34" charset="0"/>
                <a:ea typeface="Bookman Old Style" pitchFamily="34" charset="-122"/>
                <a:cs typeface="Bookman Old Style" pitchFamily="34" charset="-120"/>
              </a:rPr>
              <a:t>7</a:t>
            </a:r>
            <a:endParaRPr lang="en-US" sz="4600" dirty="0"/>
          </a:p>
        </p:txBody>
      </p:sp>
      <p:sp>
        <p:nvSpPr>
          <p:cNvPr id="10" name="Text 7"/>
          <p:cNvSpPr/>
          <p:nvPr/>
        </p:nvSpPr>
        <p:spPr>
          <a:xfrm>
            <a:off x="3337560" y="3730752"/>
            <a:ext cx="2194560" cy="365760"/>
          </a:xfrm>
          <a:prstGeom prst="rect">
            <a:avLst/>
          </a:prstGeom>
          <a:noFill/>
          <a:ln/>
        </p:spPr>
        <p:txBody>
          <a:bodyPr wrap="square" lIns="0" tIns="0" rIns="0" bIns="0" rtlCol="0" anchor="ctr"/>
          <a:lstStyle/>
          <a:p>
            <a:pPr marL="0" indent="0" algn="ctr">
              <a:buNone/>
            </a:pPr>
            <a:r>
              <a:rPr lang="en-US" sz="1100" b="1" kern="0" spc="100" dirty="0">
                <a:solidFill>
                  <a:srgbClr val="DCEEF5"/>
                </a:solidFill>
                <a:latin typeface="Calibri" pitchFamily="34" charset="0"/>
                <a:ea typeface="Calibri" pitchFamily="34" charset="-122"/>
                <a:cs typeface="Calibri" pitchFamily="34" charset="-120"/>
              </a:rPr>
              <a:t>CATEGORIES</a:t>
            </a:r>
            <a:endParaRPr lang="en-US" sz="1100" dirty="0"/>
          </a:p>
        </p:txBody>
      </p:sp>
      <p:sp>
        <p:nvSpPr>
          <p:cNvPr id="11" name="Text 8"/>
          <p:cNvSpPr/>
          <p:nvPr/>
        </p:nvSpPr>
        <p:spPr>
          <a:xfrm>
            <a:off x="5897880" y="2926080"/>
            <a:ext cx="2194560" cy="822960"/>
          </a:xfrm>
          <a:prstGeom prst="rect">
            <a:avLst/>
          </a:prstGeom>
          <a:noFill/>
          <a:ln/>
        </p:spPr>
        <p:txBody>
          <a:bodyPr wrap="square" lIns="0" tIns="0" rIns="0" bIns="0" rtlCol="0" anchor="ctr"/>
          <a:lstStyle/>
          <a:p>
            <a:pPr marL="0" indent="0" algn="ctr">
              <a:buNone/>
            </a:pPr>
            <a:r>
              <a:rPr lang="en-US" sz="4600" b="1" dirty="0">
                <a:solidFill>
                  <a:srgbClr val="2EC4B6"/>
                </a:solidFill>
                <a:latin typeface="Bookman Old Style" pitchFamily="34" charset="0"/>
                <a:ea typeface="Bookman Old Style" pitchFamily="34" charset="-122"/>
                <a:cs typeface="Bookman Old Style" pitchFamily="34" charset="-120"/>
              </a:rPr>
              <a:t>1/4</a:t>
            </a:r>
            <a:endParaRPr lang="en-US" sz="4600" dirty="0"/>
          </a:p>
        </p:txBody>
      </p:sp>
      <p:sp>
        <p:nvSpPr>
          <p:cNvPr id="12" name="Text 9"/>
          <p:cNvSpPr/>
          <p:nvPr/>
        </p:nvSpPr>
        <p:spPr>
          <a:xfrm>
            <a:off x="5897880" y="3730752"/>
            <a:ext cx="2194560" cy="365760"/>
          </a:xfrm>
          <a:prstGeom prst="rect">
            <a:avLst/>
          </a:prstGeom>
          <a:noFill/>
          <a:ln/>
        </p:spPr>
        <p:txBody>
          <a:bodyPr wrap="square" lIns="0" tIns="0" rIns="0" bIns="0" rtlCol="0" anchor="ctr"/>
          <a:lstStyle/>
          <a:p>
            <a:pPr marL="0" indent="0" algn="ctr">
              <a:buNone/>
            </a:pPr>
            <a:r>
              <a:rPr lang="en-US" sz="1100" b="1" kern="0" spc="100" dirty="0">
                <a:solidFill>
                  <a:srgbClr val="DCEEF5"/>
                </a:solidFill>
                <a:latin typeface="Calibri" pitchFamily="34" charset="0"/>
                <a:ea typeface="Calibri" pitchFamily="34" charset="-122"/>
                <a:cs typeface="Calibri" pitchFamily="34" charset="-120"/>
              </a:rPr>
              <a:t>TRUST SCORE INPUTS</a:t>
            </a:r>
            <a:endParaRPr lang="en-US" sz="1100" dirty="0"/>
          </a:p>
        </p:txBody>
      </p:sp>
      <p:sp>
        <p:nvSpPr>
          <p:cNvPr id="13" name="Text 10"/>
          <p:cNvSpPr/>
          <p:nvPr/>
        </p:nvSpPr>
        <p:spPr>
          <a:xfrm>
            <a:off x="548640" y="4626864"/>
            <a:ext cx="8046720" cy="365760"/>
          </a:xfrm>
          <a:prstGeom prst="rect">
            <a:avLst/>
          </a:prstGeom>
          <a:noFill/>
          <a:ln/>
        </p:spPr>
        <p:txBody>
          <a:bodyPr wrap="square" lIns="0" tIns="0" rIns="0" bIns="0" rtlCol="0" anchor="ctr"/>
          <a:lstStyle/>
          <a:p>
            <a:pPr marL="0" indent="0">
              <a:buNone/>
            </a:pPr>
            <a:r>
              <a:rPr lang="en-US" sz="1200" i="1" dirty="0">
                <a:solidFill>
                  <a:srgbClr val="5B7782"/>
                </a:solidFill>
                <a:latin typeface="Calibri" pitchFamily="34" charset="0"/>
                <a:ea typeface="Calibri" pitchFamily="34" charset="-122"/>
                <a:cs typeface="Calibri" pitchFamily="34" charset="-120"/>
              </a:rPr>
              <a:t>Next up — Workshop 4: Data Profiling &amp; Identification</a:t>
            </a:r>
            <a:endParaRPr lang="en-US" sz="1200" dirty="0"/>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7680960" cy="292608"/>
          </a:xfrm>
          <a:prstGeom prst="rect">
            <a:avLst/>
          </a:prstGeom>
          <a:noFill/>
        </p:spPr>
        <p:txBody>
          <a:bodyPr wrap="square" lIns="0" rIns="0" tIns="0" bIns="0">
            <a:spAutoFit/>
          </a:bodyPr>
          <a:lstStyle/>
          <a:p>
            <a:r>
              <a:rPr sz="1200" b="1" spc="200">
                <a:solidFill>
                  <a:srgbClr val="1C7293"/>
                </a:solidFill>
                <a:latin typeface="Calibri"/>
              </a:rPr>
              <a:t>TRUST SCORE</a:t>
            </a:r>
          </a:p>
        </p:txBody>
      </p:sp>
      <p:sp>
        <p:nvSpPr>
          <p:cNvPr id="3" name="TextBox 2"/>
          <p:cNvSpPr txBox="1"/>
          <p:nvPr/>
        </p:nvSpPr>
        <p:spPr>
          <a:xfrm>
            <a:off x="548640" y="713232"/>
            <a:ext cx="7863840" cy="566928"/>
          </a:xfrm>
          <a:prstGeom prst="rect">
            <a:avLst/>
          </a:prstGeom>
          <a:noFill/>
        </p:spPr>
        <p:txBody>
          <a:bodyPr wrap="square" lIns="0" rIns="0" tIns="0" bIns="0">
            <a:spAutoFit/>
          </a:bodyPr>
          <a:lstStyle/>
          <a:p>
            <a:r>
              <a:rPr sz="2700" b="0">
                <a:solidFill>
                  <a:srgbClr val="14333F"/>
                </a:solidFill>
                <a:latin typeface="Bookman Old Style"/>
              </a:rPr>
              <a:t>Where Trust Score lives</a:t>
            </a:r>
          </a:p>
        </p:txBody>
      </p:sp>
      <p:sp>
        <p:nvSpPr>
          <p:cNvPr id="4" name="Rectangle 3"/>
          <p:cNvSpPr/>
          <p:nvPr/>
        </p:nvSpPr>
        <p:spPr>
          <a:xfrm>
            <a:off x="548640" y="1444752"/>
            <a:ext cx="8046720" cy="475488"/>
          </a:xfrm>
          <a:prstGeom prst="rect">
            <a:avLst/>
          </a:prstGeom>
          <a:solidFill>
            <a:srgbClr val="0A3D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r>
              <a:rPr sz="1350" b="1">
                <a:solidFill>
                  <a:srgbClr val="FFFFFF"/>
                </a:solidFill>
                <a:latin typeface="Calibri"/>
              </a:rPr>
              <a:t>Only tables and files are scored   ·   </a:t>
            </a:r>
            <a:r>
              <a:rPr sz="1350" b="1">
                <a:solidFill>
                  <a:srgbClr val="7FD4DE"/>
                </a:solidFill>
                <a:latin typeface="Calibri"/>
              </a:rPr>
              <a:t>Table = File</a:t>
            </a:r>
            <a:r>
              <a:rPr sz="1200" b="0">
                <a:solidFill>
                  <a:srgbClr val="AFC9CF"/>
                </a:solidFill>
                <a:latin typeface="Calibri"/>
              </a:rPr>
              <a:t>  (scored)    </a:t>
            </a:r>
            <a:r>
              <a:rPr sz="1350" b="1">
                <a:solidFill>
                  <a:srgbClr val="7FD4DE"/>
                </a:solidFill>
                <a:latin typeface="Calibri"/>
              </a:rPr>
              <a:t>Column = Folder</a:t>
            </a:r>
            <a:r>
              <a:rPr sz="1200" b="0">
                <a:solidFill>
                  <a:srgbClr val="AFC9CF"/>
                </a:solidFill>
                <a:latin typeface="Calibri"/>
              </a:rPr>
              <a:t>  (not)</a:t>
            </a:r>
          </a:p>
        </p:txBody>
      </p:sp>
      <p:sp>
        <p:nvSpPr>
          <p:cNvPr id="5" name="Rounded Rectangle 4"/>
          <p:cNvSpPr/>
          <p:nvPr/>
        </p:nvSpPr>
        <p:spPr>
          <a:xfrm>
            <a:off x="548640" y="2084831"/>
            <a:ext cx="3931920" cy="1371600"/>
          </a:xfrm>
          <a:prstGeom prst="roundRect">
            <a:avLst>
              <a:gd name="adj" fmla="val 5000"/>
            </a:avLst>
          </a:prstGeom>
          <a:solidFill>
            <a:srgbClr val="EEF6FA"/>
          </a:solidFill>
          <a:ln w="9525">
            <a:solidFill>
              <a:srgbClr val="D7E6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49808" y="2322576"/>
            <a:ext cx="146304" cy="146304"/>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231136"/>
            <a:ext cx="3291839" cy="365760"/>
          </a:xfrm>
          <a:prstGeom prst="rect">
            <a:avLst/>
          </a:prstGeom>
          <a:noFill/>
        </p:spPr>
        <p:txBody>
          <a:bodyPr wrap="square" lIns="0" rIns="0" tIns="0" bIns="0">
            <a:spAutoFit/>
          </a:bodyPr>
          <a:lstStyle/>
          <a:p>
            <a:r>
              <a:rPr sz="1400" b="0">
                <a:solidFill>
                  <a:srgbClr val="14333F"/>
                </a:solidFill>
                <a:latin typeface="Bookman Old Style"/>
              </a:rPr>
              <a:t>Table</a:t>
            </a:r>
            <a:r>
              <a:rPr sz="1100" b="1">
                <a:solidFill>
                  <a:srgbClr val="1C7293"/>
                </a:solidFill>
                <a:latin typeface="Calibri"/>
              </a:rPr>
              <a:t>  ·  scored</a:t>
            </a:r>
          </a:p>
        </p:txBody>
      </p:sp>
      <p:sp>
        <p:nvSpPr>
          <p:cNvPr id="8" name="TextBox 7"/>
          <p:cNvSpPr txBox="1"/>
          <p:nvPr/>
        </p:nvSpPr>
        <p:spPr>
          <a:xfrm>
            <a:off x="749808" y="2651760"/>
            <a:ext cx="3529584" cy="749808"/>
          </a:xfrm>
          <a:prstGeom prst="rect">
            <a:avLst/>
          </a:prstGeom>
          <a:noFill/>
        </p:spPr>
        <p:txBody>
          <a:bodyPr wrap="square" lIns="0" rIns="0" tIns="0" bIns="0">
            <a:spAutoFit/>
          </a:bodyPr>
          <a:lstStyle/>
          <a:p>
            <a:pPr>
              <a:lnSpc>
                <a:spcPct val="105000"/>
              </a:lnSpc>
            </a:pPr>
            <a:r>
              <a:rPr sz="1100" b="0">
                <a:solidFill>
                  <a:srgbClr val="5B7782"/>
                </a:solidFill>
                <a:latin typeface="Calibri"/>
              </a:rPr>
              <a:t>Calculate from four inputs, or set a value manually. A reliability score for the whole table.</a:t>
            </a:r>
          </a:p>
        </p:txBody>
      </p:sp>
      <p:sp>
        <p:nvSpPr>
          <p:cNvPr id="9" name="Rounded Rectangle 8"/>
          <p:cNvSpPr/>
          <p:nvPr/>
        </p:nvSpPr>
        <p:spPr>
          <a:xfrm>
            <a:off x="4663440" y="2084831"/>
            <a:ext cx="3931920" cy="1371600"/>
          </a:xfrm>
          <a:prstGeom prst="roundRect">
            <a:avLst>
              <a:gd name="adj" fmla="val 5000"/>
            </a:avLst>
          </a:prstGeom>
          <a:solidFill>
            <a:srgbClr val="EEF6FA"/>
          </a:solidFill>
          <a:ln w="9525">
            <a:solidFill>
              <a:srgbClr val="D7E6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864607" y="2322576"/>
            <a:ext cx="146304" cy="146304"/>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120640" y="2231136"/>
            <a:ext cx="3291839" cy="365760"/>
          </a:xfrm>
          <a:prstGeom prst="rect">
            <a:avLst/>
          </a:prstGeom>
          <a:noFill/>
        </p:spPr>
        <p:txBody>
          <a:bodyPr wrap="square" lIns="0" rIns="0" tIns="0" bIns="0">
            <a:spAutoFit/>
          </a:bodyPr>
          <a:lstStyle/>
          <a:p>
            <a:r>
              <a:rPr sz="1400" b="0">
                <a:solidFill>
                  <a:srgbClr val="14333F"/>
                </a:solidFill>
                <a:latin typeface="Bookman Old Style"/>
              </a:rPr>
              <a:t>File</a:t>
            </a:r>
            <a:r>
              <a:rPr sz="1100" b="1">
                <a:solidFill>
                  <a:srgbClr val="1C7293"/>
                </a:solidFill>
                <a:latin typeface="Calibri"/>
              </a:rPr>
              <a:t>  ·  scored</a:t>
            </a:r>
          </a:p>
        </p:txBody>
      </p:sp>
      <p:sp>
        <p:nvSpPr>
          <p:cNvPr id="12" name="TextBox 11"/>
          <p:cNvSpPr txBox="1"/>
          <p:nvPr/>
        </p:nvSpPr>
        <p:spPr>
          <a:xfrm>
            <a:off x="4864607" y="2651760"/>
            <a:ext cx="3529584" cy="749808"/>
          </a:xfrm>
          <a:prstGeom prst="rect">
            <a:avLst/>
          </a:prstGeom>
          <a:noFill/>
        </p:spPr>
        <p:txBody>
          <a:bodyPr wrap="square" lIns="0" rIns="0" tIns="0" bIns="0">
            <a:spAutoFit/>
          </a:bodyPr>
          <a:lstStyle/>
          <a:p>
            <a:pPr>
              <a:lnSpc>
                <a:spcPct val="105000"/>
              </a:lnSpc>
            </a:pPr>
            <a:r>
              <a:rPr sz="1100" b="0">
                <a:solidFill>
                  <a:srgbClr val="5B7782"/>
                </a:solidFill>
                <a:latin typeface="Calibri"/>
              </a:rPr>
              <a:t>The unstructured twin of a table. Same four inputs; Data Quality comes from Data Discovery.</a:t>
            </a:r>
          </a:p>
        </p:txBody>
      </p:sp>
      <p:sp>
        <p:nvSpPr>
          <p:cNvPr id="13" name="Rounded Rectangle 12"/>
          <p:cNvSpPr/>
          <p:nvPr/>
        </p:nvSpPr>
        <p:spPr>
          <a:xfrm>
            <a:off x="548640" y="3566160"/>
            <a:ext cx="3931920" cy="1371600"/>
          </a:xfrm>
          <a:prstGeom prst="roundRect">
            <a:avLst>
              <a:gd name="adj" fmla="val 5000"/>
            </a:avLst>
          </a:prstGeom>
          <a:solidFill>
            <a:srgbClr val="EEF6FA"/>
          </a:solidFill>
          <a:ln w="9525">
            <a:solidFill>
              <a:srgbClr val="D7E6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49808" y="3803904"/>
            <a:ext cx="146304" cy="146304"/>
          </a:xfrm>
          <a:prstGeom prst="rect">
            <a:avLst/>
          </a:prstGeom>
          <a:solidFill>
            <a:srgbClr val="93A9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3712463"/>
            <a:ext cx="3291839" cy="365760"/>
          </a:xfrm>
          <a:prstGeom prst="rect">
            <a:avLst/>
          </a:prstGeom>
          <a:noFill/>
        </p:spPr>
        <p:txBody>
          <a:bodyPr wrap="square" lIns="0" rIns="0" tIns="0" bIns="0">
            <a:spAutoFit/>
          </a:bodyPr>
          <a:lstStyle/>
          <a:p>
            <a:r>
              <a:rPr sz="1400" b="0">
                <a:solidFill>
                  <a:srgbClr val="14333F"/>
                </a:solidFill>
                <a:latin typeface="Bookman Old Style"/>
              </a:rPr>
              <a:t>Column</a:t>
            </a:r>
            <a:r>
              <a:rPr sz="1100" b="1">
                <a:solidFill>
                  <a:srgbClr val="5B7782"/>
                </a:solidFill>
                <a:latin typeface="Calibri"/>
              </a:rPr>
              <a:t>  ·  not scored</a:t>
            </a:r>
          </a:p>
        </p:txBody>
      </p:sp>
      <p:sp>
        <p:nvSpPr>
          <p:cNvPr id="16" name="TextBox 15"/>
          <p:cNvSpPr txBox="1"/>
          <p:nvPr/>
        </p:nvSpPr>
        <p:spPr>
          <a:xfrm>
            <a:off x="749808" y="4133087"/>
            <a:ext cx="3529584" cy="749808"/>
          </a:xfrm>
          <a:prstGeom prst="rect">
            <a:avLst/>
          </a:prstGeom>
          <a:noFill/>
        </p:spPr>
        <p:txBody>
          <a:bodyPr wrap="square" lIns="0" rIns="0" tIns="0" bIns="0">
            <a:spAutoFit/>
          </a:bodyPr>
          <a:lstStyle/>
          <a:p>
            <a:pPr>
              <a:lnSpc>
                <a:spcPct val="105000"/>
              </a:lnSpc>
            </a:pPr>
            <a:r>
              <a:rPr sz="1100" b="0">
                <a:solidFill>
                  <a:srgbClr val="5B7782"/>
                </a:solidFill>
                <a:latin typeface="Calibri"/>
              </a:rPr>
              <a:t>Carries DQ, sensitivity, tags and term links — for governance and discovery. Any number must be authored via API / OpenSearch.</a:t>
            </a:r>
          </a:p>
        </p:txBody>
      </p:sp>
      <p:sp>
        <p:nvSpPr>
          <p:cNvPr id="17" name="Rounded Rectangle 16"/>
          <p:cNvSpPr/>
          <p:nvPr/>
        </p:nvSpPr>
        <p:spPr>
          <a:xfrm>
            <a:off x="4663440" y="3566160"/>
            <a:ext cx="3931920" cy="1371600"/>
          </a:xfrm>
          <a:prstGeom prst="roundRect">
            <a:avLst>
              <a:gd name="adj" fmla="val 5000"/>
            </a:avLst>
          </a:prstGeom>
          <a:solidFill>
            <a:srgbClr val="EEF6FA"/>
          </a:solidFill>
          <a:ln w="9525">
            <a:solidFill>
              <a:srgbClr val="D7E6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864607" y="3803904"/>
            <a:ext cx="146304" cy="146304"/>
          </a:xfrm>
          <a:prstGeom prst="rect">
            <a:avLst/>
          </a:prstGeom>
          <a:solidFill>
            <a:srgbClr val="93A9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120640" y="3712463"/>
            <a:ext cx="3291839" cy="365760"/>
          </a:xfrm>
          <a:prstGeom prst="rect">
            <a:avLst/>
          </a:prstGeom>
          <a:noFill/>
        </p:spPr>
        <p:txBody>
          <a:bodyPr wrap="square" lIns="0" rIns="0" tIns="0" bIns="0">
            <a:spAutoFit/>
          </a:bodyPr>
          <a:lstStyle/>
          <a:p>
            <a:r>
              <a:rPr sz="1400" b="0">
                <a:solidFill>
                  <a:srgbClr val="14333F"/>
                </a:solidFill>
                <a:latin typeface="Bookman Old Style"/>
              </a:rPr>
              <a:t>Folder</a:t>
            </a:r>
            <a:r>
              <a:rPr sz="1100" b="1">
                <a:solidFill>
                  <a:srgbClr val="5B7782"/>
                </a:solidFill>
                <a:latin typeface="Calibri"/>
              </a:rPr>
              <a:t>  ·  not scored</a:t>
            </a:r>
          </a:p>
        </p:txBody>
      </p:sp>
      <p:sp>
        <p:nvSpPr>
          <p:cNvPr id="20" name="TextBox 19"/>
          <p:cNvSpPr txBox="1"/>
          <p:nvPr/>
        </p:nvSpPr>
        <p:spPr>
          <a:xfrm>
            <a:off x="4864607" y="4133087"/>
            <a:ext cx="3529584" cy="749808"/>
          </a:xfrm>
          <a:prstGeom prst="rect">
            <a:avLst/>
          </a:prstGeom>
          <a:noFill/>
        </p:spPr>
        <p:txBody>
          <a:bodyPr wrap="square" lIns="0" rIns="0" tIns="0" bIns="0">
            <a:spAutoFit/>
          </a:bodyPr>
          <a:lstStyle/>
          <a:p>
            <a:pPr>
              <a:lnSpc>
                <a:spcPct val="105000"/>
              </a:lnSpc>
            </a:pPr>
            <a:r>
              <a:rPr sz="1100" b="0">
                <a:solidFill>
                  <a:srgbClr val="5B7782"/>
                </a:solidFill>
                <a:latin typeface="Calibri"/>
              </a:rPr>
              <a:t>A container above files, like a schema. Never carries a score.</a:t>
            </a:r>
          </a:p>
        </p:txBody>
      </p:sp>
      <p:sp>
        <p:nvSpPr>
          <p:cNvPr id="21" name="TextBox 20"/>
          <p:cNvSpPr txBox="1"/>
          <p:nvPr/>
        </p:nvSpPr>
        <p:spPr>
          <a:xfrm>
            <a:off x="548640" y="4828032"/>
            <a:ext cx="7315200" cy="274320"/>
          </a:xfrm>
          <a:prstGeom prst="rect">
            <a:avLst/>
          </a:prstGeom>
          <a:noFill/>
        </p:spPr>
        <p:txBody>
          <a:bodyPr wrap="square" lIns="0" rIns="0" tIns="0" bIns="0">
            <a:spAutoFit/>
          </a:bodyPr>
          <a:lstStyle/>
          <a:p>
            <a:r>
              <a:rPr sz="950" b="0">
                <a:solidFill>
                  <a:srgbClr val="5B7782"/>
                </a:solidFill>
                <a:latin typeface="Calibri"/>
              </a:rPr>
              <a:t>Workshop 3 · Build the Business Glossary</a:t>
            </a:r>
          </a:p>
        </p:txBody>
      </p:sp>
      <p:sp>
        <p:nvSpPr>
          <p:cNvPr id="22" name="TextBox 21"/>
          <p:cNvSpPr txBox="1"/>
          <p:nvPr/>
        </p:nvSpPr>
        <p:spPr>
          <a:xfrm>
            <a:off x="8366760" y="4828032"/>
            <a:ext cx="320040" cy="274320"/>
          </a:xfrm>
          <a:prstGeom prst="rect">
            <a:avLst/>
          </a:prstGeom>
          <a:noFill/>
        </p:spPr>
        <p:txBody>
          <a:bodyPr wrap="square" lIns="0" rIns="0" tIns="0" bIns="0">
            <a:spAutoFit/>
          </a:bodyPr>
          <a:lstStyle/>
          <a:p>
            <a:pPr algn="r"/>
            <a:r>
              <a:rPr sz="950" b="0">
                <a:solidFill>
                  <a:srgbClr val="5B7782"/>
                </a:solidFill>
                <a:latin typeface="Calibri"/>
              </a:rPr>
              <a:t>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1726</Words>
  <Application>Microsoft Office PowerPoint</Application>
  <PresentationFormat>On-screen Show (16:9)</PresentationFormat>
  <Paragraphs>187</Paragraphs>
  <Slides>10</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Bookman Old Style</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Workshop 2: Explore Data Structure &amp; Metadata</dc:title>
  <dc:subject>PptxGenJS Presentation</dc:subject>
  <dc:creator>Arizona Water Company - PDC BA Course</dc:creator>
  <cp:lastModifiedBy>James O'Reilly</cp:lastModifiedBy>
  <cp:revision>2</cp:revision>
  <dcterms:created xsi:type="dcterms:W3CDTF">2026-06-10T17:22:06Z</dcterms:created>
  <dcterms:modified xsi:type="dcterms:W3CDTF">2026-06-23T11:12:18Z</dcterms:modified>
</cp:coreProperties>
</file>