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Workshop 11, the final workshop. The navigation tree is precise but linear - it can't show how everything connects at a glance. Galaxy view renders the whole catalog as an interactive graph. Pentaho highlights this exact use: visually pinpointing sensitive data across a large database. Role: Business Analyst or Data Steward.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the galaxy consolidates - data sources, glossary, reference data, applications, policies, physical assets, metadata rules, all in one interface with the connections drawn. Show how to open it: the Galaxy item in the nav, or Actions, View Galaxy from a focused asset in the Data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right-click actions - this is how the galaxy becomes useful, not just pretty. View Details opens properties, tags, terms and lets you add terms. View Items shows parent and child in a tree. Select and Select Tree pick an asset or a whole related cluster. Focus isolates an asset and its children, Leave Focus steps back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AWC use case - filter to find PII visually. In Filters, set level of detail to Columns, then Show only Tagged Items and pick the PII tag. The galaxy now lights up exactly where personal data lives - name, email, phone, address - in one picture an auditor reads instantly. Show relationships restricts to foreign keys so they see how tables join.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whole course. A security officer asked 'show me everywhere we hold personal data' can answer in seconds here, where the tree takes dozens of clicks. The galaxy also reveals gaps - a sensitive-looking column with no PII tag stands out. Congratulate them: they can now govern AWC data end to end, from connection to visualisation.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6949440" y="-1463040"/>
            <a:ext cx="3840480" cy="3840480"/>
          </a:xfrm>
          <a:prstGeom prst="ellipse">
            <a:avLst/>
          </a:prstGeom>
          <a:solidFill>
            <a:srgbClr val="0A3D52"/>
          </a:solidFill>
          <a:ln/>
        </p:spPr>
      </p:sp>
      <p:sp>
        <p:nvSpPr>
          <p:cNvPr id="3" name="Shape 1"/>
          <p:cNvSpPr/>
          <p:nvPr/>
        </p:nvSpPr>
        <p:spPr>
          <a:xfrm>
            <a:off x="8138160" y="2651760"/>
            <a:ext cx="2377440" cy="2377440"/>
          </a:xfrm>
          <a:prstGeom prst="ellipse">
            <a:avLst/>
          </a:prstGeom>
          <a:solidFill>
            <a:srgbClr val="065A82">
              <a:alpha val="45000"/>
            </a:srgbClr>
          </a:solidFill>
          <a:ln/>
        </p:spPr>
      </p:sp>
      <p:sp>
        <p:nvSpPr>
          <p:cNvPr id="4" name="Shape 2"/>
          <p:cNvSpPr/>
          <p:nvPr/>
        </p:nvSpPr>
        <p:spPr>
          <a:xfrm>
            <a:off x="548640" y="566928"/>
            <a:ext cx="841248" cy="841248"/>
          </a:xfrm>
          <a:prstGeom prst="ellipse">
            <a:avLst/>
          </a:prstGeom>
          <a:solidFill>
            <a:srgbClr val="1C7293"/>
          </a:solidFill>
          <a:ln/>
        </p:spPr>
      </p:sp>
      <p:pic>
        <p:nvPicPr>
          <p:cNvPr id="5" name="Image 0" descr="preencoded.png"/>
          <p:cNvPicPr>
            <a:picLocks noChangeAspect="1"/>
          </p:cNvPicPr>
          <p:nvPr/>
        </p:nvPicPr>
        <p:blipFill>
          <a:blip r:embed="rId1"/>
          <a:stretch>
            <a:fillRect/>
          </a:stretch>
        </p:blipFill>
        <p:spPr>
          <a:xfrm>
            <a:off x="722376" y="740664"/>
            <a:ext cx="493776" cy="493776"/>
          </a:xfrm>
          <a:prstGeom prst="rect">
            <a:avLst/>
          </a:prstGeom>
        </p:spPr>
      </p:pic>
      <p:sp>
        <p:nvSpPr>
          <p:cNvPr id="6" name="Text 3"/>
          <p:cNvSpPr/>
          <p:nvPr/>
        </p:nvSpPr>
        <p:spPr>
          <a:xfrm>
            <a:off x="1554480" y="676656"/>
            <a:ext cx="68580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WORKSHOP 11 · 45 MINUTES · ADVANCED  ·  PDC · GALAXY VIEW</a:t>
            </a:r>
            <a:endParaRPr lang="en-US" sz="1400" dirty="0"/>
          </a:p>
        </p:txBody>
      </p:sp>
      <p:sp>
        <p:nvSpPr>
          <p:cNvPr id="7" name="Text 4"/>
          <p:cNvSpPr/>
          <p:nvPr/>
        </p:nvSpPr>
        <p:spPr>
          <a:xfrm>
            <a:off x="548640" y="1737360"/>
            <a:ext cx="8138160" cy="1737360"/>
          </a:xfrm>
          <a:prstGeom prst="rect">
            <a:avLst/>
          </a:prstGeom>
          <a:noFill/>
          <a:ln/>
        </p:spPr>
        <p:txBody>
          <a:bodyPr wrap="square" lIns="0" tIns="0" rIns="0" bIns="0" rtlCol="0" anchor="ctr"/>
          <a:lstStyle/>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Explore the Catalog</a:t>
            </a:r>
            <a:endParaRPr lang="en-US" sz="4000" dirty="0"/>
          </a:p>
          <a:p>
            <a:pPr indent="0" marL="0">
              <a:lnSpc>
                <a:spcPct val="98000"/>
              </a:lnSpc>
              <a:buNone/>
            </a:pPr>
            <a:r>
              <a:rPr lang="en-US" sz="4000" b="1" dirty="0">
                <a:solidFill>
                  <a:srgbClr val="FFFFFF"/>
                </a:solidFill>
                <a:latin typeface="Bookman Old Style" pitchFamily="34" charset="0"/>
                <a:ea typeface="Bookman Old Style" pitchFamily="34" charset="-122"/>
                <a:cs typeface="Bookman Old Style" pitchFamily="34" charset="-120"/>
              </a:rPr>
              <a:t>with Galaxy View</a:t>
            </a:r>
            <a:endParaRPr lang="en-US" sz="4000" dirty="0"/>
          </a:p>
        </p:txBody>
      </p:sp>
      <p:sp>
        <p:nvSpPr>
          <p:cNvPr id="8" name="Text 5"/>
          <p:cNvSpPr/>
          <p:nvPr/>
        </p:nvSpPr>
        <p:spPr>
          <a:xfrm>
            <a:off x="566928" y="3520440"/>
            <a:ext cx="7863840" cy="914400"/>
          </a:xfrm>
          <a:prstGeom prst="rect">
            <a:avLst/>
          </a:prstGeom>
          <a:noFill/>
          <a:ln/>
        </p:spPr>
        <p:txBody>
          <a:bodyPr wrap="square" lIns="0" tIns="0" rIns="0" bIns="0" rtlCol="0" anchor="ctr"/>
          <a:lstStyle/>
          <a:p>
            <a:pPr indent="0" marL="0">
              <a:lnSpc>
                <a:spcPct val="105000"/>
              </a:lnSpc>
              <a:buNone/>
            </a:pPr>
            <a:r>
              <a:rPr lang="en-US" sz="1800" dirty="0">
                <a:solidFill>
                  <a:srgbClr val="DCEEF5"/>
                </a:solidFill>
                <a:latin typeface="Calibri" pitchFamily="34" charset="0"/>
                <a:ea typeface="Calibri" pitchFamily="34" charset="-122"/>
                <a:cs typeface="Calibri" pitchFamily="34" charset="-120"/>
              </a:rPr>
              <a:t>See AWC's entire data ecosystem as one interactive graph — and locate every piece of personal data at a glance.</a:t>
            </a:r>
            <a:endParaRPr lang="en-US" sz="1800" dirty="0"/>
          </a:p>
        </p:txBody>
      </p:sp>
      <p:sp>
        <p:nvSpPr>
          <p:cNvPr id="9" name="Text 6"/>
          <p:cNvSpPr/>
          <p:nvPr/>
        </p:nvSpPr>
        <p:spPr>
          <a:xfrm>
            <a:off x="566928" y="4626864"/>
            <a:ext cx="8046720" cy="365760"/>
          </a:xfrm>
          <a:prstGeom prst="rect">
            <a:avLst/>
          </a:prstGeom>
          <a:noFill/>
          <a:ln/>
        </p:spPr>
        <p:txBody>
          <a:bodyPr wrap="square" lIns="0" tIns="0" rIns="0" bIns="0" rtlCol="0" anchor="ctr"/>
          <a:lstStyle/>
          <a:p>
            <a:pPr indent="0" marL="0">
              <a:buNone/>
            </a:pPr>
            <a:r>
              <a:rPr lang="en-US" sz="1200" dirty="0">
                <a:solidFill>
                  <a:srgbClr val="5B7782"/>
                </a:solidFill>
                <a:latin typeface="Calibri" pitchFamily="34" charset="0"/>
                <a:ea typeface="Calibri" pitchFamily="34" charset="-122"/>
                <a:cs typeface="Calibri" pitchFamily="34" charset="-120"/>
              </a:rPr>
              <a:t>Pentaho Data Catalog 10.2.11  ·  Galaxy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ONE UNIFIED VIEW</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Everything, connected</a:t>
            </a:r>
            <a:endParaRPr lang="en-US" sz="2700" dirty="0"/>
          </a:p>
        </p:txBody>
      </p:sp>
      <p:sp>
        <p:nvSpPr>
          <p:cNvPr id="4" name="Shape 2"/>
          <p:cNvSpPr/>
          <p:nvPr/>
        </p:nvSpPr>
        <p:spPr>
          <a:xfrm>
            <a:off x="548640" y="1499616"/>
            <a:ext cx="2542032" cy="1371600"/>
          </a:xfrm>
          <a:prstGeom prst="roundRect">
            <a:avLst>
              <a:gd name="adj" fmla="val 6000"/>
            </a:avLst>
          </a:prstGeom>
          <a:solidFill>
            <a:srgbClr val="EEF6FA"/>
          </a:solidFill>
          <a:ln/>
          <a:effectLst>
            <a:outerShdw sx="100000" sy="100000" kx="0" ky="0" algn="bl" rotWithShape="0" blurRad="76200" dist="25400" dir="5400000">
              <a:srgbClr val="0A3D52">
                <a:alpha val="10000"/>
              </a:srgbClr>
            </a:outerShdw>
          </a:effectLst>
        </p:spPr>
      </p:sp>
      <p:sp>
        <p:nvSpPr>
          <p:cNvPr id="5" name="Shape 3"/>
          <p:cNvSpPr/>
          <p:nvPr/>
        </p:nvSpPr>
        <p:spPr>
          <a:xfrm>
            <a:off x="768096" y="1719072"/>
            <a:ext cx="530352" cy="530352"/>
          </a:xfrm>
          <a:prstGeom prst="ellipse">
            <a:avLst/>
          </a:prstGeom>
          <a:solidFill>
            <a:srgbClr val="1C7293"/>
          </a:solidFill>
          <a:ln/>
        </p:spPr>
      </p:sp>
      <p:pic>
        <p:nvPicPr>
          <p:cNvPr id="6" name="Image 0" descr="preencoded.png"/>
          <p:cNvPicPr>
            <a:picLocks noChangeAspect="1"/>
          </p:cNvPicPr>
          <p:nvPr/>
        </p:nvPicPr>
        <p:blipFill>
          <a:blip r:embed="rId1"/>
          <a:stretch>
            <a:fillRect/>
          </a:stretch>
        </p:blipFill>
        <p:spPr>
          <a:xfrm>
            <a:off x="891540" y="1842516"/>
            <a:ext cx="274320" cy="274320"/>
          </a:xfrm>
          <a:prstGeom prst="rect">
            <a:avLst/>
          </a:prstGeom>
        </p:spPr>
      </p:pic>
      <p:sp>
        <p:nvSpPr>
          <p:cNvPr id="7" name="Text 4"/>
          <p:cNvSpPr/>
          <p:nvPr/>
        </p:nvSpPr>
        <p:spPr>
          <a:xfrm>
            <a:off x="768096" y="2340864"/>
            <a:ext cx="2194560" cy="274320"/>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Data sources</a:t>
            </a:r>
            <a:endParaRPr lang="en-US" sz="1350" dirty="0"/>
          </a:p>
        </p:txBody>
      </p:sp>
      <p:sp>
        <p:nvSpPr>
          <p:cNvPr id="8" name="Text 5"/>
          <p:cNvSpPr/>
          <p:nvPr/>
        </p:nvSpPr>
        <p:spPr>
          <a:xfrm>
            <a:off x="768096" y="2596896"/>
            <a:ext cx="2240280" cy="237744"/>
          </a:xfrm>
          <a:prstGeom prst="rect">
            <a:avLst/>
          </a:prstGeom>
          <a:noFill/>
          <a:ln/>
        </p:spPr>
        <p:txBody>
          <a:bodyPr wrap="square" lIns="0" tIns="0" rIns="0" bIns="0" rtlCol="0" anchor="ctr"/>
          <a:lstStyle/>
          <a:p>
            <a:pPr indent="0" marL="0">
              <a:buNone/>
            </a:pPr>
            <a:r>
              <a:rPr lang="en-US" sz="900" dirty="0">
                <a:solidFill>
                  <a:srgbClr val="5B7782"/>
                </a:solidFill>
                <a:latin typeface="Calibri" pitchFamily="34" charset="0"/>
                <a:ea typeface="Calibri" pitchFamily="34" charset="-122"/>
                <a:cs typeface="Calibri" pitchFamily="34" charset="-120"/>
              </a:rPr>
              <a:t>Databases, tables, columns</a:t>
            </a:r>
            <a:endParaRPr lang="en-US" sz="900" dirty="0"/>
          </a:p>
        </p:txBody>
      </p:sp>
      <p:sp>
        <p:nvSpPr>
          <p:cNvPr id="9" name="Shape 6"/>
          <p:cNvSpPr/>
          <p:nvPr/>
        </p:nvSpPr>
        <p:spPr>
          <a:xfrm>
            <a:off x="3264408" y="1499616"/>
            <a:ext cx="2542032" cy="1371600"/>
          </a:xfrm>
          <a:prstGeom prst="roundRect">
            <a:avLst>
              <a:gd name="adj" fmla="val 6000"/>
            </a:avLst>
          </a:prstGeom>
          <a:solidFill>
            <a:srgbClr val="EEF6FA"/>
          </a:solidFill>
          <a:ln/>
          <a:effectLst>
            <a:outerShdw sx="100000" sy="100000" kx="0" ky="0" algn="bl" rotWithShape="0" blurRad="76200" dist="25400" dir="5400000">
              <a:srgbClr val="0A3D52">
                <a:alpha val="10000"/>
              </a:srgbClr>
            </a:outerShdw>
          </a:effectLst>
        </p:spPr>
      </p:sp>
      <p:sp>
        <p:nvSpPr>
          <p:cNvPr id="10" name="Shape 7"/>
          <p:cNvSpPr/>
          <p:nvPr/>
        </p:nvSpPr>
        <p:spPr>
          <a:xfrm>
            <a:off x="3483864" y="1719072"/>
            <a:ext cx="530352" cy="530352"/>
          </a:xfrm>
          <a:prstGeom prst="ellipse">
            <a:avLst/>
          </a:prstGeom>
          <a:solidFill>
            <a:srgbClr val="1C7293"/>
          </a:solidFill>
          <a:ln/>
        </p:spPr>
      </p:sp>
      <p:pic>
        <p:nvPicPr>
          <p:cNvPr id="11" name="Image 1" descr="preencoded.png"/>
          <p:cNvPicPr>
            <a:picLocks noChangeAspect="1"/>
          </p:cNvPicPr>
          <p:nvPr/>
        </p:nvPicPr>
        <p:blipFill>
          <a:blip r:embed="rId2"/>
          <a:stretch>
            <a:fillRect/>
          </a:stretch>
        </p:blipFill>
        <p:spPr>
          <a:xfrm>
            <a:off x="3607308" y="1842516"/>
            <a:ext cx="274320" cy="274320"/>
          </a:xfrm>
          <a:prstGeom prst="rect">
            <a:avLst/>
          </a:prstGeom>
        </p:spPr>
      </p:pic>
      <p:sp>
        <p:nvSpPr>
          <p:cNvPr id="12" name="Text 8"/>
          <p:cNvSpPr/>
          <p:nvPr/>
        </p:nvSpPr>
        <p:spPr>
          <a:xfrm>
            <a:off x="3483864" y="2340864"/>
            <a:ext cx="2194560" cy="274320"/>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Business glossary</a:t>
            </a:r>
            <a:endParaRPr lang="en-US" sz="1350" dirty="0"/>
          </a:p>
        </p:txBody>
      </p:sp>
      <p:sp>
        <p:nvSpPr>
          <p:cNvPr id="13" name="Text 9"/>
          <p:cNvSpPr/>
          <p:nvPr/>
        </p:nvSpPr>
        <p:spPr>
          <a:xfrm>
            <a:off x="3483864" y="2596896"/>
            <a:ext cx="2240280" cy="237744"/>
          </a:xfrm>
          <a:prstGeom prst="rect">
            <a:avLst/>
          </a:prstGeom>
          <a:noFill/>
          <a:ln/>
        </p:spPr>
        <p:txBody>
          <a:bodyPr wrap="square" lIns="0" tIns="0" rIns="0" bIns="0" rtlCol="0" anchor="ctr"/>
          <a:lstStyle/>
          <a:p>
            <a:pPr indent="0" marL="0">
              <a:buNone/>
            </a:pPr>
            <a:r>
              <a:rPr lang="en-US" sz="900" dirty="0">
                <a:solidFill>
                  <a:srgbClr val="5B7782"/>
                </a:solidFill>
                <a:latin typeface="Calibri" pitchFamily="34" charset="0"/>
                <a:ea typeface="Calibri" pitchFamily="34" charset="-122"/>
                <a:cs typeface="Calibri" pitchFamily="34" charset="-120"/>
              </a:rPr>
              <a:t>Glossaries, categories, terms</a:t>
            </a:r>
            <a:endParaRPr lang="en-US" sz="900" dirty="0"/>
          </a:p>
        </p:txBody>
      </p:sp>
      <p:sp>
        <p:nvSpPr>
          <p:cNvPr id="14" name="Shape 10"/>
          <p:cNvSpPr/>
          <p:nvPr/>
        </p:nvSpPr>
        <p:spPr>
          <a:xfrm>
            <a:off x="5980176" y="1499616"/>
            <a:ext cx="2542032" cy="1371600"/>
          </a:xfrm>
          <a:prstGeom prst="roundRect">
            <a:avLst>
              <a:gd name="adj" fmla="val 6000"/>
            </a:avLst>
          </a:prstGeom>
          <a:solidFill>
            <a:srgbClr val="EEF6FA"/>
          </a:solidFill>
          <a:ln/>
          <a:effectLst>
            <a:outerShdw sx="100000" sy="100000" kx="0" ky="0" algn="bl" rotWithShape="0" blurRad="76200" dist="25400" dir="5400000">
              <a:srgbClr val="0A3D52">
                <a:alpha val="10000"/>
              </a:srgbClr>
            </a:outerShdw>
          </a:effectLst>
        </p:spPr>
      </p:sp>
      <p:sp>
        <p:nvSpPr>
          <p:cNvPr id="15" name="Shape 11"/>
          <p:cNvSpPr/>
          <p:nvPr/>
        </p:nvSpPr>
        <p:spPr>
          <a:xfrm>
            <a:off x="6199632" y="1719072"/>
            <a:ext cx="530352" cy="530352"/>
          </a:xfrm>
          <a:prstGeom prst="ellipse">
            <a:avLst/>
          </a:prstGeom>
          <a:solidFill>
            <a:srgbClr val="1C7293"/>
          </a:solidFill>
          <a:ln/>
        </p:spPr>
      </p:sp>
      <p:pic>
        <p:nvPicPr>
          <p:cNvPr id="16" name="Image 2" descr="preencoded.png"/>
          <p:cNvPicPr>
            <a:picLocks noChangeAspect="1"/>
          </p:cNvPicPr>
          <p:nvPr/>
        </p:nvPicPr>
        <p:blipFill>
          <a:blip r:embed="rId3"/>
          <a:stretch>
            <a:fillRect/>
          </a:stretch>
        </p:blipFill>
        <p:spPr>
          <a:xfrm>
            <a:off x="6323076" y="1842516"/>
            <a:ext cx="274320" cy="274320"/>
          </a:xfrm>
          <a:prstGeom prst="rect">
            <a:avLst/>
          </a:prstGeom>
        </p:spPr>
      </p:pic>
      <p:sp>
        <p:nvSpPr>
          <p:cNvPr id="17" name="Text 12"/>
          <p:cNvSpPr/>
          <p:nvPr/>
        </p:nvSpPr>
        <p:spPr>
          <a:xfrm>
            <a:off x="6199632" y="2340864"/>
            <a:ext cx="2194560" cy="274320"/>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Reference data</a:t>
            </a:r>
            <a:endParaRPr lang="en-US" sz="1350" dirty="0"/>
          </a:p>
        </p:txBody>
      </p:sp>
      <p:sp>
        <p:nvSpPr>
          <p:cNvPr id="18" name="Text 13"/>
          <p:cNvSpPr/>
          <p:nvPr/>
        </p:nvSpPr>
        <p:spPr>
          <a:xfrm>
            <a:off x="6199632" y="2596896"/>
            <a:ext cx="2240280" cy="237744"/>
          </a:xfrm>
          <a:prstGeom prst="rect">
            <a:avLst/>
          </a:prstGeom>
          <a:noFill/>
          <a:ln/>
        </p:spPr>
        <p:txBody>
          <a:bodyPr wrap="square" lIns="0" tIns="0" rIns="0" bIns="0" rtlCol="0" anchor="ctr"/>
          <a:lstStyle/>
          <a:p>
            <a:pPr indent="0" marL="0">
              <a:buNone/>
            </a:pPr>
            <a:r>
              <a:rPr lang="en-US" sz="900" dirty="0">
                <a:solidFill>
                  <a:srgbClr val="5B7782"/>
                </a:solidFill>
                <a:latin typeface="Calibri" pitchFamily="34" charset="0"/>
                <a:ea typeface="Calibri" pitchFamily="34" charset="-122"/>
                <a:cs typeface="Calibri" pitchFamily="34" charset="-120"/>
              </a:rPr>
              <a:t>Authoritative data sets</a:t>
            </a:r>
            <a:endParaRPr lang="en-US" sz="900" dirty="0"/>
          </a:p>
        </p:txBody>
      </p:sp>
      <p:sp>
        <p:nvSpPr>
          <p:cNvPr id="19" name="Shape 14"/>
          <p:cNvSpPr/>
          <p:nvPr/>
        </p:nvSpPr>
        <p:spPr>
          <a:xfrm>
            <a:off x="548640" y="3017520"/>
            <a:ext cx="2542032" cy="1371600"/>
          </a:xfrm>
          <a:prstGeom prst="roundRect">
            <a:avLst>
              <a:gd name="adj" fmla="val 6000"/>
            </a:avLst>
          </a:prstGeom>
          <a:solidFill>
            <a:srgbClr val="EEF6FA"/>
          </a:solidFill>
          <a:ln/>
          <a:effectLst>
            <a:outerShdw sx="100000" sy="100000" kx="0" ky="0" algn="bl" rotWithShape="0" blurRad="76200" dist="25400" dir="5400000">
              <a:srgbClr val="0A3D52">
                <a:alpha val="10000"/>
              </a:srgbClr>
            </a:outerShdw>
          </a:effectLst>
        </p:spPr>
      </p:sp>
      <p:sp>
        <p:nvSpPr>
          <p:cNvPr id="20" name="Shape 15"/>
          <p:cNvSpPr/>
          <p:nvPr/>
        </p:nvSpPr>
        <p:spPr>
          <a:xfrm>
            <a:off x="768096" y="3236976"/>
            <a:ext cx="530352" cy="530352"/>
          </a:xfrm>
          <a:prstGeom prst="ellipse">
            <a:avLst/>
          </a:prstGeom>
          <a:solidFill>
            <a:srgbClr val="1C7293"/>
          </a:solidFill>
          <a:ln/>
        </p:spPr>
      </p:sp>
      <p:pic>
        <p:nvPicPr>
          <p:cNvPr id="21" name="Image 3" descr="preencoded.png"/>
          <p:cNvPicPr>
            <a:picLocks noChangeAspect="1"/>
          </p:cNvPicPr>
          <p:nvPr/>
        </p:nvPicPr>
        <p:blipFill>
          <a:blip r:embed="rId4"/>
          <a:stretch>
            <a:fillRect/>
          </a:stretch>
        </p:blipFill>
        <p:spPr>
          <a:xfrm>
            <a:off x="891540" y="3360420"/>
            <a:ext cx="274320" cy="274320"/>
          </a:xfrm>
          <a:prstGeom prst="rect">
            <a:avLst/>
          </a:prstGeom>
        </p:spPr>
      </p:pic>
      <p:sp>
        <p:nvSpPr>
          <p:cNvPr id="22" name="Text 16"/>
          <p:cNvSpPr/>
          <p:nvPr/>
        </p:nvSpPr>
        <p:spPr>
          <a:xfrm>
            <a:off x="768096" y="3858768"/>
            <a:ext cx="2194560" cy="274320"/>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Policies</a:t>
            </a:r>
            <a:endParaRPr lang="en-US" sz="1350" dirty="0"/>
          </a:p>
        </p:txBody>
      </p:sp>
      <p:sp>
        <p:nvSpPr>
          <p:cNvPr id="23" name="Text 17"/>
          <p:cNvSpPr/>
          <p:nvPr/>
        </p:nvSpPr>
        <p:spPr>
          <a:xfrm>
            <a:off x="768096" y="4114800"/>
            <a:ext cx="2240280" cy="237744"/>
          </a:xfrm>
          <a:prstGeom prst="rect">
            <a:avLst/>
          </a:prstGeom>
          <a:noFill/>
          <a:ln/>
        </p:spPr>
        <p:txBody>
          <a:bodyPr wrap="square" lIns="0" tIns="0" rIns="0" bIns="0" rtlCol="0" anchor="ctr"/>
          <a:lstStyle/>
          <a:p>
            <a:pPr indent="0" marL="0">
              <a:buNone/>
            </a:pPr>
            <a:r>
              <a:rPr lang="en-US" sz="900" dirty="0">
                <a:solidFill>
                  <a:srgbClr val="5B7782"/>
                </a:solidFill>
                <a:latin typeface="Calibri" pitchFamily="34" charset="0"/>
                <a:ea typeface="Calibri" pitchFamily="34" charset="-122"/>
                <a:cs typeface="Calibri" pitchFamily="34" charset="-120"/>
              </a:rPr>
              <a:t>Governance &amp; standards</a:t>
            </a:r>
            <a:endParaRPr lang="en-US" sz="900" dirty="0"/>
          </a:p>
        </p:txBody>
      </p:sp>
      <p:sp>
        <p:nvSpPr>
          <p:cNvPr id="24" name="Shape 18"/>
          <p:cNvSpPr/>
          <p:nvPr/>
        </p:nvSpPr>
        <p:spPr>
          <a:xfrm>
            <a:off x="3264408" y="3017520"/>
            <a:ext cx="2542032" cy="1371600"/>
          </a:xfrm>
          <a:prstGeom prst="roundRect">
            <a:avLst>
              <a:gd name="adj" fmla="val 6000"/>
            </a:avLst>
          </a:prstGeom>
          <a:solidFill>
            <a:srgbClr val="EEF6FA"/>
          </a:solidFill>
          <a:ln/>
          <a:effectLst>
            <a:outerShdw sx="100000" sy="100000" kx="0" ky="0" algn="bl" rotWithShape="0" blurRad="76200" dist="25400" dir="5400000">
              <a:srgbClr val="0A3D52">
                <a:alpha val="10000"/>
              </a:srgbClr>
            </a:outerShdw>
          </a:effectLst>
        </p:spPr>
      </p:sp>
      <p:sp>
        <p:nvSpPr>
          <p:cNvPr id="25" name="Shape 19"/>
          <p:cNvSpPr/>
          <p:nvPr/>
        </p:nvSpPr>
        <p:spPr>
          <a:xfrm>
            <a:off x="3483864" y="3236976"/>
            <a:ext cx="530352" cy="530352"/>
          </a:xfrm>
          <a:prstGeom prst="ellipse">
            <a:avLst/>
          </a:prstGeom>
          <a:solidFill>
            <a:srgbClr val="1C7293"/>
          </a:solidFill>
          <a:ln/>
        </p:spPr>
      </p:sp>
      <p:pic>
        <p:nvPicPr>
          <p:cNvPr id="26" name="Image 4" descr="preencoded.png"/>
          <p:cNvPicPr>
            <a:picLocks noChangeAspect="1"/>
          </p:cNvPicPr>
          <p:nvPr/>
        </p:nvPicPr>
        <p:blipFill>
          <a:blip r:embed="rId5"/>
          <a:stretch>
            <a:fillRect/>
          </a:stretch>
        </p:blipFill>
        <p:spPr>
          <a:xfrm>
            <a:off x="3607308" y="3360420"/>
            <a:ext cx="274320" cy="274320"/>
          </a:xfrm>
          <a:prstGeom prst="rect">
            <a:avLst/>
          </a:prstGeom>
        </p:spPr>
      </p:pic>
      <p:sp>
        <p:nvSpPr>
          <p:cNvPr id="27" name="Text 20"/>
          <p:cNvSpPr/>
          <p:nvPr/>
        </p:nvSpPr>
        <p:spPr>
          <a:xfrm>
            <a:off x="3483864" y="3858768"/>
            <a:ext cx="2194560" cy="274320"/>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Physical assets</a:t>
            </a:r>
            <a:endParaRPr lang="en-US" sz="1350" dirty="0"/>
          </a:p>
        </p:txBody>
      </p:sp>
      <p:sp>
        <p:nvSpPr>
          <p:cNvPr id="28" name="Text 21"/>
          <p:cNvSpPr/>
          <p:nvPr/>
        </p:nvSpPr>
        <p:spPr>
          <a:xfrm>
            <a:off x="3483864" y="4114800"/>
            <a:ext cx="2240280" cy="237744"/>
          </a:xfrm>
          <a:prstGeom prst="rect">
            <a:avLst/>
          </a:prstGeom>
          <a:noFill/>
          <a:ln/>
        </p:spPr>
        <p:txBody>
          <a:bodyPr wrap="square" lIns="0" tIns="0" rIns="0" bIns="0" rtlCol="0" anchor="ctr"/>
          <a:lstStyle/>
          <a:p>
            <a:pPr indent="0" marL="0">
              <a:buNone/>
            </a:pPr>
            <a:r>
              <a:rPr lang="en-US" sz="900" dirty="0">
                <a:solidFill>
                  <a:srgbClr val="5B7782"/>
                </a:solidFill>
                <a:latin typeface="Calibri" pitchFamily="34" charset="0"/>
                <a:ea typeface="Calibri" pitchFamily="34" charset="-122"/>
                <a:cs typeface="Calibri" pitchFamily="34" charset="-120"/>
              </a:rPr>
              <a:t>Asset hierarchy</a:t>
            </a:r>
            <a:endParaRPr lang="en-US" sz="900" dirty="0"/>
          </a:p>
        </p:txBody>
      </p:sp>
      <p:sp>
        <p:nvSpPr>
          <p:cNvPr id="29" name="Shape 22"/>
          <p:cNvSpPr/>
          <p:nvPr/>
        </p:nvSpPr>
        <p:spPr>
          <a:xfrm>
            <a:off x="5980176" y="3017520"/>
            <a:ext cx="2542032" cy="1371600"/>
          </a:xfrm>
          <a:prstGeom prst="roundRect">
            <a:avLst>
              <a:gd name="adj" fmla="val 6000"/>
            </a:avLst>
          </a:prstGeom>
          <a:solidFill>
            <a:srgbClr val="EEF6FA"/>
          </a:solidFill>
          <a:ln/>
          <a:effectLst>
            <a:outerShdw sx="100000" sy="100000" kx="0" ky="0" algn="bl" rotWithShape="0" blurRad="76200" dist="25400" dir="5400000">
              <a:srgbClr val="0A3D52">
                <a:alpha val="10000"/>
              </a:srgbClr>
            </a:outerShdw>
          </a:effectLst>
        </p:spPr>
      </p:sp>
      <p:sp>
        <p:nvSpPr>
          <p:cNvPr id="30" name="Shape 23"/>
          <p:cNvSpPr/>
          <p:nvPr/>
        </p:nvSpPr>
        <p:spPr>
          <a:xfrm>
            <a:off x="6199632" y="3236976"/>
            <a:ext cx="530352" cy="530352"/>
          </a:xfrm>
          <a:prstGeom prst="ellipse">
            <a:avLst/>
          </a:prstGeom>
          <a:solidFill>
            <a:srgbClr val="1C7293"/>
          </a:solidFill>
          <a:ln/>
        </p:spPr>
      </p:sp>
      <p:pic>
        <p:nvPicPr>
          <p:cNvPr id="31" name="Image 5" descr="preencoded.png"/>
          <p:cNvPicPr>
            <a:picLocks noChangeAspect="1"/>
          </p:cNvPicPr>
          <p:nvPr/>
        </p:nvPicPr>
        <p:blipFill>
          <a:blip r:embed="rId6"/>
          <a:stretch>
            <a:fillRect/>
          </a:stretch>
        </p:blipFill>
        <p:spPr>
          <a:xfrm>
            <a:off x="6323076" y="3360420"/>
            <a:ext cx="274320" cy="274320"/>
          </a:xfrm>
          <a:prstGeom prst="rect">
            <a:avLst/>
          </a:prstGeom>
        </p:spPr>
      </p:pic>
      <p:sp>
        <p:nvSpPr>
          <p:cNvPr id="32" name="Text 24"/>
          <p:cNvSpPr/>
          <p:nvPr/>
        </p:nvSpPr>
        <p:spPr>
          <a:xfrm>
            <a:off x="6199632" y="3858768"/>
            <a:ext cx="2194560" cy="274320"/>
          </a:xfrm>
          <a:prstGeom prst="rect">
            <a:avLst/>
          </a:prstGeom>
          <a:noFill/>
          <a:ln/>
        </p:spPr>
        <p:txBody>
          <a:bodyPr wrap="square" lIns="0" tIns="0" rIns="0" bIns="0" rtlCol="0" anchor="ctr"/>
          <a:lstStyle/>
          <a:p>
            <a:pPr indent="0" marL="0">
              <a:buNone/>
            </a:pPr>
            <a:r>
              <a:rPr lang="en-US" sz="1350" b="1" dirty="0">
                <a:solidFill>
                  <a:srgbClr val="14333F"/>
                </a:solidFill>
                <a:latin typeface="Bookman Old Style" pitchFamily="34" charset="0"/>
                <a:ea typeface="Bookman Old Style" pitchFamily="34" charset="-122"/>
                <a:cs typeface="Bookman Old Style" pitchFamily="34" charset="-120"/>
              </a:rPr>
              <a:t>Metadata rules</a:t>
            </a:r>
            <a:endParaRPr lang="en-US" sz="1350" dirty="0"/>
          </a:p>
        </p:txBody>
      </p:sp>
      <p:sp>
        <p:nvSpPr>
          <p:cNvPr id="33" name="Text 25"/>
          <p:cNvSpPr/>
          <p:nvPr/>
        </p:nvSpPr>
        <p:spPr>
          <a:xfrm>
            <a:off x="6199632" y="4114800"/>
            <a:ext cx="2240280" cy="237744"/>
          </a:xfrm>
          <a:prstGeom prst="rect">
            <a:avLst/>
          </a:prstGeom>
          <a:noFill/>
          <a:ln/>
        </p:spPr>
        <p:txBody>
          <a:bodyPr wrap="square" lIns="0" tIns="0" rIns="0" bIns="0" rtlCol="0" anchor="ctr"/>
          <a:lstStyle/>
          <a:p>
            <a:pPr indent="0" marL="0">
              <a:buNone/>
            </a:pPr>
            <a:r>
              <a:rPr lang="en-US" sz="900" dirty="0">
                <a:solidFill>
                  <a:srgbClr val="5B7782"/>
                </a:solidFill>
                <a:latin typeface="Calibri" pitchFamily="34" charset="0"/>
                <a:ea typeface="Calibri" pitchFamily="34" charset="-122"/>
                <a:cs typeface="Calibri" pitchFamily="34" charset="-120"/>
              </a:rPr>
              <a:t>Structure &amp; governance</a:t>
            </a:r>
            <a:endParaRPr lang="en-US" sz="900" dirty="0"/>
          </a:p>
        </p:txBody>
      </p:sp>
      <p:sp>
        <p:nvSpPr>
          <p:cNvPr id="34" name="Text 26"/>
          <p:cNvSpPr/>
          <p:nvPr/>
        </p:nvSpPr>
        <p:spPr>
          <a:xfrm>
            <a:off x="548640" y="4736592"/>
            <a:ext cx="8046720" cy="274320"/>
          </a:xfrm>
          <a:prstGeom prst="rect">
            <a:avLst/>
          </a:prstGeom>
          <a:noFill/>
          <a:ln/>
        </p:spPr>
        <p:txBody>
          <a:bodyPr wrap="square" lIns="0" tIns="0" rIns="0" bIns="0" rtlCol="0" anchor="ctr"/>
          <a:lstStyle/>
          <a:p>
            <a:pPr indent="0" marL="0">
              <a:buNone/>
            </a:pPr>
            <a:r>
              <a:rPr lang="en-US" sz="1000" i="1" dirty="0">
                <a:solidFill>
                  <a:srgbClr val="5B7782"/>
                </a:solidFill>
                <a:latin typeface="Calibri" pitchFamily="34" charset="0"/>
                <a:ea typeface="Calibri" pitchFamily="34" charset="-122"/>
                <a:cs typeface="Calibri" pitchFamily="34" charset="-120"/>
              </a:rPr>
              <a:t>Open it from the Galaxy nav item, or Actions → View Galaxy on a focused asset in the Data Canvas.</a:t>
            </a:r>
            <a:endParaRPr lang="en-US" sz="1000" dirty="0"/>
          </a:p>
        </p:txBody>
      </p:sp>
      <p:sp>
        <p:nvSpPr>
          <p:cNvPr id="35" name="Text 27"/>
          <p:cNvSpPr/>
          <p:nvPr/>
        </p:nvSpPr>
        <p:spPr>
          <a:xfrm>
            <a:off x="548640" y="4828032"/>
            <a:ext cx="7315200" cy="274320"/>
          </a:xfrm>
          <a:prstGeom prst="rect">
            <a:avLst/>
          </a:prstGeom>
          <a:noFill/>
          <a:ln/>
        </p:spPr>
        <p:txBody>
          <a:bodyPr wrap="square" lIns="0" tIns="0" rIns="0" bIns="0" rtlCol="0" anchor="ctr"/>
          <a:lstStyle/>
          <a:p>
            <a:pPr indent="0" marL="0">
              <a:buNone/>
            </a:pPr>
            <a:endParaRPr lang="en-US" sz="950" dirty="0"/>
          </a:p>
        </p:txBody>
      </p:sp>
      <p:sp>
        <p:nvSpPr>
          <p:cNvPr id="36" name="Text 28"/>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HOW IT BECOMES USEFUL</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The right-click actions</a:t>
            </a:r>
            <a:endParaRPr lang="en-US" sz="2700" dirty="0"/>
          </a:p>
        </p:txBody>
      </p:sp>
      <p:sp>
        <p:nvSpPr>
          <p:cNvPr id="4" name="Shape 2"/>
          <p:cNvSpPr/>
          <p:nvPr/>
        </p:nvSpPr>
        <p:spPr>
          <a:xfrm>
            <a:off x="548640" y="1517904"/>
            <a:ext cx="8046720" cy="768096"/>
          </a:xfrm>
          <a:prstGeom prst="roundRect">
            <a:avLst>
              <a:gd name="adj" fmla="val 9524"/>
            </a:avLst>
          </a:prstGeom>
          <a:solidFill>
            <a:srgbClr val="EEF6FA"/>
          </a:solidFill>
          <a:ln/>
          <a:effectLst>
            <a:outerShdw sx="100000" sy="100000" kx="0" ky="0" algn="bl" rotWithShape="0" blurRad="63500" dist="25400" dir="5400000">
              <a:srgbClr val="0A3D52">
                <a:alpha val="8000"/>
              </a:srgbClr>
            </a:outerShdw>
          </a:effectLst>
        </p:spPr>
      </p:sp>
      <p:sp>
        <p:nvSpPr>
          <p:cNvPr id="5" name="Shape 3"/>
          <p:cNvSpPr/>
          <p:nvPr/>
        </p:nvSpPr>
        <p:spPr>
          <a:xfrm>
            <a:off x="768096" y="1691640"/>
            <a:ext cx="420624" cy="420624"/>
          </a:xfrm>
          <a:prstGeom prst="ellipse">
            <a:avLst/>
          </a:prstGeom>
          <a:solidFill>
            <a:srgbClr val="065A82"/>
          </a:solidFill>
          <a:ln/>
        </p:spPr>
      </p:sp>
      <p:pic>
        <p:nvPicPr>
          <p:cNvPr id="6" name="Image 0" descr="preencoded.png"/>
          <p:cNvPicPr>
            <a:picLocks noChangeAspect="1"/>
          </p:cNvPicPr>
          <p:nvPr/>
        </p:nvPicPr>
        <p:blipFill>
          <a:blip r:embed="rId1"/>
          <a:stretch>
            <a:fillRect/>
          </a:stretch>
        </p:blipFill>
        <p:spPr>
          <a:xfrm>
            <a:off x="868680" y="1792224"/>
            <a:ext cx="219456" cy="219456"/>
          </a:xfrm>
          <a:prstGeom prst="rect">
            <a:avLst/>
          </a:prstGeom>
        </p:spPr>
      </p:pic>
      <p:sp>
        <p:nvSpPr>
          <p:cNvPr id="7" name="Text 4"/>
          <p:cNvSpPr/>
          <p:nvPr/>
        </p:nvSpPr>
        <p:spPr>
          <a:xfrm>
            <a:off x="1371600" y="1517904"/>
            <a:ext cx="2743200" cy="768096"/>
          </a:xfrm>
          <a:prstGeom prst="rect">
            <a:avLst/>
          </a:prstGeom>
          <a:noFill/>
          <a:ln/>
        </p:spPr>
        <p:txBody>
          <a:bodyPr wrap="square" lIns="0" tIns="0" rIns="0" bIns="0" rtlCol="0" anchor="ctr"/>
          <a:lstStyle/>
          <a:p>
            <a:pPr indent="0" marL="0">
              <a:buNone/>
            </a:pPr>
            <a:r>
              <a:rPr lang="en-US" sz="1450" b="1" dirty="0">
                <a:solidFill>
                  <a:srgbClr val="14333F"/>
                </a:solidFill>
                <a:latin typeface="Bookman Old Style" pitchFamily="34" charset="0"/>
                <a:ea typeface="Bookman Old Style" pitchFamily="34" charset="-122"/>
                <a:cs typeface="Bookman Old Style" pitchFamily="34" charset="-120"/>
              </a:rPr>
              <a:t>View Details</a:t>
            </a:r>
            <a:endParaRPr lang="en-US" sz="1450" dirty="0"/>
          </a:p>
        </p:txBody>
      </p:sp>
      <p:sp>
        <p:nvSpPr>
          <p:cNvPr id="8" name="Text 5"/>
          <p:cNvSpPr/>
          <p:nvPr/>
        </p:nvSpPr>
        <p:spPr>
          <a:xfrm>
            <a:off x="4114800" y="1517904"/>
            <a:ext cx="4297680" cy="768096"/>
          </a:xfrm>
          <a:prstGeom prst="rect">
            <a:avLst/>
          </a:prstGeom>
          <a:noFill/>
          <a:ln/>
        </p:spPr>
        <p:txBody>
          <a:bodyPr wrap="square" lIns="0" tIns="0" rIns="0" bIns="0" rtlCol="0" anchor="ctr"/>
          <a:lstStyle/>
          <a:p>
            <a:pPr indent="0" marL="0">
              <a:buNone/>
            </a:pPr>
            <a:r>
              <a:rPr lang="en-US" sz="1100" dirty="0">
                <a:solidFill>
                  <a:srgbClr val="5B7782"/>
                </a:solidFill>
                <a:latin typeface="Calibri" pitchFamily="34" charset="0"/>
                <a:ea typeface="Calibri" pitchFamily="34" charset="-122"/>
                <a:cs typeface="Calibri" pitchFamily="34" charset="-120"/>
              </a:rPr>
              <a:t>Properties, tags, terms — and add terms here</a:t>
            </a:r>
            <a:endParaRPr lang="en-US" sz="1100" dirty="0"/>
          </a:p>
        </p:txBody>
      </p:sp>
      <p:sp>
        <p:nvSpPr>
          <p:cNvPr id="9" name="Shape 6"/>
          <p:cNvSpPr/>
          <p:nvPr/>
        </p:nvSpPr>
        <p:spPr>
          <a:xfrm>
            <a:off x="548640" y="2395728"/>
            <a:ext cx="8046720" cy="768096"/>
          </a:xfrm>
          <a:prstGeom prst="roundRect">
            <a:avLst>
              <a:gd name="adj" fmla="val 9524"/>
            </a:avLst>
          </a:prstGeom>
          <a:solidFill>
            <a:srgbClr val="EEF6FA"/>
          </a:solidFill>
          <a:ln/>
          <a:effectLst>
            <a:outerShdw sx="100000" sy="100000" kx="0" ky="0" algn="bl" rotWithShape="0" blurRad="63500" dist="25400" dir="5400000">
              <a:srgbClr val="0A3D52">
                <a:alpha val="8000"/>
              </a:srgbClr>
            </a:outerShdw>
          </a:effectLst>
        </p:spPr>
      </p:sp>
      <p:sp>
        <p:nvSpPr>
          <p:cNvPr id="10" name="Shape 7"/>
          <p:cNvSpPr/>
          <p:nvPr/>
        </p:nvSpPr>
        <p:spPr>
          <a:xfrm>
            <a:off x="768096" y="2569464"/>
            <a:ext cx="420624" cy="420624"/>
          </a:xfrm>
          <a:prstGeom prst="ellipse">
            <a:avLst/>
          </a:prstGeom>
          <a:solidFill>
            <a:srgbClr val="1C7293"/>
          </a:solidFill>
          <a:ln/>
        </p:spPr>
      </p:sp>
      <p:pic>
        <p:nvPicPr>
          <p:cNvPr id="11" name="Image 1" descr="preencoded.png"/>
          <p:cNvPicPr>
            <a:picLocks noChangeAspect="1"/>
          </p:cNvPicPr>
          <p:nvPr/>
        </p:nvPicPr>
        <p:blipFill>
          <a:blip r:embed="rId2"/>
          <a:stretch>
            <a:fillRect/>
          </a:stretch>
        </p:blipFill>
        <p:spPr>
          <a:xfrm>
            <a:off x="868680" y="2670048"/>
            <a:ext cx="219456" cy="219456"/>
          </a:xfrm>
          <a:prstGeom prst="rect">
            <a:avLst/>
          </a:prstGeom>
        </p:spPr>
      </p:pic>
      <p:sp>
        <p:nvSpPr>
          <p:cNvPr id="12" name="Text 8"/>
          <p:cNvSpPr/>
          <p:nvPr/>
        </p:nvSpPr>
        <p:spPr>
          <a:xfrm>
            <a:off x="1371600" y="2395728"/>
            <a:ext cx="2743200" cy="768096"/>
          </a:xfrm>
          <a:prstGeom prst="rect">
            <a:avLst/>
          </a:prstGeom>
          <a:noFill/>
          <a:ln/>
        </p:spPr>
        <p:txBody>
          <a:bodyPr wrap="square" lIns="0" tIns="0" rIns="0" bIns="0" rtlCol="0" anchor="ctr"/>
          <a:lstStyle/>
          <a:p>
            <a:pPr indent="0" marL="0">
              <a:buNone/>
            </a:pPr>
            <a:r>
              <a:rPr lang="en-US" sz="1450" b="1" dirty="0">
                <a:solidFill>
                  <a:srgbClr val="14333F"/>
                </a:solidFill>
                <a:latin typeface="Bookman Old Style" pitchFamily="34" charset="0"/>
                <a:ea typeface="Bookman Old Style" pitchFamily="34" charset="-122"/>
                <a:cs typeface="Bookman Old Style" pitchFamily="34" charset="-120"/>
              </a:rPr>
              <a:t>View Items</a:t>
            </a:r>
            <a:endParaRPr lang="en-US" sz="1450" dirty="0"/>
          </a:p>
        </p:txBody>
      </p:sp>
      <p:sp>
        <p:nvSpPr>
          <p:cNvPr id="13" name="Text 9"/>
          <p:cNvSpPr/>
          <p:nvPr/>
        </p:nvSpPr>
        <p:spPr>
          <a:xfrm>
            <a:off x="4114800" y="2395728"/>
            <a:ext cx="4297680" cy="768096"/>
          </a:xfrm>
          <a:prstGeom prst="rect">
            <a:avLst/>
          </a:prstGeom>
          <a:noFill/>
          <a:ln/>
        </p:spPr>
        <p:txBody>
          <a:bodyPr wrap="square" lIns="0" tIns="0" rIns="0" bIns="0" rtlCol="0" anchor="ctr"/>
          <a:lstStyle/>
          <a:p>
            <a:pPr indent="0" marL="0">
              <a:buNone/>
            </a:pPr>
            <a:r>
              <a:rPr lang="en-US" sz="1100" dirty="0">
                <a:solidFill>
                  <a:srgbClr val="5B7782"/>
                </a:solidFill>
                <a:latin typeface="Calibri" pitchFamily="34" charset="0"/>
                <a:ea typeface="Calibri" pitchFamily="34" charset="-122"/>
                <a:cs typeface="Calibri" pitchFamily="34" charset="-120"/>
              </a:rPr>
              <a:t>Parent and child assets in a tree</a:t>
            </a:r>
            <a:endParaRPr lang="en-US" sz="1100" dirty="0"/>
          </a:p>
        </p:txBody>
      </p:sp>
      <p:sp>
        <p:nvSpPr>
          <p:cNvPr id="14" name="Shape 10"/>
          <p:cNvSpPr/>
          <p:nvPr/>
        </p:nvSpPr>
        <p:spPr>
          <a:xfrm>
            <a:off x="548640" y="3273552"/>
            <a:ext cx="8046720" cy="768096"/>
          </a:xfrm>
          <a:prstGeom prst="roundRect">
            <a:avLst>
              <a:gd name="adj" fmla="val 9524"/>
            </a:avLst>
          </a:prstGeom>
          <a:solidFill>
            <a:srgbClr val="EEF6FA"/>
          </a:solidFill>
          <a:ln/>
          <a:effectLst>
            <a:outerShdw sx="100000" sy="100000" kx="0" ky="0" algn="bl" rotWithShape="0" blurRad="63500" dist="25400" dir="5400000">
              <a:srgbClr val="0A3D52">
                <a:alpha val="8000"/>
              </a:srgbClr>
            </a:outerShdw>
          </a:effectLst>
        </p:spPr>
      </p:sp>
      <p:sp>
        <p:nvSpPr>
          <p:cNvPr id="15" name="Shape 11"/>
          <p:cNvSpPr/>
          <p:nvPr/>
        </p:nvSpPr>
        <p:spPr>
          <a:xfrm>
            <a:off x="768096" y="3447288"/>
            <a:ext cx="420624" cy="420624"/>
          </a:xfrm>
          <a:prstGeom prst="ellipse">
            <a:avLst/>
          </a:prstGeom>
          <a:solidFill>
            <a:srgbClr val="2EC4B6"/>
          </a:solidFill>
          <a:ln/>
        </p:spPr>
      </p:sp>
      <p:pic>
        <p:nvPicPr>
          <p:cNvPr id="16" name="Image 2" descr="preencoded.png"/>
          <p:cNvPicPr>
            <a:picLocks noChangeAspect="1"/>
          </p:cNvPicPr>
          <p:nvPr/>
        </p:nvPicPr>
        <p:blipFill>
          <a:blip r:embed="rId3"/>
          <a:stretch>
            <a:fillRect/>
          </a:stretch>
        </p:blipFill>
        <p:spPr>
          <a:xfrm>
            <a:off x="868680" y="3547872"/>
            <a:ext cx="219456" cy="219456"/>
          </a:xfrm>
          <a:prstGeom prst="rect">
            <a:avLst/>
          </a:prstGeom>
        </p:spPr>
      </p:pic>
      <p:sp>
        <p:nvSpPr>
          <p:cNvPr id="17" name="Text 12"/>
          <p:cNvSpPr/>
          <p:nvPr/>
        </p:nvSpPr>
        <p:spPr>
          <a:xfrm>
            <a:off x="1371600" y="3273552"/>
            <a:ext cx="2743200" cy="768096"/>
          </a:xfrm>
          <a:prstGeom prst="rect">
            <a:avLst/>
          </a:prstGeom>
          <a:noFill/>
          <a:ln/>
        </p:spPr>
        <p:txBody>
          <a:bodyPr wrap="square" lIns="0" tIns="0" rIns="0" bIns="0" rtlCol="0" anchor="ctr"/>
          <a:lstStyle/>
          <a:p>
            <a:pPr indent="0" marL="0">
              <a:buNone/>
            </a:pPr>
            <a:r>
              <a:rPr lang="en-US" sz="1450" b="1" dirty="0">
                <a:solidFill>
                  <a:srgbClr val="14333F"/>
                </a:solidFill>
                <a:latin typeface="Bookman Old Style" pitchFamily="34" charset="0"/>
                <a:ea typeface="Bookman Old Style" pitchFamily="34" charset="-122"/>
                <a:cs typeface="Bookman Old Style" pitchFamily="34" charset="-120"/>
              </a:rPr>
              <a:t>Select / Select Tree</a:t>
            </a:r>
            <a:endParaRPr lang="en-US" sz="1450" dirty="0"/>
          </a:p>
        </p:txBody>
      </p:sp>
      <p:sp>
        <p:nvSpPr>
          <p:cNvPr id="18" name="Text 13"/>
          <p:cNvSpPr/>
          <p:nvPr/>
        </p:nvSpPr>
        <p:spPr>
          <a:xfrm>
            <a:off x="4114800" y="3273552"/>
            <a:ext cx="4297680" cy="768096"/>
          </a:xfrm>
          <a:prstGeom prst="rect">
            <a:avLst/>
          </a:prstGeom>
          <a:noFill/>
          <a:ln/>
        </p:spPr>
        <p:txBody>
          <a:bodyPr wrap="square" lIns="0" tIns="0" rIns="0" bIns="0" rtlCol="0" anchor="ctr"/>
          <a:lstStyle/>
          <a:p>
            <a:pPr indent="0" marL="0">
              <a:buNone/>
            </a:pPr>
            <a:r>
              <a:rPr lang="en-US" sz="1100" dirty="0">
                <a:solidFill>
                  <a:srgbClr val="5B7782"/>
                </a:solidFill>
                <a:latin typeface="Calibri" pitchFamily="34" charset="0"/>
                <a:ea typeface="Calibri" pitchFamily="34" charset="-122"/>
                <a:cs typeface="Calibri" pitchFamily="34" charset="-120"/>
              </a:rPr>
              <a:t>One asset, or a whole related cluster</a:t>
            </a:r>
            <a:endParaRPr lang="en-US" sz="1100" dirty="0"/>
          </a:p>
        </p:txBody>
      </p:sp>
      <p:sp>
        <p:nvSpPr>
          <p:cNvPr id="19" name="Shape 14"/>
          <p:cNvSpPr/>
          <p:nvPr/>
        </p:nvSpPr>
        <p:spPr>
          <a:xfrm>
            <a:off x="548640" y="4151376"/>
            <a:ext cx="8046720" cy="768096"/>
          </a:xfrm>
          <a:prstGeom prst="roundRect">
            <a:avLst>
              <a:gd name="adj" fmla="val 9524"/>
            </a:avLst>
          </a:prstGeom>
          <a:solidFill>
            <a:srgbClr val="EEF6FA"/>
          </a:solidFill>
          <a:ln/>
          <a:effectLst>
            <a:outerShdw sx="100000" sy="100000" kx="0" ky="0" algn="bl" rotWithShape="0" blurRad="63500" dist="25400" dir="5400000">
              <a:srgbClr val="0A3D52">
                <a:alpha val="8000"/>
              </a:srgbClr>
            </a:outerShdw>
          </a:effectLst>
        </p:spPr>
      </p:sp>
      <p:sp>
        <p:nvSpPr>
          <p:cNvPr id="20" name="Shape 15"/>
          <p:cNvSpPr/>
          <p:nvPr/>
        </p:nvSpPr>
        <p:spPr>
          <a:xfrm>
            <a:off x="768096" y="4325112"/>
            <a:ext cx="420624" cy="420624"/>
          </a:xfrm>
          <a:prstGeom prst="ellipse">
            <a:avLst/>
          </a:prstGeom>
          <a:solidFill>
            <a:srgbClr val="F4A259"/>
          </a:solidFill>
          <a:ln/>
        </p:spPr>
      </p:sp>
      <p:pic>
        <p:nvPicPr>
          <p:cNvPr id="21" name="Image 3" descr="preencoded.png"/>
          <p:cNvPicPr>
            <a:picLocks noChangeAspect="1"/>
          </p:cNvPicPr>
          <p:nvPr/>
        </p:nvPicPr>
        <p:blipFill>
          <a:blip r:embed="rId4"/>
          <a:stretch>
            <a:fillRect/>
          </a:stretch>
        </p:blipFill>
        <p:spPr>
          <a:xfrm>
            <a:off x="868680" y="4425696"/>
            <a:ext cx="219456" cy="219456"/>
          </a:xfrm>
          <a:prstGeom prst="rect">
            <a:avLst/>
          </a:prstGeom>
        </p:spPr>
      </p:pic>
      <p:sp>
        <p:nvSpPr>
          <p:cNvPr id="22" name="Text 16"/>
          <p:cNvSpPr/>
          <p:nvPr/>
        </p:nvSpPr>
        <p:spPr>
          <a:xfrm>
            <a:off x="1371600" y="4151376"/>
            <a:ext cx="2743200" cy="768096"/>
          </a:xfrm>
          <a:prstGeom prst="rect">
            <a:avLst/>
          </a:prstGeom>
          <a:noFill/>
          <a:ln/>
        </p:spPr>
        <p:txBody>
          <a:bodyPr wrap="square" lIns="0" tIns="0" rIns="0" bIns="0" rtlCol="0" anchor="ctr"/>
          <a:lstStyle/>
          <a:p>
            <a:pPr indent="0" marL="0">
              <a:buNone/>
            </a:pPr>
            <a:r>
              <a:rPr lang="en-US" sz="1450" b="1" dirty="0">
                <a:solidFill>
                  <a:srgbClr val="14333F"/>
                </a:solidFill>
                <a:latin typeface="Bookman Old Style" pitchFamily="34" charset="0"/>
                <a:ea typeface="Bookman Old Style" pitchFamily="34" charset="-122"/>
                <a:cs typeface="Bookman Old Style" pitchFamily="34" charset="-120"/>
              </a:rPr>
              <a:t>Focus</a:t>
            </a:r>
            <a:endParaRPr lang="en-US" sz="1450" dirty="0"/>
          </a:p>
        </p:txBody>
      </p:sp>
      <p:sp>
        <p:nvSpPr>
          <p:cNvPr id="23" name="Text 17"/>
          <p:cNvSpPr/>
          <p:nvPr/>
        </p:nvSpPr>
        <p:spPr>
          <a:xfrm>
            <a:off x="4114800" y="4151376"/>
            <a:ext cx="4297680" cy="768096"/>
          </a:xfrm>
          <a:prstGeom prst="rect">
            <a:avLst/>
          </a:prstGeom>
          <a:noFill/>
          <a:ln/>
        </p:spPr>
        <p:txBody>
          <a:bodyPr wrap="square" lIns="0" tIns="0" rIns="0" bIns="0" rtlCol="0" anchor="ctr"/>
          <a:lstStyle/>
          <a:p>
            <a:pPr indent="0" marL="0">
              <a:buNone/>
            </a:pPr>
            <a:r>
              <a:rPr lang="en-US" sz="1100" dirty="0">
                <a:solidFill>
                  <a:srgbClr val="5B7782"/>
                </a:solidFill>
                <a:latin typeface="Calibri" pitchFamily="34" charset="0"/>
                <a:ea typeface="Calibri" pitchFamily="34" charset="-122"/>
                <a:cs typeface="Calibri" pitchFamily="34" charset="-120"/>
              </a:rPr>
              <a:t>Isolate an asset and its children; Leave Focus to return</a:t>
            </a:r>
            <a:endParaRPr lang="en-US" sz="1100" dirty="0"/>
          </a:p>
        </p:txBody>
      </p:sp>
      <p:sp>
        <p:nvSpPr>
          <p:cNvPr id="24" name="Text 18"/>
          <p:cNvSpPr/>
          <p:nvPr/>
        </p:nvSpPr>
        <p:spPr>
          <a:xfrm>
            <a:off x="548640" y="4828032"/>
            <a:ext cx="7315200" cy="274320"/>
          </a:xfrm>
          <a:prstGeom prst="rect">
            <a:avLst/>
          </a:prstGeom>
          <a:noFill/>
          <a:ln/>
        </p:spPr>
        <p:txBody>
          <a:bodyPr wrap="square" lIns="0" tIns="0" rIns="0" bIns="0" rtlCol="0" anchor="ctr"/>
          <a:lstStyle/>
          <a:p>
            <a:pPr indent="0" marL="0">
              <a:buNone/>
            </a:pPr>
            <a:endParaRPr lang="en-US" sz="950" dirty="0"/>
          </a:p>
        </p:txBody>
      </p:sp>
      <p:sp>
        <p:nvSpPr>
          <p:cNvPr id="25" name="Text 19"/>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766560" cy="292608"/>
          </a:xfrm>
          <a:prstGeom prst="rect">
            <a:avLst/>
          </a:prstGeom>
          <a:noFill/>
          <a:ln/>
        </p:spPr>
        <p:txBody>
          <a:bodyPr wrap="square" lIns="0" tIns="0" rIns="0" bIns="0" rtlCol="0" anchor="ctr"/>
          <a:lstStyle/>
          <a:p>
            <a:pPr indent="0" marL="0">
              <a:buNone/>
            </a:pPr>
            <a:r>
              <a:rPr lang="en-US" sz="1200" b="1" spc="200" kern="0" dirty="0">
                <a:solidFill>
                  <a:srgbClr val="1C7293"/>
                </a:solidFill>
                <a:latin typeface="Calibri" pitchFamily="34" charset="0"/>
                <a:ea typeface="Calibri" pitchFamily="34" charset="-122"/>
                <a:cs typeface="Calibri" pitchFamily="34" charset="-120"/>
              </a:rPr>
              <a:t>THE HEADLINE USE CASE</a:t>
            </a:r>
            <a:endParaRPr lang="en-US" sz="1200" dirty="0"/>
          </a:p>
        </p:txBody>
      </p:sp>
      <p:sp>
        <p:nvSpPr>
          <p:cNvPr id="3" name="Text 1"/>
          <p:cNvSpPr/>
          <p:nvPr/>
        </p:nvSpPr>
        <p:spPr>
          <a:xfrm>
            <a:off x="548640" y="713232"/>
            <a:ext cx="7040880" cy="566928"/>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Light up every piece of PII</a:t>
            </a:r>
            <a:endParaRPr lang="en-US" sz="2700" dirty="0"/>
          </a:p>
        </p:txBody>
      </p:sp>
      <p:sp>
        <p:nvSpPr>
          <p:cNvPr id="4" name="Text 2"/>
          <p:cNvSpPr/>
          <p:nvPr/>
        </p:nvSpPr>
        <p:spPr>
          <a:xfrm>
            <a:off x="548640" y="1371600"/>
            <a:ext cx="8046720" cy="384048"/>
          </a:xfrm>
          <a:prstGeom prst="rect">
            <a:avLst/>
          </a:prstGeom>
          <a:noFill/>
          <a:ln/>
        </p:spPr>
        <p:txBody>
          <a:bodyPr wrap="square" lIns="0" tIns="0" rIns="0" bIns="0" rtlCol="0" anchor="ctr"/>
          <a:lstStyle/>
          <a:p>
            <a:pPr indent="0" marL="0">
              <a:buNone/>
            </a:pPr>
            <a:r>
              <a:rPr lang="en-US" sz="1250" dirty="0">
                <a:solidFill>
                  <a:srgbClr val="5B7782"/>
                </a:solidFill>
                <a:latin typeface="Calibri" pitchFamily="34" charset="0"/>
                <a:ea typeface="Calibri" pitchFamily="34" charset="-122"/>
                <a:cs typeface="Calibri" pitchFamily="34" charset="-120"/>
              </a:rPr>
              <a:t>Combine three filters to turn the whole schema into a personal-data map an auditor can read instantly.</a:t>
            </a:r>
            <a:endParaRPr lang="en-US" sz="1250" dirty="0"/>
          </a:p>
        </p:txBody>
      </p:sp>
      <p:sp>
        <p:nvSpPr>
          <p:cNvPr id="5" name="Shape 3"/>
          <p:cNvSpPr/>
          <p:nvPr/>
        </p:nvSpPr>
        <p:spPr>
          <a:xfrm>
            <a:off x="548640" y="1883664"/>
            <a:ext cx="493776" cy="493776"/>
          </a:xfrm>
          <a:prstGeom prst="ellipse">
            <a:avLst/>
          </a:prstGeom>
          <a:solidFill>
            <a:srgbClr val="E36963"/>
          </a:solidFill>
          <a:ln/>
        </p:spPr>
      </p:sp>
      <p:sp>
        <p:nvSpPr>
          <p:cNvPr id="6" name="Text 4"/>
          <p:cNvSpPr/>
          <p:nvPr/>
        </p:nvSpPr>
        <p:spPr>
          <a:xfrm>
            <a:off x="548640" y="188366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207008" y="1865376"/>
            <a:ext cx="3566160" cy="530352"/>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Level of Detail → Columns</a:t>
            </a:r>
            <a:endParaRPr lang="en-US" sz="1400" dirty="0"/>
          </a:p>
        </p:txBody>
      </p:sp>
      <p:sp>
        <p:nvSpPr>
          <p:cNvPr id="8" name="Text 6"/>
          <p:cNvSpPr/>
          <p:nvPr/>
        </p:nvSpPr>
        <p:spPr>
          <a:xfrm>
            <a:off x="4846320" y="1865376"/>
            <a:ext cx="3566160" cy="530352"/>
          </a:xfrm>
          <a:prstGeom prst="rect">
            <a:avLst/>
          </a:prstGeom>
          <a:noFill/>
          <a:ln/>
        </p:spPr>
        <p:txBody>
          <a:bodyPr wrap="square" lIns="0" tIns="0" rIns="0" bIns="0" rtlCol="0" anchor="ctr"/>
          <a:lstStyle/>
          <a:p>
            <a:pPr indent="0" marL="0">
              <a:buNone/>
            </a:pPr>
            <a:r>
              <a:rPr lang="en-US" sz="1100" dirty="0">
                <a:solidFill>
                  <a:srgbClr val="5B7782"/>
                </a:solidFill>
                <a:latin typeface="Calibri" pitchFamily="34" charset="0"/>
                <a:ea typeface="Calibri" pitchFamily="34" charset="-122"/>
                <a:cs typeface="Calibri" pitchFamily="34" charset="-120"/>
              </a:rPr>
              <a:t>Drill from tables down to individual columns</a:t>
            </a:r>
            <a:endParaRPr lang="en-US" sz="1100" dirty="0"/>
          </a:p>
        </p:txBody>
      </p:sp>
      <p:sp>
        <p:nvSpPr>
          <p:cNvPr id="9" name="Shape 7"/>
          <p:cNvSpPr/>
          <p:nvPr/>
        </p:nvSpPr>
        <p:spPr>
          <a:xfrm>
            <a:off x="795528" y="2377440"/>
            <a:ext cx="0" cy="128016"/>
          </a:xfrm>
          <a:prstGeom prst="line">
            <a:avLst/>
          </a:prstGeom>
          <a:noFill/>
          <a:ln w="19050">
            <a:solidFill>
              <a:srgbClr val="C9DEE8"/>
            </a:solidFill>
            <a:prstDash val="solid"/>
          </a:ln>
        </p:spPr>
      </p:sp>
      <p:sp>
        <p:nvSpPr>
          <p:cNvPr id="10" name="Shape 8"/>
          <p:cNvSpPr/>
          <p:nvPr/>
        </p:nvSpPr>
        <p:spPr>
          <a:xfrm>
            <a:off x="548640" y="2542032"/>
            <a:ext cx="493776" cy="493776"/>
          </a:xfrm>
          <a:prstGeom prst="ellipse">
            <a:avLst/>
          </a:prstGeom>
          <a:solidFill>
            <a:srgbClr val="E36963"/>
          </a:solidFill>
          <a:ln/>
        </p:spPr>
      </p:sp>
      <p:sp>
        <p:nvSpPr>
          <p:cNvPr id="11" name="Text 9"/>
          <p:cNvSpPr/>
          <p:nvPr/>
        </p:nvSpPr>
        <p:spPr>
          <a:xfrm>
            <a:off x="548640" y="2542032"/>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p:nvPr/>
        </p:nvSpPr>
        <p:spPr>
          <a:xfrm>
            <a:off x="1207008" y="2523744"/>
            <a:ext cx="3566160" cy="530352"/>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Show only Tagged Items</a:t>
            </a:r>
            <a:endParaRPr lang="en-US" sz="1400" dirty="0"/>
          </a:p>
        </p:txBody>
      </p:sp>
      <p:sp>
        <p:nvSpPr>
          <p:cNvPr id="13" name="Text 11"/>
          <p:cNvSpPr/>
          <p:nvPr/>
        </p:nvSpPr>
        <p:spPr>
          <a:xfrm>
            <a:off x="4846320" y="2523744"/>
            <a:ext cx="3566160" cy="530352"/>
          </a:xfrm>
          <a:prstGeom prst="rect">
            <a:avLst/>
          </a:prstGeom>
          <a:noFill/>
          <a:ln/>
        </p:spPr>
        <p:txBody>
          <a:bodyPr wrap="square" lIns="0" tIns="0" rIns="0" bIns="0" rtlCol="0" anchor="ctr"/>
          <a:lstStyle/>
          <a:p>
            <a:pPr indent="0" marL="0">
              <a:buNone/>
            </a:pPr>
            <a:r>
              <a:rPr lang="en-US" sz="1100" dirty="0">
                <a:solidFill>
                  <a:srgbClr val="5B7782"/>
                </a:solidFill>
                <a:latin typeface="Calibri" pitchFamily="34" charset="0"/>
                <a:ea typeface="Calibri" pitchFamily="34" charset="-122"/>
                <a:cs typeface="Calibri" pitchFamily="34" charset="-120"/>
              </a:rPr>
              <a:t>Then pick the PII tag</a:t>
            </a:r>
            <a:endParaRPr lang="en-US" sz="1100" dirty="0"/>
          </a:p>
        </p:txBody>
      </p:sp>
      <p:sp>
        <p:nvSpPr>
          <p:cNvPr id="14" name="Shape 12"/>
          <p:cNvSpPr/>
          <p:nvPr/>
        </p:nvSpPr>
        <p:spPr>
          <a:xfrm>
            <a:off x="795528" y="3035808"/>
            <a:ext cx="0" cy="128016"/>
          </a:xfrm>
          <a:prstGeom prst="line">
            <a:avLst/>
          </a:prstGeom>
          <a:noFill/>
          <a:ln w="19050">
            <a:solidFill>
              <a:srgbClr val="C9DEE8"/>
            </a:solidFill>
            <a:prstDash val="solid"/>
          </a:ln>
        </p:spPr>
      </p:sp>
      <p:sp>
        <p:nvSpPr>
          <p:cNvPr id="15" name="Shape 13"/>
          <p:cNvSpPr/>
          <p:nvPr/>
        </p:nvSpPr>
        <p:spPr>
          <a:xfrm>
            <a:off x="548640" y="3200400"/>
            <a:ext cx="493776" cy="493776"/>
          </a:xfrm>
          <a:prstGeom prst="ellipse">
            <a:avLst/>
          </a:prstGeom>
          <a:solidFill>
            <a:srgbClr val="E36963"/>
          </a:solidFill>
          <a:ln/>
        </p:spPr>
      </p:sp>
      <p:sp>
        <p:nvSpPr>
          <p:cNvPr id="16" name="Text 14"/>
          <p:cNvSpPr/>
          <p:nvPr/>
        </p:nvSpPr>
        <p:spPr>
          <a:xfrm>
            <a:off x="548640" y="320040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p:nvPr/>
        </p:nvSpPr>
        <p:spPr>
          <a:xfrm>
            <a:off x="1207008" y="3182112"/>
            <a:ext cx="3566160" cy="530352"/>
          </a:xfrm>
          <a:prstGeom prst="rect">
            <a:avLst/>
          </a:prstGeom>
          <a:noFill/>
          <a:ln/>
        </p:spPr>
        <p:txBody>
          <a:bodyPr wrap="square" lIns="0" tIns="0" rIns="0" bIns="0" rtlCol="0" anchor="ctr"/>
          <a:lstStyle/>
          <a:p>
            <a:pPr indent="0" marL="0">
              <a:buNone/>
            </a:pPr>
            <a:r>
              <a:rPr lang="en-US" sz="1400" b="1" dirty="0">
                <a:solidFill>
                  <a:srgbClr val="14333F"/>
                </a:solidFill>
                <a:latin typeface="Calibri" pitchFamily="34" charset="0"/>
                <a:ea typeface="Calibri" pitchFamily="34" charset="-122"/>
                <a:cs typeface="Calibri" pitchFamily="34" charset="-120"/>
              </a:rPr>
              <a:t>Show Relationships</a:t>
            </a:r>
            <a:endParaRPr lang="en-US" sz="1400" dirty="0"/>
          </a:p>
        </p:txBody>
      </p:sp>
      <p:sp>
        <p:nvSpPr>
          <p:cNvPr id="18" name="Text 16"/>
          <p:cNvSpPr/>
          <p:nvPr/>
        </p:nvSpPr>
        <p:spPr>
          <a:xfrm>
            <a:off x="4846320" y="3182112"/>
            <a:ext cx="3566160" cy="530352"/>
          </a:xfrm>
          <a:prstGeom prst="rect">
            <a:avLst/>
          </a:prstGeom>
          <a:noFill/>
          <a:ln/>
        </p:spPr>
        <p:txBody>
          <a:bodyPr wrap="square" lIns="0" tIns="0" rIns="0" bIns="0" rtlCol="0" anchor="ctr"/>
          <a:lstStyle/>
          <a:p>
            <a:pPr indent="0" marL="0">
              <a:buNone/>
            </a:pPr>
            <a:r>
              <a:rPr lang="en-US" sz="1100" dirty="0">
                <a:solidFill>
                  <a:srgbClr val="5B7782"/>
                </a:solidFill>
                <a:latin typeface="Calibri" pitchFamily="34" charset="0"/>
                <a:ea typeface="Calibri" pitchFamily="34" charset="-122"/>
                <a:cs typeface="Calibri" pitchFamily="34" charset="-120"/>
              </a:rPr>
              <a:t>Restrict to foreign keys to see how tables join</a:t>
            </a:r>
            <a:endParaRPr lang="en-US" sz="1100" dirty="0"/>
          </a:p>
        </p:txBody>
      </p:sp>
      <p:sp>
        <p:nvSpPr>
          <p:cNvPr id="19" name="Shape 17"/>
          <p:cNvSpPr/>
          <p:nvPr/>
        </p:nvSpPr>
        <p:spPr>
          <a:xfrm>
            <a:off x="548640" y="3968496"/>
            <a:ext cx="8046720" cy="1005840"/>
          </a:xfrm>
          <a:prstGeom prst="roundRect">
            <a:avLst>
              <a:gd name="adj" fmla="val 8182"/>
            </a:avLst>
          </a:prstGeom>
          <a:solidFill>
            <a:srgbClr val="0A3D52"/>
          </a:solidFill>
          <a:ln/>
          <a:effectLst>
            <a:outerShdw sx="100000" sy="100000" kx="0" ky="0" algn="bl" rotWithShape="0" blurRad="101600" dist="38100" dir="5400000">
              <a:srgbClr val="0A3D52">
                <a:alpha val="16000"/>
              </a:srgbClr>
            </a:outerShdw>
          </a:effectLst>
        </p:spPr>
      </p:sp>
      <p:sp>
        <p:nvSpPr>
          <p:cNvPr id="20" name="Shape 18"/>
          <p:cNvSpPr/>
          <p:nvPr/>
        </p:nvSpPr>
        <p:spPr>
          <a:xfrm>
            <a:off x="786384" y="4261104"/>
            <a:ext cx="493776" cy="493776"/>
          </a:xfrm>
          <a:prstGeom prst="ellipse">
            <a:avLst/>
          </a:prstGeom>
          <a:solidFill>
            <a:srgbClr val="2EC4B6"/>
          </a:solidFill>
          <a:ln/>
        </p:spPr>
      </p:sp>
      <p:pic>
        <p:nvPicPr>
          <p:cNvPr id="21" name="Image 0" descr="preencoded.png"/>
          <p:cNvPicPr>
            <a:picLocks noChangeAspect="1"/>
          </p:cNvPicPr>
          <p:nvPr/>
        </p:nvPicPr>
        <p:blipFill>
          <a:blip r:embed="rId1"/>
          <a:stretch>
            <a:fillRect/>
          </a:stretch>
        </p:blipFill>
        <p:spPr>
          <a:xfrm>
            <a:off x="896112" y="4370832"/>
            <a:ext cx="274320" cy="274320"/>
          </a:xfrm>
          <a:prstGeom prst="rect">
            <a:avLst/>
          </a:prstGeom>
        </p:spPr>
      </p:pic>
      <p:sp>
        <p:nvSpPr>
          <p:cNvPr id="22" name="Text 19"/>
          <p:cNvSpPr/>
          <p:nvPr/>
        </p:nvSpPr>
        <p:spPr>
          <a:xfrm>
            <a:off x="1417320" y="3968496"/>
            <a:ext cx="6949440" cy="1005840"/>
          </a:xfrm>
          <a:prstGeom prst="rect">
            <a:avLst/>
          </a:prstGeom>
          <a:noFill/>
          <a:ln/>
        </p:spPr>
        <p:txBody>
          <a:bodyPr wrap="square" lIns="0" tIns="0" rIns="0" bIns="0" rtlCol="0" anchor="ctr"/>
          <a:lstStyle/>
          <a:p>
            <a:pPr indent="0" marL="0">
              <a:lnSpc>
                <a:spcPct val="105000"/>
              </a:lnSpc>
              <a:buNone/>
            </a:pPr>
            <a:r>
              <a:rPr lang="en-US" sz="1250" dirty="0">
                <a:solidFill>
                  <a:srgbClr val="FFFFFF"/>
                </a:solidFill>
                <a:latin typeface="Calibri" pitchFamily="34" charset="0"/>
                <a:ea typeface="Calibri" pitchFamily="34" charset="-122"/>
                <a:cs typeface="Calibri" pitchFamily="34" charset="-120"/>
              </a:rPr>
              <a:t>The galaxy now shows exactly where AWC's personal data lives — customer_name, email, phone, service_address — in one picture.</a:t>
            </a:r>
            <a:endParaRPr lang="en-US" sz="1250" dirty="0"/>
          </a:p>
        </p:txBody>
      </p:sp>
      <p:sp>
        <p:nvSpPr>
          <p:cNvPr id="23" name="Text 20"/>
          <p:cNvSpPr/>
          <p:nvPr/>
        </p:nvSpPr>
        <p:spPr>
          <a:xfrm>
            <a:off x="548640" y="4828032"/>
            <a:ext cx="7315200" cy="274320"/>
          </a:xfrm>
          <a:prstGeom prst="rect">
            <a:avLst/>
          </a:prstGeom>
          <a:noFill/>
          <a:ln/>
        </p:spPr>
        <p:txBody>
          <a:bodyPr wrap="square" lIns="0" tIns="0" rIns="0" bIns="0" rtlCol="0" anchor="ctr"/>
          <a:lstStyle/>
          <a:p>
            <a:pPr indent="0" marL="0">
              <a:buNone/>
            </a:pPr>
            <a:endParaRPr lang="en-US" sz="950" dirty="0"/>
          </a:p>
        </p:txBody>
      </p:sp>
      <p:sp>
        <p:nvSpPr>
          <p:cNvPr id="24" name="Text 21"/>
          <p:cNvSpPr/>
          <p:nvPr/>
        </p:nvSpPr>
        <p:spPr>
          <a:xfrm>
            <a:off x="8366760" y="4828032"/>
            <a:ext cx="320040" cy="274320"/>
          </a:xfrm>
          <a:prstGeom prst="rect">
            <a:avLst/>
          </a:prstGeom>
          <a:noFill/>
          <a:ln/>
        </p:spPr>
        <p:txBody>
          <a:bodyPr wrap="square" lIns="0" tIns="0" rIns="0" bIns="0" rtlCol="0" anchor="ctr"/>
          <a:lstStyle/>
          <a:p>
            <a:pPr algn="r" indent="0" marL="0">
              <a:buNone/>
            </a:pPr>
            <a:r>
              <a:rPr lang="en-US" sz="950" dirty="0">
                <a:solidFill>
                  <a:srgbClr val="5B7782"/>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B2B"/>
        </a:solidFill>
      </p:bgPr>
    </p:bg>
    <p:spTree>
      <p:nvGrpSpPr>
        <p:cNvPr id="1" name=""/>
        <p:cNvGrpSpPr/>
        <p:nvPr/>
      </p:nvGrpSpPr>
      <p:grpSpPr>
        <a:xfrm>
          <a:off x="0" y="0"/>
          <a:ext cx="0" cy="0"/>
          <a:chOff x="0" y="0"/>
          <a:chExt cx="0" cy="0"/>
        </a:xfrm>
      </p:grpSpPr>
      <p:sp>
        <p:nvSpPr>
          <p:cNvPr id="2" name="Shape 0"/>
          <p:cNvSpPr/>
          <p:nvPr/>
        </p:nvSpPr>
        <p:spPr>
          <a:xfrm>
            <a:off x="7132320" y="2651760"/>
            <a:ext cx="3474720" cy="3474720"/>
          </a:xfrm>
          <a:prstGeom prst="ellipse">
            <a:avLst/>
          </a:prstGeom>
          <a:solidFill>
            <a:srgbClr val="0A3D52"/>
          </a:solidFill>
          <a:ln/>
        </p:spPr>
      </p:sp>
      <p:sp>
        <p:nvSpPr>
          <p:cNvPr id="3" name="Shape 1"/>
          <p:cNvSpPr/>
          <p:nvPr/>
        </p:nvSpPr>
        <p:spPr>
          <a:xfrm>
            <a:off x="8229600" y="457200"/>
            <a:ext cx="2011680" cy="2011680"/>
          </a:xfrm>
          <a:prstGeom prst="ellipse">
            <a:avLst/>
          </a:prstGeom>
          <a:solidFill>
            <a:srgbClr val="065A82">
              <a:alpha val="45000"/>
            </a:srgbClr>
          </a:solidFill>
          <a:ln/>
        </p:spPr>
      </p:sp>
      <p:sp>
        <p:nvSpPr>
          <p:cNvPr id="4" name="Shape 2"/>
          <p:cNvSpPr/>
          <p:nvPr/>
        </p:nvSpPr>
        <p:spPr>
          <a:xfrm>
            <a:off x="548640" y="603504"/>
            <a:ext cx="841248" cy="841248"/>
          </a:xfrm>
          <a:prstGeom prst="ellipse">
            <a:avLst/>
          </a:prstGeom>
          <a:solidFill>
            <a:srgbClr val="2EC4B6"/>
          </a:solidFill>
          <a:ln/>
        </p:spPr>
      </p:sp>
      <p:pic>
        <p:nvPicPr>
          <p:cNvPr id="5" name="Image 0" descr="preencoded.png"/>
          <p:cNvPicPr>
            <a:picLocks noChangeAspect="1"/>
          </p:cNvPicPr>
          <p:nvPr/>
        </p:nvPicPr>
        <p:blipFill>
          <a:blip r:embed="rId1"/>
          <a:stretch>
            <a:fillRect/>
          </a:stretch>
        </p:blipFill>
        <p:spPr>
          <a:xfrm>
            <a:off x="722376" y="777240"/>
            <a:ext cx="493776" cy="493776"/>
          </a:xfrm>
          <a:prstGeom prst="rect">
            <a:avLst/>
          </a:prstGeom>
        </p:spPr>
      </p:pic>
      <p:sp>
        <p:nvSpPr>
          <p:cNvPr id="6" name="Text 3"/>
          <p:cNvSpPr/>
          <p:nvPr/>
        </p:nvSpPr>
        <p:spPr>
          <a:xfrm>
            <a:off x="1554480" y="713232"/>
            <a:ext cx="6400800" cy="457200"/>
          </a:xfrm>
          <a:prstGeom prst="rect">
            <a:avLst/>
          </a:prstGeom>
          <a:noFill/>
          <a:ln/>
        </p:spPr>
        <p:txBody>
          <a:bodyPr wrap="square" lIns="0" tIns="0" rIns="0" bIns="0" rtlCol="0" anchor="ctr"/>
          <a:lstStyle/>
          <a:p>
            <a:pPr indent="0" marL="0">
              <a:buNone/>
            </a:pPr>
            <a:r>
              <a:rPr lang="en-US" sz="1400" b="1" spc="300" kern="0" dirty="0">
                <a:solidFill>
                  <a:srgbClr val="2EC4B6"/>
                </a:solidFill>
                <a:latin typeface="Calibri" pitchFamily="34" charset="0"/>
                <a:ea typeface="Calibri" pitchFamily="34" charset="-122"/>
                <a:cs typeface="Calibri" pitchFamily="34" charset="-120"/>
              </a:rPr>
              <a:t>COURSE COMPLETE</a:t>
            </a:r>
            <a:endParaRPr lang="en-US" sz="1400" dirty="0"/>
          </a:p>
        </p:txBody>
      </p:sp>
      <p:sp>
        <p:nvSpPr>
          <p:cNvPr id="7" name="Text 4"/>
          <p:cNvSpPr/>
          <p:nvPr/>
        </p:nvSpPr>
        <p:spPr>
          <a:xfrm>
            <a:off x="548640" y="1517904"/>
            <a:ext cx="7955280" cy="1097280"/>
          </a:xfrm>
          <a:prstGeom prst="rect">
            <a:avLst/>
          </a:prstGeom>
          <a:noFill/>
          <a:ln/>
        </p:spPr>
        <p:txBody>
          <a:bodyPr wrap="square" lIns="0" tIns="0" rIns="0" bIns="0" rtlCol="0" anchor="ctr"/>
          <a:lstStyle/>
          <a:p>
            <a:pPr indent="0" marL="0">
              <a:lnSpc>
                <a:spcPct val="98000"/>
              </a:lnSpc>
              <a:buNone/>
            </a:pPr>
            <a:r>
              <a:rPr lang="en-US" sz="2900" b="1" dirty="0">
                <a:solidFill>
                  <a:srgbClr val="FFFFFF"/>
                </a:solidFill>
                <a:latin typeface="Bookman Old Style" pitchFamily="34" charset="0"/>
                <a:ea typeface="Bookman Old Style" pitchFamily="34" charset="-122"/>
                <a:cs typeface="Bookman Old Style" pitchFamily="34" charset="-120"/>
              </a:rPr>
              <a:t>You can govern AWC data</a:t>
            </a:r>
            <a:endParaRPr lang="en-US" sz="2900" dirty="0"/>
          </a:p>
          <a:p>
            <a:pPr indent="0" marL="0">
              <a:lnSpc>
                <a:spcPct val="98000"/>
              </a:lnSpc>
              <a:buNone/>
            </a:pPr>
            <a:r>
              <a:rPr lang="en-US" sz="2900" b="1" dirty="0">
                <a:solidFill>
                  <a:srgbClr val="FFFFFF"/>
                </a:solidFill>
                <a:latin typeface="Bookman Old Style" pitchFamily="34" charset="0"/>
                <a:ea typeface="Bookman Old Style" pitchFamily="34" charset="-122"/>
                <a:cs typeface="Bookman Old Style" pitchFamily="34" charset="-120"/>
              </a:rPr>
              <a:t>end to end</a:t>
            </a:r>
            <a:endParaRPr lang="en-US" sz="2900" dirty="0"/>
          </a:p>
        </p:txBody>
      </p:sp>
      <p:sp>
        <p:nvSpPr>
          <p:cNvPr id="8" name="Shape 5"/>
          <p:cNvSpPr/>
          <p:nvPr/>
        </p:nvSpPr>
        <p:spPr>
          <a:xfrm>
            <a:off x="566928" y="2807208"/>
            <a:ext cx="274320" cy="274320"/>
          </a:xfrm>
          <a:prstGeom prst="ellipse">
            <a:avLst/>
          </a:prstGeom>
          <a:solidFill>
            <a:srgbClr val="2EC4B6"/>
          </a:solidFill>
          <a:ln/>
        </p:spPr>
      </p:sp>
      <p:pic>
        <p:nvPicPr>
          <p:cNvPr id="9" name="Image 1" descr="preencoded.png"/>
          <p:cNvPicPr>
            <a:picLocks noChangeAspect="1"/>
          </p:cNvPicPr>
          <p:nvPr/>
        </p:nvPicPr>
        <p:blipFill>
          <a:blip r:embed="rId2"/>
          <a:stretch>
            <a:fillRect/>
          </a:stretch>
        </p:blipFill>
        <p:spPr>
          <a:xfrm>
            <a:off x="621792" y="2862072"/>
            <a:ext cx="164592" cy="164592"/>
          </a:xfrm>
          <a:prstGeom prst="rect">
            <a:avLst/>
          </a:prstGeom>
        </p:spPr>
      </p:pic>
      <p:sp>
        <p:nvSpPr>
          <p:cNvPr id="10" name="Text 6"/>
          <p:cNvSpPr/>
          <p:nvPr/>
        </p:nvSpPr>
        <p:spPr>
          <a:xfrm>
            <a:off x="987552" y="278892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Connect · Explore · Profile · Flag · Search</a:t>
            </a:r>
            <a:endParaRPr lang="en-US" sz="1400" dirty="0"/>
          </a:p>
        </p:txBody>
      </p:sp>
      <p:sp>
        <p:nvSpPr>
          <p:cNvPr id="11" name="Shape 7"/>
          <p:cNvSpPr/>
          <p:nvPr/>
        </p:nvSpPr>
        <p:spPr>
          <a:xfrm>
            <a:off x="566928" y="3264408"/>
            <a:ext cx="274320" cy="274320"/>
          </a:xfrm>
          <a:prstGeom prst="ellipse">
            <a:avLst/>
          </a:prstGeom>
          <a:solidFill>
            <a:srgbClr val="2EC4B6"/>
          </a:solidFill>
          <a:ln/>
        </p:spPr>
      </p:sp>
      <p:pic>
        <p:nvPicPr>
          <p:cNvPr id="12" name="Image 2" descr="preencoded.png"/>
          <p:cNvPicPr>
            <a:picLocks noChangeAspect="1"/>
          </p:cNvPicPr>
          <p:nvPr/>
        </p:nvPicPr>
        <p:blipFill>
          <a:blip r:embed="rId3"/>
          <a:stretch>
            <a:fillRect/>
          </a:stretch>
        </p:blipFill>
        <p:spPr>
          <a:xfrm>
            <a:off x="621792" y="3319272"/>
            <a:ext cx="164592" cy="164592"/>
          </a:xfrm>
          <a:prstGeom prst="rect">
            <a:avLst/>
          </a:prstGeom>
        </p:spPr>
      </p:pic>
      <p:sp>
        <p:nvSpPr>
          <p:cNvPr id="13" name="Text 8"/>
          <p:cNvSpPr/>
          <p:nvPr/>
        </p:nvSpPr>
        <p:spPr>
          <a:xfrm>
            <a:off x="987552" y="324612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Define · Curate · Trace</a:t>
            </a:r>
            <a:endParaRPr lang="en-US" sz="1400" dirty="0"/>
          </a:p>
        </p:txBody>
      </p:sp>
      <p:sp>
        <p:nvSpPr>
          <p:cNvPr id="14" name="Shape 9"/>
          <p:cNvSpPr/>
          <p:nvPr/>
        </p:nvSpPr>
        <p:spPr>
          <a:xfrm>
            <a:off x="566928" y="3721608"/>
            <a:ext cx="274320" cy="274320"/>
          </a:xfrm>
          <a:prstGeom prst="ellipse">
            <a:avLst/>
          </a:prstGeom>
          <a:solidFill>
            <a:srgbClr val="2EC4B6"/>
          </a:solidFill>
          <a:ln/>
        </p:spPr>
      </p:sp>
      <p:pic>
        <p:nvPicPr>
          <p:cNvPr id="15" name="Image 3" descr="preencoded.png"/>
          <p:cNvPicPr>
            <a:picLocks noChangeAspect="1"/>
          </p:cNvPicPr>
          <p:nvPr/>
        </p:nvPicPr>
        <p:blipFill>
          <a:blip r:embed="rId4"/>
          <a:stretch>
            <a:fillRect/>
          </a:stretch>
        </p:blipFill>
        <p:spPr>
          <a:xfrm>
            <a:off x="621792" y="3776472"/>
            <a:ext cx="164592" cy="164592"/>
          </a:xfrm>
          <a:prstGeom prst="rect">
            <a:avLst/>
          </a:prstGeom>
        </p:spPr>
      </p:pic>
      <p:sp>
        <p:nvSpPr>
          <p:cNvPr id="16" name="Text 10"/>
          <p:cNvSpPr/>
          <p:nvPr/>
        </p:nvSpPr>
        <p:spPr>
          <a:xfrm>
            <a:off x="987552" y="370332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Extend · Govern · Visualize</a:t>
            </a:r>
            <a:endParaRPr lang="en-US" sz="1400" dirty="0"/>
          </a:p>
        </p:txBody>
      </p:sp>
      <p:sp>
        <p:nvSpPr>
          <p:cNvPr id="17" name="Shape 11"/>
          <p:cNvSpPr/>
          <p:nvPr/>
        </p:nvSpPr>
        <p:spPr>
          <a:xfrm>
            <a:off x="566928" y="4178808"/>
            <a:ext cx="274320" cy="274320"/>
          </a:xfrm>
          <a:prstGeom prst="ellipse">
            <a:avLst/>
          </a:prstGeom>
          <a:solidFill>
            <a:srgbClr val="2EC4B6"/>
          </a:solidFill>
          <a:ln/>
        </p:spPr>
      </p:sp>
      <p:pic>
        <p:nvPicPr>
          <p:cNvPr id="18" name="Image 4" descr="preencoded.png"/>
          <p:cNvPicPr>
            <a:picLocks noChangeAspect="1"/>
          </p:cNvPicPr>
          <p:nvPr/>
        </p:nvPicPr>
        <p:blipFill>
          <a:blip r:embed="rId5"/>
          <a:stretch>
            <a:fillRect/>
          </a:stretch>
        </p:blipFill>
        <p:spPr>
          <a:xfrm>
            <a:off x="621792" y="4233672"/>
            <a:ext cx="164592" cy="164592"/>
          </a:xfrm>
          <a:prstGeom prst="rect">
            <a:avLst/>
          </a:prstGeom>
        </p:spPr>
      </p:pic>
      <p:sp>
        <p:nvSpPr>
          <p:cNvPr id="19" name="Text 12"/>
          <p:cNvSpPr/>
          <p:nvPr/>
        </p:nvSpPr>
        <p:spPr>
          <a:xfrm>
            <a:off x="987552" y="4160520"/>
            <a:ext cx="7223760" cy="329184"/>
          </a:xfrm>
          <a:prstGeom prst="rect">
            <a:avLst/>
          </a:prstGeom>
          <a:noFill/>
          <a:ln/>
        </p:spPr>
        <p:txBody>
          <a:bodyPr wrap="square" lIns="0" tIns="0" rIns="0" bIns="0" rtlCol="0" anchor="ctr"/>
          <a:lstStyle/>
          <a:p>
            <a:pPr indent="0" marL="0">
              <a:buNone/>
            </a:pPr>
            <a:r>
              <a:rPr lang="en-US" sz="1400" dirty="0">
                <a:solidFill>
                  <a:srgbClr val="DCEEF5"/>
                </a:solidFill>
                <a:latin typeface="Calibri" pitchFamily="34" charset="0"/>
                <a:ea typeface="Calibri" pitchFamily="34" charset="-122"/>
                <a:cs typeface="Calibri" pitchFamily="34" charset="-120"/>
              </a:rPr>
              <a:t>You're ready to be AWC's data catalog champion</a:t>
            </a:r>
            <a:endParaRPr lang="en-US" sz="1400" dirty="0"/>
          </a:p>
        </p:txBody>
      </p:sp>
      <p:sp>
        <p:nvSpPr>
          <p:cNvPr id="20" name="Text 13"/>
          <p:cNvSpPr/>
          <p:nvPr/>
        </p:nvSpPr>
        <p:spPr>
          <a:xfrm>
            <a:off x="548640" y="4626864"/>
            <a:ext cx="8046720" cy="365760"/>
          </a:xfrm>
          <a:prstGeom prst="rect">
            <a:avLst/>
          </a:prstGeom>
          <a:noFill/>
          <a:ln/>
        </p:spPr>
        <p:txBody>
          <a:bodyPr wrap="square" lIns="0" tIns="0" rIns="0" bIns="0" rtlCol="0" anchor="ctr"/>
          <a:lstStyle/>
          <a:p>
            <a:pPr indent="0" marL="0">
              <a:buNone/>
            </a:pPr>
            <a:r>
              <a:rPr lang="en-US" sz="1200" i="1" dirty="0">
                <a:solidFill>
                  <a:srgbClr val="5B7782"/>
                </a:solidFill>
                <a:latin typeface="Calibri" pitchFamily="34" charset="0"/>
                <a:ea typeface="Calibri" pitchFamily="34" charset="-122"/>
                <a:cs typeface="Calibri" pitchFamily="34" charset="-120"/>
              </a:rPr>
              <a:t>Thank you — now go catalog with confidence.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11: Galaxy View</dc:title>
  <dc:subject>PptxGenJS Presentation</dc:subject>
  <dc:creator>Arizona Water Company - PDC BA Course</dc:creator>
  <cp:lastModifiedBy>Arizona Water Company - PDC BA Course</cp:lastModifiedBy>
  <cp:revision>1</cp:revision>
  <dcterms:created xsi:type="dcterms:W3CDTF">2026-06-10T17:22:08Z</dcterms:created>
  <dcterms:modified xsi:type="dcterms:W3CDTF">2026-06-10T17:22:08Z</dcterms:modified>
</cp:coreProperties>
</file>