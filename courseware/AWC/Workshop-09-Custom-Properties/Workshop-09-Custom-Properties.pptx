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Workshop 9, the first advanced workshop. PDC's built-in properties cover the universals, but every organisation tracks things of its own. AWC needs a retention period, a cost centre, a regulation reference. Custom properties let an admin define these once and control exactly where they appear. Role: IT Administrator to create, Steward to assign.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eight field types - this is the key design decision when creating a property, because the type can't be changed later. Free text, URL, number, boolean, date, users, select-string, select-number. Give the design tip: use Select String for cost centre so values stay consistent and work as a facet. The field type is a one-way door.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scope: a property is made available on one or more of the eight hierarchies, then narrowed to asset types within them. Walk the create flow for Data Retention Period - Management, Custom Properties, Create, choose Number, assign to Data Canvas tables and columns, show in summary. Then the two more AWC properties.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the assign side - properties are created by an admin but valued by a steward on each asset. On customers, open the Custom Properties tab, enter 7 for retention, pick a cost centre, press Enter to save. Mention the propagation behaviour: edits run as a background job and the view doesn't auto-refresh, so reload to see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done-when: three properties created, customers showing a retention value and cost centre, and they can explain why field type is fixed. The discussion about scoping Regulation Reference to BOTH term and column is worth a real pause - it's how an auditor traces a rule from definition to physical data. Transition to policies.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463040"/>
            <a:ext cx="3840480" cy="3840480"/>
          </a:xfrm>
          <a:prstGeom prst="ellipse">
            <a:avLst/>
          </a:prstGeom>
          <a:solidFill>
            <a:srgbClr val="0A3D52"/>
          </a:solidFill>
          <a:ln/>
        </p:spPr>
      </p:sp>
      <p:sp>
        <p:nvSpPr>
          <p:cNvPr id="3" name="Shape 1"/>
          <p:cNvSpPr/>
          <p:nvPr/>
        </p:nvSpPr>
        <p:spPr>
          <a:xfrm>
            <a:off x="8138160" y="2651760"/>
            <a:ext cx="2377440" cy="237744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66928"/>
            <a:ext cx="841248" cy="84124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740664"/>
            <a:ext cx="493776" cy="4937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676656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9 · 60 MINUTES · ADVANCED  ·  PDC · CUSTOM PROPERTIES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1737360"/>
            <a:ext cx="8138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Extend the Catalog</a:t>
            </a:r>
            <a:endParaRPr lang="en-US" sz="4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with Custom Properties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66928" y="35204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DC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AWC-specific metadata the built-in fields can't — retention periods, cost centres, and regulation references — scoped to exactly where they belong.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66928" y="4626864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Pentaho Data Catalog 10.2.11  ·  Management → Custom Properties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CAREFULLY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33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Eight field types — fixed at creation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865376" cy="1444752"/>
          </a:xfrm>
          <a:prstGeom prst="roundRect">
            <a:avLst>
              <a:gd name="adj" fmla="val 5696"/>
            </a:avLst>
          </a:prstGeom>
          <a:solidFill>
            <a:srgbClr val="EEF6FA"/>
          </a:solidFill>
          <a:ln/>
          <a:effectLst>
            <a:outerShdw sx="100000" sy="100000" kx="0" ky="0" algn="bl" rotWithShape="0" blurRad="76200" dist="25400" dir="5400000">
              <a:srgbClr val="0A3D52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700784"/>
            <a:ext cx="530352" cy="53035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8288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3225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333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Free Text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49808" y="25786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Notes, qualifiers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583180" y="1481328"/>
            <a:ext cx="1865376" cy="1444752"/>
          </a:xfrm>
          <a:prstGeom prst="roundRect">
            <a:avLst>
              <a:gd name="adj" fmla="val 5696"/>
            </a:avLst>
          </a:prstGeom>
          <a:solidFill>
            <a:srgbClr val="EEF6FA"/>
          </a:solidFill>
          <a:ln/>
          <a:effectLst>
            <a:outerShdw sx="100000" sy="100000" kx="0" ky="0" algn="bl" rotWithShape="0" blurRad="76200" dist="25400" dir="5400000">
              <a:srgbClr val="0A3D52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784348" y="1700784"/>
            <a:ext cx="530352" cy="53035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2364" y="182880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84348" y="23225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333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URL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2784348" y="25786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to a policy doc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617720" y="1481328"/>
            <a:ext cx="1865376" cy="1444752"/>
          </a:xfrm>
          <a:prstGeom prst="roundRect">
            <a:avLst>
              <a:gd name="adj" fmla="val 5696"/>
            </a:avLst>
          </a:prstGeom>
          <a:solidFill>
            <a:srgbClr val="EEF6FA"/>
          </a:solidFill>
          <a:ln/>
          <a:effectLst>
            <a:outerShdw sx="100000" sy="100000" kx="0" ky="0" algn="bl" rotWithShape="0" blurRad="76200" dist="25400" dir="5400000">
              <a:srgbClr val="0A3D52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818888" y="1700784"/>
            <a:ext cx="530352" cy="53035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904" y="182880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818888" y="23225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333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Number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4818888" y="25786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years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6652260" y="1481328"/>
            <a:ext cx="1865376" cy="1444752"/>
          </a:xfrm>
          <a:prstGeom prst="roundRect">
            <a:avLst>
              <a:gd name="adj" fmla="val 5696"/>
            </a:avLst>
          </a:prstGeom>
          <a:solidFill>
            <a:srgbClr val="EEF6FA"/>
          </a:solidFill>
          <a:ln/>
          <a:effectLst>
            <a:outerShdw sx="100000" sy="100000" kx="0" ky="0" algn="bl" rotWithShape="0" blurRad="76200" dist="25400" dir="5400000">
              <a:srgbClr val="0A3D52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853428" y="1700784"/>
            <a:ext cx="530352" cy="53035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1444" y="182880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53428" y="23225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333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Boolean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6853428" y="25786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Reportable flag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548640" y="3072384"/>
            <a:ext cx="1865376" cy="1444752"/>
          </a:xfrm>
          <a:prstGeom prst="roundRect">
            <a:avLst>
              <a:gd name="adj" fmla="val 5696"/>
            </a:avLst>
          </a:prstGeom>
          <a:solidFill>
            <a:srgbClr val="EEF6FA"/>
          </a:solidFill>
          <a:ln/>
          <a:effectLst>
            <a:outerShdw sx="100000" sy="100000" kx="0" ky="0" algn="bl" rotWithShape="0" blurRad="76200" dist="25400" dir="5400000">
              <a:srgbClr val="0A3D52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49808" y="3291840"/>
            <a:ext cx="530352" cy="53035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" y="3419856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49808" y="39136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333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Date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749808" y="416966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date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2583180" y="3072384"/>
            <a:ext cx="1865376" cy="1444752"/>
          </a:xfrm>
          <a:prstGeom prst="roundRect">
            <a:avLst>
              <a:gd name="adj" fmla="val 5696"/>
            </a:avLst>
          </a:prstGeom>
          <a:solidFill>
            <a:srgbClr val="EEF6FA"/>
          </a:solidFill>
          <a:ln/>
          <a:effectLst>
            <a:outerShdw sx="100000" sy="100000" kx="0" ky="0" algn="bl" rotWithShape="0" blurRad="76200" dist="25400" dir="5400000">
              <a:srgbClr val="0A3D52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2784348" y="3291840"/>
            <a:ext cx="530352" cy="53035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2364" y="3419856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2784348" y="39136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333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Users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2784348" y="416966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contacts</a:t>
            </a:r>
            <a:endParaRPr lang="en-US" sz="900" dirty="0"/>
          </a:p>
        </p:txBody>
      </p:sp>
      <p:sp>
        <p:nvSpPr>
          <p:cNvPr id="34" name="Shape 26"/>
          <p:cNvSpPr/>
          <p:nvPr/>
        </p:nvSpPr>
        <p:spPr>
          <a:xfrm>
            <a:off x="4617720" y="3072384"/>
            <a:ext cx="1865376" cy="1444752"/>
          </a:xfrm>
          <a:prstGeom prst="roundRect">
            <a:avLst>
              <a:gd name="adj" fmla="val 5696"/>
            </a:avLst>
          </a:prstGeom>
          <a:solidFill>
            <a:srgbClr val="EEF6FA"/>
          </a:solidFill>
          <a:ln/>
          <a:effectLst>
            <a:outerShdw sx="100000" sy="100000" kx="0" ky="0" algn="bl" rotWithShape="0" blurRad="76200" dist="25400" dir="5400000">
              <a:srgbClr val="0A3D52">
                <a:alpha val="10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4818888" y="3291840"/>
            <a:ext cx="530352" cy="53035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46904" y="3419856"/>
            <a:ext cx="274320" cy="27432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4818888" y="39136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333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Select String</a:t>
            </a:r>
            <a:endParaRPr lang="en-US" sz="1350" dirty="0"/>
          </a:p>
        </p:txBody>
      </p:sp>
      <p:sp>
        <p:nvSpPr>
          <p:cNvPr id="38" name="Text 29"/>
          <p:cNvSpPr/>
          <p:nvPr/>
        </p:nvSpPr>
        <p:spPr>
          <a:xfrm>
            <a:off x="4818888" y="416966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centre list</a:t>
            </a:r>
            <a:endParaRPr lang="en-US" sz="900" dirty="0"/>
          </a:p>
        </p:txBody>
      </p:sp>
      <p:sp>
        <p:nvSpPr>
          <p:cNvPr id="39" name="Shape 30"/>
          <p:cNvSpPr/>
          <p:nvPr/>
        </p:nvSpPr>
        <p:spPr>
          <a:xfrm>
            <a:off x="6652260" y="3072384"/>
            <a:ext cx="1865376" cy="1444752"/>
          </a:xfrm>
          <a:prstGeom prst="roundRect">
            <a:avLst>
              <a:gd name="adj" fmla="val 5696"/>
            </a:avLst>
          </a:prstGeom>
          <a:solidFill>
            <a:srgbClr val="EEF6FA"/>
          </a:solidFill>
          <a:ln/>
          <a:effectLst>
            <a:outerShdw sx="100000" sy="100000" kx="0" ky="0" algn="bl" rotWithShape="0" blurRad="76200" dist="25400" dir="5400000">
              <a:srgbClr val="0A3D52">
                <a:alpha val="10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6853428" y="3291840"/>
            <a:ext cx="530352" cy="53035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81444" y="3419856"/>
            <a:ext cx="274320" cy="27432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6853428" y="39136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333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Select Number</a:t>
            </a:r>
            <a:endParaRPr lang="en-US" sz="1350" dirty="0"/>
          </a:p>
        </p:txBody>
      </p:sp>
      <p:sp>
        <p:nvSpPr>
          <p:cNvPr id="43" name="Text 33"/>
          <p:cNvSpPr/>
          <p:nvPr/>
        </p:nvSpPr>
        <p:spPr>
          <a:xfrm>
            <a:off x="6853428" y="416966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Criticality 1–5</a:t>
            </a:r>
            <a:endParaRPr lang="en-US" sz="900" dirty="0"/>
          </a:p>
        </p:txBody>
      </p:sp>
      <p:sp>
        <p:nvSpPr>
          <p:cNvPr id="44" name="Text 34"/>
          <p:cNvSpPr/>
          <p:nvPr/>
        </p:nvSpPr>
        <p:spPr>
          <a:xfrm>
            <a:off x="548640" y="4937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7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field type cannot be changed after creation — to change it you must delete and recreate.</a:t>
            </a:r>
            <a:endParaRPr lang="en-US" sz="1000" dirty="0"/>
          </a:p>
        </p:txBody>
      </p:sp>
      <p:sp>
        <p:nvSpPr>
          <p:cNvPr id="45" name="Text 35"/>
          <p:cNvSpPr/>
          <p:nvPr/>
        </p:nvSpPr>
        <p:spPr>
          <a:xfrm>
            <a:off x="548640" y="4828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46" name="Text 36"/>
          <p:cNvSpPr/>
          <p:nvPr/>
        </p:nvSpPr>
        <p:spPr>
          <a:xfrm>
            <a:off x="8366760" y="482803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7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IT RIGHT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33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Where a property can live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property is offered on one or more of eight hierarchies, then narrowed to asset types within them.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65376"/>
            <a:ext cx="1865376" cy="548640"/>
          </a:xfrm>
          <a:prstGeom prst="roundRect">
            <a:avLst>
              <a:gd name="adj" fmla="val 11667"/>
            </a:avLst>
          </a:prstGeom>
          <a:solidFill>
            <a:srgbClr val="0A3D52"/>
          </a:solidFill>
          <a:ln/>
          <a:effectLst>
            <a:outerShdw sx="100000" sy="100000" kx="0" ky="0" algn="bl" rotWithShape="0" blurRad="50800" dist="12700" dir="5400000">
              <a:srgbClr val="0A3D52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865376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Canvas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83180" y="1865376"/>
            <a:ext cx="1865376" cy="548640"/>
          </a:xfrm>
          <a:prstGeom prst="roundRect">
            <a:avLst>
              <a:gd name="adj" fmla="val 11667"/>
            </a:avLst>
          </a:prstGeom>
          <a:solidFill>
            <a:srgbClr val="0A3D52"/>
          </a:solidFill>
          <a:ln/>
          <a:effectLst>
            <a:outerShdw sx="100000" sy="100000" kx="0" ky="0" algn="bl" rotWithShape="0" blurRad="50800" dist="12700" dir="5400000">
              <a:srgbClr val="0A3D52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74620" y="1865376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17720" y="1865376"/>
            <a:ext cx="1865376" cy="548640"/>
          </a:xfrm>
          <a:prstGeom prst="roundRect">
            <a:avLst>
              <a:gd name="adj" fmla="val 11667"/>
            </a:avLst>
          </a:prstGeom>
          <a:solidFill>
            <a:srgbClr val="EEF6FA"/>
          </a:solidFill>
          <a:ln/>
          <a:effectLst>
            <a:outerShdw sx="100000" sy="100000" kx="0" ky="0" algn="bl" rotWithShape="0" blurRad="50800" dist="12700" dir="5400000">
              <a:srgbClr val="0A3D52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09160" y="1865376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652260" y="1865376"/>
            <a:ext cx="1865376" cy="548640"/>
          </a:xfrm>
          <a:prstGeom prst="roundRect">
            <a:avLst>
              <a:gd name="adj" fmla="val 11667"/>
            </a:avLst>
          </a:prstGeom>
          <a:solidFill>
            <a:srgbClr val="EEF6FA"/>
          </a:solidFill>
          <a:ln/>
          <a:effectLst>
            <a:outerShdw sx="100000" sy="100000" kx="0" ky="0" algn="bl" rotWithShape="0" blurRad="50800" dist="12700" dir="5400000">
              <a:srgbClr val="0A3D52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743700" y="1865376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542032"/>
            <a:ext cx="1865376" cy="548640"/>
          </a:xfrm>
          <a:prstGeom prst="roundRect">
            <a:avLst>
              <a:gd name="adj" fmla="val 11667"/>
            </a:avLst>
          </a:prstGeom>
          <a:solidFill>
            <a:srgbClr val="EEF6FA"/>
          </a:solidFill>
          <a:ln/>
          <a:effectLst>
            <a:outerShdw sx="100000" sy="100000" kx="0" ky="0" algn="bl" rotWithShape="0" blurRad="50800" dist="12700" dir="5400000">
              <a:srgbClr val="0A3D52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2542032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83180" y="2542032"/>
            <a:ext cx="1865376" cy="548640"/>
          </a:xfrm>
          <a:prstGeom prst="roundRect">
            <a:avLst>
              <a:gd name="adj" fmla="val 11667"/>
            </a:avLst>
          </a:prstGeom>
          <a:solidFill>
            <a:srgbClr val="EEF6FA"/>
          </a:solidFill>
          <a:ln/>
          <a:effectLst>
            <a:outerShdw sx="100000" sy="100000" kx="0" ky="0" algn="bl" rotWithShape="0" blurRad="50800" dist="12700" dir="5400000">
              <a:srgbClr val="0A3D52">
                <a:alpha val="7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674620" y="2542032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17720" y="2542032"/>
            <a:ext cx="1865376" cy="548640"/>
          </a:xfrm>
          <a:prstGeom prst="roundRect">
            <a:avLst>
              <a:gd name="adj" fmla="val 11667"/>
            </a:avLst>
          </a:prstGeom>
          <a:solidFill>
            <a:srgbClr val="EEF6FA"/>
          </a:solidFill>
          <a:ln/>
          <a:effectLst>
            <a:outerShdw sx="100000" sy="100000" kx="0" ky="0" algn="bl" rotWithShape="0" blurRad="50800" dist="12700" dir="5400000">
              <a:srgbClr val="0A3D52">
                <a:alpha val="7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09160" y="2542032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Assets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652260" y="2542032"/>
            <a:ext cx="1865376" cy="548640"/>
          </a:xfrm>
          <a:prstGeom prst="roundRect">
            <a:avLst>
              <a:gd name="adj" fmla="val 11667"/>
            </a:avLst>
          </a:prstGeom>
          <a:solidFill>
            <a:srgbClr val="EEF6FA"/>
          </a:solidFill>
          <a:ln/>
          <a:effectLst>
            <a:outerShdw sx="100000" sy="100000" kx="0" ky="0" algn="bl" rotWithShape="0" blurRad="50800" dist="12700" dir="5400000">
              <a:srgbClr val="0A3D52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743700" y="2542032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33101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7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AWC targets Data Canvas and Data Collections first (highlighted).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37673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FLOW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114800"/>
            <a:ext cx="1591056" cy="603504"/>
          </a:xfrm>
          <a:prstGeom prst="roundRect">
            <a:avLst>
              <a:gd name="adj" fmla="val 9091"/>
            </a:avLst>
          </a:prstGeom>
          <a:solidFill>
            <a:srgbClr val="EEF6FA"/>
          </a:solidFill>
          <a:ln/>
        </p:spPr>
      </p:sp>
      <p:sp>
        <p:nvSpPr>
          <p:cNvPr id="24" name="Text 22"/>
          <p:cNvSpPr/>
          <p:nvPr/>
        </p:nvSpPr>
        <p:spPr>
          <a:xfrm>
            <a:off x="603504" y="4114800"/>
            <a:ext cx="1481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→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176272" y="4114800"/>
            <a:ext cx="1591056" cy="603504"/>
          </a:xfrm>
          <a:prstGeom prst="roundRect">
            <a:avLst>
              <a:gd name="adj" fmla="val 9091"/>
            </a:avLst>
          </a:prstGeom>
          <a:solidFill>
            <a:srgbClr val="EEF6FA"/>
          </a:solidFill>
          <a:ln/>
        </p:spPr>
      </p:sp>
      <p:sp>
        <p:nvSpPr>
          <p:cNvPr id="26" name="Text 24"/>
          <p:cNvSpPr/>
          <p:nvPr/>
        </p:nvSpPr>
        <p:spPr>
          <a:xfrm>
            <a:off x="2231136" y="4114800"/>
            <a:ext cx="1481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Properties →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803904" y="4114800"/>
            <a:ext cx="1591056" cy="603504"/>
          </a:xfrm>
          <a:prstGeom prst="roundRect">
            <a:avLst>
              <a:gd name="adj" fmla="val 9091"/>
            </a:avLst>
          </a:prstGeom>
          <a:solidFill>
            <a:srgbClr val="EEF6FA"/>
          </a:solidFill>
          <a:ln/>
        </p:spPr>
      </p:sp>
      <p:sp>
        <p:nvSpPr>
          <p:cNvPr id="28" name="Text 26"/>
          <p:cNvSpPr/>
          <p:nvPr/>
        </p:nvSpPr>
        <p:spPr>
          <a:xfrm>
            <a:off x="3858768" y="4114800"/>
            <a:ext cx="1481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→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431536" y="4114800"/>
            <a:ext cx="1591056" cy="603504"/>
          </a:xfrm>
          <a:prstGeom prst="roundRect">
            <a:avLst>
              <a:gd name="adj" fmla="val 9091"/>
            </a:avLst>
          </a:prstGeom>
          <a:solidFill>
            <a:srgbClr val="EEF6FA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0" y="4114800"/>
            <a:ext cx="1481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type &amp; scope →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059168" y="4114800"/>
            <a:ext cx="1591056" cy="603504"/>
          </a:xfrm>
          <a:prstGeom prst="roundRect">
            <a:avLst>
              <a:gd name="adj" fmla="val 9091"/>
            </a:avLst>
          </a:prstGeom>
          <a:solidFill>
            <a:srgbClr val="EEF6FA"/>
          </a:solidFill>
          <a:ln/>
        </p:spPr>
      </p:sp>
      <p:sp>
        <p:nvSpPr>
          <p:cNvPr id="32" name="Text 30"/>
          <p:cNvSpPr/>
          <p:nvPr/>
        </p:nvSpPr>
        <p:spPr>
          <a:xfrm>
            <a:off x="7114032" y="4114800"/>
            <a:ext cx="1481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in summary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48640" y="4828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366760" y="482803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7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CREATES, STEWARD FILLS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33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Assigning values on an asset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91056"/>
            <a:ext cx="493776" cy="49377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9105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07008" y="1572768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asset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389120" y="1572768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in the Data Canvas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95528" y="2084832"/>
            <a:ext cx="0" cy="128016"/>
          </a:xfrm>
          <a:prstGeom prst="line">
            <a:avLst/>
          </a:prstGeom>
          <a:noFill/>
          <a:ln w="19050">
            <a:solidFill>
              <a:srgbClr val="C9DE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249424"/>
            <a:ext cx="493776" cy="49377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24942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07008" y="2231136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Properties tab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389120" y="2231136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property list appears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95528" y="2743200"/>
            <a:ext cx="0" cy="128016"/>
          </a:xfrm>
          <a:prstGeom prst="line">
            <a:avLst/>
          </a:prstGeom>
          <a:noFill/>
          <a:ln w="19050">
            <a:solidFill>
              <a:srgbClr val="C9DE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07792"/>
            <a:ext cx="493776" cy="49377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9077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07008" y="2889504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the value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389120" y="2889504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7 for retention; pick a cost centre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95528" y="3401568"/>
            <a:ext cx="0" cy="128016"/>
          </a:xfrm>
          <a:prstGeom prst="line">
            <a:avLst/>
          </a:prstGeom>
          <a:noFill/>
          <a:ln w="19050">
            <a:solidFill>
              <a:srgbClr val="C9DE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566160"/>
            <a:ext cx="493776" cy="49377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5661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07008" y="3547872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Enter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389120" y="3547872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automatically; shows on Summary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334256"/>
            <a:ext cx="8046720" cy="749808"/>
          </a:xfrm>
          <a:prstGeom prst="roundRect">
            <a:avLst>
              <a:gd name="adj" fmla="val 9756"/>
            </a:avLst>
          </a:prstGeom>
          <a:solidFill>
            <a:srgbClr val="EEF6FA"/>
          </a:solidFill>
          <a:ln/>
        </p:spPr>
      </p:sp>
      <p:sp>
        <p:nvSpPr>
          <p:cNvPr id="24" name="Shape 22"/>
          <p:cNvSpPr/>
          <p:nvPr/>
        </p:nvSpPr>
        <p:spPr>
          <a:xfrm>
            <a:off x="749808" y="4498848"/>
            <a:ext cx="420624" cy="420624"/>
          </a:xfrm>
          <a:prstGeom prst="ellipse">
            <a:avLst/>
          </a:prstGeom>
          <a:solidFill>
            <a:srgbClr val="F4A259"/>
          </a:solidFill>
          <a:ln/>
        </p:spPr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4599432"/>
            <a:ext cx="219456" cy="219456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325880" y="4334256"/>
            <a:ext cx="7040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Edits run as a background job and the view doesn't auto-refresh — reload the page to see changes propagate.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48640" y="4828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8366760" y="482803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7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3017520"/>
            <a:ext cx="3108960" cy="3108960"/>
          </a:xfrm>
          <a:prstGeom prst="ellipse">
            <a:avLst/>
          </a:prstGeom>
          <a:solidFill>
            <a:srgbClr val="0A3D5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03504"/>
            <a:ext cx="841248" cy="841248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777240"/>
            <a:ext cx="493776" cy="4937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71323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WHEN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155448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AWC tracks what matters to AWC</a:t>
            </a:r>
            <a:endParaRPr lang="en-US" sz="2900" dirty="0"/>
          </a:p>
        </p:txBody>
      </p:sp>
      <p:sp>
        <p:nvSpPr>
          <p:cNvPr id="7" name="Shape 4"/>
          <p:cNvSpPr/>
          <p:nvPr/>
        </p:nvSpPr>
        <p:spPr>
          <a:xfrm>
            <a:off x="566928" y="2715768"/>
            <a:ext cx="274320" cy="27432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770632"/>
            <a:ext cx="164592" cy="1645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87552" y="2697480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properties exist: retention, cost centre, regulation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66928" y="3172968"/>
            <a:ext cx="274320" cy="27432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227832"/>
            <a:ext cx="164592" cy="16459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87552" y="3154680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shows a 7-year retention and a cost centre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566928" y="3630168"/>
            <a:ext cx="274320" cy="27432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3685032"/>
            <a:ext cx="164592" cy="16459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87552" y="3611880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explain why field type is fixed at creation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566928" y="4087368"/>
            <a:ext cx="274320" cy="27432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4142232"/>
            <a:ext cx="164592" cy="16459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87552" y="4069080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scoped Regulation Reference to both term and column</a:t>
            </a:r>
            <a:endParaRPr lang="en-US" sz="1400" dirty="0"/>
          </a:p>
        </p:txBody>
      </p:sp>
      <p:sp>
        <p:nvSpPr>
          <p:cNvPr id="19" name="Text 12"/>
          <p:cNvSpPr/>
          <p:nvPr/>
        </p:nvSpPr>
        <p:spPr>
          <a:xfrm>
            <a:off x="548640" y="4626864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7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 — Workshop 10: Govern with Policies &amp; Standards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Workshop 9: Custom Properties</dc:title>
  <dc:subject>PptxGenJS Presentation</dc:subject>
  <dc:creator>Arizona Water Company - PDC BA Course</dc:creator>
  <cp:lastModifiedBy>Arizona Water Company - PDC BA Course</cp:lastModifiedBy>
  <cp:revision>1</cp:revision>
  <dcterms:created xsi:type="dcterms:W3CDTF">2026-06-10T17:22:08Z</dcterms:created>
  <dcterms:modified xsi:type="dcterms:W3CDTF">2026-06-10T17:22:08Z</dcterms:modified>
</cp:coreProperties>
</file>