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Workshop 2. The skill here is reading metadata fluently - the core literacy of a catalog-aware analyst. Frame it: they didn't create this data, so how do they learn to trust and understand it? Through the three layers of metadata PDC captures.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idea of the whole workshop - the three layers. Technical is what the database knows: types, keys, sizes. Business is what humans need: definitions, owner, domain. Operational is how the data behaves: quality, freshness, lineage. Give the opted_out_marketing example - technically a boolean, but its business meaning is a GDPR consent flag. Same column, three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asset tabs. Every tab they open maps to one of those three layers. Summary gives business and operational at a glance; Data Elements is the technical layer column by column; Related previews lineage; Custom Properties and Comments add organisational context. Tell them to navigate these on the customers table as you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worked example. These six columns each tell all three stories at once. Linger on the sensitivity column - PII and Confidential. This is the bridge to Workshop 4, where these flags become the basis for compliance. Have them find one column whose business meaning isn't obvious from its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why a BA cares: metadata is how you trust data you didn't create. Use the stats to recap - 6 tables, 3 layers, 5 tabs. Then the discussion: the 'can I email everyone?' question, whose answer is a single column, opted_out_marketing. Transition to profiling in Workshop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p:bgPr>
    </p:bg>
    <p:spTree>
      <p:nvGrpSpPr>
        <p:cNvPr id="1" name=""/>
        <p:cNvGrpSpPr/>
        <p:nvPr/>
      </p:nvGrpSpPr>
      <p:grpSpPr>
        <a:xfrm>
          <a:off x="0" y="0"/>
          <a:ext cx="0" cy="0"/>
          <a:chOff x="0" y="0"/>
          <a:chExt cx="0" cy="0"/>
        </a:xfrm>
      </p:grpSpPr>
      <p:sp>
        <p:nvSpPr>
          <p:cNvPr id="2" name="Shape 0"/>
          <p:cNvSpPr/>
          <p:nvPr/>
        </p:nvSpPr>
        <p:spPr>
          <a:xfrm>
            <a:off x="6949440" y="-1463040"/>
            <a:ext cx="3840480" cy="3840480"/>
          </a:xfrm>
          <a:prstGeom prst="ellipse">
            <a:avLst/>
          </a:prstGeom>
          <a:solidFill>
            <a:srgbClr val="0A3D52"/>
          </a:solidFill>
          <a:ln/>
        </p:spPr>
      </p:sp>
      <p:sp>
        <p:nvSpPr>
          <p:cNvPr id="3" name="Shape 1"/>
          <p:cNvSpPr/>
          <p:nvPr/>
        </p:nvSpPr>
        <p:spPr>
          <a:xfrm>
            <a:off x="8138160" y="2651760"/>
            <a:ext cx="2377440" cy="2377440"/>
          </a:xfrm>
          <a:prstGeom prst="ellipse">
            <a:avLst/>
          </a:prstGeom>
          <a:solidFill>
            <a:srgbClr val="065A82">
              <a:alpha val="45000"/>
            </a:srgbClr>
          </a:solidFill>
          <a:ln/>
        </p:spPr>
      </p:sp>
      <p:sp>
        <p:nvSpPr>
          <p:cNvPr id="4" name="Shape 2"/>
          <p:cNvSpPr/>
          <p:nvPr/>
        </p:nvSpPr>
        <p:spPr>
          <a:xfrm>
            <a:off x="548640" y="566928"/>
            <a:ext cx="841248" cy="841248"/>
          </a:xfrm>
          <a:prstGeom prst="ellipse">
            <a:avLst/>
          </a:prstGeom>
          <a:solidFill>
            <a:srgbClr val="1C7293"/>
          </a:solidFill>
          <a:ln/>
        </p:spPr>
      </p:sp>
      <p:pic>
        <p:nvPicPr>
          <p:cNvPr id="5" name="Image 0" descr="preencoded.png"/>
          <p:cNvPicPr>
            <a:picLocks noChangeAspect="1"/>
          </p:cNvPicPr>
          <p:nvPr/>
        </p:nvPicPr>
        <p:blipFill>
          <a:blip r:embed="rId1"/>
          <a:stretch>
            <a:fillRect/>
          </a:stretch>
        </p:blipFill>
        <p:spPr>
          <a:xfrm>
            <a:off x="722376" y="740664"/>
            <a:ext cx="493776" cy="493776"/>
          </a:xfrm>
          <a:prstGeom prst="rect">
            <a:avLst/>
          </a:prstGeom>
        </p:spPr>
      </p:pic>
      <p:sp>
        <p:nvSpPr>
          <p:cNvPr id="6" name="Text 3"/>
          <p:cNvSpPr/>
          <p:nvPr/>
        </p:nvSpPr>
        <p:spPr>
          <a:xfrm>
            <a:off x="1554480" y="676656"/>
            <a:ext cx="6858000" cy="457200"/>
          </a:xfrm>
          <a:prstGeom prst="rect">
            <a:avLst/>
          </a:prstGeom>
          <a:noFill/>
          <a:ln/>
        </p:spPr>
        <p:txBody>
          <a:bodyPr wrap="square" lIns="0" tIns="0" rIns="0" bIns="0" rtlCol="0" anchor="ctr"/>
          <a:lstStyle/>
          <a:p>
            <a:pPr indent="0" marL="0">
              <a:buNone/>
            </a:pPr>
            <a:r>
              <a:rPr lang="en-US" sz="1400" b="1" spc="300" kern="0" dirty="0">
                <a:solidFill>
                  <a:srgbClr val="2EC4B6"/>
                </a:solidFill>
                <a:latin typeface="Calibri" pitchFamily="34" charset="0"/>
                <a:ea typeface="Calibri" pitchFamily="34" charset="-122"/>
                <a:cs typeface="Calibri" pitchFamily="34" charset="-120"/>
              </a:rPr>
              <a:t>WORKSHOP 7 · 45 MINUTES  ·  PDC · COLLECTIONS</a:t>
            </a:r>
            <a:endParaRPr lang="en-US" sz="1400" dirty="0"/>
          </a:p>
        </p:txBody>
      </p:sp>
      <p:sp>
        <p:nvSpPr>
          <p:cNvPr id="7" name="Text 4"/>
          <p:cNvSpPr/>
          <p:nvPr/>
        </p:nvSpPr>
        <p:spPr>
          <a:xfrm>
            <a:off x="548640" y="1737360"/>
            <a:ext cx="8138160" cy="1737360"/>
          </a:xfrm>
          <a:prstGeom prst="rect">
            <a:avLst/>
          </a:prstGeom>
          <a:noFill/>
          <a:ln/>
        </p:spPr>
        <p:txBody>
          <a:bodyPr wrap="square" lIns="0" tIns="0" rIns="0" bIns="0" rtlCol="0" anchor="ctr"/>
          <a:lstStyle/>
          <a:p>
            <a:pPr indent="0" marL="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Curate a</a:t>
            </a:r>
            <a:endParaRPr lang="en-US" sz="4000" dirty="0"/>
          </a:p>
          <a:p>
            <a:pPr indent="0" marL="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Data Collection</a:t>
            </a:r>
            <a:endParaRPr lang="en-US" sz="4000" dirty="0"/>
          </a:p>
        </p:txBody>
      </p:sp>
      <p:sp>
        <p:nvSpPr>
          <p:cNvPr id="8" name="Text 5"/>
          <p:cNvSpPr/>
          <p:nvPr/>
        </p:nvSpPr>
        <p:spPr>
          <a:xfrm>
            <a:off x="566928" y="3520440"/>
            <a:ext cx="7863840" cy="914400"/>
          </a:xfrm>
          <a:prstGeom prst="rect">
            <a:avLst/>
          </a:prstGeom>
          <a:noFill/>
          <a:ln/>
        </p:spPr>
        <p:txBody>
          <a:bodyPr wrap="square" lIns="0" tIns="0" rIns="0" bIns="0" rtlCol="0" anchor="ctr"/>
          <a:lstStyle/>
          <a:p>
            <a:pPr indent="0" marL="0">
              <a:lnSpc>
                <a:spcPct val="105000"/>
              </a:lnSpc>
              <a:buNone/>
            </a:pPr>
            <a:r>
              <a:rPr lang="en-US" sz="1800" dirty="0">
                <a:solidFill>
                  <a:srgbClr val="DCEEF5"/>
                </a:solidFill>
                <a:latin typeface="Calibri" pitchFamily="34" charset="0"/>
                <a:ea typeface="Calibri" pitchFamily="34" charset="-122"/>
                <a:cs typeface="Calibri" pitchFamily="34" charset="-120"/>
              </a:rPr>
              <a:t>Gather trusted AWC tables into a Collection, enrich it, and publish it as a shareable Data Product.</a:t>
            </a:r>
            <a:endParaRPr lang="en-US" sz="1800" dirty="0"/>
          </a:p>
        </p:txBody>
      </p:sp>
      <p:sp>
        <p:nvSpPr>
          <p:cNvPr id="9" name="Text 6"/>
          <p:cNvSpPr/>
          <p:nvPr/>
        </p:nvSpPr>
        <p:spPr>
          <a:xfrm>
            <a:off x="566928" y="4626864"/>
            <a:ext cx="8046720" cy="365760"/>
          </a:xfrm>
          <a:prstGeom prst="rect">
            <a:avLst/>
          </a:prstGeom>
          <a:noFill/>
          <a:ln/>
        </p:spPr>
        <p:txBody>
          <a:bodyPr wrap="square" lIns="0" tIns="0" rIns="0" bIns="0" rtlCol="0" anchor="ctr"/>
          <a:lstStyle/>
          <a:p>
            <a:pPr indent="0" marL="0">
              <a:buNone/>
            </a:pPr>
            <a:r>
              <a:rPr lang="en-US" sz="1200" dirty="0">
                <a:solidFill>
                  <a:srgbClr val="5B7782"/>
                </a:solidFill>
                <a:latin typeface="Calibri" pitchFamily="34" charset="0"/>
                <a:ea typeface="Calibri" pitchFamily="34" charset="-122"/>
                <a:cs typeface="Calibri" pitchFamily="34" charset="-120"/>
              </a:rPr>
              <a:t>Pentaho Data Catalog 10.2.11  ·  Add to Cart → Collection → Data Product  ·  awc_operations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BIG IDEA</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From tables to a Data Product</a:t>
            </a:r>
            <a:endParaRPr lang="en-US" sz="2700" dirty="0"/>
          </a:p>
        </p:txBody>
      </p:sp>
      <p:sp>
        <p:nvSpPr>
          <p:cNvPr id="4" name="Shape 2"/>
          <p:cNvSpPr/>
          <p:nvPr/>
        </p:nvSpPr>
        <p:spPr>
          <a:xfrm>
            <a:off x="548640" y="1517904"/>
            <a:ext cx="2587752" cy="3017520"/>
          </a:xfrm>
          <a:prstGeom prst="roundRect">
            <a:avLst>
              <a:gd name="adj" fmla="val 3180"/>
            </a:avLst>
          </a:prstGeom>
          <a:solidFill>
            <a:srgbClr val="EEF6FA"/>
          </a:solidFill>
          <a:ln/>
          <a:effectLst>
            <a:outerShdw sx="100000" sy="100000" kx="0" ky="0" algn="bl" rotWithShape="0" blurRad="101600" dist="25400" dir="5400000">
              <a:srgbClr val="0A3D52">
                <a:alpha val="12000"/>
              </a:srgbClr>
            </a:outerShdw>
          </a:effectLst>
        </p:spPr>
      </p:sp>
      <p:sp>
        <p:nvSpPr>
          <p:cNvPr id="5" name="Shape 3"/>
          <p:cNvSpPr/>
          <p:nvPr/>
        </p:nvSpPr>
        <p:spPr>
          <a:xfrm>
            <a:off x="804672" y="1792224"/>
            <a:ext cx="713232" cy="713232"/>
          </a:xfrm>
          <a:prstGeom prst="ellipse">
            <a:avLst/>
          </a:prstGeom>
          <a:solidFill>
            <a:srgbClr val="065A82"/>
          </a:solidFill>
          <a:ln/>
        </p:spPr>
      </p:sp>
      <p:pic>
        <p:nvPicPr>
          <p:cNvPr id="6" name="Image 0" descr="preencoded.png"/>
          <p:cNvPicPr>
            <a:picLocks noChangeAspect="1"/>
          </p:cNvPicPr>
          <p:nvPr/>
        </p:nvPicPr>
        <p:blipFill>
          <a:blip r:embed="rId1"/>
          <a:stretch>
            <a:fillRect/>
          </a:stretch>
        </p:blipFill>
        <p:spPr>
          <a:xfrm>
            <a:off x="996696" y="1984248"/>
            <a:ext cx="329184" cy="329184"/>
          </a:xfrm>
          <a:prstGeom prst="rect">
            <a:avLst/>
          </a:prstGeom>
        </p:spPr>
      </p:pic>
      <p:sp>
        <p:nvSpPr>
          <p:cNvPr id="7" name="Text 4"/>
          <p:cNvSpPr/>
          <p:nvPr/>
        </p:nvSpPr>
        <p:spPr>
          <a:xfrm>
            <a:off x="804672" y="2651760"/>
            <a:ext cx="2130552" cy="384048"/>
          </a:xfrm>
          <a:prstGeom prst="rect">
            <a:avLst/>
          </a:prstGeom>
          <a:noFill/>
          <a:ln/>
        </p:spPr>
        <p:txBody>
          <a:bodyPr wrap="square" lIns="0" tIns="0" rIns="0" bIns="0" rtlCol="0" anchor="ctr"/>
          <a:lstStyle/>
          <a:p>
            <a:pPr indent="0" marL="0">
              <a:buNone/>
            </a:pPr>
            <a:r>
              <a:rPr lang="en-US" sz="2000" b="1" dirty="0">
                <a:solidFill>
                  <a:srgbClr val="14333F"/>
                </a:solidFill>
                <a:latin typeface="Bookman Old Style" pitchFamily="34" charset="0"/>
                <a:ea typeface="Bookman Old Style" pitchFamily="34" charset="-122"/>
                <a:cs typeface="Bookman Old Style" pitchFamily="34" charset="-120"/>
              </a:rPr>
              <a:t>Collect</a:t>
            </a:r>
            <a:endParaRPr lang="en-US" sz="2000" dirty="0"/>
          </a:p>
        </p:txBody>
      </p:sp>
      <p:sp>
        <p:nvSpPr>
          <p:cNvPr id="8" name="Text 5"/>
          <p:cNvSpPr/>
          <p:nvPr/>
        </p:nvSpPr>
        <p:spPr>
          <a:xfrm>
            <a:off x="804672" y="3035808"/>
            <a:ext cx="2130552" cy="292608"/>
          </a:xfrm>
          <a:prstGeom prst="rect">
            <a:avLst/>
          </a:prstGeom>
          <a:noFill/>
          <a:ln/>
        </p:spPr>
        <p:txBody>
          <a:bodyPr wrap="square" lIns="0" tIns="0" rIns="0" bIns="0" rtlCol="0" anchor="ctr"/>
          <a:lstStyle/>
          <a:p>
            <a:pPr indent="0" marL="0">
              <a:buNone/>
            </a:pPr>
            <a:r>
              <a:rPr lang="en-US" sz="1100" b="1" i="1" dirty="0">
                <a:solidFill>
                  <a:srgbClr val="065A82"/>
                </a:solidFill>
                <a:latin typeface="Calibri" pitchFamily="34" charset="0"/>
                <a:ea typeface="Calibri" pitchFamily="34" charset="-122"/>
                <a:cs typeface="Calibri" pitchFamily="34" charset="-120"/>
              </a:rPr>
              <a:t>Gather the tables</a:t>
            </a:r>
            <a:endParaRPr lang="en-US" sz="1100" dirty="0"/>
          </a:p>
        </p:txBody>
      </p:sp>
      <p:sp>
        <p:nvSpPr>
          <p:cNvPr id="9" name="Text 6"/>
          <p:cNvSpPr/>
          <p:nvPr/>
        </p:nvSpPr>
        <p:spPr>
          <a:xfrm>
            <a:off x="804672" y="3383280"/>
            <a:ext cx="2112264" cy="1005840"/>
          </a:xfrm>
          <a:prstGeom prst="rect">
            <a:avLst/>
          </a:prstGeom>
          <a:noFill/>
          <a:ln/>
        </p:spPr>
        <p:txBody>
          <a:bodyPr wrap="square" lIns="0" tIns="0" rIns="0" bIns="0" rtlCol="0" anchor="ctr"/>
          <a:lstStyle/>
          <a:p>
            <a:pPr indent="0" marL="0">
              <a:lnSpc>
                <a:spcPct val="105000"/>
              </a:lnSpc>
              <a:buNone/>
            </a:pPr>
            <a:r>
              <a:rPr lang="en-US" sz="1100" dirty="0">
                <a:solidFill>
                  <a:srgbClr val="5B7782"/>
                </a:solidFill>
                <a:latin typeface="Calibri" pitchFamily="34" charset="0"/>
                <a:ea typeface="Calibri" pitchFamily="34" charset="-122"/>
                <a:cs typeface="Calibri" pitchFamily="34" charset="-120"/>
              </a:rPr>
              <a:t>Add related tables to the cart and create a Collection — your private, shareable working set.</a:t>
            </a:r>
            <a:endParaRPr lang="en-US" sz="1100" dirty="0"/>
          </a:p>
        </p:txBody>
      </p:sp>
      <p:sp>
        <p:nvSpPr>
          <p:cNvPr id="10" name="Shape 7"/>
          <p:cNvSpPr/>
          <p:nvPr/>
        </p:nvSpPr>
        <p:spPr>
          <a:xfrm>
            <a:off x="3273552" y="1517904"/>
            <a:ext cx="2587752" cy="3017520"/>
          </a:xfrm>
          <a:prstGeom prst="roundRect">
            <a:avLst>
              <a:gd name="adj" fmla="val 3180"/>
            </a:avLst>
          </a:prstGeom>
          <a:solidFill>
            <a:srgbClr val="EEF6FA"/>
          </a:solidFill>
          <a:ln/>
          <a:effectLst>
            <a:outerShdw sx="100000" sy="100000" kx="0" ky="0" algn="bl" rotWithShape="0" blurRad="101600" dist="25400" dir="5400000">
              <a:srgbClr val="0A3D52">
                <a:alpha val="12000"/>
              </a:srgbClr>
            </a:outerShdw>
          </a:effectLst>
        </p:spPr>
      </p:sp>
      <p:sp>
        <p:nvSpPr>
          <p:cNvPr id="11" name="Shape 8"/>
          <p:cNvSpPr/>
          <p:nvPr/>
        </p:nvSpPr>
        <p:spPr>
          <a:xfrm>
            <a:off x="3529584" y="1792224"/>
            <a:ext cx="713232" cy="713232"/>
          </a:xfrm>
          <a:prstGeom prst="ellipse">
            <a:avLst/>
          </a:prstGeom>
          <a:solidFill>
            <a:srgbClr val="1C7293"/>
          </a:solidFill>
          <a:ln/>
        </p:spPr>
      </p:sp>
      <p:pic>
        <p:nvPicPr>
          <p:cNvPr id="12" name="Image 1" descr="preencoded.png"/>
          <p:cNvPicPr>
            <a:picLocks noChangeAspect="1"/>
          </p:cNvPicPr>
          <p:nvPr/>
        </p:nvPicPr>
        <p:blipFill>
          <a:blip r:embed="rId2"/>
          <a:stretch>
            <a:fillRect/>
          </a:stretch>
        </p:blipFill>
        <p:spPr>
          <a:xfrm>
            <a:off x="3721608" y="1984248"/>
            <a:ext cx="329184" cy="329184"/>
          </a:xfrm>
          <a:prstGeom prst="rect">
            <a:avLst/>
          </a:prstGeom>
        </p:spPr>
      </p:pic>
      <p:sp>
        <p:nvSpPr>
          <p:cNvPr id="13" name="Text 9"/>
          <p:cNvSpPr/>
          <p:nvPr/>
        </p:nvSpPr>
        <p:spPr>
          <a:xfrm>
            <a:off x="3529584" y="2651760"/>
            <a:ext cx="2130552" cy="384048"/>
          </a:xfrm>
          <a:prstGeom prst="rect">
            <a:avLst/>
          </a:prstGeom>
          <a:noFill/>
          <a:ln/>
        </p:spPr>
        <p:txBody>
          <a:bodyPr wrap="square" lIns="0" tIns="0" rIns="0" bIns="0" rtlCol="0" anchor="ctr"/>
          <a:lstStyle/>
          <a:p>
            <a:pPr indent="0" marL="0">
              <a:buNone/>
            </a:pPr>
            <a:r>
              <a:rPr lang="en-US" sz="2000" b="1" dirty="0">
                <a:solidFill>
                  <a:srgbClr val="14333F"/>
                </a:solidFill>
                <a:latin typeface="Bookman Old Style" pitchFamily="34" charset="0"/>
                <a:ea typeface="Bookman Old Style" pitchFamily="34" charset="-122"/>
                <a:cs typeface="Bookman Old Style" pitchFamily="34" charset="-120"/>
              </a:rPr>
              <a:t>Enrich</a:t>
            </a:r>
            <a:endParaRPr lang="en-US" sz="2000" dirty="0"/>
          </a:p>
        </p:txBody>
      </p:sp>
      <p:sp>
        <p:nvSpPr>
          <p:cNvPr id="14" name="Text 10"/>
          <p:cNvSpPr/>
          <p:nvPr/>
        </p:nvSpPr>
        <p:spPr>
          <a:xfrm>
            <a:off x="3529584" y="3035808"/>
            <a:ext cx="2130552" cy="292608"/>
          </a:xfrm>
          <a:prstGeom prst="rect">
            <a:avLst/>
          </a:prstGeom>
          <a:noFill/>
          <a:ln/>
        </p:spPr>
        <p:txBody>
          <a:bodyPr wrap="square" lIns="0" tIns="0" rIns="0" bIns="0" rtlCol="0" anchor="ctr"/>
          <a:lstStyle/>
          <a:p>
            <a:pPr indent="0" marL="0">
              <a:buNone/>
            </a:pPr>
            <a:r>
              <a:rPr lang="en-US" sz="1100" b="1" i="1" dirty="0">
                <a:solidFill>
                  <a:srgbClr val="1C7293"/>
                </a:solidFill>
                <a:latin typeface="Calibri" pitchFamily="34" charset="0"/>
                <a:ea typeface="Calibri" pitchFamily="34" charset="-122"/>
                <a:cs typeface="Calibri" pitchFamily="34" charset="-120"/>
              </a:rPr>
              <a:t>Add governance</a:t>
            </a:r>
            <a:endParaRPr lang="en-US" sz="1100" dirty="0"/>
          </a:p>
        </p:txBody>
      </p:sp>
      <p:sp>
        <p:nvSpPr>
          <p:cNvPr id="15" name="Text 11"/>
          <p:cNvSpPr/>
          <p:nvPr/>
        </p:nvSpPr>
        <p:spPr>
          <a:xfrm>
            <a:off x="3529584" y="3383280"/>
            <a:ext cx="2112264" cy="1005840"/>
          </a:xfrm>
          <a:prstGeom prst="rect">
            <a:avLst/>
          </a:prstGeom>
          <a:noFill/>
          <a:ln/>
        </p:spPr>
        <p:txBody>
          <a:bodyPr wrap="square" lIns="0" tIns="0" rIns="0" bIns="0" rtlCol="0" anchor="ctr"/>
          <a:lstStyle/>
          <a:p>
            <a:pPr indent="0" marL="0">
              <a:lnSpc>
                <a:spcPct val="105000"/>
              </a:lnSpc>
              <a:buNone/>
            </a:pPr>
            <a:r>
              <a:rPr lang="en-US" sz="1100" dirty="0">
                <a:solidFill>
                  <a:srgbClr val="5B7782"/>
                </a:solidFill>
                <a:latin typeface="Calibri" pitchFamily="34" charset="0"/>
                <a:ea typeface="Calibri" pitchFamily="34" charset="-122"/>
                <a:cs typeface="Calibri" pitchFamily="34" charset="-120"/>
              </a:rPr>
              <a:t>Link business terms, set sensitivity, and profile it — Data Aggregation runs automatically.</a:t>
            </a:r>
            <a:endParaRPr lang="en-US" sz="1100" dirty="0"/>
          </a:p>
        </p:txBody>
      </p:sp>
      <p:sp>
        <p:nvSpPr>
          <p:cNvPr id="16" name="Shape 12"/>
          <p:cNvSpPr/>
          <p:nvPr/>
        </p:nvSpPr>
        <p:spPr>
          <a:xfrm>
            <a:off x="5998464" y="1517904"/>
            <a:ext cx="2587752" cy="3017520"/>
          </a:xfrm>
          <a:prstGeom prst="roundRect">
            <a:avLst>
              <a:gd name="adj" fmla="val 3180"/>
            </a:avLst>
          </a:prstGeom>
          <a:solidFill>
            <a:srgbClr val="EEF6FA"/>
          </a:solidFill>
          <a:ln/>
          <a:effectLst>
            <a:outerShdw sx="100000" sy="100000" kx="0" ky="0" algn="bl" rotWithShape="0" blurRad="101600" dist="25400" dir="5400000">
              <a:srgbClr val="0A3D52">
                <a:alpha val="12000"/>
              </a:srgbClr>
            </a:outerShdw>
          </a:effectLst>
        </p:spPr>
      </p:sp>
      <p:sp>
        <p:nvSpPr>
          <p:cNvPr id="17" name="Shape 13"/>
          <p:cNvSpPr/>
          <p:nvPr/>
        </p:nvSpPr>
        <p:spPr>
          <a:xfrm>
            <a:off x="6254496" y="1792224"/>
            <a:ext cx="713232" cy="713232"/>
          </a:xfrm>
          <a:prstGeom prst="ellipse">
            <a:avLst/>
          </a:prstGeom>
          <a:solidFill>
            <a:srgbClr val="2EC4B6"/>
          </a:solidFill>
          <a:ln/>
        </p:spPr>
      </p:sp>
      <p:pic>
        <p:nvPicPr>
          <p:cNvPr id="18" name="Image 2" descr="preencoded.png"/>
          <p:cNvPicPr>
            <a:picLocks noChangeAspect="1"/>
          </p:cNvPicPr>
          <p:nvPr/>
        </p:nvPicPr>
        <p:blipFill>
          <a:blip r:embed="rId3"/>
          <a:stretch>
            <a:fillRect/>
          </a:stretch>
        </p:blipFill>
        <p:spPr>
          <a:xfrm>
            <a:off x="6446520" y="1984248"/>
            <a:ext cx="329184" cy="329184"/>
          </a:xfrm>
          <a:prstGeom prst="rect">
            <a:avLst/>
          </a:prstGeom>
        </p:spPr>
      </p:pic>
      <p:sp>
        <p:nvSpPr>
          <p:cNvPr id="19" name="Text 14"/>
          <p:cNvSpPr/>
          <p:nvPr/>
        </p:nvSpPr>
        <p:spPr>
          <a:xfrm>
            <a:off x="6254496" y="2651760"/>
            <a:ext cx="2130552" cy="384048"/>
          </a:xfrm>
          <a:prstGeom prst="rect">
            <a:avLst/>
          </a:prstGeom>
          <a:noFill/>
          <a:ln/>
        </p:spPr>
        <p:txBody>
          <a:bodyPr wrap="square" lIns="0" tIns="0" rIns="0" bIns="0" rtlCol="0" anchor="ctr"/>
          <a:lstStyle/>
          <a:p>
            <a:pPr indent="0" marL="0">
              <a:buNone/>
            </a:pPr>
            <a:r>
              <a:rPr lang="en-US" sz="2000" b="1" dirty="0">
                <a:solidFill>
                  <a:srgbClr val="14333F"/>
                </a:solidFill>
                <a:latin typeface="Bookman Old Style" pitchFamily="34" charset="0"/>
                <a:ea typeface="Bookman Old Style" pitchFamily="34" charset="-122"/>
                <a:cs typeface="Bookman Old Style" pitchFamily="34" charset="-120"/>
              </a:rPr>
              <a:t>Publish</a:t>
            </a:r>
            <a:endParaRPr lang="en-US" sz="2000" dirty="0"/>
          </a:p>
        </p:txBody>
      </p:sp>
      <p:sp>
        <p:nvSpPr>
          <p:cNvPr id="20" name="Text 15"/>
          <p:cNvSpPr/>
          <p:nvPr/>
        </p:nvSpPr>
        <p:spPr>
          <a:xfrm>
            <a:off x="6254496" y="3035808"/>
            <a:ext cx="2130552" cy="292608"/>
          </a:xfrm>
          <a:prstGeom prst="rect">
            <a:avLst/>
          </a:prstGeom>
          <a:noFill/>
          <a:ln/>
        </p:spPr>
        <p:txBody>
          <a:bodyPr wrap="square" lIns="0" tIns="0" rIns="0" bIns="0" rtlCol="0" anchor="ctr"/>
          <a:lstStyle/>
          <a:p>
            <a:pPr indent="0" marL="0">
              <a:buNone/>
            </a:pPr>
            <a:r>
              <a:rPr lang="en-US" sz="1100" b="1" i="1" dirty="0">
                <a:solidFill>
                  <a:srgbClr val="2EC4B6"/>
                </a:solidFill>
                <a:latin typeface="Calibri" pitchFamily="34" charset="0"/>
                <a:ea typeface="Calibri" pitchFamily="34" charset="-122"/>
                <a:cs typeface="Calibri" pitchFamily="34" charset="-120"/>
              </a:rPr>
              <a:t>Deliver it</a:t>
            </a:r>
            <a:endParaRPr lang="en-US" sz="1100" dirty="0"/>
          </a:p>
        </p:txBody>
      </p:sp>
      <p:sp>
        <p:nvSpPr>
          <p:cNvPr id="21" name="Text 16"/>
          <p:cNvSpPr/>
          <p:nvPr/>
        </p:nvSpPr>
        <p:spPr>
          <a:xfrm>
            <a:off x="6254496" y="3383280"/>
            <a:ext cx="2112264" cy="1005840"/>
          </a:xfrm>
          <a:prstGeom prst="rect">
            <a:avLst/>
          </a:prstGeom>
          <a:noFill/>
          <a:ln/>
        </p:spPr>
        <p:txBody>
          <a:bodyPr wrap="square" lIns="0" tIns="0" rIns="0" bIns="0" rtlCol="0" anchor="ctr"/>
          <a:lstStyle/>
          <a:p>
            <a:pPr indent="0" marL="0">
              <a:lnSpc>
                <a:spcPct val="105000"/>
              </a:lnSpc>
              <a:buNone/>
            </a:pPr>
            <a:r>
              <a:rPr lang="en-US" sz="1100" dirty="0">
                <a:solidFill>
                  <a:srgbClr val="5B7782"/>
                </a:solidFill>
                <a:latin typeface="Calibri" pitchFamily="34" charset="0"/>
                <a:ea typeface="Calibri" pitchFamily="34" charset="-122"/>
                <a:cs typeface="Calibri" pitchFamily="34" charset="-120"/>
              </a:rPr>
              <a:t>Publish the Collection as a Data Product: organization-wide, verified, and access-controlled.</a:t>
            </a:r>
            <a:endParaRPr lang="en-US" sz="1100" dirty="0"/>
          </a:p>
        </p:txBody>
      </p:sp>
      <p:sp>
        <p:nvSpPr>
          <p:cNvPr id="22" name="Text 17"/>
          <p:cNvSpPr/>
          <p:nvPr/>
        </p:nvSpPr>
        <p:spPr>
          <a:xfrm>
            <a:off x="548640" y="4828032"/>
            <a:ext cx="7315200" cy="274320"/>
          </a:xfrm>
          <a:prstGeom prst="rect">
            <a:avLst/>
          </a:prstGeom>
          <a:noFill/>
          <a:ln/>
        </p:spPr>
        <p:txBody>
          <a:bodyPr wrap="square" lIns="0" tIns="0" rIns="0" bIns="0" rtlCol="0" anchor="ctr"/>
          <a:lstStyle/>
          <a:p>
            <a:pPr indent="0" marL="0">
              <a:buNone/>
            </a:pPr>
            <a:r>
              <a:rPr lang="en-US" sz="950" dirty="0">
                <a:solidFill>
                  <a:srgbClr val="5B7782"/>
                </a:solidFill>
                <a:latin typeface="Calibri" pitchFamily="34" charset="0"/>
                <a:ea typeface="Calibri" pitchFamily="34" charset="-122"/>
                <a:cs typeface="Calibri" pitchFamily="34" charset="-120"/>
              </a:rPr>
              <a:t>Workshop 7 · A Collection is private; a Data Product is for everyone</a:t>
            </a:r>
            <a:endParaRPr lang="en-US" sz="950" dirty="0"/>
          </a:p>
        </p:txBody>
      </p:sp>
      <p:sp>
        <p:nvSpPr>
          <p:cNvPr id="23" name="Text 18"/>
          <p:cNvSpPr/>
          <p:nvPr/>
        </p:nvSpPr>
        <p:spPr>
          <a:xfrm>
            <a:off x="8366760" y="4828032"/>
            <a:ext cx="320040" cy="274320"/>
          </a:xfrm>
          <a:prstGeom prst="rect">
            <a:avLst/>
          </a:prstGeom>
          <a:noFill/>
          <a:ln/>
        </p:spPr>
        <p:txBody>
          <a:bodyPr wrap="square" lIns="0" tIns="0" rIns="0" bIns="0" rtlCol="0" anchor="ctr"/>
          <a:lstStyle/>
          <a:p>
            <a:pPr algn="r" indent="0" marL="0">
              <a:buNone/>
            </a:pPr>
            <a:r>
              <a:rPr lang="en-US" sz="950" dirty="0">
                <a:solidFill>
                  <a:srgbClr val="5B7782"/>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RELATIONSHIPS</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What a Collection links</a:t>
            </a:r>
            <a:endParaRPr lang="en-US" sz="2700" dirty="0"/>
          </a:p>
        </p:txBody>
      </p:sp>
      <p:sp>
        <p:nvSpPr>
          <p:cNvPr id="4" name="Shape 2"/>
          <p:cNvSpPr/>
          <p:nvPr/>
        </p:nvSpPr>
        <p:spPr>
          <a:xfrm>
            <a:off x="548640" y="1499616"/>
            <a:ext cx="8046720" cy="585216"/>
          </a:xfrm>
          <a:prstGeom prst="roundRect">
            <a:avLst>
              <a:gd name="adj" fmla="val 10938"/>
            </a:avLst>
          </a:prstGeom>
          <a:solidFill>
            <a:srgbClr val="EEF6FA"/>
          </a:solidFill>
          <a:ln/>
          <a:effectLst>
            <a:outerShdw sx="100000" sy="100000" kx="0" ky="0" algn="bl" rotWithShape="0" blurRad="50800" dist="12700" dir="5400000">
              <a:srgbClr val="0A3D52">
                <a:alpha val="7000"/>
              </a:srgbClr>
            </a:outerShdw>
          </a:effectLst>
        </p:spPr>
      </p:sp>
      <p:sp>
        <p:nvSpPr>
          <p:cNvPr id="5" name="Shape 3"/>
          <p:cNvSpPr/>
          <p:nvPr/>
        </p:nvSpPr>
        <p:spPr>
          <a:xfrm>
            <a:off x="713232" y="1609344"/>
            <a:ext cx="384048" cy="384048"/>
          </a:xfrm>
          <a:prstGeom prst="ellipse">
            <a:avLst/>
          </a:prstGeom>
          <a:solidFill>
            <a:srgbClr val="1C7293"/>
          </a:solidFill>
          <a:ln/>
        </p:spPr>
      </p:sp>
      <p:pic>
        <p:nvPicPr>
          <p:cNvPr id="6" name="Image 0" descr="preencoded.png"/>
          <p:cNvPicPr>
            <a:picLocks noChangeAspect="1"/>
          </p:cNvPicPr>
          <p:nvPr/>
        </p:nvPicPr>
        <p:blipFill>
          <a:blip r:embed="rId1"/>
          <a:stretch>
            <a:fillRect/>
          </a:stretch>
        </p:blipFill>
        <p:spPr>
          <a:xfrm>
            <a:off x="800100" y="1696212"/>
            <a:ext cx="210312" cy="210312"/>
          </a:xfrm>
          <a:prstGeom prst="rect">
            <a:avLst/>
          </a:prstGeom>
        </p:spPr>
      </p:pic>
      <p:sp>
        <p:nvSpPr>
          <p:cNvPr id="7" name="Text 4"/>
          <p:cNvSpPr/>
          <p:nvPr/>
        </p:nvSpPr>
        <p:spPr>
          <a:xfrm>
            <a:off x="1280160" y="1499616"/>
            <a:ext cx="2103120" cy="585216"/>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Glossary</a:t>
            </a:r>
            <a:endParaRPr lang="en-US" sz="1400" dirty="0"/>
          </a:p>
        </p:txBody>
      </p:sp>
      <p:sp>
        <p:nvSpPr>
          <p:cNvPr id="8" name="Text 5"/>
          <p:cNvSpPr/>
          <p:nvPr/>
        </p:nvSpPr>
        <p:spPr>
          <a:xfrm>
            <a:off x="3383280" y="1499616"/>
            <a:ext cx="5029200" cy="585216"/>
          </a:xfrm>
          <a:prstGeom prst="rect">
            <a:avLst/>
          </a:prstGeom>
          <a:noFill/>
          <a:ln/>
        </p:spPr>
        <p:txBody>
          <a:bodyPr wrap="square" lIns="0" tIns="0" rIns="0" bIns="0" rtlCol="0" anchor="ctr"/>
          <a:lstStyle/>
          <a:p>
            <a:pPr indent="0" marL="0">
              <a:buNone/>
            </a:pPr>
            <a:r>
              <a:rPr lang="en-US" sz="1150" dirty="0">
                <a:solidFill>
                  <a:srgbClr val="5B7782"/>
                </a:solidFill>
                <a:latin typeface="Calibri" pitchFamily="34" charset="0"/>
                <a:ea typeface="Calibri" pitchFamily="34" charset="-122"/>
                <a:cs typeface="Calibri" pitchFamily="34" charset="-120"/>
              </a:rPr>
              <a:t>Business terms that describe the collection.</a:t>
            </a:r>
            <a:endParaRPr lang="en-US" sz="1150" dirty="0"/>
          </a:p>
        </p:txBody>
      </p:sp>
      <p:sp>
        <p:nvSpPr>
          <p:cNvPr id="9" name="Shape 6"/>
          <p:cNvSpPr/>
          <p:nvPr/>
        </p:nvSpPr>
        <p:spPr>
          <a:xfrm>
            <a:off x="548640" y="2176272"/>
            <a:ext cx="8046720" cy="585216"/>
          </a:xfrm>
          <a:prstGeom prst="roundRect">
            <a:avLst>
              <a:gd name="adj" fmla="val 10938"/>
            </a:avLst>
          </a:prstGeom>
          <a:solidFill>
            <a:srgbClr val="EEF6FA"/>
          </a:solidFill>
          <a:ln/>
          <a:effectLst>
            <a:outerShdw sx="100000" sy="100000" kx="0" ky="0" algn="bl" rotWithShape="0" blurRad="50800" dist="12700" dir="5400000">
              <a:srgbClr val="0A3D52">
                <a:alpha val="7000"/>
              </a:srgbClr>
            </a:outerShdw>
          </a:effectLst>
        </p:spPr>
      </p:sp>
      <p:sp>
        <p:nvSpPr>
          <p:cNvPr id="10" name="Shape 7"/>
          <p:cNvSpPr/>
          <p:nvPr/>
        </p:nvSpPr>
        <p:spPr>
          <a:xfrm>
            <a:off x="713232" y="2286000"/>
            <a:ext cx="384048" cy="384048"/>
          </a:xfrm>
          <a:prstGeom prst="ellipse">
            <a:avLst/>
          </a:prstGeom>
          <a:solidFill>
            <a:srgbClr val="1C7293"/>
          </a:solidFill>
          <a:ln/>
        </p:spPr>
      </p:sp>
      <p:pic>
        <p:nvPicPr>
          <p:cNvPr id="11" name="Image 1" descr="preencoded.png"/>
          <p:cNvPicPr>
            <a:picLocks noChangeAspect="1"/>
          </p:cNvPicPr>
          <p:nvPr/>
        </p:nvPicPr>
        <p:blipFill>
          <a:blip r:embed="rId2"/>
          <a:stretch>
            <a:fillRect/>
          </a:stretch>
        </p:blipFill>
        <p:spPr>
          <a:xfrm>
            <a:off x="800100" y="2372868"/>
            <a:ext cx="210312" cy="210312"/>
          </a:xfrm>
          <a:prstGeom prst="rect">
            <a:avLst/>
          </a:prstGeom>
        </p:spPr>
      </p:pic>
      <p:sp>
        <p:nvSpPr>
          <p:cNvPr id="12" name="Text 8"/>
          <p:cNvSpPr/>
          <p:nvPr/>
        </p:nvSpPr>
        <p:spPr>
          <a:xfrm>
            <a:off x="1280160" y="2176272"/>
            <a:ext cx="2103120" cy="585216"/>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Rules &amp; Policies</a:t>
            </a:r>
            <a:endParaRPr lang="en-US" sz="1400" dirty="0"/>
          </a:p>
        </p:txBody>
      </p:sp>
      <p:sp>
        <p:nvSpPr>
          <p:cNvPr id="13" name="Text 9"/>
          <p:cNvSpPr/>
          <p:nvPr/>
        </p:nvSpPr>
        <p:spPr>
          <a:xfrm>
            <a:off x="3383280" y="2176272"/>
            <a:ext cx="5029200" cy="585216"/>
          </a:xfrm>
          <a:prstGeom prst="rect">
            <a:avLst/>
          </a:prstGeom>
          <a:noFill/>
          <a:ln/>
        </p:spPr>
        <p:txBody>
          <a:bodyPr wrap="square" lIns="0" tIns="0" rIns="0" bIns="0" rtlCol="0" anchor="ctr"/>
          <a:lstStyle/>
          <a:p>
            <a:pPr indent="0" marL="0">
              <a:buNone/>
            </a:pPr>
            <a:r>
              <a:rPr lang="en-US" sz="1150" dirty="0">
                <a:solidFill>
                  <a:srgbClr val="5B7782"/>
                </a:solidFill>
                <a:latin typeface="Calibri" pitchFamily="34" charset="0"/>
                <a:ea typeface="Calibri" pitchFamily="34" charset="-122"/>
                <a:cs typeface="Calibri" pitchFamily="34" charset="-120"/>
              </a:rPr>
              <a:t>Governance policies that apply (Workshop 10).</a:t>
            </a:r>
            <a:endParaRPr lang="en-US" sz="1150" dirty="0"/>
          </a:p>
        </p:txBody>
      </p:sp>
      <p:sp>
        <p:nvSpPr>
          <p:cNvPr id="14" name="Shape 10"/>
          <p:cNvSpPr/>
          <p:nvPr/>
        </p:nvSpPr>
        <p:spPr>
          <a:xfrm>
            <a:off x="548640" y="2852928"/>
            <a:ext cx="8046720" cy="585216"/>
          </a:xfrm>
          <a:prstGeom prst="roundRect">
            <a:avLst>
              <a:gd name="adj" fmla="val 10938"/>
            </a:avLst>
          </a:prstGeom>
          <a:solidFill>
            <a:srgbClr val="EEF6FA"/>
          </a:solidFill>
          <a:ln/>
          <a:effectLst>
            <a:outerShdw sx="100000" sy="100000" kx="0" ky="0" algn="bl" rotWithShape="0" blurRad="50800" dist="12700" dir="5400000">
              <a:srgbClr val="0A3D52">
                <a:alpha val="7000"/>
              </a:srgbClr>
            </a:outerShdw>
          </a:effectLst>
        </p:spPr>
      </p:sp>
      <p:sp>
        <p:nvSpPr>
          <p:cNvPr id="15" name="Shape 11"/>
          <p:cNvSpPr/>
          <p:nvPr/>
        </p:nvSpPr>
        <p:spPr>
          <a:xfrm>
            <a:off x="713232" y="2962656"/>
            <a:ext cx="384048" cy="384048"/>
          </a:xfrm>
          <a:prstGeom prst="ellipse">
            <a:avLst/>
          </a:prstGeom>
          <a:solidFill>
            <a:srgbClr val="1C7293"/>
          </a:solidFill>
          <a:ln/>
        </p:spPr>
      </p:sp>
      <p:pic>
        <p:nvPicPr>
          <p:cNvPr id="16" name="Image 2" descr="preencoded.png"/>
          <p:cNvPicPr>
            <a:picLocks noChangeAspect="1"/>
          </p:cNvPicPr>
          <p:nvPr/>
        </p:nvPicPr>
        <p:blipFill>
          <a:blip r:embed="rId3"/>
          <a:stretch>
            <a:fillRect/>
          </a:stretch>
        </p:blipFill>
        <p:spPr>
          <a:xfrm>
            <a:off x="800100" y="3049524"/>
            <a:ext cx="210312" cy="210312"/>
          </a:xfrm>
          <a:prstGeom prst="rect">
            <a:avLst/>
          </a:prstGeom>
        </p:spPr>
      </p:pic>
      <p:sp>
        <p:nvSpPr>
          <p:cNvPr id="17" name="Text 12"/>
          <p:cNvSpPr/>
          <p:nvPr/>
        </p:nvSpPr>
        <p:spPr>
          <a:xfrm>
            <a:off x="1280160" y="2852928"/>
            <a:ext cx="2103120" cy="585216"/>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BI Reports</a:t>
            </a:r>
            <a:endParaRPr lang="en-US" sz="1400" dirty="0"/>
          </a:p>
        </p:txBody>
      </p:sp>
      <p:sp>
        <p:nvSpPr>
          <p:cNvPr id="18" name="Text 13"/>
          <p:cNvSpPr/>
          <p:nvPr/>
        </p:nvSpPr>
        <p:spPr>
          <a:xfrm>
            <a:off x="3383280" y="2852928"/>
            <a:ext cx="5029200" cy="585216"/>
          </a:xfrm>
          <a:prstGeom prst="rect">
            <a:avLst/>
          </a:prstGeom>
          <a:noFill/>
          <a:ln/>
        </p:spPr>
        <p:txBody>
          <a:bodyPr wrap="square" lIns="0" tIns="0" rIns="0" bIns="0" rtlCol="0" anchor="ctr"/>
          <a:lstStyle/>
          <a:p>
            <a:pPr indent="0" marL="0">
              <a:buNone/>
            </a:pPr>
            <a:r>
              <a:rPr lang="en-US" sz="1150" dirty="0">
                <a:solidFill>
                  <a:srgbClr val="5B7782"/>
                </a:solidFill>
                <a:latin typeface="Calibri" pitchFamily="34" charset="0"/>
                <a:ea typeface="Calibri" pitchFamily="34" charset="-122"/>
                <a:cs typeface="Calibri" pitchFamily="34" charset="-120"/>
              </a:rPr>
              <a:t>Downstream reports built on the collection.</a:t>
            </a:r>
            <a:endParaRPr lang="en-US" sz="1150" dirty="0"/>
          </a:p>
        </p:txBody>
      </p:sp>
      <p:sp>
        <p:nvSpPr>
          <p:cNvPr id="19" name="Shape 14"/>
          <p:cNvSpPr/>
          <p:nvPr/>
        </p:nvSpPr>
        <p:spPr>
          <a:xfrm>
            <a:off x="548640" y="3529584"/>
            <a:ext cx="8046720" cy="585216"/>
          </a:xfrm>
          <a:prstGeom prst="roundRect">
            <a:avLst>
              <a:gd name="adj" fmla="val 10938"/>
            </a:avLst>
          </a:prstGeom>
          <a:solidFill>
            <a:srgbClr val="EEF6FA"/>
          </a:solidFill>
          <a:ln/>
          <a:effectLst>
            <a:outerShdw sx="100000" sy="100000" kx="0" ky="0" algn="bl" rotWithShape="0" blurRad="50800" dist="12700" dir="5400000">
              <a:srgbClr val="0A3D52">
                <a:alpha val="7000"/>
              </a:srgbClr>
            </a:outerShdw>
          </a:effectLst>
        </p:spPr>
      </p:sp>
      <p:sp>
        <p:nvSpPr>
          <p:cNvPr id="20" name="Shape 15"/>
          <p:cNvSpPr/>
          <p:nvPr/>
        </p:nvSpPr>
        <p:spPr>
          <a:xfrm>
            <a:off x="713232" y="3639312"/>
            <a:ext cx="384048" cy="384048"/>
          </a:xfrm>
          <a:prstGeom prst="ellipse">
            <a:avLst/>
          </a:prstGeom>
          <a:solidFill>
            <a:srgbClr val="1C7293"/>
          </a:solidFill>
          <a:ln/>
        </p:spPr>
      </p:sp>
      <p:pic>
        <p:nvPicPr>
          <p:cNvPr id="21" name="Image 3" descr="preencoded.png"/>
          <p:cNvPicPr>
            <a:picLocks noChangeAspect="1"/>
          </p:cNvPicPr>
          <p:nvPr/>
        </p:nvPicPr>
        <p:blipFill>
          <a:blip r:embed="rId4"/>
          <a:stretch>
            <a:fillRect/>
          </a:stretch>
        </p:blipFill>
        <p:spPr>
          <a:xfrm>
            <a:off x="800100" y="3726180"/>
            <a:ext cx="210312" cy="210312"/>
          </a:xfrm>
          <a:prstGeom prst="rect">
            <a:avLst/>
          </a:prstGeom>
        </p:spPr>
      </p:pic>
      <p:sp>
        <p:nvSpPr>
          <p:cNvPr id="22" name="Text 16"/>
          <p:cNvSpPr/>
          <p:nvPr/>
        </p:nvSpPr>
        <p:spPr>
          <a:xfrm>
            <a:off x="1280160" y="3529584"/>
            <a:ext cx="2103120" cy="585216"/>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ML Models</a:t>
            </a:r>
            <a:endParaRPr lang="en-US" sz="1400" dirty="0"/>
          </a:p>
        </p:txBody>
      </p:sp>
      <p:sp>
        <p:nvSpPr>
          <p:cNvPr id="23" name="Text 17"/>
          <p:cNvSpPr/>
          <p:nvPr/>
        </p:nvSpPr>
        <p:spPr>
          <a:xfrm>
            <a:off x="3383280" y="3529584"/>
            <a:ext cx="5029200" cy="585216"/>
          </a:xfrm>
          <a:prstGeom prst="rect">
            <a:avLst/>
          </a:prstGeom>
          <a:noFill/>
          <a:ln/>
        </p:spPr>
        <p:txBody>
          <a:bodyPr wrap="square" lIns="0" tIns="0" rIns="0" bIns="0" rtlCol="0" anchor="ctr"/>
          <a:lstStyle/>
          <a:p>
            <a:pPr indent="0" marL="0">
              <a:buNone/>
            </a:pPr>
            <a:r>
              <a:rPr lang="en-US" sz="1150" dirty="0">
                <a:solidFill>
                  <a:srgbClr val="5B7782"/>
                </a:solidFill>
                <a:latin typeface="Calibri" pitchFamily="34" charset="0"/>
                <a:ea typeface="Calibri" pitchFamily="34" charset="-122"/>
                <a:cs typeface="Calibri" pitchFamily="34" charset="-120"/>
              </a:rPr>
              <a:t>Models that consume the collection’s data.</a:t>
            </a:r>
            <a:endParaRPr lang="en-US" sz="1150" dirty="0"/>
          </a:p>
        </p:txBody>
      </p:sp>
      <p:sp>
        <p:nvSpPr>
          <p:cNvPr id="24" name="Shape 18"/>
          <p:cNvSpPr/>
          <p:nvPr/>
        </p:nvSpPr>
        <p:spPr>
          <a:xfrm>
            <a:off x="548640" y="4206240"/>
            <a:ext cx="8046720" cy="585216"/>
          </a:xfrm>
          <a:prstGeom prst="roundRect">
            <a:avLst>
              <a:gd name="adj" fmla="val 10938"/>
            </a:avLst>
          </a:prstGeom>
          <a:solidFill>
            <a:srgbClr val="EEF6FA"/>
          </a:solidFill>
          <a:ln/>
          <a:effectLst>
            <a:outerShdw sx="100000" sy="100000" kx="0" ky="0" algn="bl" rotWithShape="0" blurRad="50800" dist="12700" dir="5400000">
              <a:srgbClr val="0A3D52">
                <a:alpha val="7000"/>
              </a:srgbClr>
            </a:outerShdw>
          </a:effectLst>
        </p:spPr>
      </p:sp>
      <p:sp>
        <p:nvSpPr>
          <p:cNvPr id="25" name="Shape 19"/>
          <p:cNvSpPr/>
          <p:nvPr/>
        </p:nvSpPr>
        <p:spPr>
          <a:xfrm>
            <a:off x="713232" y="4315968"/>
            <a:ext cx="384048" cy="384048"/>
          </a:xfrm>
          <a:prstGeom prst="ellipse">
            <a:avLst/>
          </a:prstGeom>
          <a:solidFill>
            <a:srgbClr val="1C7293"/>
          </a:solidFill>
          <a:ln/>
        </p:spPr>
      </p:sp>
      <p:pic>
        <p:nvPicPr>
          <p:cNvPr id="26" name="Image 4" descr="preencoded.png"/>
          <p:cNvPicPr>
            <a:picLocks noChangeAspect="1"/>
          </p:cNvPicPr>
          <p:nvPr/>
        </p:nvPicPr>
        <p:blipFill>
          <a:blip r:embed="rId5"/>
          <a:stretch>
            <a:fillRect/>
          </a:stretch>
        </p:blipFill>
        <p:spPr>
          <a:xfrm>
            <a:off x="800100" y="4402836"/>
            <a:ext cx="210312" cy="210312"/>
          </a:xfrm>
          <a:prstGeom prst="rect">
            <a:avLst/>
          </a:prstGeom>
        </p:spPr>
      </p:pic>
      <p:sp>
        <p:nvSpPr>
          <p:cNvPr id="27" name="Text 20"/>
          <p:cNvSpPr/>
          <p:nvPr/>
        </p:nvSpPr>
        <p:spPr>
          <a:xfrm>
            <a:off x="1280160" y="4206240"/>
            <a:ext cx="2103120" cy="585216"/>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Physical Assets</a:t>
            </a:r>
            <a:endParaRPr lang="en-US" sz="1400" dirty="0"/>
          </a:p>
        </p:txBody>
      </p:sp>
      <p:sp>
        <p:nvSpPr>
          <p:cNvPr id="28" name="Text 21"/>
          <p:cNvSpPr/>
          <p:nvPr/>
        </p:nvSpPr>
        <p:spPr>
          <a:xfrm>
            <a:off x="3383280" y="4206240"/>
            <a:ext cx="5029200" cy="585216"/>
          </a:xfrm>
          <a:prstGeom prst="rect">
            <a:avLst/>
          </a:prstGeom>
          <a:noFill/>
          <a:ln/>
        </p:spPr>
        <p:txBody>
          <a:bodyPr wrap="square" lIns="0" tIns="0" rIns="0" bIns="0" rtlCol="0" anchor="ctr"/>
          <a:lstStyle/>
          <a:p>
            <a:pPr indent="0" marL="0">
              <a:buNone/>
            </a:pPr>
            <a:r>
              <a:rPr lang="en-US" sz="1150" dirty="0">
                <a:solidFill>
                  <a:srgbClr val="5B7782"/>
                </a:solidFill>
                <a:latin typeface="Calibri" pitchFamily="34" charset="0"/>
                <a:ea typeface="Calibri" pitchFamily="34" charset="-122"/>
                <a:cs typeface="Calibri" pitchFamily="34" charset="-120"/>
              </a:rPr>
              <a:t>Systems and assets the collection relates to.</a:t>
            </a:r>
            <a:endParaRPr lang="en-US" sz="1150" dirty="0"/>
          </a:p>
        </p:txBody>
      </p:sp>
      <p:sp>
        <p:nvSpPr>
          <p:cNvPr id="29" name="Text 22"/>
          <p:cNvSpPr/>
          <p:nvPr/>
        </p:nvSpPr>
        <p:spPr>
          <a:xfrm>
            <a:off x="548640" y="4828032"/>
            <a:ext cx="7315200" cy="274320"/>
          </a:xfrm>
          <a:prstGeom prst="rect">
            <a:avLst/>
          </a:prstGeom>
          <a:noFill/>
          <a:ln/>
        </p:spPr>
        <p:txBody>
          <a:bodyPr wrap="square" lIns="0" tIns="0" rIns="0" bIns="0" rtlCol="0" anchor="ctr"/>
          <a:lstStyle/>
          <a:p>
            <a:pPr indent="0" marL="0">
              <a:buNone/>
            </a:pPr>
            <a:r>
              <a:rPr lang="en-US" sz="950" dirty="0">
                <a:solidFill>
                  <a:srgbClr val="5B7782"/>
                </a:solidFill>
                <a:latin typeface="Calibri" pitchFamily="34" charset="0"/>
                <a:ea typeface="Calibri" pitchFamily="34" charset="-122"/>
                <a:cs typeface="Calibri" pitchFamily="34" charset="-120"/>
              </a:rPr>
              <a:t>Workshop 7 · The Relationships tab keeps a collection wired into governance</a:t>
            </a:r>
            <a:endParaRPr lang="en-US" sz="950" dirty="0"/>
          </a:p>
        </p:txBody>
      </p:sp>
      <p:sp>
        <p:nvSpPr>
          <p:cNvPr id="30" name="Text 23"/>
          <p:cNvSpPr/>
          <p:nvPr/>
        </p:nvSpPr>
        <p:spPr>
          <a:xfrm>
            <a:off x="8366760" y="4828032"/>
            <a:ext cx="320040" cy="274320"/>
          </a:xfrm>
          <a:prstGeom prst="rect">
            <a:avLst/>
          </a:prstGeom>
          <a:noFill/>
          <a:ln/>
        </p:spPr>
        <p:txBody>
          <a:bodyPr wrap="square" lIns="0" tIns="0" rIns="0" bIns="0" rtlCol="0" anchor="ctr"/>
          <a:lstStyle/>
          <a:p>
            <a:pPr algn="r" indent="0" marL="0">
              <a:buNone/>
            </a:pPr>
            <a:r>
              <a:rPr lang="en-US" sz="950" dirty="0">
                <a:solidFill>
                  <a:srgbClr val="5B7782"/>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STEP BY STEP</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Curating Customer 360</a:t>
            </a:r>
            <a:endParaRPr lang="en-US" sz="2700" dirty="0"/>
          </a:p>
        </p:txBody>
      </p:sp>
      <p:sp>
        <p:nvSpPr>
          <p:cNvPr id="4" name="Text 2"/>
          <p:cNvSpPr/>
          <p:nvPr/>
        </p:nvSpPr>
        <p:spPr>
          <a:xfrm>
            <a:off x="548640" y="1389888"/>
            <a:ext cx="8046720" cy="457200"/>
          </a:xfrm>
          <a:prstGeom prst="rect">
            <a:avLst/>
          </a:prstGeom>
          <a:noFill/>
          <a:ln/>
        </p:spPr>
        <p:txBody>
          <a:bodyPr wrap="square" lIns="0" tIns="0" rIns="0" bIns="0" rtlCol="0" anchor="ctr"/>
          <a:lstStyle/>
          <a:p>
            <a:pPr indent="0" marL="0">
              <a:lnSpc>
                <a:spcPct val="104000"/>
              </a:lnSpc>
              <a:buNone/>
            </a:pPr>
            <a:r>
              <a:rPr lang="en-US" sz="1250" dirty="0">
                <a:solidFill>
                  <a:srgbClr val="5B7782"/>
                </a:solidFill>
                <a:latin typeface="Calibri" pitchFamily="34" charset="0"/>
                <a:ea typeface="Calibri" pitchFamily="34" charset="-122"/>
                <a:cs typeface="Calibri" pitchFamily="34" charset="-120"/>
              </a:rPr>
              <a:t>Three tables become one governed, shareable Data Product.</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938528"/>
          <a:ext cx="8046720" cy="914400"/>
        </p:xfrm>
        <a:graphic>
          <a:graphicData uri="http://schemas.openxmlformats.org/drawingml/2006/table">
            <a:tbl>
              <a:tblPr/>
              <a:tblGrid>
                <a:gridCol w="1920240"/>
                <a:gridCol w="1371600"/>
                <a:gridCol w="3200400"/>
                <a:gridCol w="155448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What you do</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Where</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r>
              <a:tr h="420624">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1 · Collect</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Add tables to the cart, create a Collection</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Add to Cart</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AWC Customer 360</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2 · Describe</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Add a summary and purpose</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Summary tab</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A documented set</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3 · Link terms</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Attach business terms</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Relationships → Glossary</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Business meaning</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4 · Profile</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Run Data Profiling</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Actions → Process</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Quality + Aggregation</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5 · Publish</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Publish as a Data Product</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Publish</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Org-wide, verified</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4572000"/>
            <a:ext cx="8046720" cy="274320"/>
          </a:xfrm>
          <a:prstGeom prst="rect">
            <a:avLst/>
          </a:prstGeom>
          <a:noFill/>
          <a:ln/>
        </p:spPr>
        <p:txBody>
          <a:bodyPr wrap="square" lIns="0" tIns="0" rIns="0" bIns="0" rtlCol="0" anchor="ctr"/>
          <a:lstStyle/>
          <a:p>
            <a:pPr indent="0" marL="0">
              <a:buNone/>
            </a:pPr>
            <a:r>
              <a:rPr lang="en-US" sz="1050" i="1" dirty="0">
                <a:solidFill>
                  <a:srgbClr val="5B7782"/>
                </a:solidFill>
                <a:latin typeface="Calibri" pitchFamily="34" charset="0"/>
                <a:ea typeface="Calibri" pitchFamily="34" charset="-122"/>
                <a:cs typeface="Calibri" pitchFamily="34" charset="-120"/>
              </a:rPr>
              <a:t>Curate once; every analyst pulls the same governed bundle.</a:t>
            </a:r>
            <a:endParaRPr lang="en-US" sz="1050" dirty="0"/>
          </a:p>
        </p:txBody>
      </p:sp>
      <p:sp>
        <p:nvSpPr>
          <p:cNvPr id="7" name="Text 4"/>
          <p:cNvSpPr/>
          <p:nvPr/>
        </p:nvSpPr>
        <p:spPr>
          <a:xfrm>
            <a:off x="548640" y="4828032"/>
            <a:ext cx="7315200" cy="274320"/>
          </a:xfrm>
          <a:prstGeom prst="rect">
            <a:avLst/>
          </a:prstGeom>
          <a:noFill/>
          <a:ln/>
        </p:spPr>
        <p:txBody>
          <a:bodyPr wrap="square" lIns="0" tIns="0" rIns="0" bIns="0" rtlCol="0" anchor="ctr"/>
          <a:lstStyle/>
          <a:p>
            <a:pPr indent="0" marL="0">
              <a:buNone/>
            </a:pPr>
            <a:r>
              <a:rPr lang="en-US" sz="950" dirty="0">
                <a:solidFill>
                  <a:srgbClr val="5B7782"/>
                </a:solidFill>
                <a:latin typeface="Calibri" pitchFamily="34" charset="0"/>
                <a:ea typeface="Calibri" pitchFamily="34" charset="-122"/>
                <a:cs typeface="Calibri" pitchFamily="34" charset="-120"/>
              </a:rPr>
              <a:t>Workshop 7 · AWC Customer 360 collection</a:t>
            </a:r>
            <a:endParaRPr lang="en-US" sz="950" dirty="0"/>
          </a:p>
        </p:txBody>
      </p:sp>
      <p:sp>
        <p:nvSpPr>
          <p:cNvPr id="8" name="Text 5"/>
          <p:cNvSpPr/>
          <p:nvPr/>
        </p:nvSpPr>
        <p:spPr>
          <a:xfrm>
            <a:off x="8366760" y="4828032"/>
            <a:ext cx="320040" cy="274320"/>
          </a:xfrm>
          <a:prstGeom prst="rect">
            <a:avLst/>
          </a:prstGeom>
          <a:noFill/>
          <a:ln/>
        </p:spPr>
        <p:txBody>
          <a:bodyPr wrap="square" lIns="0" tIns="0" rIns="0" bIns="0" rtlCol="0" anchor="ctr"/>
          <a:lstStyle/>
          <a:p>
            <a:pPr algn="r" indent="0" marL="0">
              <a:buNone/>
            </a:pPr>
            <a:r>
              <a:rPr lang="en-US" sz="950" dirty="0">
                <a:solidFill>
                  <a:srgbClr val="5B7782"/>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B2B"/>
        </a:solidFill>
      </p:bgPr>
    </p:bg>
    <p:spTree>
      <p:nvGrpSpPr>
        <p:cNvPr id="1" name=""/>
        <p:cNvGrpSpPr/>
        <p:nvPr/>
      </p:nvGrpSpPr>
      <p:grpSpPr>
        <a:xfrm>
          <a:off x="0" y="0"/>
          <a:ext cx="0" cy="0"/>
          <a:chOff x="0" y="0"/>
          <a:chExt cx="0" cy="0"/>
        </a:xfrm>
      </p:grpSpPr>
      <p:sp>
        <p:nvSpPr>
          <p:cNvPr id="2" name="Shape 0"/>
          <p:cNvSpPr/>
          <p:nvPr/>
        </p:nvSpPr>
        <p:spPr>
          <a:xfrm>
            <a:off x="7498080" y="-1280160"/>
            <a:ext cx="3291840" cy="3291840"/>
          </a:xfrm>
          <a:prstGeom prst="ellipse">
            <a:avLst/>
          </a:prstGeom>
          <a:solidFill>
            <a:srgbClr val="0A3D52"/>
          </a:solidFill>
          <a:ln/>
        </p:spPr>
      </p:sp>
      <p:sp>
        <p:nvSpPr>
          <p:cNvPr id="3" name="Shape 1"/>
          <p:cNvSpPr/>
          <p:nvPr/>
        </p:nvSpPr>
        <p:spPr>
          <a:xfrm>
            <a:off x="548640" y="603504"/>
            <a:ext cx="841248" cy="841248"/>
          </a:xfrm>
          <a:prstGeom prst="ellipse">
            <a:avLst/>
          </a:prstGeom>
          <a:solidFill>
            <a:srgbClr val="1C7293"/>
          </a:solidFill>
          <a:ln/>
        </p:spPr>
      </p:sp>
      <p:pic>
        <p:nvPicPr>
          <p:cNvPr id="4" name="Image 0" descr="preencoded.png"/>
          <p:cNvPicPr>
            <a:picLocks noChangeAspect="1"/>
          </p:cNvPicPr>
          <p:nvPr/>
        </p:nvPicPr>
        <p:blipFill>
          <a:blip r:embed="rId1"/>
          <a:stretch>
            <a:fillRect/>
          </a:stretch>
        </p:blipFill>
        <p:spPr>
          <a:xfrm>
            <a:off x="722376" y="777240"/>
            <a:ext cx="493776" cy="493776"/>
          </a:xfrm>
          <a:prstGeom prst="rect">
            <a:avLst/>
          </a:prstGeom>
        </p:spPr>
      </p:pic>
      <p:sp>
        <p:nvSpPr>
          <p:cNvPr id="5" name="Text 2"/>
          <p:cNvSpPr/>
          <p:nvPr/>
        </p:nvSpPr>
        <p:spPr>
          <a:xfrm>
            <a:off x="1554480" y="713232"/>
            <a:ext cx="6400800" cy="457200"/>
          </a:xfrm>
          <a:prstGeom prst="rect">
            <a:avLst/>
          </a:prstGeom>
          <a:noFill/>
          <a:ln/>
        </p:spPr>
        <p:txBody>
          <a:bodyPr wrap="square" lIns="0" tIns="0" rIns="0" bIns="0" rtlCol="0" anchor="ctr"/>
          <a:lstStyle/>
          <a:p>
            <a:pPr indent="0" marL="0">
              <a:buNone/>
            </a:pPr>
            <a:r>
              <a:rPr lang="en-US" sz="1400" b="1" spc="300" kern="0" dirty="0">
                <a:solidFill>
                  <a:srgbClr val="2EC4B6"/>
                </a:solidFill>
                <a:latin typeface="Calibri" pitchFamily="34" charset="0"/>
                <a:ea typeface="Calibri" pitchFamily="34" charset="-122"/>
                <a:cs typeface="Calibri" pitchFamily="34" charset="-120"/>
              </a:rPr>
              <a:t>WHY IT MATTERS</a:t>
            </a:r>
            <a:endParaRPr lang="en-US" sz="1400" dirty="0"/>
          </a:p>
        </p:txBody>
      </p:sp>
      <p:sp>
        <p:nvSpPr>
          <p:cNvPr id="6" name="Text 3"/>
          <p:cNvSpPr/>
          <p:nvPr/>
        </p:nvSpPr>
        <p:spPr>
          <a:xfrm>
            <a:off x="548640" y="1517904"/>
            <a:ext cx="8046720" cy="1097280"/>
          </a:xfrm>
          <a:prstGeom prst="rect">
            <a:avLst/>
          </a:prstGeom>
          <a:noFill/>
          <a:ln/>
        </p:spPr>
        <p:txBody>
          <a:bodyPr wrap="square" lIns="0" tIns="0" rIns="0" bIns="0" rtlCol="0" anchor="ctr"/>
          <a:lstStyle/>
          <a:p>
            <a:pPr indent="0" marL="0">
              <a:lnSpc>
                <a:spcPct val="98000"/>
              </a:lnSpc>
              <a:buNone/>
            </a:pPr>
            <a:r>
              <a:rPr lang="en-US" sz="2800" b="1" dirty="0">
                <a:solidFill>
                  <a:srgbClr val="FFFFFF"/>
                </a:solidFill>
                <a:latin typeface="Bookman Old Style" pitchFamily="34" charset="0"/>
                <a:ea typeface="Bookman Old Style" pitchFamily="34" charset="-122"/>
                <a:cs typeface="Bookman Old Style" pitchFamily="34" charset="-120"/>
              </a:rPr>
              <a:t>Curate once,</a:t>
            </a:r>
            <a:endParaRPr lang="en-US" sz="2800" dirty="0"/>
          </a:p>
          <a:p>
            <a:pPr indent="0" marL="0">
              <a:lnSpc>
                <a:spcPct val="98000"/>
              </a:lnSpc>
              <a:buNone/>
            </a:pPr>
            <a:r>
              <a:rPr lang="en-US" sz="2800" b="1" dirty="0">
                <a:solidFill>
                  <a:srgbClr val="FFFFFF"/>
                </a:solidFill>
                <a:latin typeface="Bookman Old Style" pitchFamily="34" charset="0"/>
                <a:ea typeface="Bookman Old Style" pitchFamily="34" charset="-122"/>
                <a:cs typeface="Bookman Old Style" pitchFamily="34" charset="-120"/>
              </a:rPr>
              <a:t>everyone benefits</a:t>
            </a:r>
            <a:endParaRPr lang="en-US" sz="2800" dirty="0"/>
          </a:p>
        </p:txBody>
      </p:sp>
      <p:sp>
        <p:nvSpPr>
          <p:cNvPr id="7" name="Text 4"/>
          <p:cNvSpPr/>
          <p:nvPr/>
        </p:nvSpPr>
        <p:spPr>
          <a:xfrm>
            <a:off x="777240" y="2926080"/>
            <a:ext cx="2194560" cy="822960"/>
          </a:xfrm>
          <a:prstGeom prst="rect">
            <a:avLst/>
          </a:prstGeom>
          <a:noFill/>
          <a:ln/>
        </p:spPr>
        <p:txBody>
          <a:bodyPr wrap="square" lIns="0" tIns="0" rIns="0" bIns="0" rtlCol="0" anchor="ctr"/>
          <a:lstStyle/>
          <a:p>
            <a:pPr algn="ctr" indent="0" marL="0">
              <a:buNone/>
            </a:pPr>
            <a:r>
              <a:rPr lang="en-US" sz="4600" b="1" dirty="0">
                <a:solidFill>
                  <a:srgbClr val="2EC4B6"/>
                </a:solidFill>
                <a:latin typeface="Bookman Old Style" pitchFamily="34" charset="0"/>
                <a:ea typeface="Bookman Old Style" pitchFamily="34" charset="-122"/>
                <a:cs typeface="Bookman Old Style" pitchFamily="34" charset="-120"/>
              </a:rPr>
              <a:t>3</a:t>
            </a:r>
            <a:endParaRPr lang="en-US" sz="4600" dirty="0"/>
          </a:p>
        </p:txBody>
      </p:sp>
      <p:sp>
        <p:nvSpPr>
          <p:cNvPr id="8" name="Text 5"/>
          <p:cNvSpPr/>
          <p:nvPr/>
        </p:nvSpPr>
        <p:spPr>
          <a:xfrm>
            <a:off x="777240" y="3730752"/>
            <a:ext cx="2194560" cy="365760"/>
          </a:xfrm>
          <a:prstGeom prst="rect">
            <a:avLst/>
          </a:prstGeom>
          <a:noFill/>
          <a:ln/>
        </p:spPr>
        <p:txBody>
          <a:bodyPr wrap="square" lIns="0" tIns="0" rIns="0" bIns="0" rtlCol="0" anchor="ctr"/>
          <a:lstStyle/>
          <a:p>
            <a:pPr algn="ctr" indent="0" marL="0">
              <a:buNone/>
            </a:pPr>
            <a:r>
              <a:rPr lang="en-US" sz="1100" b="1" spc="100" kern="0" dirty="0">
                <a:solidFill>
                  <a:srgbClr val="DCEEF5"/>
                </a:solidFill>
                <a:latin typeface="Calibri" pitchFamily="34" charset="0"/>
                <a:ea typeface="Calibri" pitchFamily="34" charset="-122"/>
                <a:cs typeface="Calibri" pitchFamily="34" charset="-120"/>
              </a:rPr>
              <a:t>TABLES, ONE PRODUCT</a:t>
            </a:r>
            <a:endParaRPr lang="en-US" sz="1100" dirty="0"/>
          </a:p>
        </p:txBody>
      </p:sp>
      <p:sp>
        <p:nvSpPr>
          <p:cNvPr id="9" name="Text 6"/>
          <p:cNvSpPr/>
          <p:nvPr/>
        </p:nvSpPr>
        <p:spPr>
          <a:xfrm>
            <a:off x="3337560" y="2926080"/>
            <a:ext cx="2194560" cy="822960"/>
          </a:xfrm>
          <a:prstGeom prst="rect">
            <a:avLst/>
          </a:prstGeom>
          <a:noFill/>
          <a:ln/>
        </p:spPr>
        <p:txBody>
          <a:bodyPr wrap="square" lIns="0" tIns="0" rIns="0" bIns="0" rtlCol="0" anchor="ctr"/>
          <a:lstStyle/>
          <a:p>
            <a:pPr algn="ctr" indent="0" marL="0">
              <a:buNone/>
            </a:pPr>
            <a:r>
              <a:rPr lang="en-US" sz="4600" b="1" dirty="0">
                <a:solidFill>
                  <a:srgbClr val="2EC4B6"/>
                </a:solidFill>
                <a:latin typeface="Bookman Old Style" pitchFamily="34" charset="0"/>
                <a:ea typeface="Bookman Old Style" pitchFamily="34" charset="-122"/>
                <a:cs typeface="Bookman Old Style" pitchFamily="34" charset="-120"/>
              </a:rPr>
              <a:t>6</a:t>
            </a:r>
            <a:endParaRPr lang="en-US" sz="4600" dirty="0"/>
          </a:p>
        </p:txBody>
      </p:sp>
      <p:sp>
        <p:nvSpPr>
          <p:cNvPr id="10" name="Text 7"/>
          <p:cNvSpPr/>
          <p:nvPr/>
        </p:nvSpPr>
        <p:spPr>
          <a:xfrm>
            <a:off x="3337560" y="3730752"/>
            <a:ext cx="2194560" cy="365760"/>
          </a:xfrm>
          <a:prstGeom prst="rect">
            <a:avLst/>
          </a:prstGeom>
          <a:noFill/>
          <a:ln/>
        </p:spPr>
        <p:txBody>
          <a:bodyPr wrap="square" lIns="0" tIns="0" rIns="0" bIns="0" rtlCol="0" anchor="ctr"/>
          <a:lstStyle/>
          <a:p>
            <a:pPr algn="ctr" indent="0" marL="0">
              <a:buNone/>
            </a:pPr>
            <a:r>
              <a:rPr lang="en-US" sz="1100" b="1" spc="100" kern="0" dirty="0">
                <a:solidFill>
                  <a:srgbClr val="DCEEF5"/>
                </a:solidFill>
                <a:latin typeface="Calibri" pitchFamily="34" charset="0"/>
                <a:ea typeface="Calibri" pitchFamily="34" charset="-122"/>
                <a:cs typeface="Calibri" pitchFamily="34" charset="-120"/>
              </a:rPr>
              <a:t>RELATIONSHIP LINKS</a:t>
            </a:r>
            <a:endParaRPr lang="en-US" sz="1100" dirty="0"/>
          </a:p>
        </p:txBody>
      </p:sp>
      <p:sp>
        <p:nvSpPr>
          <p:cNvPr id="11" name="Text 8"/>
          <p:cNvSpPr/>
          <p:nvPr/>
        </p:nvSpPr>
        <p:spPr>
          <a:xfrm>
            <a:off x="5897880" y="2926080"/>
            <a:ext cx="2194560" cy="822960"/>
          </a:xfrm>
          <a:prstGeom prst="rect">
            <a:avLst/>
          </a:prstGeom>
          <a:noFill/>
          <a:ln/>
        </p:spPr>
        <p:txBody>
          <a:bodyPr wrap="square" lIns="0" tIns="0" rIns="0" bIns="0" rtlCol="0" anchor="ctr"/>
          <a:lstStyle/>
          <a:p>
            <a:pPr algn="ctr" indent="0" marL="0">
              <a:buNone/>
            </a:pPr>
            <a:r>
              <a:rPr lang="en-US" sz="4600" b="1" dirty="0">
                <a:solidFill>
                  <a:srgbClr val="2EC4B6"/>
                </a:solidFill>
                <a:latin typeface="Bookman Old Style" pitchFamily="34" charset="0"/>
                <a:ea typeface="Bookman Old Style" pitchFamily="34" charset="-122"/>
                <a:cs typeface="Bookman Old Style" pitchFamily="34" charset="-120"/>
              </a:rPr>
              <a:t>0</a:t>
            </a:r>
            <a:endParaRPr lang="en-US" sz="4600" dirty="0"/>
          </a:p>
        </p:txBody>
      </p:sp>
      <p:sp>
        <p:nvSpPr>
          <p:cNvPr id="12" name="Text 9"/>
          <p:cNvSpPr/>
          <p:nvPr/>
        </p:nvSpPr>
        <p:spPr>
          <a:xfrm>
            <a:off x="5897880" y="3730752"/>
            <a:ext cx="2194560" cy="365760"/>
          </a:xfrm>
          <a:prstGeom prst="rect">
            <a:avLst/>
          </a:prstGeom>
          <a:noFill/>
          <a:ln/>
        </p:spPr>
        <p:txBody>
          <a:bodyPr wrap="square" lIns="0" tIns="0" rIns="0" bIns="0" rtlCol="0" anchor="ctr"/>
          <a:lstStyle/>
          <a:p>
            <a:pPr algn="ctr" indent="0" marL="0">
              <a:buNone/>
            </a:pPr>
            <a:r>
              <a:rPr lang="en-US" sz="1100" b="1" spc="100" kern="0" dirty="0">
                <a:solidFill>
                  <a:srgbClr val="DCEEF5"/>
                </a:solidFill>
                <a:latin typeface="Calibri" pitchFamily="34" charset="0"/>
                <a:ea typeface="Calibri" pitchFamily="34" charset="-122"/>
                <a:cs typeface="Calibri" pitchFamily="34" charset="-120"/>
              </a:rPr>
              <a:t>REBUILT JOINS</a:t>
            </a:r>
            <a:endParaRPr lang="en-US" sz="1100" dirty="0"/>
          </a:p>
        </p:txBody>
      </p:sp>
      <p:sp>
        <p:nvSpPr>
          <p:cNvPr id="13" name="Text 10"/>
          <p:cNvSpPr/>
          <p:nvPr/>
        </p:nvSpPr>
        <p:spPr>
          <a:xfrm>
            <a:off x="548640" y="4626864"/>
            <a:ext cx="8046720" cy="365760"/>
          </a:xfrm>
          <a:prstGeom prst="rect">
            <a:avLst/>
          </a:prstGeom>
          <a:noFill/>
          <a:ln/>
        </p:spPr>
        <p:txBody>
          <a:bodyPr wrap="square" lIns="0" tIns="0" rIns="0" bIns="0" rtlCol="0" anchor="ctr"/>
          <a:lstStyle/>
          <a:p>
            <a:pPr indent="0" marL="0">
              <a:buNone/>
            </a:pPr>
            <a:r>
              <a:rPr lang="en-US" sz="1200" i="1" dirty="0">
                <a:solidFill>
                  <a:srgbClr val="5B7782"/>
                </a:solidFill>
                <a:latin typeface="Calibri" pitchFamily="34" charset="0"/>
                <a:ea typeface="Calibri" pitchFamily="34" charset="-122"/>
                <a:cs typeface="Calibri" pitchFamily="34" charset="-120"/>
              </a:rPr>
              <a:t>Next up — Workshop 8: Lineage &amp; Impact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2: Explore Data Structure &amp; Metadata</dc:title>
  <dc:subject>PptxGenJS Presentation</dc:subject>
  <dc:creator>Arizona Water Company - PDC BA Course</dc:creator>
  <cp:lastModifiedBy>Arizona Water Company - PDC BA Course</cp:lastModifiedBy>
  <cp:revision>1</cp:revision>
  <dcterms:created xsi:type="dcterms:W3CDTF">2026-06-10T17:22:06Z</dcterms:created>
  <dcterms:modified xsi:type="dcterms:W3CDTF">2026-06-10T17:22:06Z</dcterms:modified>
</cp:coreProperties>
</file>