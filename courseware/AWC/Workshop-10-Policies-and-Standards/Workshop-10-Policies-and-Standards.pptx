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Workshop 10. Flags and rules enforce governance at the column level; policies and standards document the intent above them. A policy like 'customer data must not be used for marketing without consent' gives auditors the written rule behind the technical control. Role: Business Steward.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policy versus standard - both live on the Policy page and share structure. A policy states intent or a rule of conduct; a standard states a concrete, measurable requirement. AWC creates one of each: a privacy policy and an account-number format standard. They'll link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creating the privacy policy - Policy page, Actions, Add New Policy. Then fill the governance metadata: definition, purpose, scope, stakeholders, and the built-in properties including status, version, effective dates. Stress that treating a policy as a versioned, dated asset is what lets AWC show an auditor which rules were in force on a past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association step is where policy delivers value - from the governed asset's Policies tab, Add Policy, select it. Attach the privacy policy to the customers table and to the collection from Workshop 7. Then the big idea: the full governance chain now exists - policy to term to rule to column. An auditor can start anywhere and trace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done-when: both policy and standard exist with Accepted status and a version, the policy is associated with the table and collection, and they can trace the chain end to end. Mention bulk import via JSON Lines or CSV for organisations with existing policies. Transition to the galaxy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p:bgPr>
    </p:bg>
    <p:spTree>
      <p:nvGrpSpPr>
        <p:cNvPr id="1" name=""/>
        <p:cNvGrpSpPr/>
        <p:nvPr/>
      </p:nvGrpSpPr>
      <p:grpSpPr>
        <a:xfrm>
          <a:off x="0" y="0"/>
          <a:ext cx="0" cy="0"/>
          <a:chOff x="0" y="0"/>
          <a:chExt cx="0" cy="0"/>
        </a:xfrm>
      </p:grpSpPr>
      <p:sp>
        <p:nvSpPr>
          <p:cNvPr id="2" name="Shape 0"/>
          <p:cNvSpPr/>
          <p:nvPr/>
        </p:nvSpPr>
        <p:spPr>
          <a:xfrm>
            <a:off x="6949440" y="-1463040"/>
            <a:ext cx="3840480" cy="3840480"/>
          </a:xfrm>
          <a:prstGeom prst="ellipse">
            <a:avLst/>
          </a:prstGeom>
          <a:solidFill>
            <a:srgbClr val="0A3D52"/>
          </a:solidFill>
          <a:ln/>
        </p:spPr>
      </p:sp>
      <p:sp>
        <p:nvSpPr>
          <p:cNvPr id="3" name="Shape 1"/>
          <p:cNvSpPr/>
          <p:nvPr/>
        </p:nvSpPr>
        <p:spPr>
          <a:xfrm>
            <a:off x="8138160" y="2651760"/>
            <a:ext cx="2377440" cy="2377440"/>
          </a:xfrm>
          <a:prstGeom prst="ellipse">
            <a:avLst/>
          </a:prstGeom>
          <a:solidFill>
            <a:srgbClr val="065A82">
              <a:alpha val="45000"/>
            </a:srgbClr>
          </a:solidFill>
          <a:ln/>
        </p:spPr>
      </p:sp>
      <p:sp>
        <p:nvSpPr>
          <p:cNvPr id="4" name="Shape 2"/>
          <p:cNvSpPr/>
          <p:nvPr/>
        </p:nvSpPr>
        <p:spPr>
          <a:xfrm>
            <a:off x="548640" y="566928"/>
            <a:ext cx="841248" cy="841248"/>
          </a:xfrm>
          <a:prstGeom prst="ellipse">
            <a:avLst/>
          </a:prstGeom>
          <a:solidFill>
            <a:srgbClr val="1C7293"/>
          </a:solidFill>
          <a:ln/>
        </p:spPr>
      </p:sp>
      <p:pic>
        <p:nvPicPr>
          <p:cNvPr id="5" name="Image 0" descr="preencoded.png"/>
          <p:cNvPicPr>
            <a:picLocks noChangeAspect="1"/>
          </p:cNvPicPr>
          <p:nvPr/>
        </p:nvPicPr>
        <p:blipFill>
          <a:blip r:embed="rId1"/>
          <a:stretch>
            <a:fillRect/>
          </a:stretch>
        </p:blipFill>
        <p:spPr>
          <a:xfrm>
            <a:off x="722376" y="740664"/>
            <a:ext cx="493776" cy="493776"/>
          </a:xfrm>
          <a:prstGeom prst="rect">
            <a:avLst/>
          </a:prstGeom>
        </p:spPr>
      </p:pic>
      <p:sp>
        <p:nvSpPr>
          <p:cNvPr id="6" name="Text 3"/>
          <p:cNvSpPr/>
          <p:nvPr/>
        </p:nvSpPr>
        <p:spPr>
          <a:xfrm>
            <a:off x="1554480" y="676656"/>
            <a:ext cx="6858000" cy="457200"/>
          </a:xfrm>
          <a:prstGeom prst="rect">
            <a:avLst/>
          </a:prstGeom>
          <a:noFill/>
          <a:ln/>
        </p:spPr>
        <p:txBody>
          <a:bodyPr wrap="square" lIns="0" tIns="0" rIns="0" bIns="0" rtlCol="0" anchor="ctr"/>
          <a:lstStyle/>
          <a:p>
            <a:pPr indent="0" marL="0">
              <a:buNone/>
            </a:pPr>
            <a:r>
              <a:rPr lang="en-US" sz="1400" b="1" spc="300" kern="0" dirty="0">
                <a:solidFill>
                  <a:srgbClr val="2EC4B6"/>
                </a:solidFill>
                <a:latin typeface="Calibri" pitchFamily="34" charset="0"/>
                <a:ea typeface="Calibri" pitchFamily="34" charset="-122"/>
                <a:cs typeface="Calibri" pitchFamily="34" charset="-120"/>
              </a:rPr>
              <a:t>WORKSHOP 10 · 60 MINUTES · ADVANCED  ·  PDC · POLICIES &amp; STANDARDS</a:t>
            </a:r>
            <a:endParaRPr lang="en-US" sz="1400" dirty="0"/>
          </a:p>
        </p:txBody>
      </p:sp>
      <p:sp>
        <p:nvSpPr>
          <p:cNvPr id="7" name="Text 4"/>
          <p:cNvSpPr/>
          <p:nvPr/>
        </p:nvSpPr>
        <p:spPr>
          <a:xfrm>
            <a:off x="548640" y="1737360"/>
            <a:ext cx="8138160" cy="1737360"/>
          </a:xfrm>
          <a:prstGeom prst="rect">
            <a:avLst/>
          </a:prstGeom>
          <a:noFill/>
          <a:ln/>
        </p:spPr>
        <p:txBody>
          <a:bodyPr wrap="square" lIns="0" tIns="0" rIns="0" bIns="0" rtlCol="0" anchor="ctr"/>
          <a:lstStyle/>
          <a:p>
            <a:pPr indent="0" marL="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Govern with</a:t>
            </a:r>
            <a:endParaRPr lang="en-US" sz="4000" dirty="0"/>
          </a:p>
          <a:p>
            <a:pPr indent="0" marL="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Policies &amp; Standards</a:t>
            </a:r>
            <a:endParaRPr lang="en-US" sz="4000" dirty="0"/>
          </a:p>
        </p:txBody>
      </p:sp>
      <p:sp>
        <p:nvSpPr>
          <p:cNvPr id="8" name="Text 5"/>
          <p:cNvSpPr/>
          <p:nvPr/>
        </p:nvSpPr>
        <p:spPr>
          <a:xfrm>
            <a:off x="566928" y="3520440"/>
            <a:ext cx="7863840" cy="914400"/>
          </a:xfrm>
          <a:prstGeom prst="rect">
            <a:avLst/>
          </a:prstGeom>
          <a:noFill/>
          <a:ln/>
        </p:spPr>
        <p:txBody>
          <a:bodyPr wrap="square" lIns="0" tIns="0" rIns="0" bIns="0" rtlCol="0" anchor="ctr"/>
          <a:lstStyle/>
          <a:p>
            <a:pPr indent="0" marL="0">
              <a:lnSpc>
                <a:spcPct val="105000"/>
              </a:lnSpc>
              <a:buNone/>
            </a:pPr>
            <a:r>
              <a:rPr lang="en-US" sz="1800" dirty="0">
                <a:solidFill>
                  <a:srgbClr val="DCEEF5"/>
                </a:solidFill>
                <a:latin typeface="Calibri" pitchFamily="34" charset="0"/>
                <a:ea typeface="Calibri" pitchFamily="34" charset="-122"/>
                <a:cs typeface="Calibri" pitchFamily="34" charset="-120"/>
              </a:rPr>
              <a:t>Document AWC's governance intent as first-class assets, give them versioned built-in metadata, and attach them to the data they govern.</a:t>
            </a:r>
            <a:endParaRPr lang="en-US" sz="1800" dirty="0"/>
          </a:p>
        </p:txBody>
      </p:sp>
      <p:sp>
        <p:nvSpPr>
          <p:cNvPr id="9" name="Text 6"/>
          <p:cNvSpPr/>
          <p:nvPr/>
        </p:nvSpPr>
        <p:spPr>
          <a:xfrm>
            <a:off x="566928" y="4626864"/>
            <a:ext cx="8046720" cy="365760"/>
          </a:xfrm>
          <a:prstGeom prst="rect">
            <a:avLst/>
          </a:prstGeom>
          <a:noFill/>
          <a:ln/>
        </p:spPr>
        <p:txBody>
          <a:bodyPr wrap="square" lIns="0" tIns="0" rIns="0" bIns="0" rtlCol="0" anchor="ctr"/>
          <a:lstStyle/>
          <a:p>
            <a:pPr indent="0" marL="0">
              <a:buNone/>
            </a:pPr>
            <a:r>
              <a:rPr lang="en-US" sz="1200" dirty="0">
                <a:solidFill>
                  <a:srgbClr val="5B7782"/>
                </a:solidFill>
                <a:latin typeface="Calibri" pitchFamily="34" charset="0"/>
                <a:ea typeface="Calibri" pitchFamily="34" charset="-122"/>
                <a:cs typeface="Calibri" pitchFamily="34" charset="-120"/>
              </a:rPr>
              <a:t>Pentaho Data Catalog 10.2.11  ·  Policy page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TWO KINDS OF GOVERNANCE ASSET</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Policy vs. standard</a:t>
            </a:r>
            <a:endParaRPr lang="en-US" sz="2700" dirty="0"/>
          </a:p>
        </p:txBody>
      </p:sp>
      <p:sp>
        <p:nvSpPr>
          <p:cNvPr id="4" name="Shape 2"/>
          <p:cNvSpPr/>
          <p:nvPr/>
        </p:nvSpPr>
        <p:spPr>
          <a:xfrm>
            <a:off x="548640" y="1554480"/>
            <a:ext cx="3886200" cy="2926080"/>
          </a:xfrm>
          <a:prstGeom prst="roundRect">
            <a:avLst>
              <a:gd name="adj" fmla="val 3125"/>
            </a:avLst>
          </a:prstGeom>
          <a:solidFill>
            <a:srgbClr val="0A3D52"/>
          </a:solidFill>
          <a:ln/>
          <a:effectLst>
            <a:outerShdw sx="100000" sy="100000" kx="0" ky="0" algn="bl" rotWithShape="0" blurRad="101600" dist="38100" dir="5400000">
              <a:srgbClr val="0A3D52">
                <a:alpha val="16000"/>
              </a:srgbClr>
            </a:outerShdw>
          </a:effectLst>
        </p:spPr>
      </p:sp>
      <p:sp>
        <p:nvSpPr>
          <p:cNvPr id="5" name="Shape 3"/>
          <p:cNvSpPr/>
          <p:nvPr/>
        </p:nvSpPr>
        <p:spPr>
          <a:xfrm>
            <a:off x="786384" y="1792224"/>
            <a:ext cx="603504" cy="603504"/>
          </a:xfrm>
          <a:prstGeom prst="ellipse">
            <a:avLst/>
          </a:prstGeom>
          <a:solidFill>
            <a:srgbClr val="1C7293"/>
          </a:solidFill>
          <a:ln/>
        </p:spPr>
      </p:sp>
      <p:pic>
        <p:nvPicPr>
          <p:cNvPr id="6" name="Image 0" descr="preencoded.png"/>
          <p:cNvPicPr>
            <a:picLocks noChangeAspect="1"/>
          </p:cNvPicPr>
          <p:nvPr/>
        </p:nvPicPr>
        <p:blipFill>
          <a:blip r:embed="rId1"/>
          <a:stretch>
            <a:fillRect/>
          </a:stretch>
        </p:blipFill>
        <p:spPr>
          <a:xfrm>
            <a:off x="950976" y="1956816"/>
            <a:ext cx="274320" cy="274320"/>
          </a:xfrm>
          <a:prstGeom prst="rect">
            <a:avLst/>
          </a:prstGeom>
        </p:spPr>
      </p:pic>
      <p:sp>
        <p:nvSpPr>
          <p:cNvPr id="7" name="Text 4"/>
          <p:cNvSpPr/>
          <p:nvPr/>
        </p:nvSpPr>
        <p:spPr>
          <a:xfrm>
            <a:off x="786384" y="2505456"/>
            <a:ext cx="3383280" cy="402336"/>
          </a:xfrm>
          <a:prstGeom prst="rect">
            <a:avLst/>
          </a:prstGeom>
          <a:noFill/>
          <a:ln/>
        </p:spPr>
        <p:txBody>
          <a:bodyPr wrap="square" lIns="0" tIns="0" rIns="0" bIns="0" rtlCol="0" anchor="ctr"/>
          <a:lstStyle/>
          <a:p>
            <a:pPr indent="0" marL="0">
              <a:buNone/>
            </a:pPr>
            <a:r>
              <a:rPr lang="en-US" sz="2200" b="1" dirty="0">
                <a:solidFill>
                  <a:srgbClr val="FFFFFF"/>
                </a:solidFill>
                <a:latin typeface="Bookman Old Style" pitchFamily="34" charset="0"/>
                <a:ea typeface="Bookman Old Style" pitchFamily="34" charset="-122"/>
                <a:cs typeface="Bookman Old Style" pitchFamily="34" charset="-120"/>
              </a:rPr>
              <a:t>Policy</a:t>
            </a:r>
            <a:endParaRPr lang="en-US" sz="2200" dirty="0"/>
          </a:p>
        </p:txBody>
      </p:sp>
      <p:sp>
        <p:nvSpPr>
          <p:cNvPr id="8" name="Text 5"/>
          <p:cNvSpPr/>
          <p:nvPr/>
        </p:nvSpPr>
        <p:spPr>
          <a:xfrm>
            <a:off x="786384" y="2926080"/>
            <a:ext cx="3383280" cy="457200"/>
          </a:xfrm>
          <a:prstGeom prst="rect">
            <a:avLst/>
          </a:prstGeom>
          <a:noFill/>
          <a:ln/>
        </p:spPr>
        <p:txBody>
          <a:bodyPr wrap="square" lIns="0" tIns="0" rIns="0" bIns="0" rtlCol="0" anchor="ctr"/>
          <a:lstStyle/>
          <a:p>
            <a:pPr indent="0" marL="0">
              <a:buNone/>
            </a:pPr>
            <a:r>
              <a:rPr lang="en-US" sz="1200" dirty="0">
                <a:solidFill>
                  <a:srgbClr val="DCEEF5"/>
                </a:solidFill>
                <a:latin typeface="Calibri" pitchFamily="34" charset="0"/>
                <a:ea typeface="Calibri" pitchFamily="34" charset="-122"/>
                <a:cs typeface="Calibri" pitchFamily="34" charset="-120"/>
              </a:rPr>
              <a:t>States a governance intent or rule of conduct.</a:t>
            </a:r>
            <a:endParaRPr lang="en-US" sz="1200" dirty="0"/>
          </a:p>
        </p:txBody>
      </p:sp>
      <p:sp>
        <p:nvSpPr>
          <p:cNvPr id="9" name="Text 6"/>
          <p:cNvSpPr/>
          <p:nvPr/>
        </p:nvSpPr>
        <p:spPr>
          <a:xfrm>
            <a:off x="786384" y="3419856"/>
            <a:ext cx="3429000" cy="914400"/>
          </a:xfrm>
          <a:prstGeom prst="rect">
            <a:avLst/>
          </a:prstGeom>
          <a:noFill/>
          <a:ln/>
        </p:spPr>
        <p:txBody>
          <a:bodyPr wrap="square" lIns="0" tIns="0" rIns="0" bIns="0" rtlCol="0" anchor="ctr"/>
          <a:lstStyle/>
          <a:p>
            <a:pPr indent="0" marL="0">
              <a:lnSpc>
                <a:spcPct val="105000"/>
              </a:lnSpc>
              <a:buNone/>
            </a:pPr>
            <a:r>
              <a:rPr lang="en-US" sz="1200" i="1" dirty="0">
                <a:solidFill>
                  <a:srgbClr val="2EC4B6"/>
                </a:solidFill>
                <a:latin typeface="Calibri" pitchFamily="34" charset="0"/>
                <a:ea typeface="Calibri" pitchFamily="34" charset="-122"/>
                <a:cs typeface="Calibri" pitchFamily="34" charset="-120"/>
              </a:rPr>
              <a:t>“Customer data must not be used for marketing without consent.”</a:t>
            </a:r>
            <a:endParaRPr lang="en-US" sz="1200" dirty="0"/>
          </a:p>
        </p:txBody>
      </p:sp>
      <p:sp>
        <p:nvSpPr>
          <p:cNvPr id="10" name="Shape 7"/>
          <p:cNvSpPr/>
          <p:nvPr/>
        </p:nvSpPr>
        <p:spPr>
          <a:xfrm>
            <a:off x="4709160" y="1554480"/>
            <a:ext cx="3886200" cy="2926080"/>
          </a:xfrm>
          <a:prstGeom prst="roundRect">
            <a:avLst>
              <a:gd name="adj" fmla="val 3125"/>
            </a:avLst>
          </a:prstGeom>
          <a:solidFill>
            <a:srgbClr val="EEF6FA"/>
          </a:solidFill>
          <a:ln/>
          <a:effectLst>
            <a:outerShdw sx="100000" sy="100000" kx="0" ky="0" algn="bl" rotWithShape="0" blurRad="88900" dist="25400" dir="5400000">
              <a:srgbClr val="0A3D52">
                <a:alpha val="10000"/>
              </a:srgbClr>
            </a:outerShdw>
          </a:effectLst>
        </p:spPr>
      </p:sp>
      <p:sp>
        <p:nvSpPr>
          <p:cNvPr id="11" name="Shape 8"/>
          <p:cNvSpPr/>
          <p:nvPr/>
        </p:nvSpPr>
        <p:spPr>
          <a:xfrm>
            <a:off x="4946904" y="1792224"/>
            <a:ext cx="603504" cy="603504"/>
          </a:xfrm>
          <a:prstGeom prst="ellipse">
            <a:avLst/>
          </a:prstGeom>
          <a:solidFill>
            <a:srgbClr val="065A82"/>
          </a:solidFill>
          <a:ln/>
        </p:spPr>
      </p:sp>
      <p:pic>
        <p:nvPicPr>
          <p:cNvPr id="12" name="Image 1" descr="preencoded.png"/>
          <p:cNvPicPr>
            <a:picLocks noChangeAspect="1"/>
          </p:cNvPicPr>
          <p:nvPr/>
        </p:nvPicPr>
        <p:blipFill>
          <a:blip r:embed="rId2"/>
          <a:stretch>
            <a:fillRect/>
          </a:stretch>
        </p:blipFill>
        <p:spPr>
          <a:xfrm>
            <a:off x="5111496" y="1956816"/>
            <a:ext cx="274320" cy="274320"/>
          </a:xfrm>
          <a:prstGeom prst="rect">
            <a:avLst/>
          </a:prstGeom>
        </p:spPr>
      </p:pic>
      <p:sp>
        <p:nvSpPr>
          <p:cNvPr id="13" name="Text 9"/>
          <p:cNvSpPr/>
          <p:nvPr/>
        </p:nvSpPr>
        <p:spPr>
          <a:xfrm>
            <a:off x="4946904" y="2505456"/>
            <a:ext cx="3383280" cy="402336"/>
          </a:xfrm>
          <a:prstGeom prst="rect">
            <a:avLst/>
          </a:prstGeom>
          <a:noFill/>
          <a:ln/>
        </p:spPr>
        <p:txBody>
          <a:bodyPr wrap="square" lIns="0" tIns="0" rIns="0" bIns="0" rtlCol="0" anchor="ctr"/>
          <a:lstStyle/>
          <a:p>
            <a:pPr indent="0" marL="0">
              <a:buNone/>
            </a:pPr>
            <a:r>
              <a:rPr lang="en-US" sz="2200" b="1" dirty="0">
                <a:solidFill>
                  <a:srgbClr val="14333F"/>
                </a:solidFill>
                <a:latin typeface="Bookman Old Style" pitchFamily="34" charset="0"/>
                <a:ea typeface="Bookman Old Style" pitchFamily="34" charset="-122"/>
                <a:cs typeface="Bookman Old Style" pitchFamily="34" charset="-120"/>
              </a:rPr>
              <a:t>Standard</a:t>
            </a:r>
            <a:endParaRPr lang="en-US" sz="2200" dirty="0"/>
          </a:p>
        </p:txBody>
      </p:sp>
      <p:sp>
        <p:nvSpPr>
          <p:cNvPr id="14" name="Text 10"/>
          <p:cNvSpPr/>
          <p:nvPr/>
        </p:nvSpPr>
        <p:spPr>
          <a:xfrm>
            <a:off x="4946904" y="2926080"/>
            <a:ext cx="3383280" cy="548640"/>
          </a:xfrm>
          <a:prstGeom prst="rect">
            <a:avLst/>
          </a:prstGeom>
          <a:noFill/>
          <a:ln/>
        </p:spPr>
        <p:txBody>
          <a:bodyPr wrap="square" lIns="0" tIns="0" rIns="0" bIns="0" rtlCol="0" anchor="ctr"/>
          <a:lstStyle/>
          <a:p>
            <a:pPr indent="0" marL="0">
              <a:buNone/>
            </a:pPr>
            <a:r>
              <a:rPr lang="en-US" sz="1200" dirty="0">
                <a:solidFill>
                  <a:srgbClr val="5B7782"/>
                </a:solidFill>
                <a:latin typeface="Calibri" pitchFamily="34" charset="0"/>
                <a:ea typeface="Calibri" pitchFamily="34" charset="-122"/>
                <a:cs typeface="Calibri" pitchFamily="34" charset="-120"/>
              </a:rPr>
              <a:t>States a concrete, measurable requirement that supports policies.</a:t>
            </a:r>
            <a:endParaRPr lang="en-US" sz="1200" dirty="0"/>
          </a:p>
        </p:txBody>
      </p:sp>
      <p:sp>
        <p:nvSpPr>
          <p:cNvPr id="15" name="Text 11"/>
          <p:cNvSpPr/>
          <p:nvPr/>
        </p:nvSpPr>
        <p:spPr>
          <a:xfrm>
            <a:off x="4946904" y="3511296"/>
            <a:ext cx="3429000" cy="822960"/>
          </a:xfrm>
          <a:prstGeom prst="rect">
            <a:avLst/>
          </a:prstGeom>
          <a:noFill/>
          <a:ln/>
        </p:spPr>
        <p:txBody>
          <a:bodyPr wrap="square" lIns="0" tIns="0" rIns="0" bIns="0" rtlCol="0" anchor="ctr"/>
          <a:lstStyle/>
          <a:p>
            <a:pPr indent="0" marL="0">
              <a:lnSpc>
                <a:spcPct val="105000"/>
              </a:lnSpc>
              <a:buNone/>
            </a:pPr>
            <a:r>
              <a:rPr lang="en-US" sz="1200" i="1" dirty="0">
                <a:solidFill>
                  <a:srgbClr val="065A82"/>
                </a:solidFill>
                <a:latin typeface="Calibri" pitchFamily="34" charset="0"/>
                <a:ea typeface="Calibri" pitchFamily="34" charset="-122"/>
                <a:cs typeface="Calibri" pitchFamily="34" charset="-120"/>
              </a:rPr>
              <a:t>“Account numbers must match AWC-XX-######.”</a:t>
            </a:r>
            <a:endParaRPr lang="en-US" sz="1200" dirty="0"/>
          </a:p>
        </p:txBody>
      </p:sp>
      <p:sp>
        <p:nvSpPr>
          <p:cNvPr id="16" name="Text 12"/>
          <p:cNvSpPr/>
          <p:nvPr/>
        </p:nvSpPr>
        <p:spPr>
          <a:xfrm>
            <a:off x="548640" y="4681728"/>
            <a:ext cx="8046720" cy="274320"/>
          </a:xfrm>
          <a:prstGeom prst="rect">
            <a:avLst/>
          </a:prstGeom>
          <a:noFill/>
          <a:ln/>
        </p:spPr>
        <p:txBody>
          <a:bodyPr wrap="square" lIns="0" tIns="0" rIns="0" bIns="0" rtlCol="0" anchor="ctr"/>
          <a:lstStyle/>
          <a:p>
            <a:pPr algn="ctr" indent="0" marL="0">
              <a:buNone/>
            </a:pPr>
            <a:r>
              <a:rPr lang="en-US" sz="1100" i="1" dirty="0">
                <a:solidFill>
                  <a:srgbClr val="5B7782"/>
                </a:solidFill>
                <a:latin typeface="Calibri" pitchFamily="34" charset="0"/>
                <a:ea typeface="Calibri" pitchFamily="34" charset="-122"/>
                <a:cs typeface="Calibri" pitchFamily="34" charset="-120"/>
              </a:rPr>
              <a:t>Both live on the Policy page and share the same structure.</a:t>
            </a:r>
            <a:endParaRPr lang="en-US" sz="1100" dirty="0"/>
          </a:p>
        </p:txBody>
      </p:sp>
      <p:sp>
        <p:nvSpPr>
          <p:cNvPr id="17" name="Text 13"/>
          <p:cNvSpPr/>
          <p:nvPr/>
        </p:nvSpPr>
        <p:spPr>
          <a:xfrm>
            <a:off x="548640" y="4828032"/>
            <a:ext cx="7315200" cy="274320"/>
          </a:xfrm>
          <a:prstGeom prst="rect">
            <a:avLst/>
          </a:prstGeom>
          <a:noFill/>
          <a:ln/>
        </p:spPr>
        <p:txBody>
          <a:bodyPr wrap="square" lIns="0" tIns="0" rIns="0" bIns="0" rtlCol="0" anchor="ctr"/>
          <a:lstStyle/>
          <a:p>
            <a:pPr indent="0" marL="0">
              <a:buNone/>
            </a:pPr>
            <a:endParaRPr lang="en-US" sz="950" dirty="0"/>
          </a:p>
        </p:txBody>
      </p:sp>
      <p:sp>
        <p:nvSpPr>
          <p:cNvPr id="18" name="Text 14"/>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WHAT EVERY POLICY CARRIES</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Versioned, dated, owned</a:t>
            </a:r>
            <a:endParaRPr lang="en-US" sz="2700" dirty="0"/>
          </a:p>
        </p:txBody>
      </p:sp>
      <p:sp>
        <p:nvSpPr>
          <p:cNvPr id="4" name="Text 2"/>
          <p:cNvSpPr/>
          <p:nvPr/>
        </p:nvSpPr>
        <p:spPr>
          <a:xfrm>
            <a:off x="548640" y="1371600"/>
            <a:ext cx="8046720" cy="365760"/>
          </a:xfrm>
          <a:prstGeom prst="rect">
            <a:avLst/>
          </a:prstGeom>
          <a:noFill/>
          <a:ln/>
        </p:spPr>
        <p:txBody>
          <a:bodyPr wrap="square" lIns="0" tIns="0" rIns="0" bIns="0" rtlCol="0" anchor="ctr"/>
          <a:lstStyle/>
          <a:p>
            <a:pPr indent="0" marL="0">
              <a:buNone/>
            </a:pPr>
            <a:r>
              <a:rPr lang="en-US" sz="1250" dirty="0">
                <a:solidFill>
                  <a:srgbClr val="5B7782"/>
                </a:solidFill>
                <a:latin typeface="Calibri" pitchFamily="34" charset="0"/>
                <a:ea typeface="Calibri" pitchFamily="34" charset="-122"/>
                <a:cs typeface="Calibri" pitchFamily="34" charset="-120"/>
              </a:rPr>
              <a:t>Beyond Definition, Purpose, Scope, and Stakeholders, policies carry built-in governance properties.</a:t>
            </a:r>
            <a:endParaRPr lang="en-US" sz="1250" dirty="0"/>
          </a:p>
        </p:txBody>
      </p:sp>
      <p:sp>
        <p:nvSpPr>
          <p:cNvPr id="5" name="Shape 3"/>
          <p:cNvSpPr/>
          <p:nvPr/>
        </p:nvSpPr>
        <p:spPr>
          <a:xfrm>
            <a:off x="548640" y="1865376"/>
            <a:ext cx="3931920" cy="841248"/>
          </a:xfrm>
          <a:prstGeom prst="roundRect">
            <a:avLst>
              <a:gd name="adj" fmla="val 8696"/>
            </a:avLst>
          </a:prstGeom>
          <a:solidFill>
            <a:srgbClr val="EEF6FA"/>
          </a:solidFill>
          <a:ln/>
          <a:effectLst>
            <a:outerShdw sx="100000" sy="100000" kx="0" ky="0" algn="bl" rotWithShape="0" blurRad="63500" dist="25400" dir="5400000">
              <a:srgbClr val="0A3D52">
                <a:alpha val="8000"/>
              </a:srgbClr>
            </a:outerShdw>
          </a:effectLst>
        </p:spPr>
      </p:sp>
      <p:sp>
        <p:nvSpPr>
          <p:cNvPr id="6" name="Shape 4"/>
          <p:cNvSpPr/>
          <p:nvPr/>
        </p:nvSpPr>
        <p:spPr>
          <a:xfrm>
            <a:off x="749808" y="2066544"/>
            <a:ext cx="438912" cy="438912"/>
          </a:xfrm>
          <a:prstGeom prst="ellipse">
            <a:avLst/>
          </a:prstGeom>
          <a:solidFill>
            <a:srgbClr val="065A82"/>
          </a:solidFill>
          <a:ln/>
        </p:spPr>
      </p:sp>
      <p:pic>
        <p:nvPicPr>
          <p:cNvPr id="7" name="Image 0" descr="preencoded.png"/>
          <p:cNvPicPr>
            <a:picLocks noChangeAspect="1"/>
          </p:cNvPicPr>
          <p:nvPr/>
        </p:nvPicPr>
        <p:blipFill>
          <a:blip r:embed="rId1"/>
          <a:stretch>
            <a:fillRect/>
          </a:stretch>
        </p:blipFill>
        <p:spPr>
          <a:xfrm>
            <a:off x="850392" y="2167128"/>
            <a:ext cx="237744" cy="237744"/>
          </a:xfrm>
          <a:prstGeom prst="rect">
            <a:avLst/>
          </a:prstGeom>
        </p:spPr>
      </p:pic>
      <p:sp>
        <p:nvSpPr>
          <p:cNvPr id="8" name="Text 5"/>
          <p:cNvSpPr/>
          <p:nvPr/>
        </p:nvSpPr>
        <p:spPr>
          <a:xfrm>
            <a:off x="1316736" y="1975104"/>
            <a:ext cx="3017520" cy="310896"/>
          </a:xfrm>
          <a:prstGeom prst="rect">
            <a:avLst/>
          </a:prstGeom>
          <a:noFill/>
          <a:ln/>
        </p:spPr>
        <p:txBody>
          <a:bodyPr wrap="square" lIns="0" tIns="0" rIns="0" bIns="0" rtlCol="0" anchor="ctr"/>
          <a:lstStyle/>
          <a:p>
            <a:pPr indent="0" marL="0">
              <a:buNone/>
            </a:pPr>
            <a:r>
              <a:rPr lang="en-US" sz="1350" b="1" dirty="0">
                <a:solidFill>
                  <a:srgbClr val="14333F"/>
                </a:solidFill>
                <a:latin typeface="Bookman Old Style" pitchFamily="34" charset="0"/>
                <a:ea typeface="Bookman Old Style" pitchFamily="34" charset="-122"/>
                <a:cs typeface="Bookman Old Style" pitchFamily="34" charset="-120"/>
              </a:rPr>
              <a:t>Status</a:t>
            </a:r>
            <a:endParaRPr lang="en-US" sz="1350" dirty="0"/>
          </a:p>
        </p:txBody>
      </p:sp>
      <p:sp>
        <p:nvSpPr>
          <p:cNvPr id="9" name="Text 6"/>
          <p:cNvSpPr/>
          <p:nvPr/>
        </p:nvSpPr>
        <p:spPr>
          <a:xfrm>
            <a:off x="1316736" y="2286000"/>
            <a:ext cx="3063240" cy="365760"/>
          </a:xfrm>
          <a:prstGeom prst="rect">
            <a:avLst/>
          </a:prstGeom>
          <a:noFill/>
          <a:ln/>
        </p:spPr>
        <p:txBody>
          <a:bodyPr wrap="square" lIns="0" tIns="0" rIns="0" bIns="0" rtlCol="0" anchor="ctr"/>
          <a:lstStyle/>
          <a:p>
            <a:pPr indent="0" marL="0">
              <a:buNone/>
            </a:pPr>
            <a:r>
              <a:rPr lang="en-US" sz="1000" dirty="0">
                <a:solidFill>
                  <a:srgbClr val="5B7782"/>
                </a:solidFill>
                <a:latin typeface="Calibri" pitchFamily="34" charset="0"/>
                <a:ea typeface="Calibri" pitchFamily="34" charset="-122"/>
                <a:cs typeface="Calibri" pitchFamily="34" charset="-120"/>
              </a:rPr>
              <a:t>Draft · Review · Accepted · Deprecated</a:t>
            </a:r>
            <a:endParaRPr lang="en-US" sz="1000" dirty="0"/>
          </a:p>
        </p:txBody>
      </p:sp>
      <p:sp>
        <p:nvSpPr>
          <p:cNvPr id="10" name="Shape 7"/>
          <p:cNvSpPr/>
          <p:nvPr/>
        </p:nvSpPr>
        <p:spPr>
          <a:xfrm>
            <a:off x="4663440" y="1865376"/>
            <a:ext cx="3931920" cy="841248"/>
          </a:xfrm>
          <a:prstGeom prst="roundRect">
            <a:avLst>
              <a:gd name="adj" fmla="val 8696"/>
            </a:avLst>
          </a:prstGeom>
          <a:solidFill>
            <a:srgbClr val="EEF6FA"/>
          </a:solidFill>
          <a:ln/>
          <a:effectLst>
            <a:outerShdw sx="100000" sy="100000" kx="0" ky="0" algn="bl" rotWithShape="0" blurRad="63500" dist="25400" dir="5400000">
              <a:srgbClr val="0A3D52">
                <a:alpha val="8000"/>
              </a:srgbClr>
            </a:outerShdw>
          </a:effectLst>
        </p:spPr>
      </p:sp>
      <p:sp>
        <p:nvSpPr>
          <p:cNvPr id="11" name="Shape 8"/>
          <p:cNvSpPr/>
          <p:nvPr/>
        </p:nvSpPr>
        <p:spPr>
          <a:xfrm>
            <a:off x="4864608" y="2066544"/>
            <a:ext cx="438912" cy="438912"/>
          </a:xfrm>
          <a:prstGeom prst="ellipse">
            <a:avLst/>
          </a:prstGeom>
          <a:solidFill>
            <a:srgbClr val="065A82"/>
          </a:solidFill>
          <a:ln/>
        </p:spPr>
      </p:sp>
      <p:pic>
        <p:nvPicPr>
          <p:cNvPr id="12" name="Image 1" descr="preencoded.png"/>
          <p:cNvPicPr>
            <a:picLocks noChangeAspect="1"/>
          </p:cNvPicPr>
          <p:nvPr/>
        </p:nvPicPr>
        <p:blipFill>
          <a:blip r:embed="rId2"/>
          <a:stretch>
            <a:fillRect/>
          </a:stretch>
        </p:blipFill>
        <p:spPr>
          <a:xfrm>
            <a:off x="4965192" y="2167128"/>
            <a:ext cx="237744" cy="237744"/>
          </a:xfrm>
          <a:prstGeom prst="rect">
            <a:avLst/>
          </a:prstGeom>
        </p:spPr>
      </p:pic>
      <p:sp>
        <p:nvSpPr>
          <p:cNvPr id="13" name="Text 9"/>
          <p:cNvSpPr/>
          <p:nvPr/>
        </p:nvSpPr>
        <p:spPr>
          <a:xfrm>
            <a:off x="5431536" y="1975104"/>
            <a:ext cx="3017520" cy="310896"/>
          </a:xfrm>
          <a:prstGeom prst="rect">
            <a:avLst/>
          </a:prstGeom>
          <a:noFill/>
          <a:ln/>
        </p:spPr>
        <p:txBody>
          <a:bodyPr wrap="square" lIns="0" tIns="0" rIns="0" bIns="0" rtlCol="0" anchor="ctr"/>
          <a:lstStyle/>
          <a:p>
            <a:pPr indent="0" marL="0">
              <a:buNone/>
            </a:pPr>
            <a:r>
              <a:rPr lang="en-US" sz="1350" b="1" dirty="0">
                <a:solidFill>
                  <a:srgbClr val="14333F"/>
                </a:solidFill>
                <a:latin typeface="Bookman Old Style" pitchFamily="34" charset="0"/>
                <a:ea typeface="Bookman Old Style" pitchFamily="34" charset="-122"/>
                <a:cs typeface="Bookman Old Style" pitchFamily="34" charset="-120"/>
              </a:rPr>
              <a:t>Version</a:t>
            </a:r>
            <a:endParaRPr lang="en-US" sz="1350" dirty="0"/>
          </a:p>
        </p:txBody>
      </p:sp>
      <p:sp>
        <p:nvSpPr>
          <p:cNvPr id="14" name="Text 10"/>
          <p:cNvSpPr/>
          <p:nvPr/>
        </p:nvSpPr>
        <p:spPr>
          <a:xfrm>
            <a:off x="5431536" y="2286000"/>
            <a:ext cx="3063240" cy="365760"/>
          </a:xfrm>
          <a:prstGeom prst="rect">
            <a:avLst/>
          </a:prstGeom>
          <a:noFill/>
          <a:ln/>
        </p:spPr>
        <p:txBody>
          <a:bodyPr wrap="square" lIns="0" tIns="0" rIns="0" bIns="0" rtlCol="0" anchor="ctr"/>
          <a:lstStyle/>
          <a:p>
            <a:pPr indent="0" marL="0">
              <a:buNone/>
            </a:pPr>
            <a:r>
              <a:rPr lang="en-US" sz="1000" dirty="0">
                <a:solidFill>
                  <a:srgbClr val="5B7782"/>
                </a:solidFill>
                <a:latin typeface="Calibri" pitchFamily="34" charset="0"/>
                <a:ea typeface="Calibri" pitchFamily="34" charset="-122"/>
                <a:cs typeface="Calibri" pitchFamily="34" charset="-120"/>
              </a:rPr>
              <a:t>1.0, 1.1, 2.0 …</a:t>
            </a:r>
            <a:endParaRPr lang="en-US" sz="1000" dirty="0"/>
          </a:p>
        </p:txBody>
      </p:sp>
      <p:sp>
        <p:nvSpPr>
          <p:cNvPr id="15" name="Shape 11"/>
          <p:cNvSpPr/>
          <p:nvPr/>
        </p:nvSpPr>
        <p:spPr>
          <a:xfrm>
            <a:off x="548640" y="2816352"/>
            <a:ext cx="3931920" cy="841248"/>
          </a:xfrm>
          <a:prstGeom prst="roundRect">
            <a:avLst>
              <a:gd name="adj" fmla="val 8696"/>
            </a:avLst>
          </a:prstGeom>
          <a:solidFill>
            <a:srgbClr val="EEF6FA"/>
          </a:solidFill>
          <a:ln/>
          <a:effectLst>
            <a:outerShdw sx="100000" sy="100000" kx="0" ky="0" algn="bl" rotWithShape="0" blurRad="63500" dist="25400" dir="5400000">
              <a:srgbClr val="0A3D52">
                <a:alpha val="8000"/>
              </a:srgbClr>
            </a:outerShdw>
          </a:effectLst>
        </p:spPr>
      </p:sp>
      <p:sp>
        <p:nvSpPr>
          <p:cNvPr id="16" name="Shape 12"/>
          <p:cNvSpPr/>
          <p:nvPr/>
        </p:nvSpPr>
        <p:spPr>
          <a:xfrm>
            <a:off x="749808" y="3017520"/>
            <a:ext cx="438912" cy="438912"/>
          </a:xfrm>
          <a:prstGeom prst="ellipse">
            <a:avLst/>
          </a:prstGeom>
          <a:solidFill>
            <a:srgbClr val="065A82"/>
          </a:solidFill>
          <a:ln/>
        </p:spPr>
      </p:sp>
      <p:pic>
        <p:nvPicPr>
          <p:cNvPr id="17" name="Image 2" descr="preencoded.png"/>
          <p:cNvPicPr>
            <a:picLocks noChangeAspect="1"/>
          </p:cNvPicPr>
          <p:nvPr/>
        </p:nvPicPr>
        <p:blipFill>
          <a:blip r:embed="rId3"/>
          <a:stretch>
            <a:fillRect/>
          </a:stretch>
        </p:blipFill>
        <p:spPr>
          <a:xfrm>
            <a:off x="850392" y="3118104"/>
            <a:ext cx="237744" cy="237744"/>
          </a:xfrm>
          <a:prstGeom prst="rect">
            <a:avLst/>
          </a:prstGeom>
        </p:spPr>
      </p:pic>
      <p:sp>
        <p:nvSpPr>
          <p:cNvPr id="18" name="Text 13"/>
          <p:cNvSpPr/>
          <p:nvPr/>
        </p:nvSpPr>
        <p:spPr>
          <a:xfrm>
            <a:off x="1316736" y="2926080"/>
            <a:ext cx="3017520" cy="310896"/>
          </a:xfrm>
          <a:prstGeom prst="rect">
            <a:avLst/>
          </a:prstGeom>
          <a:noFill/>
          <a:ln/>
        </p:spPr>
        <p:txBody>
          <a:bodyPr wrap="square" lIns="0" tIns="0" rIns="0" bIns="0" rtlCol="0" anchor="ctr"/>
          <a:lstStyle/>
          <a:p>
            <a:pPr indent="0" marL="0">
              <a:buNone/>
            </a:pPr>
            <a:r>
              <a:rPr lang="en-US" sz="1350" b="1" dirty="0">
                <a:solidFill>
                  <a:srgbClr val="14333F"/>
                </a:solidFill>
                <a:latin typeface="Bookman Old Style" pitchFamily="34" charset="0"/>
                <a:ea typeface="Bookman Old Style" pitchFamily="34" charset="-122"/>
                <a:cs typeface="Bookman Old Style" pitchFamily="34" charset="-120"/>
              </a:rPr>
              <a:t>Effective From–Until</a:t>
            </a:r>
            <a:endParaRPr lang="en-US" sz="1350" dirty="0"/>
          </a:p>
        </p:txBody>
      </p:sp>
      <p:sp>
        <p:nvSpPr>
          <p:cNvPr id="19" name="Text 14"/>
          <p:cNvSpPr/>
          <p:nvPr/>
        </p:nvSpPr>
        <p:spPr>
          <a:xfrm>
            <a:off x="1316736" y="3236976"/>
            <a:ext cx="3063240" cy="365760"/>
          </a:xfrm>
          <a:prstGeom prst="rect">
            <a:avLst/>
          </a:prstGeom>
          <a:noFill/>
          <a:ln/>
        </p:spPr>
        <p:txBody>
          <a:bodyPr wrap="square" lIns="0" tIns="0" rIns="0" bIns="0" rtlCol="0" anchor="ctr"/>
          <a:lstStyle/>
          <a:p>
            <a:pPr indent="0" marL="0">
              <a:buNone/>
            </a:pPr>
            <a:r>
              <a:rPr lang="en-US" sz="1000" dirty="0">
                <a:solidFill>
                  <a:srgbClr val="5B7782"/>
                </a:solidFill>
                <a:latin typeface="Calibri" pitchFamily="34" charset="0"/>
                <a:ea typeface="Calibri" pitchFamily="34" charset="-122"/>
                <a:cs typeface="Calibri" pitchFamily="34" charset="-120"/>
              </a:rPr>
              <a:t>When it applies</a:t>
            </a:r>
            <a:endParaRPr lang="en-US" sz="1000" dirty="0"/>
          </a:p>
        </p:txBody>
      </p:sp>
      <p:sp>
        <p:nvSpPr>
          <p:cNvPr id="20" name="Shape 15"/>
          <p:cNvSpPr/>
          <p:nvPr/>
        </p:nvSpPr>
        <p:spPr>
          <a:xfrm>
            <a:off x="4663440" y="2816352"/>
            <a:ext cx="3931920" cy="841248"/>
          </a:xfrm>
          <a:prstGeom prst="roundRect">
            <a:avLst>
              <a:gd name="adj" fmla="val 8696"/>
            </a:avLst>
          </a:prstGeom>
          <a:solidFill>
            <a:srgbClr val="EEF6FA"/>
          </a:solidFill>
          <a:ln/>
          <a:effectLst>
            <a:outerShdw sx="100000" sy="100000" kx="0" ky="0" algn="bl" rotWithShape="0" blurRad="63500" dist="25400" dir="5400000">
              <a:srgbClr val="0A3D52">
                <a:alpha val="8000"/>
              </a:srgbClr>
            </a:outerShdw>
          </a:effectLst>
        </p:spPr>
      </p:sp>
      <p:sp>
        <p:nvSpPr>
          <p:cNvPr id="21" name="Shape 16"/>
          <p:cNvSpPr/>
          <p:nvPr/>
        </p:nvSpPr>
        <p:spPr>
          <a:xfrm>
            <a:off x="4864608" y="3017520"/>
            <a:ext cx="438912" cy="438912"/>
          </a:xfrm>
          <a:prstGeom prst="ellipse">
            <a:avLst/>
          </a:prstGeom>
          <a:solidFill>
            <a:srgbClr val="065A82"/>
          </a:solidFill>
          <a:ln/>
        </p:spPr>
      </p:sp>
      <p:pic>
        <p:nvPicPr>
          <p:cNvPr id="22" name="Image 3" descr="preencoded.png"/>
          <p:cNvPicPr>
            <a:picLocks noChangeAspect="1"/>
          </p:cNvPicPr>
          <p:nvPr/>
        </p:nvPicPr>
        <p:blipFill>
          <a:blip r:embed="rId4"/>
          <a:stretch>
            <a:fillRect/>
          </a:stretch>
        </p:blipFill>
        <p:spPr>
          <a:xfrm>
            <a:off x="4965192" y="3118104"/>
            <a:ext cx="237744" cy="237744"/>
          </a:xfrm>
          <a:prstGeom prst="rect">
            <a:avLst/>
          </a:prstGeom>
        </p:spPr>
      </p:pic>
      <p:sp>
        <p:nvSpPr>
          <p:cNvPr id="23" name="Text 17"/>
          <p:cNvSpPr/>
          <p:nvPr/>
        </p:nvSpPr>
        <p:spPr>
          <a:xfrm>
            <a:off x="5431536" y="2926080"/>
            <a:ext cx="3017520" cy="310896"/>
          </a:xfrm>
          <a:prstGeom prst="rect">
            <a:avLst/>
          </a:prstGeom>
          <a:noFill/>
          <a:ln/>
        </p:spPr>
        <p:txBody>
          <a:bodyPr wrap="square" lIns="0" tIns="0" rIns="0" bIns="0" rtlCol="0" anchor="ctr"/>
          <a:lstStyle/>
          <a:p>
            <a:pPr indent="0" marL="0">
              <a:buNone/>
            </a:pPr>
            <a:r>
              <a:rPr lang="en-US" sz="1350" b="1" dirty="0">
                <a:solidFill>
                  <a:srgbClr val="14333F"/>
                </a:solidFill>
                <a:latin typeface="Bookman Old Style" pitchFamily="34" charset="0"/>
                <a:ea typeface="Bookman Old Style" pitchFamily="34" charset="-122"/>
                <a:cs typeface="Bookman Old Style" pitchFamily="34" charset="-120"/>
              </a:rPr>
              <a:t>Sensitivity &amp; Domain</a:t>
            </a:r>
            <a:endParaRPr lang="en-US" sz="1350" dirty="0"/>
          </a:p>
        </p:txBody>
      </p:sp>
      <p:sp>
        <p:nvSpPr>
          <p:cNvPr id="24" name="Text 18"/>
          <p:cNvSpPr/>
          <p:nvPr/>
        </p:nvSpPr>
        <p:spPr>
          <a:xfrm>
            <a:off x="5431536" y="3236976"/>
            <a:ext cx="3063240" cy="365760"/>
          </a:xfrm>
          <a:prstGeom prst="rect">
            <a:avLst/>
          </a:prstGeom>
          <a:noFill/>
          <a:ln/>
        </p:spPr>
        <p:txBody>
          <a:bodyPr wrap="square" lIns="0" tIns="0" rIns="0" bIns="0" rtlCol="0" anchor="ctr"/>
          <a:lstStyle/>
          <a:p>
            <a:pPr indent="0" marL="0">
              <a:buNone/>
            </a:pPr>
            <a:r>
              <a:rPr lang="en-US" sz="1000" dirty="0">
                <a:solidFill>
                  <a:srgbClr val="5B7782"/>
                </a:solidFill>
                <a:latin typeface="Calibri" pitchFamily="34" charset="0"/>
                <a:ea typeface="Calibri" pitchFamily="34" charset="-122"/>
                <a:cs typeface="Calibri" pitchFamily="34" charset="-120"/>
              </a:rPr>
              <a:t>Classification and area</a:t>
            </a:r>
            <a:endParaRPr lang="en-US" sz="1000" dirty="0"/>
          </a:p>
        </p:txBody>
      </p:sp>
      <p:sp>
        <p:nvSpPr>
          <p:cNvPr id="25" name="Shape 19"/>
          <p:cNvSpPr/>
          <p:nvPr/>
        </p:nvSpPr>
        <p:spPr>
          <a:xfrm>
            <a:off x="548640" y="3767328"/>
            <a:ext cx="3931920" cy="841248"/>
          </a:xfrm>
          <a:prstGeom prst="roundRect">
            <a:avLst>
              <a:gd name="adj" fmla="val 8696"/>
            </a:avLst>
          </a:prstGeom>
          <a:solidFill>
            <a:srgbClr val="EEF6FA"/>
          </a:solidFill>
          <a:ln/>
          <a:effectLst>
            <a:outerShdw sx="100000" sy="100000" kx="0" ky="0" algn="bl" rotWithShape="0" blurRad="63500" dist="25400" dir="5400000">
              <a:srgbClr val="0A3D52">
                <a:alpha val="8000"/>
              </a:srgbClr>
            </a:outerShdw>
          </a:effectLst>
        </p:spPr>
      </p:sp>
      <p:sp>
        <p:nvSpPr>
          <p:cNvPr id="26" name="Shape 20"/>
          <p:cNvSpPr/>
          <p:nvPr/>
        </p:nvSpPr>
        <p:spPr>
          <a:xfrm>
            <a:off x="749808" y="3968496"/>
            <a:ext cx="438912" cy="438912"/>
          </a:xfrm>
          <a:prstGeom prst="ellipse">
            <a:avLst/>
          </a:prstGeom>
          <a:solidFill>
            <a:srgbClr val="065A82"/>
          </a:solidFill>
          <a:ln/>
        </p:spPr>
      </p:sp>
      <p:pic>
        <p:nvPicPr>
          <p:cNvPr id="27" name="Image 4" descr="preencoded.png"/>
          <p:cNvPicPr>
            <a:picLocks noChangeAspect="1"/>
          </p:cNvPicPr>
          <p:nvPr/>
        </p:nvPicPr>
        <p:blipFill>
          <a:blip r:embed="rId5"/>
          <a:stretch>
            <a:fillRect/>
          </a:stretch>
        </p:blipFill>
        <p:spPr>
          <a:xfrm>
            <a:off x="850392" y="4069080"/>
            <a:ext cx="237744" cy="237744"/>
          </a:xfrm>
          <a:prstGeom prst="rect">
            <a:avLst/>
          </a:prstGeom>
        </p:spPr>
      </p:pic>
      <p:sp>
        <p:nvSpPr>
          <p:cNvPr id="28" name="Text 21"/>
          <p:cNvSpPr/>
          <p:nvPr/>
        </p:nvSpPr>
        <p:spPr>
          <a:xfrm>
            <a:off x="1316736" y="3877056"/>
            <a:ext cx="3017520" cy="310896"/>
          </a:xfrm>
          <a:prstGeom prst="rect">
            <a:avLst/>
          </a:prstGeom>
          <a:noFill/>
          <a:ln/>
        </p:spPr>
        <p:txBody>
          <a:bodyPr wrap="square" lIns="0" tIns="0" rIns="0" bIns="0" rtlCol="0" anchor="ctr"/>
          <a:lstStyle/>
          <a:p>
            <a:pPr indent="0" marL="0">
              <a:buNone/>
            </a:pPr>
            <a:r>
              <a:rPr lang="en-US" sz="1350" b="1" dirty="0">
                <a:solidFill>
                  <a:srgbClr val="14333F"/>
                </a:solidFill>
                <a:latin typeface="Bookman Old Style" pitchFamily="34" charset="0"/>
                <a:ea typeface="Bookman Old Style" pitchFamily="34" charset="-122"/>
                <a:cs typeface="Bookman Old Style" pitchFamily="34" charset="-120"/>
              </a:rPr>
              <a:t>Review Date</a:t>
            </a:r>
            <a:endParaRPr lang="en-US" sz="1350" dirty="0"/>
          </a:p>
        </p:txBody>
      </p:sp>
      <p:sp>
        <p:nvSpPr>
          <p:cNvPr id="29" name="Text 22"/>
          <p:cNvSpPr/>
          <p:nvPr/>
        </p:nvSpPr>
        <p:spPr>
          <a:xfrm>
            <a:off x="1316736" y="4187952"/>
            <a:ext cx="3063240" cy="365760"/>
          </a:xfrm>
          <a:prstGeom prst="rect">
            <a:avLst/>
          </a:prstGeom>
          <a:noFill/>
          <a:ln/>
        </p:spPr>
        <p:txBody>
          <a:bodyPr wrap="square" lIns="0" tIns="0" rIns="0" bIns="0" rtlCol="0" anchor="ctr"/>
          <a:lstStyle/>
          <a:p>
            <a:pPr indent="0" marL="0">
              <a:buNone/>
            </a:pPr>
            <a:r>
              <a:rPr lang="en-US" sz="1000" dirty="0">
                <a:solidFill>
                  <a:srgbClr val="5B7782"/>
                </a:solidFill>
                <a:latin typeface="Calibri" pitchFamily="34" charset="0"/>
                <a:ea typeface="Calibri" pitchFamily="34" charset="-122"/>
                <a:cs typeface="Calibri" pitchFamily="34" charset="-120"/>
              </a:rPr>
              <a:t>When to revisit</a:t>
            </a:r>
            <a:endParaRPr lang="en-US" sz="1000" dirty="0"/>
          </a:p>
        </p:txBody>
      </p:sp>
      <p:sp>
        <p:nvSpPr>
          <p:cNvPr id="30" name="Shape 23"/>
          <p:cNvSpPr/>
          <p:nvPr/>
        </p:nvSpPr>
        <p:spPr>
          <a:xfrm>
            <a:off x="4663440" y="3767328"/>
            <a:ext cx="3931920" cy="841248"/>
          </a:xfrm>
          <a:prstGeom prst="roundRect">
            <a:avLst>
              <a:gd name="adj" fmla="val 8696"/>
            </a:avLst>
          </a:prstGeom>
          <a:solidFill>
            <a:srgbClr val="EEF6FA"/>
          </a:solidFill>
          <a:ln/>
          <a:effectLst>
            <a:outerShdw sx="100000" sy="100000" kx="0" ky="0" algn="bl" rotWithShape="0" blurRad="63500" dist="25400" dir="5400000">
              <a:srgbClr val="0A3D52">
                <a:alpha val="8000"/>
              </a:srgbClr>
            </a:outerShdw>
          </a:effectLst>
        </p:spPr>
      </p:sp>
      <p:sp>
        <p:nvSpPr>
          <p:cNvPr id="31" name="Shape 24"/>
          <p:cNvSpPr/>
          <p:nvPr/>
        </p:nvSpPr>
        <p:spPr>
          <a:xfrm>
            <a:off x="4864608" y="3968496"/>
            <a:ext cx="438912" cy="438912"/>
          </a:xfrm>
          <a:prstGeom prst="ellipse">
            <a:avLst/>
          </a:prstGeom>
          <a:solidFill>
            <a:srgbClr val="065A82"/>
          </a:solidFill>
          <a:ln/>
        </p:spPr>
      </p:sp>
      <p:pic>
        <p:nvPicPr>
          <p:cNvPr id="32" name="Image 5" descr="preencoded.png"/>
          <p:cNvPicPr>
            <a:picLocks noChangeAspect="1"/>
          </p:cNvPicPr>
          <p:nvPr/>
        </p:nvPicPr>
        <p:blipFill>
          <a:blip r:embed="rId6"/>
          <a:stretch>
            <a:fillRect/>
          </a:stretch>
        </p:blipFill>
        <p:spPr>
          <a:xfrm>
            <a:off x="4965192" y="4069080"/>
            <a:ext cx="237744" cy="237744"/>
          </a:xfrm>
          <a:prstGeom prst="rect">
            <a:avLst/>
          </a:prstGeom>
        </p:spPr>
      </p:pic>
      <p:sp>
        <p:nvSpPr>
          <p:cNvPr id="33" name="Text 25"/>
          <p:cNvSpPr/>
          <p:nvPr/>
        </p:nvSpPr>
        <p:spPr>
          <a:xfrm>
            <a:off x="5431536" y="3877056"/>
            <a:ext cx="3017520" cy="310896"/>
          </a:xfrm>
          <a:prstGeom prst="rect">
            <a:avLst/>
          </a:prstGeom>
          <a:noFill/>
          <a:ln/>
        </p:spPr>
        <p:txBody>
          <a:bodyPr wrap="square" lIns="0" tIns="0" rIns="0" bIns="0" rtlCol="0" anchor="ctr"/>
          <a:lstStyle/>
          <a:p>
            <a:pPr indent="0" marL="0">
              <a:buNone/>
            </a:pPr>
            <a:r>
              <a:rPr lang="en-US" sz="1350" b="1" dirty="0">
                <a:solidFill>
                  <a:srgbClr val="14333F"/>
                </a:solidFill>
                <a:latin typeface="Bookman Old Style" pitchFamily="34" charset="0"/>
                <a:ea typeface="Bookman Old Style" pitchFamily="34" charset="-122"/>
                <a:cs typeface="Bookman Old Style" pitchFamily="34" charset="-120"/>
              </a:rPr>
              <a:t>Steward &amp; Owner</a:t>
            </a:r>
            <a:endParaRPr lang="en-US" sz="1350" dirty="0"/>
          </a:p>
        </p:txBody>
      </p:sp>
      <p:sp>
        <p:nvSpPr>
          <p:cNvPr id="34" name="Text 26"/>
          <p:cNvSpPr/>
          <p:nvPr/>
        </p:nvSpPr>
        <p:spPr>
          <a:xfrm>
            <a:off x="5431536" y="4187952"/>
            <a:ext cx="3063240" cy="365760"/>
          </a:xfrm>
          <a:prstGeom prst="rect">
            <a:avLst/>
          </a:prstGeom>
          <a:noFill/>
          <a:ln/>
        </p:spPr>
        <p:txBody>
          <a:bodyPr wrap="square" lIns="0" tIns="0" rIns="0" bIns="0" rtlCol="0" anchor="ctr"/>
          <a:lstStyle/>
          <a:p>
            <a:pPr indent="0" marL="0">
              <a:buNone/>
            </a:pPr>
            <a:r>
              <a:rPr lang="en-US" sz="1000" dirty="0">
                <a:solidFill>
                  <a:srgbClr val="5B7782"/>
                </a:solidFill>
                <a:latin typeface="Calibri" pitchFamily="34" charset="0"/>
                <a:ea typeface="Calibri" pitchFamily="34" charset="-122"/>
                <a:cs typeface="Calibri" pitchFamily="34" charset="-120"/>
              </a:rPr>
              <a:t>Who is accountable</a:t>
            </a:r>
            <a:endParaRPr lang="en-US" sz="1000" dirty="0"/>
          </a:p>
        </p:txBody>
      </p:sp>
      <p:sp>
        <p:nvSpPr>
          <p:cNvPr id="35" name="Text 27"/>
          <p:cNvSpPr/>
          <p:nvPr/>
        </p:nvSpPr>
        <p:spPr>
          <a:xfrm>
            <a:off x="548640" y="4882896"/>
            <a:ext cx="8046720" cy="274320"/>
          </a:xfrm>
          <a:prstGeom prst="rect">
            <a:avLst/>
          </a:prstGeom>
          <a:noFill/>
          <a:ln/>
        </p:spPr>
        <p:txBody>
          <a:bodyPr wrap="square" lIns="0" tIns="0" rIns="0" bIns="0" rtlCol="0" anchor="ctr"/>
          <a:lstStyle/>
          <a:p>
            <a:pPr indent="0" marL="0">
              <a:buNone/>
            </a:pPr>
            <a:r>
              <a:rPr lang="en-US" sz="1000" i="1" dirty="0">
                <a:solidFill>
                  <a:srgbClr val="5B7782"/>
                </a:solidFill>
                <a:latin typeface="Calibri" pitchFamily="34" charset="0"/>
                <a:ea typeface="Calibri" pitchFamily="34" charset="-122"/>
                <a:cs typeface="Calibri" pitchFamily="34" charset="-120"/>
              </a:rPr>
              <a:t>Versioned, dated assets let AWC prove which rules were in force on any past date.</a:t>
            </a:r>
            <a:endParaRPr lang="en-US" sz="1000" dirty="0"/>
          </a:p>
        </p:txBody>
      </p:sp>
      <p:sp>
        <p:nvSpPr>
          <p:cNvPr id="36" name="Text 28"/>
          <p:cNvSpPr/>
          <p:nvPr/>
        </p:nvSpPr>
        <p:spPr>
          <a:xfrm>
            <a:off x="548640" y="4828032"/>
            <a:ext cx="7315200" cy="274320"/>
          </a:xfrm>
          <a:prstGeom prst="rect">
            <a:avLst/>
          </a:prstGeom>
          <a:noFill/>
          <a:ln/>
        </p:spPr>
        <p:txBody>
          <a:bodyPr wrap="square" lIns="0" tIns="0" rIns="0" bIns="0" rtlCol="0" anchor="ctr"/>
          <a:lstStyle/>
          <a:p>
            <a:pPr indent="0" marL="0">
              <a:buNone/>
            </a:pPr>
            <a:endParaRPr lang="en-US" sz="950" dirty="0"/>
          </a:p>
        </p:txBody>
      </p:sp>
      <p:sp>
        <p:nvSpPr>
          <p:cNvPr id="37" name="Text 29"/>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WHERE POLICY DELIVERS VALUE</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The governance chain, end to end</a:t>
            </a:r>
            <a:endParaRPr lang="en-US" sz="2700" dirty="0"/>
          </a:p>
        </p:txBody>
      </p:sp>
      <p:sp>
        <p:nvSpPr>
          <p:cNvPr id="4" name="Text 2"/>
          <p:cNvSpPr/>
          <p:nvPr/>
        </p:nvSpPr>
        <p:spPr>
          <a:xfrm>
            <a:off x="548640" y="1371600"/>
            <a:ext cx="8046720" cy="512064"/>
          </a:xfrm>
          <a:prstGeom prst="rect">
            <a:avLst/>
          </a:prstGeom>
          <a:noFill/>
          <a:ln/>
        </p:spPr>
        <p:txBody>
          <a:bodyPr wrap="square" lIns="0" tIns="0" rIns="0" bIns="0" rtlCol="0" anchor="ctr"/>
          <a:lstStyle/>
          <a:p>
            <a:pPr indent="0" marL="0">
              <a:lnSpc>
                <a:spcPct val="104000"/>
              </a:lnSpc>
              <a:buNone/>
            </a:pPr>
            <a:r>
              <a:rPr lang="en-US" sz="1250" dirty="0">
                <a:solidFill>
                  <a:srgbClr val="5B7782"/>
                </a:solidFill>
                <a:latin typeface="Calibri" pitchFamily="34" charset="0"/>
                <a:ea typeface="Calibri" pitchFamily="34" charset="-122"/>
                <a:cs typeface="Calibri" pitchFamily="34" charset="-120"/>
              </a:rPr>
              <a:t>Associate a policy from the governed asset's Policies tab. AWC now has an unbroken chain an auditor can trace from any link.</a:t>
            </a:r>
            <a:endParaRPr lang="en-US" sz="1250" dirty="0"/>
          </a:p>
        </p:txBody>
      </p:sp>
      <p:sp>
        <p:nvSpPr>
          <p:cNvPr id="5" name="Shape 3"/>
          <p:cNvSpPr/>
          <p:nvPr/>
        </p:nvSpPr>
        <p:spPr>
          <a:xfrm>
            <a:off x="548640" y="2103120"/>
            <a:ext cx="1783080" cy="1645920"/>
          </a:xfrm>
          <a:prstGeom prst="roundRect">
            <a:avLst>
              <a:gd name="adj" fmla="val 5556"/>
            </a:avLst>
          </a:prstGeom>
          <a:solidFill>
            <a:srgbClr val="EEF6FA"/>
          </a:solidFill>
          <a:ln/>
          <a:effectLst>
            <a:outerShdw sx="100000" sy="100000" kx="0" ky="0" algn="bl" rotWithShape="0" blurRad="88900" dist="25400" dir="5400000">
              <a:srgbClr val="0A3D52">
                <a:alpha val="12000"/>
              </a:srgbClr>
            </a:outerShdw>
          </a:effectLst>
        </p:spPr>
      </p:sp>
      <p:sp>
        <p:nvSpPr>
          <p:cNvPr id="6" name="Shape 4"/>
          <p:cNvSpPr/>
          <p:nvPr/>
        </p:nvSpPr>
        <p:spPr>
          <a:xfrm>
            <a:off x="1170432" y="2340864"/>
            <a:ext cx="548640" cy="548640"/>
          </a:xfrm>
          <a:prstGeom prst="ellipse">
            <a:avLst/>
          </a:prstGeom>
          <a:solidFill>
            <a:srgbClr val="0A3D52"/>
          </a:solidFill>
          <a:ln/>
        </p:spPr>
      </p:sp>
      <p:pic>
        <p:nvPicPr>
          <p:cNvPr id="7" name="Image 0" descr="preencoded.png"/>
          <p:cNvPicPr>
            <a:picLocks noChangeAspect="1"/>
          </p:cNvPicPr>
          <p:nvPr/>
        </p:nvPicPr>
        <p:blipFill>
          <a:blip r:embed="rId1"/>
          <a:stretch>
            <a:fillRect/>
          </a:stretch>
        </p:blipFill>
        <p:spPr>
          <a:xfrm>
            <a:off x="1298448" y="2468880"/>
            <a:ext cx="292608" cy="292608"/>
          </a:xfrm>
          <a:prstGeom prst="rect">
            <a:avLst/>
          </a:prstGeom>
        </p:spPr>
      </p:pic>
      <p:sp>
        <p:nvSpPr>
          <p:cNvPr id="8" name="Text 5"/>
          <p:cNvSpPr/>
          <p:nvPr/>
        </p:nvSpPr>
        <p:spPr>
          <a:xfrm>
            <a:off x="640080" y="2999232"/>
            <a:ext cx="1600200" cy="310896"/>
          </a:xfrm>
          <a:prstGeom prst="rect">
            <a:avLst/>
          </a:prstGeom>
          <a:noFill/>
          <a:ln/>
        </p:spPr>
        <p:txBody>
          <a:bodyPr wrap="square" lIns="0" tIns="0" rIns="0" bIns="0" rtlCol="0" anchor="ctr"/>
          <a:lstStyle/>
          <a:p>
            <a:pPr algn="ctr" indent="0" marL="0">
              <a:buNone/>
            </a:pPr>
            <a:r>
              <a:rPr lang="en-US" sz="1500" b="1" dirty="0">
                <a:solidFill>
                  <a:srgbClr val="14333F"/>
                </a:solidFill>
                <a:latin typeface="Bookman Old Style" pitchFamily="34" charset="0"/>
                <a:ea typeface="Bookman Old Style" pitchFamily="34" charset="-122"/>
                <a:cs typeface="Bookman Old Style" pitchFamily="34" charset="-120"/>
              </a:rPr>
              <a:t>Policy</a:t>
            </a:r>
            <a:endParaRPr lang="en-US" sz="1500" dirty="0"/>
          </a:p>
        </p:txBody>
      </p:sp>
      <p:sp>
        <p:nvSpPr>
          <p:cNvPr id="9" name="Text 6"/>
          <p:cNvSpPr/>
          <p:nvPr/>
        </p:nvSpPr>
        <p:spPr>
          <a:xfrm>
            <a:off x="640080" y="3310128"/>
            <a:ext cx="1600200" cy="310896"/>
          </a:xfrm>
          <a:prstGeom prst="rect">
            <a:avLst/>
          </a:prstGeom>
          <a:noFill/>
          <a:ln/>
        </p:spPr>
        <p:txBody>
          <a:bodyPr wrap="square" lIns="0" tIns="0" rIns="0" bIns="0" rtlCol="0" anchor="ctr"/>
          <a:lstStyle/>
          <a:p>
            <a:pPr algn="ctr" indent="0" marL="0">
              <a:buNone/>
            </a:pPr>
            <a:r>
              <a:rPr lang="en-US" sz="1000" dirty="0">
                <a:solidFill>
                  <a:srgbClr val="5B7782"/>
                </a:solidFill>
                <a:latin typeface="Calibri" pitchFamily="34" charset="0"/>
                <a:ea typeface="Calibri" pitchFamily="34" charset="-122"/>
                <a:cs typeface="Calibri" pitchFamily="34" charset="-120"/>
              </a:rPr>
              <a:t>the intent</a:t>
            </a:r>
            <a:endParaRPr lang="en-US" sz="1000" dirty="0"/>
          </a:p>
        </p:txBody>
      </p:sp>
      <p:sp>
        <p:nvSpPr>
          <p:cNvPr id="10" name="Shape 7"/>
          <p:cNvSpPr/>
          <p:nvPr/>
        </p:nvSpPr>
        <p:spPr>
          <a:xfrm>
            <a:off x="2368296" y="2724912"/>
            <a:ext cx="384048" cy="384048"/>
          </a:xfrm>
          <a:prstGeom prst="ellipse">
            <a:avLst/>
          </a:prstGeom>
          <a:solidFill>
            <a:srgbClr val="F4A259"/>
          </a:solidFill>
          <a:ln/>
        </p:spPr>
      </p:sp>
      <p:pic>
        <p:nvPicPr>
          <p:cNvPr id="11" name="Image 1" descr="preencoded.png"/>
          <p:cNvPicPr>
            <a:picLocks noChangeAspect="1"/>
          </p:cNvPicPr>
          <p:nvPr/>
        </p:nvPicPr>
        <p:blipFill>
          <a:blip r:embed="rId2"/>
          <a:stretch>
            <a:fillRect/>
          </a:stretch>
        </p:blipFill>
        <p:spPr>
          <a:xfrm>
            <a:off x="2459736" y="2816352"/>
            <a:ext cx="201168" cy="201168"/>
          </a:xfrm>
          <a:prstGeom prst="rect">
            <a:avLst/>
          </a:prstGeom>
        </p:spPr>
      </p:pic>
      <p:sp>
        <p:nvSpPr>
          <p:cNvPr id="12" name="Shape 8"/>
          <p:cNvSpPr/>
          <p:nvPr/>
        </p:nvSpPr>
        <p:spPr>
          <a:xfrm>
            <a:off x="2788920" y="2103120"/>
            <a:ext cx="1783080" cy="1645920"/>
          </a:xfrm>
          <a:prstGeom prst="roundRect">
            <a:avLst>
              <a:gd name="adj" fmla="val 5556"/>
            </a:avLst>
          </a:prstGeom>
          <a:solidFill>
            <a:srgbClr val="EEF6FA"/>
          </a:solidFill>
          <a:ln/>
          <a:effectLst>
            <a:outerShdw sx="100000" sy="100000" kx="0" ky="0" algn="bl" rotWithShape="0" blurRad="88900" dist="25400" dir="5400000">
              <a:srgbClr val="0A3D52">
                <a:alpha val="12000"/>
              </a:srgbClr>
            </a:outerShdw>
          </a:effectLst>
        </p:spPr>
      </p:sp>
      <p:sp>
        <p:nvSpPr>
          <p:cNvPr id="13" name="Shape 9"/>
          <p:cNvSpPr/>
          <p:nvPr/>
        </p:nvSpPr>
        <p:spPr>
          <a:xfrm>
            <a:off x="3410712" y="2340864"/>
            <a:ext cx="548640" cy="548640"/>
          </a:xfrm>
          <a:prstGeom prst="ellipse">
            <a:avLst/>
          </a:prstGeom>
          <a:solidFill>
            <a:srgbClr val="1C7293"/>
          </a:solidFill>
          <a:ln/>
        </p:spPr>
      </p:sp>
      <p:pic>
        <p:nvPicPr>
          <p:cNvPr id="14" name="Image 2" descr="preencoded.png"/>
          <p:cNvPicPr>
            <a:picLocks noChangeAspect="1"/>
          </p:cNvPicPr>
          <p:nvPr/>
        </p:nvPicPr>
        <p:blipFill>
          <a:blip r:embed="rId3"/>
          <a:stretch>
            <a:fillRect/>
          </a:stretch>
        </p:blipFill>
        <p:spPr>
          <a:xfrm>
            <a:off x="3538728" y="2468880"/>
            <a:ext cx="292608" cy="292608"/>
          </a:xfrm>
          <a:prstGeom prst="rect">
            <a:avLst/>
          </a:prstGeom>
        </p:spPr>
      </p:pic>
      <p:sp>
        <p:nvSpPr>
          <p:cNvPr id="15" name="Text 10"/>
          <p:cNvSpPr/>
          <p:nvPr/>
        </p:nvSpPr>
        <p:spPr>
          <a:xfrm>
            <a:off x="2880360" y="2999232"/>
            <a:ext cx="1600200" cy="310896"/>
          </a:xfrm>
          <a:prstGeom prst="rect">
            <a:avLst/>
          </a:prstGeom>
          <a:noFill/>
          <a:ln/>
        </p:spPr>
        <p:txBody>
          <a:bodyPr wrap="square" lIns="0" tIns="0" rIns="0" bIns="0" rtlCol="0" anchor="ctr"/>
          <a:lstStyle/>
          <a:p>
            <a:pPr algn="ctr" indent="0" marL="0">
              <a:buNone/>
            </a:pPr>
            <a:r>
              <a:rPr lang="en-US" sz="1500" b="1" dirty="0">
                <a:solidFill>
                  <a:srgbClr val="14333F"/>
                </a:solidFill>
                <a:latin typeface="Bookman Old Style" pitchFamily="34" charset="0"/>
                <a:ea typeface="Bookman Old Style" pitchFamily="34" charset="-122"/>
                <a:cs typeface="Bookman Old Style" pitchFamily="34" charset="-120"/>
              </a:rPr>
              <a:t>Term</a:t>
            </a:r>
            <a:endParaRPr lang="en-US" sz="1500" dirty="0"/>
          </a:p>
        </p:txBody>
      </p:sp>
      <p:sp>
        <p:nvSpPr>
          <p:cNvPr id="16" name="Text 11"/>
          <p:cNvSpPr/>
          <p:nvPr/>
        </p:nvSpPr>
        <p:spPr>
          <a:xfrm>
            <a:off x="2880360" y="3310128"/>
            <a:ext cx="1600200" cy="310896"/>
          </a:xfrm>
          <a:prstGeom prst="rect">
            <a:avLst/>
          </a:prstGeom>
          <a:noFill/>
          <a:ln/>
        </p:spPr>
        <p:txBody>
          <a:bodyPr wrap="square" lIns="0" tIns="0" rIns="0" bIns="0" rtlCol="0" anchor="ctr"/>
          <a:lstStyle/>
          <a:p>
            <a:pPr algn="ctr" indent="0" marL="0">
              <a:buNone/>
            </a:pPr>
            <a:r>
              <a:rPr lang="en-US" sz="1000" dirty="0">
                <a:solidFill>
                  <a:srgbClr val="5B7782"/>
                </a:solidFill>
                <a:latin typeface="Calibri" pitchFamily="34" charset="0"/>
                <a:ea typeface="Calibri" pitchFamily="34" charset="-122"/>
                <a:cs typeface="Calibri" pitchFamily="34" charset="-120"/>
              </a:rPr>
              <a:t>shared language</a:t>
            </a:r>
            <a:endParaRPr lang="en-US" sz="1000" dirty="0"/>
          </a:p>
        </p:txBody>
      </p:sp>
      <p:sp>
        <p:nvSpPr>
          <p:cNvPr id="17" name="Shape 12"/>
          <p:cNvSpPr/>
          <p:nvPr/>
        </p:nvSpPr>
        <p:spPr>
          <a:xfrm>
            <a:off x="4608576" y="2724912"/>
            <a:ext cx="384048" cy="384048"/>
          </a:xfrm>
          <a:prstGeom prst="ellipse">
            <a:avLst/>
          </a:prstGeom>
          <a:solidFill>
            <a:srgbClr val="F4A259"/>
          </a:solidFill>
          <a:ln/>
        </p:spPr>
      </p:sp>
      <p:pic>
        <p:nvPicPr>
          <p:cNvPr id="18" name="Image 3" descr="preencoded.png"/>
          <p:cNvPicPr>
            <a:picLocks noChangeAspect="1"/>
          </p:cNvPicPr>
          <p:nvPr/>
        </p:nvPicPr>
        <p:blipFill>
          <a:blip r:embed="rId4"/>
          <a:stretch>
            <a:fillRect/>
          </a:stretch>
        </p:blipFill>
        <p:spPr>
          <a:xfrm>
            <a:off x="4700016" y="2816352"/>
            <a:ext cx="201168" cy="201168"/>
          </a:xfrm>
          <a:prstGeom prst="rect">
            <a:avLst/>
          </a:prstGeom>
        </p:spPr>
      </p:pic>
      <p:sp>
        <p:nvSpPr>
          <p:cNvPr id="19" name="Shape 13"/>
          <p:cNvSpPr/>
          <p:nvPr/>
        </p:nvSpPr>
        <p:spPr>
          <a:xfrm>
            <a:off x="5029200" y="2103120"/>
            <a:ext cx="1783080" cy="1645920"/>
          </a:xfrm>
          <a:prstGeom prst="roundRect">
            <a:avLst>
              <a:gd name="adj" fmla="val 5556"/>
            </a:avLst>
          </a:prstGeom>
          <a:solidFill>
            <a:srgbClr val="EEF6FA"/>
          </a:solidFill>
          <a:ln/>
          <a:effectLst>
            <a:outerShdw sx="100000" sy="100000" kx="0" ky="0" algn="bl" rotWithShape="0" blurRad="88900" dist="25400" dir="5400000">
              <a:srgbClr val="0A3D52">
                <a:alpha val="12000"/>
              </a:srgbClr>
            </a:outerShdw>
          </a:effectLst>
        </p:spPr>
      </p:sp>
      <p:sp>
        <p:nvSpPr>
          <p:cNvPr id="20" name="Shape 14"/>
          <p:cNvSpPr/>
          <p:nvPr/>
        </p:nvSpPr>
        <p:spPr>
          <a:xfrm>
            <a:off x="5650992" y="2340864"/>
            <a:ext cx="548640" cy="548640"/>
          </a:xfrm>
          <a:prstGeom prst="ellipse">
            <a:avLst/>
          </a:prstGeom>
          <a:solidFill>
            <a:srgbClr val="2EC4B6"/>
          </a:solidFill>
          <a:ln/>
        </p:spPr>
      </p:sp>
      <p:pic>
        <p:nvPicPr>
          <p:cNvPr id="21" name="Image 4" descr="preencoded.png"/>
          <p:cNvPicPr>
            <a:picLocks noChangeAspect="1"/>
          </p:cNvPicPr>
          <p:nvPr/>
        </p:nvPicPr>
        <p:blipFill>
          <a:blip r:embed="rId5"/>
          <a:stretch>
            <a:fillRect/>
          </a:stretch>
        </p:blipFill>
        <p:spPr>
          <a:xfrm>
            <a:off x="5779008" y="2468880"/>
            <a:ext cx="292608" cy="292608"/>
          </a:xfrm>
          <a:prstGeom prst="rect">
            <a:avLst/>
          </a:prstGeom>
        </p:spPr>
      </p:pic>
      <p:sp>
        <p:nvSpPr>
          <p:cNvPr id="22" name="Text 15"/>
          <p:cNvSpPr/>
          <p:nvPr/>
        </p:nvSpPr>
        <p:spPr>
          <a:xfrm>
            <a:off x="5120640" y="2999232"/>
            <a:ext cx="1600200" cy="310896"/>
          </a:xfrm>
          <a:prstGeom prst="rect">
            <a:avLst/>
          </a:prstGeom>
          <a:noFill/>
          <a:ln/>
        </p:spPr>
        <p:txBody>
          <a:bodyPr wrap="square" lIns="0" tIns="0" rIns="0" bIns="0" rtlCol="0" anchor="ctr"/>
          <a:lstStyle/>
          <a:p>
            <a:pPr algn="ctr" indent="0" marL="0">
              <a:buNone/>
            </a:pPr>
            <a:r>
              <a:rPr lang="en-US" sz="1500" b="1" dirty="0">
                <a:solidFill>
                  <a:srgbClr val="14333F"/>
                </a:solidFill>
                <a:latin typeface="Bookman Old Style" pitchFamily="34" charset="0"/>
                <a:ea typeface="Bookman Old Style" pitchFamily="34" charset="-122"/>
                <a:cs typeface="Bookman Old Style" pitchFamily="34" charset="-120"/>
              </a:rPr>
              <a:t>Rule</a:t>
            </a:r>
            <a:endParaRPr lang="en-US" sz="1500" dirty="0"/>
          </a:p>
        </p:txBody>
      </p:sp>
      <p:sp>
        <p:nvSpPr>
          <p:cNvPr id="23" name="Text 16"/>
          <p:cNvSpPr/>
          <p:nvPr/>
        </p:nvSpPr>
        <p:spPr>
          <a:xfrm>
            <a:off x="5120640" y="3310128"/>
            <a:ext cx="1600200" cy="310896"/>
          </a:xfrm>
          <a:prstGeom prst="rect">
            <a:avLst/>
          </a:prstGeom>
          <a:noFill/>
          <a:ln/>
        </p:spPr>
        <p:txBody>
          <a:bodyPr wrap="square" lIns="0" tIns="0" rIns="0" bIns="0" rtlCol="0" anchor="ctr"/>
          <a:lstStyle/>
          <a:p>
            <a:pPr algn="ctr" indent="0" marL="0">
              <a:buNone/>
            </a:pPr>
            <a:r>
              <a:rPr lang="en-US" sz="1000" dirty="0">
                <a:solidFill>
                  <a:srgbClr val="5B7782"/>
                </a:solidFill>
                <a:latin typeface="Calibri" pitchFamily="34" charset="0"/>
                <a:ea typeface="Calibri" pitchFamily="34" charset="-122"/>
                <a:cs typeface="Calibri" pitchFamily="34" charset="-120"/>
              </a:rPr>
              <a:t>automated control</a:t>
            </a:r>
            <a:endParaRPr lang="en-US" sz="1000" dirty="0"/>
          </a:p>
        </p:txBody>
      </p:sp>
      <p:sp>
        <p:nvSpPr>
          <p:cNvPr id="24" name="Shape 17"/>
          <p:cNvSpPr/>
          <p:nvPr/>
        </p:nvSpPr>
        <p:spPr>
          <a:xfrm>
            <a:off x="6848856" y="2724912"/>
            <a:ext cx="384048" cy="384048"/>
          </a:xfrm>
          <a:prstGeom prst="ellipse">
            <a:avLst/>
          </a:prstGeom>
          <a:solidFill>
            <a:srgbClr val="F4A259"/>
          </a:solidFill>
          <a:ln/>
        </p:spPr>
      </p:sp>
      <p:pic>
        <p:nvPicPr>
          <p:cNvPr id="25" name="Image 5" descr="preencoded.png"/>
          <p:cNvPicPr>
            <a:picLocks noChangeAspect="1"/>
          </p:cNvPicPr>
          <p:nvPr/>
        </p:nvPicPr>
        <p:blipFill>
          <a:blip r:embed="rId6"/>
          <a:stretch>
            <a:fillRect/>
          </a:stretch>
        </p:blipFill>
        <p:spPr>
          <a:xfrm>
            <a:off x="6940296" y="2816352"/>
            <a:ext cx="201168" cy="201168"/>
          </a:xfrm>
          <a:prstGeom prst="rect">
            <a:avLst/>
          </a:prstGeom>
        </p:spPr>
      </p:pic>
      <p:sp>
        <p:nvSpPr>
          <p:cNvPr id="26" name="Shape 18"/>
          <p:cNvSpPr/>
          <p:nvPr/>
        </p:nvSpPr>
        <p:spPr>
          <a:xfrm>
            <a:off x="7269480" y="2103120"/>
            <a:ext cx="1783080" cy="1645920"/>
          </a:xfrm>
          <a:prstGeom prst="roundRect">
            <a:avLst>
              <a:gd name="adj" fmla="val 5556"/>
            </a:avLst>
          </a:prstGeom>
          <a:solidFill>
            <a:srgbClr val="EEF6FA"/>
          </a:solidFill>
          <a:ln/>
          <a:effectLst>
            <a:outerShdw sx="100000" sy="100000" kx="0" ky="0" algn="bl" rotWithShape="0" blurRad="88900" dist="25400" dir="5400000">
              <a:srgbClr val="0A3D52">
                <a:alpha val="12000"/>
              </a:srgbClr>
            </a:outerShdw>
          </a:effectLst>
        </p:spPr>
      </p:sp>
      <p:sp>
        <p:nvSpPr>
          <p:cNvPr id="27" name="Shape 19"/>
          <p:cNvSpPr/>
          <p:nvPr/>
        </p:nvSpPr>
        <p:spPr>
          <a:xfrm>
            <a:off x="7891272" y="2340864"/>
            <a:ext cx="548640" cy="548640"/>
          </a:xfrm>
          <a:prstGeom prst="ellipse">
            <a:avLst/>
          </a:prstGeom>
          <a:solidFill>
            <a:srgbClr val="065A82"/>
          </a:solidFill>
          <a:ln/>
        </p:spPr>
      </p:sp>
      <p:pic>
        <p:nvPicPr>
          <p:cNvPr id="28" name="Image 6" descr="preencoded.png"/>
          <p:cNvPicPr>
            <a:picLocks noChangeAspect="1"/>
          </p:cNvPicPr>
          <p:nvPr/>
        </p:nvPicPr>
        <p:blipFill>
          <a:blip r:embed="rId7"/>
          <a:stretch>
            <a:fillRect/>
          </a:stretch>
        </p:blipFill>
        <p:spPr>
          <a:xfrm>
            <a:off x="8019288" y="2468880"/>
            <a:ext cx="292608" cy="292608"/>
          </a:xfrm>
          <a:prstGeom prst="rect">
            <a:avLst/>
          </a:prstGeom>
        </p:spPr>
      </p:pic>
      <p:sp>
        <p:nvSpPr>
          <p:cNvPr id="29" name="Text 20"/>
          <p:cNvSpPr/>
          <p:nvPr/>
        </p:nvSpPr>
        <p:spPr>
          <a:xfrm>
            <a:off x="7360920" y="2999232"/>
            <a:ext cx="1600200" cy="310896"/>
          </a:xfrm>
          <a:prstGeom prst="rect">
            <a:avLst/>
          </a:prstGeom>
          <a:noFill/>
          <a:ln/>
        </p:spPr>
        <p:txBody>
          <a:bodyPr wrap="square" lIns="0" tIns="0" rIns="0" bIns="0" rtlCol="0" anchor="ctr"/>
          <a:lstStyle/>
          <a:p>
            <a:pPr algn="ctr" indent="0" marL="0">
              <a:buNone/>
            </a:pPr>
            <a:r>
              <a:rPr lang="en-US" sz="1500" b="1" dirty="0">
                <a:solidFill>
                  <a:srgbClr val="14333F"/>
                </a:solidFill>
                <a:latin typeface="Bookman Old Style" pitchFamily="34" charset="0"/>
                <a:ea typeface="Bookman Old Style" pitchFamily="34" charset="-122"/>
                <a:cs typeface="Bookman Old Style" pitchFamily="34" charset="-120"/>
              </a:rPr>
              <a:t>Column</a:t>
            </a:r>
            <a:endParaRPr lang="en-US" sz="1500" dirty="0"/>
          </a:p>
        </p:txBody>
      </p:sp>
      <p:sp>
        <p:nvSpPr>
          <p:cNvPr id="30" name="Text 21"/>
          <p:cNvSpPr/>
          <p:nvPr/>
        </p:nvSpPr>
        <p:spPr>
          <a:xfrm>
            <a:off x="7360920" y="3310128"/>
            <a:ext cx="1600200" cy="310896"/>
          </a:xfrm>
          <a:prstGeom prst="rect">
            <a:avLst/>
          </a:prstGeom>
          <a:noFill/>
          <a:ln/>
        </p:spPr>
        <p:txBody>
          <a:bodyPr wrap="square" lIns="0" tIns="0" rIns="0" bIns="0" rtlCol="0" anchor="ctr"/>
          <a:lstStyle/>
          <a:p>
            <a:pPr algn="ctr" indent="0" marL="0">
              <a:buNone/>
            </a:pPr>
            <a:r>
              <a:rPr lang="en-US" sz="1000" dirty="0">
                <a:solidFill>
                  <a:srgbClr val="5B7782"/>
                </a:solidFill>
                <a:latin typeface="Calibri" pitchFamily="34" charset="0"/>
                <a:ea typeface="Calibri" pitchFamily="34" charset="-122"/>
                <a:cs typeface="Calibri" pitchFamily="34" charset="-120"/>
              </a:rPr>
              <a:t>physical data</a:t>
            </a:r>
            <a:endParaRPr lang="en-US" sz="1000" dirty="0"/>
          </a:p>
        </p:txBody>
      </p:sp>
      <p:sp>
        <p:nvSpPr>
          <p:cNvPr id="31" name="Text 22"/>
          <p:cNvSpPr/>
          <p:nvPr/>
        </p:nvSpPr>
        <p:spPr>
          <a:xfrm>
            <a:off x="548640" y="4114800"/>
            <a:ext cx="8046720" cy="365760"/>
          </a:xfrm>
          <a:prstGeom prst="rect">
            <a:avLst/>
          </a:prstGeom>
          <a:noFill/>
          <a:ln/>
        </p:spPr>
        <p:txBody>
          <a:bodyPr wrap="square" lIns="0" tIns="0" rIns="0" bIns="0" rtlCol="0" anchor="ctr"/>
          <a:lstStyle/>
          <a:p>
            <a:pPr algn="ctr" indent="0" marL="0">
              <a:buNone/>
            </a:pPr>
            <a:r>
              <a:rPr lang="en-US" sz="950" b="1" dirty="0">
                <a:solidFill>
                  <a:srgbClr val="1C7293"/>
                </a:solidFill>
                <a:latin typeface="Courier New" pitchFamily="34" charset="0"/>
                <a:ea typeface="Courier New" pitchFamily="34" charset="-122"/>
                <a:cs typeface="Courier New" pitchFamily="34" charset="-120"/>
              </a:rPr>
              <a:t>AWC Customer Data Privacy Policy → Marketing Consent → AWC_Marketing_OptOut_Compliance → opted_out_marketing</a:t>
            </a:r>
            <a:endParaRPr lang="en-US" sz="950" dirty="0"/>
          </a:p>
        </p:txBody>
      </p:sp>
      <p:sp>
        <p:nvSpPr>
          <p:cNvPr id="32" name="Text 23"/>
          <p:cNvSpPr/>
          <p:nvPr/>
        </p:nvSpPr>
        <p:spPr>
          <a:xfrm>
            <a:off x="548640" y="4572000"/>
            <a:ext cx="8046720" cy="365760"/>
          </a:xfrm>
          <a:prstGeom prst="rect">
            <a:avLst/>
          </a:prstGeom>
          <a:noFill/>
          <a:ln/>
        </p:spPr>
        <p:txBody>
          <a:bodyPr wrap="square" lIns="0" tIns="0" rIns="0" bIns="0" rtlCol="0" anchor="ctr"/>
          <a:lstStyle/>
          <a:p>
            <a:pPr algn="ctr" indent="0" marL="0">
              <a:buNone/>
            </a:pPr>
            <a:r>
              <a:rPr lang="en-US" sz="1100" i="1" dirty="0">
                <a:solidFill>
                  <a:srgbClr val="5B7782"/>
                </a:solidFill>
                <a:latin typeface="Calibri" pitchFamily="34" charset="0"/>
                <a:ea typeface="Calibri" pitchFamily="34" charset="-122"/>
                <a:cs typeface="Calibri" pitchFamily="34" charset="-120"/>
              </a:rPr>
              <a:t>Attach the same policy to the customers table and the Workshop 7 collection.</a:t>
            </a:r>
            <a:endParaRPr lang="en-US" sz="1100" dirty="0"/>
          </a:p>
        </p:txBody>
      </p:sp>
      <p:sp>
        <p:nvSpPr>
          <p:cNvPr id="33" name="Text 24"/>
          <p:cNvSpPr/>
          <p:nvPr/>
        </p:nvSpPr>
        <p:spPr>
          <a:xfrm>
            <a:off x="548640" y="4828032"/>
            <a:ext cx="7315200" cy="274320"/>
          </a:xfrm>
          <a:prstGeom prst="rect">
            <a:avLst/>
          </a:prstGeom>
          <a:noFill/>
          <a:ln/>
        </p:spPr>
        <p:txBody>
          <a:bodyPr wrap="square" lIns="0" tIns="0" rIns="0" bIns="0" rtlCol="0" anchor="ctr"/>
          <a:lstStyle/>
          <a:p>
            <a:pPr indent="0" marL="0">
              <a:buNone/>
            </a:pPr>
            <a:endParaRPr lang="en-US" sz="950" dirty="0"/>
          </a:p>
        </p:txBody>
      </p:sp>
      <p:sp>
        <p:nvSpPr>
          <p:cNvPr id="34" name="Text 25"/>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B2B"/>
        </a:solidFill>
      </p:bgPr>
    </p:bg>
    <p:spTree>
      <p:nvGrpSpPr>
        <p:cNvPr id="1" name=""/>
        <p:cNvGrpSpPr/>
        <p:nvPr/>
      </p:nvGrpSpPr>
      <p:grpSpPr>
        <a:xfrm>
          <a:off x="0" y="0"/>
          <a:ext cx="0" cy="0"/>
          <a:chOff x="0" y="0"/>
          <a:chExt cx="0" cy="0"/>
        </a:xfrm>
      </p:grpSpPr>
      <p:sp>
        <p:nvSpPr>
          <p:cNvPr id="2" name="Shape 0"/>
          <p:cNvSpPr/>
          <p:nvPr/>
        </p:nvSpPr>
        <p:spPr>
          <a:xfrm>
            <a:off x="7315200" y="3017520"/>
            <a:ext cx="3108960" cy="3108960"/>
          </a:xfrm>
          <a:prstGeom prst="ellipse">
            <a:avLst/>
          </a:prstGeom>
          <a:solidFill>
            <a:srgbClr val="0A3D52"/>
          </a:solidFill>
          <a:ln/>
        </p:spPr>
      </p:sp>
      <p:sp>
        <p:nvSpPr>
          <p:cNvPr id="3" name="Shape 1"/>
          <p:cNvSpPr/>
          <p:nvPr/>
        </p:nvSpPr>
        <p:spPr>
          <a:xfrm>
            <a:off x="548640" y="603504"/>
            <a:ext cx="841248" cy="841248"/>
          </a:xfrm>
          <a:prstGeom prst="ellipse">
            <a:avLst/>
          </a:prstGeom>
          <a:solidFill>
            <a:srgbClr val="2EC4B6"/>
          </a:solidFill>
          <a:ln/>
        </p:spPr>
      </p:sp>
      <p:pic>
        <p:nvPicPr>
          <p:cNvPr id="4" name="Image 0" descr="preencoded.png"/>
          <p:cNvPicPr>
            <a:picLocks noChangeAspect="1"/>
          </p:cNvPicPr>
          <p:nvPr/>
        </p:nvPicPr>
        <p:blipFill>
          <a:blip r:embed="rId1"/>
          <a:stretch>
            <a:fillRect/>
          </a:stretch>
        </p:blipFill>
        <p:spPr>
          <a:xfrm>
            <a:off x="722376" y="777240"/>
            <a:ext cx="493776" cy="493776"/>
          </a:xfrm>
          <a:prstGeom prst="rect">
            <a:avLst/>
          </a:prstGeom>
        </p:spPr>
      </p:pic>
      <p:sp>
        <p:nvSpPr>
          <p:cNvPr id="5" name="Text 2"/>
          <p:cNvSpPr/>
          <p:nvPr/>
        </p:nvSpPr>
        <p:spPr>
          <a:xfrm>
            <a:off x="1554480" y="713232"/>
            <a:ext cx="6400800" cy="457200"/>
          </a:xfrm>
          <a:prstGeom prst="rect">
            <a:avLst/>
          </a:prstGeom>
          <a:noFill/>
          <a:ln/>
        </p:spPr>
        <p:txBody>
          <a:bodyPr wrap="square" lIns="0" tIns="0" rIns="0" bIns="0" rtlCol="0" anchor="ctr"/>
          <a:lstStyle/>
          <a:p>
            <a:pPr indent="0" marL="0">
              <a:buNone/>
            </a:pPr>
            <a:r>
              <a:rPr lang="en-US" sz="1400" b="1" spc="300" kern="0" dirty="0">
                <a:solidFill>
                  <a:srgbClr val="2EC4B6"/>
                </a:solidFill>
                <a:latin typeface="Calibri" pitchFamily="34" charset="0"/>
                <a:ea typeface="Calibri" pitchFamily="34" charset="-122"/>
                <a:cs typeface="Calibri" pitchFamily="34" charset="-120"/>
              </a:rPr>
              <a:t>DONE WHEN</a:t>
            </a:r>
            <a:endParaRPr lang="en-US" sz="1400" dirty="0"/>
          </a:p>
        </p:txBody>
      </p:sp>
      <p:sp>
        <p:nvSpPr>
          <p:cNvPr id="6" name="Text 3"/>
          <p:cNvSpPr/>
          <p:nvPr/>
        </p:nvSpPr>
        <p:spPr>
          <a:xfrm>
            <a:off x="548640" y="1554480"/>
            <a:ext cx="7955280" cy="822960"/>
          </a:xfrm>
          <a:prstGeom prst="rect">
            <a:avLst/>
          </a:prstGeom>
          <a:noFill/>
          <a:ln/>
        </p:spPr>
        <p:txBody>
          <a:bodyPr wrap="square" lIns="0" tIns="0" rIns="0" bIns="0" rtlCol="0" anchor="ctr"/>
          <a:lstStyle/>
          <a:p>
            <a:pPr indent="0" marL="0">
              <a:buNone/>
            </a:pPr>
            <a:r>
              <a:rPr lang="en-US" sz="2800" b="1" dirty="0">
                <a:solidFill>
                  <a:srgbClr val="FFFFFF"/>
                </a:solidFill>
                <a:latin typeface="Bookman Old Style" pitchFamily="34" charset="0"/>
                <a:ea typeface="Bookman Old Style" pitchFamily="34" charset="-122"/>
                <a:cs typeface="Bookman Old Style" pitchFamily="34" charset="-120"/>
              </a:rPr>
              <a:t>Intent is written down and attached</a:t>
            </a:r>
            <a:endParaRPr lang="en-US" sz="2800" dirty="0"/>
          </a:p>
        </p:txBody>
      </p:sp>
      <p:sp>
        <p:nvSpPr>
          <p:cNvPr id="7" name="Shape 4"/>
          <p:cNvSpPr/>
          <p:nvPr/>
        </p:nvSpPr>
        <p:spPr>
          <a:xfrm>
            <a:off x="566928" y="2715768"/>
            <a:ext cx="274320" cy="274320"/>
          </a:xfrm>
          <a:prstGeom prst="ellipse">
            <a:avLst/>
          </a:prstGeom>
          <a:solidFill>
            <a:srgbClr val="2EC4B6"/>
          </a:solidFill>
          <a:ln/>
        </p:spPr>
      </p:sp>
      <p:pic>
        <p:nvPicPr>
          <p:cNvPr id="8" name="Image 1" descr="preencoded.png"/>
          <p:cNvPicPr>
            <a:picLocks noChangeAspect="1"/>
          </p:cNvPicPr>
          <p:nvPr/>
        </p:nvPicPr>
        <p:blipFill>
          <a:blip r:embed="rId2"/>
          <a:stretch>
            <a:fillRect/>
          </a:stretch>
        </p:blipFill>
        <p:spPr>
          <a:xfrm>
            <a:off x="621792" y="2770632"/>
            <a:ext cx="164592" cy="164592"/>
          </a:xfrm>
          <a:prstGeom prst="rect">
            <a:avLst/>
          </a:prstGeom>
        </p:spPr>
      </p:pic>
      <p:sp>
        <p:nvSpPr>
          <p:cNvPr id="9" name="Text 5"/>
          <p:cNvSpPr/>
          <p:nvPr/>
        </p:nvSpPr>
        <p:spPr>
          <a:xfrm>
            <a:off x="987552" y="2697480"/>
            <a:ext cx="7223760" cy="329184"/>
          </a:xfrm>
          <a:prstGeom prst="rect">
            <a:avLst/>
          </a:prstGeom>
          <a:noFill/>
          <a:ln/>
        </p:spPr>
        <p:txBody>
          <a:bodyPr wrap="square" lIns="0" tIns="0" rIns="0" bIns="0" rtlCol="0" anchor="ctr"/>
          <a:lstStyle/>
          <a:p>
            <a:pPr indent="0" marL="0">
              <a:buNone/>
            </a:pPr>
            <a:r>
              <a:rPr lang="en-US" sz="1400" dirty="0">
                <a:solidFill>
                  <a:srgbClr val="DCEEF5"/>
                </a:solidFill>
                <a:latin typeface="Calibri" pitchFamily="34" charset="0"/>
                <a:ea typeface="Calibri" pitchFamily="34" charset="-122"/>
                <a:cs typeface="Calibri" pitchFamily="34" charset="-120"/>
              </a:rPr>
              <a:t>A privacy policy and an account-number standard both exist</a:t>
            </a:r>
            <a:endParaRPr lang="en-US" sz="1400" dirty="0"/>
          </a:p>
        </p:txBody>
      </p:sp>
      <p:sp>
        <p:nvSpPr>
          <p:cNvPr id="10" name="Shape 6"/>
          <p:cNvSpPr/>
          <p:nvPr/>
        </p:nvSpPr>
        <p:spPr>
          <a:xfrm>
            <a:off x="566928" y="3172968"/>
            <a:ext cx="274320" cy="274320"/>
          </a:xfrm>
          <a:prstGeom prst="ellipse">
            <a:avLst/>
          </a:prstGeom>
          <a:solidFill>
            <a:srgbClr val="2EC4B6"/>
          </a:solidFill>
          <a:ln/>
        </p:spPr>
      </p:sp>
      <p:pic>
        <p:nvPicPr>
          <p:cNvPr id="11" name="Image 2" descr="preencoded.png"/>
          <p:cNvPicPr>
            <a:picLocks noChangeAspect="1"/>
          </p:cNvPicPr>
          <p:nvPr/>
        </p:nvPicPr>
        <p:blipFill>
          <a:blip r:embed="rId3"/>
          <a:stretch>
            <a:fillRect/>
          </a:stretch>
        </p:blipFill>
        <p:spPr>
          <a:xfrm>
            <a:off x="621792" y="3227832"/>
            <a:ext cx="164592" cy="164592"/>
          </a:xfrm>
          <a:prstGeom prst="rect">
            <a:avLst/>
          </a:prstGeom>
        </p:spPr>
      </p:pic>
      <p:sp>
        <p:nvSpPr>
          <p:cNvPr id="12" name="Text 7"/>
          <p:cNvSpPr/>
          <p:nvPr/>
        </p:nvSpPr>
        <p:spPr>
          <a:xfrm>
            <a:off x="987552" y="3154680"/>
            <a:ext cx="7223760" cy="329184"/>
          </a:xfrm>
          <a:prstGeom prst="rect">
            <a:avLst/>
          </a:prstGeom>
          <a:noFill/>
          <a:ln/>
        </p:spPr>
        <p:txBody>
          <a:bodyPr wrap="square" lIns="0" tIns="0" rIns="0" bIns="0" rtlCol="0" anchor="ctr"/>
          <a:lstStyle/>
          <a:p>
            <a:pPr indent="0" marL="0">
              <a:buNone/>
            </a:pPr>
            <a:r>
              <a:rPr lang="en-US" sz="1400" dirty="0">
                <a:solidFill>
                  <a:srgbClr val="DCEEF5"/>
                </a:solidFill>
                <a:latin typeface="Calibri" pitchFamily="34" charset="0"/>
                <a:ea typeface="Calibri" pitchFamily="34" charset="-122"/>
                <a:cs typeface="Calibri" pitchFamily="34" charset="-120"/>
              </a:rPr>
              <a:t>Both are Accepted with a version and effective dates</a:t>
            </a:r>
            <a:endParaRPr lang="en-US" sz="1400" dirty="0"/>
          </a:p>
        </p:txBody>
      </p:sp>
      <p:sp>
        <p:nvSpPr>
          <p:cNvPr id="13" name="Shape 8"/>
          <p:cNvSpPr/>
          <p:nvPr/>
        </p:nvSpPr>
        <p:spPr>
          <a:xfrm>
            <a:off x="566928" y="3630168"/>
            <a:ext cx="274320" cy="274320"/>
          </a:xfrm>
          <a:prstGeom prst="ellipse">
            <a:avLst/>
          </a:prstGeom>
          <a:solidFill>
            <a:srgbClr val="2EC4B6"/>
          </a:solidFill>
          <a:ln/>
        </p:spPr>
      </p:sp>
      <p:pic>
        <p:nvPicPr>
          <p:cNvPr id="14" name="Image 3" descr="preencoded.png"/>
          <p:cNvPicPr>
            <a:picLocks noChangeAspect="1"/>
          </p:cNvPicPr>
          <p:nvPr/>
        </p:nvPicPr>
        <p:blipFill>
          <a:blip r:embed="rId4"/>
          <a:stretch>
            <a:fillRect/>
          </a:stretch>
        </p:blipFill>
        <p:spPr>
          <a:xfrm>
            <a:off x="621792" y="3685032"/>
            <a:ext cx="164592" cy="164592"/>
          </a:xfrm>
          <a:prstGeom prst="rect">
            <a:avLst/>
          </a:prstGeom>
        </p:spPr>
      </p:pic>
      <p:sp>
        <p:nvSpPr>
          <p:cNvPr id="15" name="Text 9"/>
          <p:cNvSpPr/>
          <p:nvPr/>
        </p:nvSpPr>
        <p:spPr>
          <a:xfrm>
            <a:off x="987552" y="3611880"/>
            <a:ext cx="7223760" cy="329184"/>
          </a:xfrm>
          <a:prstGeom prst="rect">
            <a:avLst/>
          </a:prstGeom>
          <a:noFill/>
          <a:ln/>
        </p:spPr>
        <p:txBody>
          <a:bodyPr wrap="square" lIns="0" tIns="0" rIns="0" bIns="0" rtlCol="0" anchor="ctr"/>
          <a:lstStyle/>
          <a:p>
            <a:pPr indent="0" marL="0">
              <a:buNone/>
            </a:pPr>
            <a:r>
              <a:rPr lang="en-US" sz="1400" dirty="0">
                <a:solidFill>
                  <a:srgbClr val="DCEEF5"/>
                </a:solidFill>
                <a:latin typeface="Calibri" pitchFamily="34" charset="0"/>
                <a:ea typeface="Calibri" pitchFamily="34" charset="-122"/>
                <a:cs typeface="Calibri" pitchFamily="34" charset="-120"/>
              </a:rPr>
              <a:t>The policy is attached to customers and the collection</a:t>
            </a:r>
            <a:endParaRPr lang="en-US" sz="1400" dirty="0"/>
          </a:p>
        </p:txBody>
      </p:sp>
      <p:sp>
        <p:nvSpPr>
          <p:cNvPr id="16" name="Shape 10"/>
          <p:cNvSpPr/>
          <p:nvPr/>
        </p:nvSpPr>
        <p:spPr>
          <a:xfrm>
            <a:off x="566928" y="4087368"/>
            <a:ext cx="274320" cy="274320"/>
          </a:xfrm>
          <a:prstGeom prst="ellipse">
            <a:avLst/>
          </a:prstGeom>
          <a:solidFill>
            <a:srgbClr val="2EC4B6"/>
          </a:solidFill>
          <a:ln/>
        </p:spPr>
      </p:sp>
      <p:pic>
        <p:nvPicPr>
          <p:cNvPr id="17" name="Image 4" descr="preencoded.png"/>
          <p:cNvPicPr>
            <a:picLocks noChangeAspect="1"/>
          </p:cNvPicPr>
          <p:nvPr/>
        </p:nvPicPr>
        <p:blipFill>
          <a:blip r:embed="rId5"/>
          <a:stretch>
            <a:fillRect/>
          </a:stretch>
        </p:blipFill>
        <p:spPr>
          <a:xfrm>
            <a:off x="621792" y="4142232"/>
            <a:ext cx="164592" cy="164592"/>
          </a:xfrm>
          <a:prstGeom prst="rect">
            <a:avLst/>
          </a:prstGeom>
        </p:spPr>
      </p:pic>
      <p:sp>
        <p:nvSpPr>
          <p:cNvPr id="18" name="Text 11"/>
          <p:cNvSpPr/>
          <p:nvPr/>
        </p:nvSpPr>
        <p:spPr>
          <a:xfrm>
            <a:off x="987552" y="4069080"/>
            <a:ext cx="7223760" cy="329184"/>
          </a:xfrm>
          <a:prstGeom prst="rect">
            <a:avLst/>
          </a:prstGeom>
          <a:noFill/>
          <a:ln/>
        </p:spPr>
        <p:txBody>
          <a:bodyPr wrap="square" lIns="0" tIns="0" rIns="0" bIns="0" rtlCol="0" anchor="ctr"/>
          <a:lstStyle/>
          <a:p>
            <a:pPr indent="0" marL="0">
              <a:buNone/>
            </a:pPr>
            <a:r>
              <a:rPr lang="en-US" sz="1400" dirty="0">
                <a:solidFill>
                  <a:srgbClr val="DCEEF5"/>
                </a:solidFill>
                <a:latin typeface="Calibri" pitchFamily="34" charset="0"/>
                <a:ea typeface="Calibri" pitchFamily="34" charset="-122"/>
                <a:cs typeface="Calibri" pitchFamily="34" charset="-120"/>
              </a:rPr>
              <a:t>You can trace policy → term → rule → column</a:t>
            </a:r>
            <a:endParaRPr lang="en-US" sz="1400" dirty="0"/>
          </a:p>
        </p:txBody>
      </p:sp>
      <p:sp>
        <p:nvSpPr>
          <p:cNvPr id="19" name="Text 12"/>
          <p:cNvSpPr/>
          <p:nvPr/>
        </p:nvSpPr>
        <p:spPr>
          <a:xfrm>
            <a:off x="548640" y="4626864"/>
            <a:ext cx="8046720" cy="365760"/>
          </a:xfrm>
          <a:prstGeom prst="rect">
            <a:avLst/>
          </a:prstGeom>
          <a:noFill/>
          <a:ln/>
        </p:spPr>
        <p:txBody>
          <a:bodyPr wrap="square" lIns="0" tIns="0" rIns="0" bIns="0" rtlCol="0" anchor="ctr"/>
          <a:lstStyle/>
          <a:p>
            <a:pPr indent="0" marL="0">
              <a:buNone/>
            </a:pPr>
            <a:r>
              <a:rPr lang="en-US" sz="1200" i="1" dirty="0">
                <a:solidFill>
                  <a:srgbClr val="5B7782"/>
                </a:solidFill>
                <a:latin typeface="Calibri" pitchFamily="34" charset="0"/>
                <a:ea typeface="Calibri" pitchFamily="34" charset="-122"/>
                <a:cs typeface="Calibri" pitchFamily="34" charset="-120"/>
              </a:rPr>
              <a:t>Next up — Workshop 11: Explore the Catalog with Galaxy View</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10: Policies &amp; Standards</dc:title>
  <dc:subject>PptxGenJS Presentation</dc:subject>
  <dc:creator>Arizona Water Company - PDC BA Course</dc:creator>
  <cp:lastModifiedBy>Arizona Water Company - PDC BA Course</cp:lastModifiedBy>
  <cp:revision>1</cp:revision>
  <dcterms:created xsi:type="dcterms:W3CDTF">2026-06-10T17:22:08Z</dcterms:created>
  <dcterms:modified xsi:type="dcterms:W3CDTF">2026-06-10T17:22:08Z</dcterms:modified>
</cp:coreProperties>
</file>