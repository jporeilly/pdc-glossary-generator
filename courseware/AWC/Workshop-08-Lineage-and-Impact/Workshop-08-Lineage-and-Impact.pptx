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Workshop 8 - marked optional, a 45-minute extension. Data doesn't sit still: water_systems feeds customers, which feeds monthly_usage, which feeds reports. When something changes or breaks, the analyst must know the blast radius before, not after. Role: Data Steward or Data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lineage chain left to right - water_systems to customers to monthly_usage to reports. Read it both ways: left to right shows where a value comes from; right to left shows what depends on it. The foreign keys discovered during profiling are what let PDC draw this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lineage answers - all real change-management questions. If we rename a column, what breaks? Where did this number come from? Who's affected by an outage? What's the blast radius? Impact analysis turns a risky change into a planned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core arc. Across eight workshops they connected, explored, profiled, flagged, searched, defined, curated, and traced. That's the full Business Analyst journey in PDC. If continuing to the advanced workshops, transition to custom properties; if stopping here, congratulate them on a complete governance blueprint for AWC.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1"/>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WORKSHOP 8 · 45 MINUTES · OPTIONAL  ·  PDC · DATA LINEAGE</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Lineage &amp;</a:t>
            </a:r>
            <a:endParaRPr lang="en-US" sz="4000" dirty="0"/>
          </a:p>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Impact Analysis</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indent="0" marL="0">
              <a:lnSpc>
                <a:spcPct val="105000"/>
              </a:lnSpc>
              <a:buNone/>
            </a:pPr>
            <a:r>
              <a:rPr lang="en-US" sz="1800" dirty="0">
                <a:solidFill>
                  <a:srgbClr val="DCEEF5"/>
                </a:solidFill>
                <a:latin typeface="Calibri" pitchFamily="34" charset="0"/>
                <a:ea typeface="Calibri" pitchFamily="34" charset="-122"/>
                <a:cs typeface="Calibri" pitchFamily="34" charset="-120"/>
              </a:rPr>
              <a:t>Trace how AWC data flows from source to report, and answer the question every change triggers: what breaks if this moves?</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indent="0" marL="0">
              <a:buNone/>
            </a:pPr>
            <a:r>
              <a:rPr lang="en-US" sz="1200" dirty="0">
                <a:solidFill>
                  <a:srgbClr val="5B7782"/>
                </a:solidFill>
                <a:latin typeface="Calibri" pitchFamily="34" charset="0"/>
                <a:ea typeface="Calibri" pitchFamily="34" charset="-122"/>
                <a:cs typeface="Calibri" pitchFamily="34" charset="-120"/>
              </a:rPr>
              <a:t>Pentaho Data Catalog 10.2.11  ·  water_systems → customers → monthly_usage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FOLLOW THE WATER</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How AWC data connects</a:t>
            </a:r>
            <a:endParaRPr lang="en-US" sz="2700" dirty="0"/>
          </a:p>
        </p:txBody>
      </p:sp>
      <p:sp>
        <p:nvSpPr>
          <p:cNvPr id="4" name="Shape 2"/>
          <p:cNvSpPr/>
          <p:nvPr/>
        </p:nvSpPr>
        <p:spPr>
          <a:xfrm>
            <a:off x="548640" y="1920240"/>
            <a:ext cx="1783080" cy="1645920"/>
          </a:xfrm>
          <a:prstGeom prst="roundRect">
            <a:avLst>
              <a:gd name="adj" fmla="val 5556"/>
            </a:avLst>
          </a:prstGeom>
          <a:solidFill>
            <a:srgbClr val="EEF6FA"/>
          </a:solidFill>
          <a:ln/>
          <a:effectLst>
            <a:outerShdw sx="100000" sy="100000" kx="0" ky="0" algn="bl" rotWithShape="0" blurRad="88900" dist="25400" dir="5400000">
              <a:srgbClr val="0A3D52">
                <a:alpha val="12000"/>
              </a:srgbClr>
            </a:outerShdw>
          </a:effectLst>
        </p:spPr>
      </p:sp>
      <p:sp>
        <p:nvSpPr>
          <p:cNvPr id="5" name="Shape 3"/>
          <p:cNvSpPr/>
          <p:nvPr/>
        </p:nvSpPr>
        <p:spPr>
          <a:xfrm>
            <a:off x="1170432" y="2157984"/>
            <a:ext cx="548640" cy="548640"/>
          </a:xfrm>
          <a:prstGeom prst="ellipse">
            <a:avLst/>
          </a:prstGeom>
          <a:solidFill>
            <a:srgbClr val="0A3D52"/>
          </a:solidFill>
          <a:ln/>
        </p:spPr>
      </p:sp>
      <p:pic>
        <p:nvPicPr>
          <p:cNvPr id="6" name="Image 0" descr="preencoded.png"/>
          <p:cNvPicPr>
            <a:picLocks noChangeAspect="1"/>
          </p:cNvPicPr>
          <p:nvPr/>
        </p:nvPicPr>
        <p:blipFill>
          <a:blip r:embed="rId1"/>
          <a:stretch>
            <a:fillRect/>
          </a:stretch>
        </p:blipFill>
        <p:spPr>
          <a:xfrm>
            <a:off x="1298448" y="2286000"/>
            <a:ext cx="292608" cy="292608"/>
          </a:xfrm>
          <a:prstGeom prst="rect">
            <a:avLst/>
          </a:prstGeom>
        </p:spPr>
      </p:pic>
      <p:sp>
        <p:nvSpPr>
          <p:cNvPr id="7" name="Text 4"/>
          <p:cNvSpPr/>
          <p:nvPr/>
        </p:nvSpPr>
        <p:spPr>
          <a:xfrm>
            <a:off x="640080" y="2816352"/>
            <a:ext cx="1600200" cy="310896"/>
          </a:xfrm>
          <a:prstGeom prst="rect">
            <a:avLst/>
          </a:prstGeom>
          <a:noFill/>
          <a:ln/>
        </p:spPr>
        <p:txBody>
          <a:bodyPr wrap="square" lIns="0" tIns="0" rIns="0" bIns="0" rtlCol="0" anchor="ctr"/>
          <a:lstStyle/>
          <a:p>
            <a:pPr algn="ctr" indent="0" marL="0">
              <a:buNone/>
            </a:pPr>
            <a:r>
              <a:rPr lang="en-US" sz="1100" b="1" dirty="0">
                <a:solidFill>
                  <a:srgbClr val="14333F"/>
                </a:solidFill>
                <a:latin typeface="Courier New" pitchFamily="34" charset="0"/>
                <a:ea typeface="Courier New" pitchFamily="34" charset="-122"/>
                <a:cs typeface="Courier New" pitchFamily="34" charset="-120"/>
              </a:rPr>
              <a:t>water_systems</a:t>
            </a:r>
            <a:endParaRPr lang="en-US" sz="1100" dirty="0"/>
          </a:p>
        </p:txBody>
      </p:sp>
      <p:sp>
        <p:nvSpPr>
          <p:cNvPr id="8" name="Text 5"/>
          <p:cNvSpPr/>
          <p:nvPr/>
        </p:nvSpPr>
        <p:spPr>
          <a:xfrm>
            <a:off x="658368" y="3127248"/>
            <a:ext cx="1563624" cy="384048"/>
          </a:xfrm>
          <a:prstGeom prst="rect">
            <a:avLst/>
          </a:prstGeom>
          <a:noFill/>
          <a:ln/>
        </p:spPr>
        <p:txBody>
          <a:bodyPr wrap="square" lIns="0" tIns="0" rIns="0" bIns="0" rtlCol="0" anchor="ctr"/>
          <a:lstStyle/>
          <a:p>
            <a:pPr algn="ctr" indent="0" marL="0">
              <a:lnSpc>
                <a:spcPct val="100000"/>
              </a:lnSpc>
              <a:buNone/>
            </a:pPr>
            <a:r>
              <a:rPr lang="en-US" sz="900" dirty="0">
                <a:solidFill>
                  <a:srgbClr val="5B7782"/>
                </a:solidFill>
                <a:latin typeface="Calibri" pitchFamily="34" charset="0"/>
                <a:ea typeface="Calibri" pitchFamily="34" charset="-122"/>
                <a:cs typeface="Calibri" pitchFamily="34" charset="-120"/>
              </a:rPr>
              <a:t>8 systems, the source of truth</a:t>
            </a:r>
            <a:endParaRPr lang="en-US" sz="900" dirty="0"/>
          </a:p>
        </p:txBody>
      </p:sp>
      <p:sp>
        <p:nvSpPr>
          <p:cNvPr id="9" name="Shape 6"/>
          <p:cNvSpPr/>
          <p:nvPr/>
        </p:nvSpPr>
        <p:spPr>
          <a:xfrm>
            <a:off x="2368296" y="2542032"/>
            <a:ext cx="384048" cy="384048"/>
          </a:xfrm>
          <a:prstGeom prst="ellipse">
            <a:avLst/>
          </a:prstGeom>
          <a:solidFill>
            <a:srgbClr val="F4A259"/>
          </a:solidFill>
          <a:ln/>
        </p:spPr>
      </p:sp>
      <p:pic>
        <p:nvPicPr>
          <p:cNvPr id="10" name="Image 1" descr="preencoded.png"/>
          <p:cNvPicPr>
            <a:picLocks noChangeAspect="1"/>
          </p:cNvPicPr>
          <p:nvPr/>
        </p:nvPicPr>
        <p:blipFill>
          <a:blip r:embed="rId2"/>
          <a:stretch>
            <a:fillRect/>
          </a:stretch>
        </p:blipFill>
        <p:spPr>
          <a:xfrm>
            <a:off x="2459736" y="2633472"/>
            <a:ext cx="201168" cy="201168"/>
          </a:xfrm>
          <a:prstGeom prst="rect">
            <a:avLst/>
          </a:prstGeom>
        </p:spPr>
      </p:pic>
      <p:sp>
        <p:nvSpPr>
          <p:cNvPr id="11" name="Shape 7"/>
          <p:cNvSpPr/>
          <p:nvPr/>
        </p:nvSpPr>
        <p:spPr>
          <a:xfrm>
            <a:off x="2788920" y="1920240"/>
            <a:ext cx="1783080" cy="1645920"/>
          </a:xfrm>
          <a:prstGeom prst="roundRect">
            <a:avLst>
              <a:gd name="adj" fmla="val 5556"/>
            </a:avLst>
          </a:prstGeom>
          <a:solidFill>
            <a:srgbClr val="EEF6FA"/>
          </a:solidFill>
          <a:ln/>
          <a:effectLst>
            <a:outerShdw sx="100000" sy="100000" kx="0" ky="0" algn="bl" rotWithShape="0" blurRad="88900" dist="25400" dir="5400000">
              <a:srgbClr val="0A3D52">
                <a:alpha val="12000"/>
              </a:srgbClr>
            </a:outerShdw>
          </a:effectLst>
        </p:spPr>
      </p:sp>
      <p:sp>
        <p:nvSpPr>
          <p:cNvPr id="12" name="Shape 8"/>
          <p:cNvSpPr/>
          <p:nvPr/>
        </p:nvSpPr>
        <p:spPr>
          <a:xfrm>
            <a:off x="3410712" y="2157984"/>
            <a:ext cx="548640" cy="548640"/>
          </a:xfrm>
          <a:prstGeom prst="ellipse">
            <a:avLst/>
          </a:prstGeom>
          <a:solidFill>
            <a:srgbClr val="065A82"/>
          </a:solidFill>
          <a:ln/>
        </p:spPr>
      </p:sp>
      <p:pic>
        <p:nvPicPr>
          <p:cNvPr id="13" name="Image 2" descr="preencoded.png"/>
          <p:cNvPicPr>
            <a:picLocks noChangeAspect="1"/>
          </p:cNvPicPr>
          <p:nvPr/>
        </p:nvPicPr>
        <p:blipFill>
          <a:blip r:embed="rId3"/>
          <a:stretch>
            <a:fillRect/>
          </a:stretch>
        </p:blipFill>
        <p:spPr>
          <a:xfrm>
            <a:off x="3538728" y="2286000"/>
            <a:ext cx="292608" cy="292608"/>
          </a:xfrm>
          <a:prstGeom prst="rect">
            <a:avLst/>
          </a:prstGeom>
        </p:spPr>
      </p:pic>
      <p:sp>
        <p:nvSpPr>
          <p:cNvPr id="14" name="Text 9"/>
          <p:cNvSpPr/>
          <p:nvPr/>
        </p:nvSpPr>
        <p:spPr>
          <a:xfrm>
            <a:off x="2880360" y="2816352"/>
            <a:ext cx="1600200" cy="310896"/>
          </a:xfrm>
          <a:prstGeom prst="rect">
            <a:avLst/>
          </a:prstGeom>
          <a:noFill/>
          <a:ln/>
        </p:spPr>
        <p:txBody>
          <a:bodyPr wrap="square" lIns="0" tIns="0" rIns="0" bIns="0" rtlCol="0" anchor="ctr"/>
          <a:lstStyle/>
          <a:p>
            <a:pPr algn="ctr" indent="0" marL="0">
              <a:buNone/>
            </a:pPr>
            <a:r>
              <a:rPr lang="en-US" sz="1100" b="1" dirty="0">
                <a:solidFill>
                  <a:srgbClr val="14333F"/>
                </a:solidFill>
                <a:latin typeface="Courier New" pitchFamily="34" charset="0"/>
                <a:ea typeface="Courier New" pitchFamily="34" charset="-122"/>
                <a:cs typeface="Courier New" pitchFamily="34" charset="-120"/>
              </a:rPr>
              <a:t>customers</a:t>
            </a:r>
            <a:endParaRPr lang="en-US" sz="1100" dirty="0"/>
          </a:p>
        </p:txBody>
      </p:sp>
      <p:sp>
        <p:nvSpPr>
          <p:cNvPr id="15" name="Text 10"/>
          <p:cNvSpPr/>
          <p:nvPr/>
        </p:nvSpPr>
        <p:spPr>
          <a:xfrm>
            <a:off x="2898648" y="3127248"/>
            <a:ext cx="1563624" cy="384048"/>
          </a:xfrm>
          <a:prstGeom prst="rect">
            <a:avLst/>
          </a:prstGeom>
          <a:noFill/>
          <a:ln/>
        </p:spPr>
        <p:txBody>
          <a:bodyPr wrap="square" lIns="0" tIns="0" rIns="0" bIns="0" rtlCol="0" anchor="ctr"/>
          <a:lstStyle/>
          <a:p>
            <a:pPr algn="ctr" indent="0" marL="0">
              <a:lnSpc>
                <a:spcPct val="100000"/>
              </a:lnSpc>
              <a:buNone/>
            </a:pPr>
            <a:r>
              <a:rPr lang="en-US" sz="900" dirty="0">
                <a:solidFill>
                  <a:srgbClr val="5B7782"/>
                </a:solidFill>
                <a:latin typeface="Calibri" pitchFamily="34" charset="0"/>
                <a:ea typeface="Calibri" pitchFamily="34" charset="-122"/>
                <a:cs typeface="Calibri" pitchFamily="34" charset="-120"/>
              </a:rPr>
              <a:t>Each tied to one system</a:t>
            </a:r>
            <a:endParaRPr lang="en-US" sz="900" dirty="0"/>
          </a:p>
        </p:txBody>
      </p:sp>
      <p:sp>
        <p:nvSpPr>
          <p:cNvPr id="16" name="Shape 11"/>
          <p:cNvSpPr/>
          <p:nvPr/>
        </p:nvSpPr>
        <p:spPr>
          <a:xfrm>
            <a:off x="4608576" y="2542032"/>
            <a:ext cx="384048" cy="384048"/>
          </a:xfrm>
          <a:prstGeom prst="ellipse">
            <a:avLst/>
          </a:prstGeom>
          <a:solidFill>
            <a:srgbClr val="F4A259"/>
          </a:solidFill>
          <a:ln/>
        </p:spPr>
      </p:sp>
      <p:pic>
        <p:nvPicPr>
          <p:cNvPr id="17" name="Image 3" descr="preencoded.png"/>
          <p:cNvPicPr>
            <a:picLocks noChangeAspect="1"/>
          </p:cNvPicPr>
          <p:nvPr/>
        </p:nvPicPr>
        <p:blipFill>
          <a:blip r:embed="rId4"/>
          <a:stretch>
            <a:fillRect/>
          </a:stretch>
        </p:blipFill>
        <p:spPr>
          <a:xfrm>
            <a:off x="4700016" y="2633472"/>
            <a:ext cx="201168" cy="201168"/>
          </a:xfrm>
          <a:prstGeom prst="rect">
            <a:avLst/>
          </a:prstGeom>
        </p:spPr>
      </p:pic>
      <p:sp>
        <p:nvSpPr>
          <p:cNvPr id="18" name="Shape 12"/>
          <p:cNvSpPr/>
          <p:nvPr/>
        </p:nvSpPr>
        <p:spPr>
          <a:xfrm>
            <a:off x="5029200" y="1920240"/>
            <a:ext cx="1783080" cy="1645920"/>
          </a:xfrm>
          <a:prstGeom prst="roundRect">
            <a:avLst>
              <a:gd name="adj" fmla="val 5556"/>
            </a:avLst>
          </a:prstGeom>
          <a:solidFill>
            <a:srgbClr val="EEF6FA"/>
          </a:solidFill>
          <a:ln/>
          <a:effectLst>
            <a:outerShdw sx="100000" sy="100000" kx="0" ky="0" algn="bl" rotWithShape="0" blurRad="88900" dist="25400" dir="5400000">
              <a:srgbClr val="0A3D52">
                <a:alpha val="12000"/>
              </a:srgbClr>
            </a:outerShdw>
          </a:effectLst>
        </p:spPr>
      </p:sp>
      <p:sp>
        <p:nvSpPr>
          <p:cNvPr id="19" name="Shape 13"/>
          <p:cNvSpPr/>
          <p:nvPr/>
        </p:nvSpPr>
        <p:spPr>
          <a:xfrm>
            <a:off x="5650992" y="2157984"/>
            <a:ext cx="548640" cy="548640"/>
          </a:xfrm>
          <a:prstGeom prst="ellipse">
            <a:avLst/>
          </a:prstGeom>
          <a:solidFill>
            <a:srgbClr val="1C7293"/>
          </a:solidFill>
          <a:ln/>
        </p:spPr>
      </p:sp>
      <p:pic>
        <p:nvPicPr>
          <p:cNvPr id="20" name="Image 4" descr="preencoded.png"/>
          <p:cNvPicPr>
            <a:picLocks noChangeAspect="1"/>
          </p:cNvPicPr>
          <p:nvPr/>
        </p:nvPicPr>
        <p:blipFill>
          <a:blip r:embed="rId5"/>
          <a:stretch>
            <a:fillRect/>
          </a:stretch>
        </p:blipFill>
        <p:spPr>
          <a:xfrm>
            <a:off x="5779008" y="2286000"/>
            <a:ext cx="292608" cy="292608"/>
          </a:xfrm>
          <a:prstGeom prst="rect">
            <a:avLst/>
          </a:prstGeom>
        </p:spPr>
      </p:pic>
      <p:sp>
        <p:nvSpPr>
          <p:cNvPr id="21" name="Text 14"/>
          <p:cNvSpPr/>
          <p:nvPr/>
        </p:nvSpPr>
        <p:spPr>
          <a:xfrm>
            <a:off x="5120640" y="2816352"/>
            <a:ext cx="1600200" cy="310896"/>
          </a:xfrm>
          <a:prstGeom prst="rect">
            <a:avLst/>
          </a:prstGeom>
          <a:noFill/>
          <a:ln/>
        </p:spPr>
        <p:txBody>
          <a:bodyPr wrap="square" lIns="0" tIns="0" rIns="0" bIns="0" rtlCol="0" anchor="ctr"/>
          <a:lstStyle/>
          <a:p>
            <a:pPr algn="ctr" indent="0" marL="0">
              <a:buNone/>
            </a:pPr>
            <a:r>
              <a:rPr lang="en-US" sz="1100" b="1" dirty="0">
                <a:solidFill>
                  <a:srgbClr val="14333F"/>
                </a:solidFill>
                <a:latin typeface="Courier New" pitchFamily="34" charset="0"/>
                <a:ea typeface="Courier New" pitchFamily="34" charset="-122"/>
                <a:cs typeface="Courier New" pitchFamily="34" charset="-120"/>
              </a:rPr>
              <a:t>monthly_usage</a:t>
            </a:r>
            <a:endParaRPr lang="en-US" sz="1100" dirty="0"/>
          </a:p>
        </p:txBody>
      </p:sp>
      <p:sp>
        <p:nvSpPr>
          <p:cNvPr id="22" name="Text 15"/>
          <p:cNvSpPr/>
          <p:nvPr/>
        </p:nvSpPr>
        <p:spPr>
          <a:xfrm>
            <a:off x="5138928" y="3127248"/>
            <a:ext cx="1563624" cy="384048"/>
          </a:xfrm>
          <a:prstGeom prst="rect">
            <a:avLst/>
          </a:prstGeom>
          <a:noFill/>
          <a:ln/>
        </p:spPr>
        <p:txBody>
          <a:bodyPr wrap="square" lIns="0" tIns="0" rIns="0" bIns="0" rtlCol="0" anchor="ctr"/>
          <a:lstStyle/>
          <a:p>
            <a:pPr algn="ctr" indent="0" marL="0">
              <a:lnSpc>
                <a:spcPct val="100000"/>
              </a:lnSpc>
              <a:buNone/>
            </a:pPr>
            <a:r>
              <a:rPr lang="en-US" sz="900" dirty="0">
                <a:solidFill>
                  <a:srgbClr val="5B7782"/>
                </a:solidFill>
                <a:latin typeface="Calibri" pitchFamily="34" charset="0"/>
                <a:ea typeface="Calibri" pitchFamily="34" charset="-122"/>
                <a:cs typeface="Calibri" pitchFamily="34" charset="-120"/>
              </a:rPr>
              <a:t>Billing per customer</a:t>
            </a:r>
            <a:endParaRPr lang="en-US" sz="900" dirty="0"/>
          </a:p>
        </p:txBody>
      </p:sp>
      <p:sp>
        <p:nvSpPr>
          <p:cNvPr id="23" name="Shape 16"/>
          <p:cNvSpPr/>
          <p:nvPr/>
        </p:nvSpPr>
        <p:spPr>
          <a:xfrm>
            <a:off x="6848856" y="2542032"/>
            <a:ext cx="384048" cy="384048"/>
          </a:xfrm>
          <a:prstGeom prst="ellipse">
            <a:avLst/>
          </a:prstGeom>
          <a:solidFill>
            <a:srgbClr val="F4A259"/>
          </a:solidFill>
          <a:ln/>
        </p:spPr>
      </p:sp>
      <p:pic>
        <p:nvPicPr>
          <p:cNvPr id="24" name="Image 5" descr="preencoded.png"/>
          <p:cNvPicPr>
            <a:picLocks noChangeAspect="1"/>
          </p:cNvPicPr>
          <p:nvPr/>
        </p:nvPicPr>
        <p:blipFill>
          <a:blip r:embed="rId6"/>
          <a:stretch>
            <a:fillRect/>
          </a:stretch>
        </p:blipFill>
        <p:spPr>
          <a:xfrm>
            <a:off x="6940296" y="2633472"/>
            <a:ext cx="201168" cy="201168"/>
          </a:xfrm>
          <a:prstGeom prst="rect">
            <a:avLst/>
          </a:prstGeom>
        </p:spPr>
      </p:pic>
      <p:sp>
        <p:nvSpPr>
          <p:cNvPr id="25" name="Shape 17"/>
          <p:cNvSpPr/>
          <p:nvPr/>
        </p:nvSpPr>
        <p:spPr>
          <a:xfrm>
            <a:off x="7269480" y="1920240"/>
            <a:ext cx="1783080" cy="1645920"/>
          </a:xfrm>
          <a:prstGeom prst="roundRect">
            <a:avLst>
              <a:gd name="adj" fmla="val 5556"/>
            </a:avLst>
          </a:prstGeom>
          <a:solidFill>
            <a:srgbClr val="EEF6FA"/>
          </a:solidFill>
          <a:ln/>
          <a:effectLst>
            <a:outerShdw sx="100000" sy="100000" kx="0" ky="0" algn="bl" rotWithShape="0" blurRad="88900" dist="25400" dir="5400000">
              <a:srgbClr val="0A3D52">
                <a:alpha val="12000"/>
              </a:srgbClr>
            </a:outerShdw>
          </a:effectLst>
        </p:spPr>
      </p:sp>
      <p:sp>
        <p:nvSpPr>
          <p:cNvPr id="26" name="Shape 18"/>
          <p:cNvSpPr/>
          <p:nvPr/>
        </p:nvSpPr>
        <p:spPr>
          <a:xfrm>
            <a:off x="7891272" y="2157984"/>
            <a:ext cx="548640" cy="548640"/>
          </a:xfrm>
          <a:prstGeom prst="ellipse">
            <a:avLst/>
          </a:prstGeom>
          <a:solidFill>
            <a:srgbClr val="2EC4B6"/>
          </a:solidFill>
          <a:ln/>
        </p:spPr>
      </p:sp>
      <p:pic>
        <p:nvPicPr>
          <p:cNvPr id="27" name="Image 6" descr="preencoded.png"/>
          <p:cNvPicPr>
            <a:picLocks noChangeAspect="1"/>
          </p:cNvPicPr>
          <p:nvPr/>
        </p:nvPicPr>
        <p:blipFill>
          <a:blip r:embed="rId7"/>
          <a:stretch>
            <a:fillRect/>
          </a:stretch>
        </p:blipFill>
        <p:spPr>
          <a:xfrm>
            <a:off x="8019288" y="2286000"/>
            <a:ext cx="292608" cy="292608"/>
          </a:xfrm>
          <a:prstGeom prst="rect">
            <a:avLst/>
          </a:prstGeom>
        </p:spPr>
      </p:pic>
      <p:sp>
        <p:nvSpPr>
          <p:cNvPr id="28" name="Text 19"/>
          <p:cNvSpPr/>
          <p:nvPr/>
        </p:nvSpPr>
        <p:spPr>
          <a:xfrm>
            <a:off x="7360920" y="2816352"/>
            <a:ext cx="1600200" cy="310896"/>
          </a:xfrm>
          <a:prstGeom prst="rect">
            <a:avLst/>
          </a:prstGeom>
          <a:noFill/>
          <a:ln/>
        </p:spPr>
        <p:txBody>
          <a:bodyPr wrap="square" lIns="0" tIns="0" rIns="0" bIns="0" rtlCol="0" anchor="ctr"/>
          <a:lstStyle/>
          <a:p>
            <a:pPr algn="ctr" indent="0" marL="0">
              <a:buNone/>
            </a:pPr>
            <a:r>
              <a:rPr lang="en-US" sz="1100" b="1" dirty="0">
                <a:solidFill>
                  <a:srgbClr val="14333F"/>
                </a:solidFill>
                <a:latin typeface="Courier New" pitchFamily="34" charset="0"/>
                <a:ea typeface="Courier New" pitchFamily="34" charset="-122"/>
                <a:cs typeface="Courier New" pitchFamily="34" charset="-120"/>
              </a:rPr>
              <a:t>Reports &amp; views</a:t>
            </a:r>
            <a:endParaRPr lang="en-US" sz="1100" dirty="0"/>
          </a:p>
        </p:txBody>
      </p:sp>
      <p:sp>
        <p:nvSpPr>
          <p:cNvPr id="29" name="Text 20"/>
          <p:cNvSpPr/>
          <p:nvPr/>
        </p:nvSpPr>
        <p:spPr>
          <a:xfrm>
            <a:off x="7379208" y="3127248"/>
            <a:ext cx="1563624" cy="384048"/>
          </a:xfrm>
          <a:prstGeom prst="rect">
            <a:avLst/>
          </a:prstGeom>
          <a:noFill/>
          <a:ln/>
        </p:spPr>
        <p:txBody>
          <a:bodyPr wrap="square" lIns="0" tIns="0" rIns="0" bIns="0" rtlCol="0" anchor="ctr"/>
          <a:lstStyle/>
          <a:p>
            <a:pPr algn="ctr" indent="0" marL="0">
              <a:lnSpc>
                <a:spcPct val="100000"/>
              </a:lnSpc>
              <a:buNone/>
            </a:pPr>
            <a:r>
              <a:rPr lang="en-US" sz="900" dirty="0">
                <a:solidFill>
                  <a:srgbClr val="5B7782"/>
                </a:solidFill>
                <a:latin typeface="Calibri" pitchFamily="34" charset="0"/>
                <a:ea typeface="Calibri" pitchFamily="34" charset="-122"/>
                <a:cs typeface="Calibri" pitchFamily="34" charset="-120"/>
              </a:rPr>
              <a:t>active_customer_billing</a:t>
            </a:r>
            <a:endParaRPr lang="en-US" sz="900" dirty="0"/>
          </a:p>
        </p:txBody>
      </p:sp>
      <p:sp>
        <p:nvSpPr>
          <p:cNvPr id="30" name="Text 21"/>
          <p:cNvSpPr/>
          <p:nvPr/>
        </p:nvSpPr>
        <p:spPr>
          <a:xfrm>
            <a:off x="548640" y="3931920"/>
            <a:ext cx="8046720" cy="548640"/>
          </a:xfrm>
          <a:prstGeom prst="rect">
            <a:avLst/>
          </a:prstGeom>
          <a:noFill/>
          <a:ln/>
        </p:spPr>
        <p:txBody>
          <a:bodyPr wrap="square" lIns="0" tIns="0" rIns="0" bIns="0" rtlCol="0" anchor="ctr"/>
          <a:lstStyle/>
          <a:p>
            <a:pPr indent="0" marL="0">
              <a:lnSpc>
                <a:spcPct val="104000"/>
              </a:lnSpc>
              <a:buNone/>
            </a:pPr>
            <a:r>
              <a:rPr lang="en-US" sz="1200" i="1" dirty="0">
                <a:solidFill>
                  <a:srgbClr val="5B7782"/>
                </a:solidFill>
                <a:latin typeface="Calibri" pitchFamily="34" charset="0"/>
                <a:ea typeface="Calibri" pitchFamily="34" charset="-122"/>
                <a:cs typeface="Calibri" pitchFamily="34" charset="-120"/>
              </a:rPr>
              <a:t>Upstream feeds downstream. Read left-to-right to see where a value comes from; right-to-left to see what depends on it.</a:t>
            </a:r>
            <a:endParaRPr lang="en-US" sz="1200" dirty="0"/>
          </a:p>
        </p:txBody>
      </p:sp>
      <p:sp>
        <p:nvSpPr>
          <p:cNvPr id="31" name="Text 22"/>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8 · The Related tab draws this for any asset</a:t>
            </a:r>
            <a:endParaRPr lang="en-US" sz="950" dirty="0"/>
          </a:p>
        </p:txBody>
      </p:sp>
      <p:sp>
        <p:nvSpPr>
          <p:cNvPr id="32" name="Text 23"/>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THINK DOWNSTREAM</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Questions lineage answers</a:t>
            </a:r>
            <a:endParaRPr lang="en-US" sz="2700" dirty="0"/>
          </a:p>
        </p:txBody>
      </p:sp>
      <p:sp>
        <p:nvSpPr>
          <p:cNvPr id="4" name="Shape 2"/>
          <p:cNvSpPr/>
          <p:nvPr/>
        </p:nvSpPr>
        <p:spPr>
          <a:xfrm>
            <a:off x="548640" y="1499616"/>
            <a:ext cx="3931920" cy="1426464"/>
          </a:xfrm>
          <a:prstGeom prst="roundRect">
            <a:avLst>
              <a:gd name="adj" fmla="val 5769"/>
            </a:avLst>
          </a:prstGeom>
          <a:solidFill>
            <a:srgbClr val="EEF6FA"/>
          </a:solidFill>
          <a:ln/>
          <a:effectLst>
            <a:outerShdw sx="100000" sy="100000" kx="0" ky="0" algn="bl" rotWithShape="0" blurRad="76200" dist="25400" dir="5400000">
              <a:srgbClr val="0A3D52">
                <a:alpha val="10000"/>
              </a:srgbClr>
            </a:outerShdw>
          </a:effectLst>
        </p:spPr>
      </p:sp>
      <p:sp>
        <p:nvSpPr>
          <p:cNvPr id="5" name="Shape 3"/>
          <p:cNvSpPr/>
          <p:nvPr/>
        </p:nvSpPr>
        <p:spPr>
          <a:xfrm>
            <a:off x="768096" y="1737360"/>
            <a:ext cx="548640" cy="548640"/>
          </a:xfrm>
          <a:prstGeom prst="ellipse">
            <a:avLst/>
          </a:prstGeom>
          <a:solidFill>
            <a:srgbClr val="E36963"/>
          </a:solidFill>
          <a:ln/>
        </p:spPr>
      </p:sp>
      <p:pic>
        <p:nvPicPr>
          <p:cNvPr id="6" name="Image 0" descr="preencoded.png"/>
          <p:cNvPicPr>
            <a:picLocks noChangeAspect="1"/>
          </p:cNvPicPr>
          <p:nvPr/>
        </p:nvPicPr>
        <p:blipFill>
          <a:blip r:embed="rId1"/>
          <a:stretch>
            <a:fillRect/>
          </a:stretch>
        </p:blipFill>
        <p:spPr>
          <a:xfrm>
            <a:off x="900684" y="1869948"/>
            <a:ext cx="283464" cy="283464"/>
          </a:xfrm>
          <a:prstGeom prst="rect">
            <a:avLst/>
          </a:prstGeom>
        </p:spPr>
      </p:pic>
      <p:sp>
        <p:nvSpPr>
          <p:cNvPr id="7" name="Text 4"/>
          <p:cNvSpPr/>
          <p:nvPr/>
        </p:nvSpPr>
        <p:spPr>
          <a:xfrm>
            <a:off x="1444752" y="1737360"/>
            <a:ext cx="2926080" cy="512064"/>
          </a:xfrm>
          <a:prstGeom prst="rect">
            <a:avLst/>
          </a:prstGeom>
          <a:noFill/>
          <a:ln/>
        </p:spPr>
        <p:txBody>
          <a:bodyPr wrap="square" lIns="0" tIns="0" rIns="0" bIns="0" rtlCol="0" anchor="ctr"/>
          <a:lstStyle/>
          <a:p>
            <a:pPr indent="0" marL="0">
              <a:buNone/>
            </a:pPr>
            <a:r>
              <a:rPr lang="en-US" sz="1450" b="1" dirty="0">
                <a:solidFill>
                  <a:srgbClr val="14333F"/>
                </a:solidFill>
                <a:latin typeface="Bookman Old Style" pitchFamily="34" charset="0"/>
                <a:ea typeface="Bookman Old Style" pitchFamily="34" charset="-122"/>
                <a:cs typeface="Bookman Old Style" pitchFamily="34" charset="-120"/>
              </a:rPr>
              <a:t>If we rename a column…</a:t>
            </a:r>
            <a:endParaRPr lang="en-US" sz="1450" dirty="0"/>
          </a:p>
        </p:txBody>
      </p:sp>
      <p:sp>
        <p:nvSpPr>
          <p:cNvPr id="8" name="Text 5"/>
          <p:cNvSpPr/>
          <p:nvPr/>
        </p:nvSpPr>
        <p:spPr>
          <a:xfrm>
            <a:off x="786384" y="2286000"/>
            <a:ext cx="3520440" cy="585216"/>
          </a:xfrm>
          <a:prstGeom prst="rect">
            <a:avLst/>
          </a:prstGeom>
          <a:noFill/>
          <a:ln/>
        </p:spPr>
        <p:txBody>
          <a:bodyPr wrap="square" lIns="0" tIns="0" rIns="0" bIns="0" rtlCol="0" anchor="ctr"/>
          <a:lstStyle/>
          <a:p>
            <a:pPr indent="0" marL="0">
              <a:lnSpc>
                <a:spcPct val="102000"/>
              </a:lnSpc>
              <a:buNone/>
            </a:pPr>
            <a:r>
              <a:rPr lang="en-US" sz="1050" dirty="0">
                <a:solidFill>
                  <a:srgbClr val="5B7782"/>
                </a:solidFill>
                <a:latin typeface="Calibri" pitchFamily="34" charset="0"/>
                <a:ea typeface="Calibri" pitchFamily="34" charset="-122"/>
                <a:cs typeface="Calibri" pitchFamily="34" charset="-120"/>
              </a:rPr>
              <a:t>What reports and views break if customer_id changes? Lineage lists every dependent.</a:t>
            </a:r>
            <a:endParaRPr lang="en-US" sz="1050" dirty="0"/>
          </a:p>
        </p:txBody>
      </p:sp>
      <p:sp>
        <p:nvSpPr>
          <p:cNvPr id="9" name="Shape 6"/>
          <p:cNvSpPr/>
          <p:nvPr/>
        </p:nvSpPr>
        <p:spPr>
          <a:xfrm>
            <a:off x="4663440" y="1499616"/>
            <a:ext cx="3931920" cy="1426464"/>
          </a:xfrm>
          <a:prstGeom prst="roundRect">
            <a:avLst>
              <a:gd name="adj" fmla="val 5769"/>
            </a:avLst>
          </a:prstGeom>
          <a:solidFill>
            <a:srgbClr val="EEF6FA"/>
          </a:solidFill>
          <a:ln/>
          <a:effectLst>
            <a:outerShdw sx="100000" sy="100000" kx="0" ky="0" algn="bl" rotWithShape="0" blurRad="76200" dist="25400" dir="5400000">
              <a:srgbClr val="0A3D52">
                <a:alpha val="10000"/>
              </a:srgbClr>
            </a:outerShdw>
          </a:effectLst>
        </p:spPr>
      </p:sp>
      <p:sp>
        <p:nvSpPr>
          <p:cNvPr id="10" name="Shape 7"/>
          <p:cNvSpPr/>
          <p:nvPr/>
        </p:nvSpPr>
        <p:spPr>
          <a:xfrm>
            <a:off x="4882896" y="1737360"/>
            <a:ext cx="548640" cy="548640"/>
          </a:xfrm>
          <a:prstGeom prst="ellipse">
            <a:avLst/>
          </a:prstGeom>
          <a:solidFill>
            <a:srgbClr val="065A82"/>
          </a:solidFill>
          <a:ln/>
        </p:spPr>
      </p:sp>
      <p:pic>
        <p:nvPicPr>
          <p:cNvPr id="11" name="Image 1" descr="preencoded.png"/>
          <p:cNvPicPr>
            <a:picLocks noChangeAspect="1"/>
          </p:cNvPicPr>
          <p:nvPr/>
        </p:nvPicPr>
        <p:blipFill>
          <a:blip r:embed="rId2"/>
          <a:stretch>
            <a:fillRect/>
          </a:stretch>
        </p:blipFill>
        <p:spPr>
          <a:xfrm>
            <a:off x="5015484" y="1869948"/>
            <a:ext cx="283464" cy="283464"/>
          </a:xfrm>
          <a:prstGeom prst="rect">
            <a:avLst/>
          </a:prstGeom>
        </p:spPr>
      </p:pic>
      <p:sp>
        <p:nvSpPr>
          <p:cNvPr id="12" name="Text 8"/>
          <p:cNvSpPr/>
          <p:nvPr/>
        </p:nvSpPr>
        <p:spPr>
          <a:xfrm>
            <a:off x="5559552" y="1737360"/>
            <a:ext cx="2926080" cy="512064"/>
          </a:xfrm>
          <a:prstGeom prst="rect">
            <a:avLst/>
          </a:prstGeom>
          <a:noFill/>
          <a:ln/>
        </p:spPr>
        <p:txBody>
          <a:bodyPr wrap="square" lIns="0" tIns="0" rIns="0" bIns="0" rtlCol="0" anchor="ctr"/>
          <a:lstStyle/>
          <a:p>
            <a:pPr indent="0" marL="0">
              <a:buNone/>
            </a:pPr>
            <a:r>
              <a:rPr lang="en-US" sz="1450" b="1" dirty="0">
                <a:solidFill>
                  <a:srgbClr val="14333F"/>
                </a:solidFill>
                <a:latin typeface="Bookman Old Style" pitchFamily="34" charset="0"/>
                <a:ea typeface="Bookman Old Style" pitchFamily="34" charset="-122"/>
                <a:cs typeface="Bookman Old Style" pitchFamily="34" charset="-120"/>
              </a:rPr>
              <a:t>Where did this number come from?</a:t>
            </a:r>
            <a:endParaRPr lang="en-US" sz="1450" dirty="0"/>
          </a:p>
        </p:txBody>
      </p:sp>
      <p:sp>
        <p:nvSpPr>
          <p:cNvPr id="13" name="Text 9"/>
          <p:cNvSpPr/>
          <p:nvPr/>
        </p:nvSpPr>
        <p:spPr>
          <a:xfrm>
            <a:off x="4901184" y="2286000"/>
            <a:ext cx="3520440" cy="585216"/>
          </a:xfrm>
          <a:prstGeom prst="rect">
            <a:avLst/>
          </a:prstGeom>
          <a:noFill/>
          <a:ln/>
        </p:spPr>
        <p:txBody>
          <a:bodyPr wrap="square" lIns="0" tIns="0" rIns="0" bIns="0" rtlCol="0" anchor="ctr"/>
          <a:lstStyle/>
          <a:p>
            <a:pPr indent="0" marL="0">
              <a:lnSpc>
                <a:spcPct val="102000"/>
              </a:lnSpc>
              <a:buNone/>
            </a:pPr>
            <a:r>
              <a:rPr lang="en-US" sz="1050" dirty="0">
                <a:solidFill>
                  <a:srgbClr val="5B7782"/>
                </a:solidFill>
                <a:latin typeface="Calibri" pitchFamily="34" charset="0"/>
                <a:ea typeface="Calibri" pitchFamily="34" charset="-122"/>
                <a:cs typeface="Calibri" pitchFamily="34" charset="-120"/>
              </a:rPr>
              <a:t>Trace a billing total back through monthly_usage to the source system.</a:t>
            </a:r>
            <a:endParaRPr lang="en-US" sz="1050" dirty="0"/>
          </a:p>
        </p:txBody>
      </p:sp>
      <p:sp>
        <p:nvSpPr>
          <p:cNvPr id="14" name="Shape 10"/>
          <p:cNvSpPr/>
          <p:nvPr/>
        </p:nvSpPr>
        <p:spPr>
          <a:xfrm>
            <a:off x="548640" y="3072384"/>
            <a:ext cx="3931920" cy="1426464"/>
          </a:xfrm>
          <a:prstGeom prst="roundRect">
            <a:avLst>
              <a:gd name="adj" fmla="val 5769"/>
            </a:avLst>
          </a:prstGeom>
          <a:solidFill>
            <a:srgbClr val="EEF6FA"/>
          </a:solidFill>
          <a:ln/>
          <a:effectLst>
            <a:outerShdw sx="100000" sy="100000" kx="0" ky="0" algn="bl" rotWithShape="0" blurRad="76200" dist="25400" dir="5400000">
              <a:srgbClr val="0A3D52">
                <a:alpha val="10000"/>
              </a:srgbClr>
            </a:outerShdw>
          </a:effectLst>
        </p:spPr>
      </p:sp>
      <p:sp>
        <p:nvSpPr>
          <p:cNvPr id="15" name="Shape 11"/>
          <p:cNvSpPr/>
          <p:nvPr/>
        </p:nvSpPr>
        <p:spPr>
          <a:xfrm>
            <a:off x="768096" y="3310128"/>
            <a:ext cx="548640" cy="548640"/>
          </a:xfrm>
          <a:prstGeom prst="ellipse">
            <a:avLst/>
          </a:prstGeom>
          <a:solidFill>
            <a:srgbClr val="F4A259"/>
          </a:solidFill>
          <a:ln/>
        </p:spPr>
      </p:sp>
      <p:pic>
        <p:nvPicPr>
          <p:cNvPr id="16" name="Image 2" descr="preencoded.png"/>
          <p:cNvPicPr>
            <a:picLocks noChangeAspect="1"/>
          </p:cNvPicPr>
          <p:nvPr/>
        </p:nvPicPr>
        <p:blipFill>
          <a:blip r:embed="rId3"/>
          <a:stretch>
            <a:fillRect/>
          </a:stretch>
        </p:blipFill>
        <p:spPr>
          <a:xfrm>
            <a:off x="900684" y="3442716"/>
            <a:ext cx="283464" cy="283464"/>
          </a:xfrm>
          <a:prstGeom prst="rect">
            <a:avLst/>
          </a:prstGeom>
        </p:spPr>
      </p:pic>
      <p:sp>
        <p:nvSpPr>
          <p:cNvPr id="17" name="Text 12"/>
          <p:cNvSpPr/>
          <p:nvPr/>
        </p:nvSpPr>
        <p:spPr>
          <a:xfrm>
            <a:off x="1444752" y="3310128"/>
            <a:ext cx="2926080" cy="512064"/>
          </a:xfrm>
          <a:prstGeom prst="rect">
            <a:avLst/>
          </a:prstGeom>
          <a:noFill/>
          <a:ln/>
        </p:spPr>
        <p:txBody>
          <a:bodyPr wrap="square" lIns="0" tIns="0" rIns="0" bIns="0" rtlCol="0" anchor="ctr"/>
          <a:lstStyle/>
          <a:p>
            <a:pPr indent="0" marL="0">
              <a:buNone/>
            </a:pPr>
            <a:r>
              <a:rPr lang="en-US" sz="1450" b="1" dirty="0">
                <a:solidFill>
                  <a:srgbClr val="14333F"/>
                </a:solidFill>
                <a:latin typeface="Bookman Old Style" pitchFamily="34" charset="0"/>
                <a:ea typeface="Bookman Old Style" pitchFamily="34" charset="-122"/>
                <a:cs typeface="Bookman Old Style" pitchFamily="34" charset="-120"/>
              </a:rPr>
              <a:t>Who's affected by an outage?</a:t>
            </a:r>
            <a:endParaRPr lang="en-US" sz="1450" dirty="0"/>
          </a:p>
        </p:txBody>
      </p:sp>
      <p:sp>
        <p:nvSpPr>
          <p:cNvPr id="18" name="Text 13"/>
          <p:cNvSpPr/>
          <p:nvPr/>
        </p:nvSpPr>
        <p:spPr>
          <a:xfrm>
            <a:off x="786384" y="3858768"/>
            <a:ext cx="3520440" cy="585216"/>
          </a:xfrm>
          <a:prstGeom prst="rect">
            <a:avLst/>
          </a:prstGeom>
          <a:noFill/>
          <a:ln/>
        </p:spPr>
        <p:txBody>
          <a:bodyPr wrap="square" lIns="0" tIns="0" rIns="0" bIns="0" rtlCol="0" anchor="ctr"/>
          <a:lstStyle/>
          <a:p>
            <a:pPr indent="0" marL="0">
              <a:lnSpc>
                <a:spcPct val="102000"/>
              </a:lnSpc>
              <a:buNone/>
            </a:pPr>
            <a:r>
              <a:rPr lang="en-US" sz="1050" dirty="0">
                <a:solidFill>
                  <a:srgbClr val="5B7782"/>
                </a:solidFill>
                <a:latin typeface="Calibri" pitchFamily="34" charset="0"/>
                <a:ea typeface="Calibri" pitchFamily="34" charset="-122"/>
                <a:cs typeface="Calibri" pitchFamily="34" charset="-120"/>
              </a:rPr>
              <a:t>If Pinal Valley's feed fails, which customers and bills go stale?</a:t>
            </a:r>
            <a:endParaRPr lang="en-US" sz="1050" dirty="0"/>
          </a:p>
        </p:txBody>
      </p:sp>
      <p:sp>
        <p:nvSpPr>
          <p:cNvPr id="19" name="Shape 14"/>
          <p:cNvSpPr/>
          <p:nvPr/>
        </p:nvSpPr>
        <p:spPr>
          <a:xfrm>
            <a:off x="4663440" y="3072384"/>
            <a:ext cx="3931920" cy="1426464"/>
          </a:xfrm>
          <a:prstGeom prst="roundRect">
            <a:avLst>
              <a:gd name="adj" fmla="val 5769"/>
            </a:avLst>
          </a:prstGeom>
          <a:solidFill>
            <a:srgbClr val="EEF6FA"/>
          </a:solidFill>
          <a:ln/>
          <a:effectLst>
            <a:outerShdw sx="100000" sy="100000" kx="0" ky="0" algn="bl" rotWithShape="0" blurRad="76200" dist="25400" dir="5400000">
              <a:srgbClr val="0A3D52">
                <a:alpha val="10000"/>
              </a:srgbClr>
            </a:outerShdw>
          </a:effectLst>
        </p:spPr>
      </p:sp>
      <p:sp>
        <p:nvSpPr>
          <p:cNvPr id="20" name="Shape 15"/>
          <p:cNvSpPr/>
          <p:nvPr/>
        </p:nvSpPr>
        <p:spPr>
          <a:xfrm>
            <a:off x="4882896" y="3310128"/>
            <a:ext cx="548640" cy="548640"/>
          </a:xfrm>
          <a:prstGeom prst="ellipse">
            <a:avLst/>
          </a:prstGeom>
          <a:solidFill>
            <a:srgbClr val="1C7293"/>
          </a:solidFill>
          <a:ln/>
        </p:spPr>
      </p:sp>
      <p:pic>
        <p:nvPicPr>
          <p:cNvPr id="21" name="Image 3" descr="preencoded.png"/>
          <p:cNvPicPr>
            <a:picLocks noChangeAspect="1"/>
          </p:cNvPicPr>
          <p:nvPr/>
        </p:nvPicPr>
        <p:blipFill>
          <a:blip r:embed="rId4"/>
          <a:stretch>
            <a:fillRect/>
          </a:stretch>
        </p:blipFill>
        <p:spPr>
          <a:xfrm>
            <a:off x="5015484" y="3442716"/>
            <a:ext cx="283464" cy="283464"/>
          </a:xfrm>
          <a:prstGeom prst="rect">
            <a:avLst/>
          </a:prstGeom>
        </p:spPr>
      </p:pic>
      <p:sp>
        <p:nvSpPr>
          <p:cNvPr id="22" name="Text 16"/>
          <p:cNvSpPr/>
          <p:nvPr/>
        </p:nvSpPr>
        <p:spPr>
          <a:xfrm>
            <a:off x="5559552" y="3310128"/>
            <a:ext cx="2926080" cy="512064"/>
          </a:xfrm>
          <a:prstGeom prst="rect">
            <a:avLst/>
          </a:prstGeom>
          <a:noFill/>
          <a:ln/>
        </p:spPr>
        <p:txBody>
          <a:bodyPr wrap="square" lIns="0" tIns="0" rIns="0" bIns="0" rtlCol="0" anchor="ctr"/>
          <a:lstStyle/>
          <a:p>
            <a:pPr indent="0" marL="0">
              <a:buNone/>
            </a:pPr>
            <a:r>
              <a:rPr lang="en-US" sz="1450" b="1" dirty="0">
                <a:solidFill>
                  <a:srgbClr val="14333F"/>
                </a:solidFill>
                <a:latin typeface="Bookman Old Style" pitchFamily="34" charset="0"/>
                <a:ea typeface="Bookman Old Style" pitchFamily="34" charset="-122"/>
                <a:cs typeface="Bookman Old Style" pitchFamily="34" charset="-120"/>
              </a:rPr>
              <a:t>What's the blast radius?</a:t>
            </a:r>
            <a:endParaRPr lang="en-US" sz="1450" dirty="0"/>
          </a:p>
        </p:txBody>
      </p:sp>
      <p:sp>
        <p:nvSpPr>
          <p:cNvPr id="23" name="Text 17"/>
          <p:cNvSpPr/>
          <p:nvPr/>
        </p:nvSpPr>
        <p:spPr>
          <a:xfrm>
            <a:off x="4901184" y="3858768"/>
            <a:ext cx="3520440" cy="585216"/>
          </a:xfrm>
          <a:prstGeom prst="rect">
            <a:avLst/>
          </a:prstGeom>
          <a:noFill/>
          <a:ln/>
        </p:spPr>
        <p:txBody>
          <a:bodyPr wrap="square" lIns="0" tIns="0" rIns="0" bIns="0" rtlCol="0" anchor="ctr"/>
          <a:lstStyle/>
          <a:p>
            <a:pPr indent="0" marL="0">
              <a:lnSpc>
                <a:spcPct val="102000"/>
              </a:lnSpc>
              <a:buNone/>
            </a:pPr>
            <a:r>
              <a:rPr lang="en-US" sz="1050" dirty="0">
                <a:solidFill>
                  <a:srgbClr val="5B7782"/>
                </a:solidFill>
                <a:latin typeface="Calibri" pitchFamily="34" charset="0"/>
                <a:ea typeface="Calibri" pitchFamily="34" charset="-122"/>
                <a:cs typeface="Calibri" pitchFamily="34" charset="-120"/>
              </a:rPr>
              <a:t>Before any change, see the full set of downstream assets at risk.</a:t>
            </a:r>
            <a:endParaRPr lang="en-US" sz="1050" dirty="0"/>
          </a:p>
        </p:txBody>
      </p:sp>
      <p:sp>
        <p:nvSpPr>
          <p:cNvPr id="24" name="Text 18"/>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8 · Impact analysis turns risky changes into planned ones</a:t>
            </a:r>
            <a:endParaRPr lang="en-US" sz="950" dirty="0"/>
          </a:p>
        </p:txBody>
      </p:sp>
      <p:sp>
        <p:nvSpPr>
          <p:cNvPr id="25" name="Text 19"/>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7132320" y="2651760"/>
            <a:ext cx="3474720" cy="3474720"/>
          </a:xfrm>
          <a:prstGeom prst="ellipse">
            <a:avLst/>
          </a:prstGeom>
          <a:solidFill>
            <a:srgbClr val="0A3D52"/>
          </a:solidFill>
          <a:ln/>
        </p:spPr>
      </p:sp>
      <p:sp>
        <p:nvSpPr>
          <p:cNvPr id="3" name="Shape 1"/>
          <p:cNvSpPr/>
          <p:nvPr/>
        </p:nvSpPr>
        <p:spPr>
          <a:xfrm>
            <a:off x="548640" y="603504"/>
            <a:ext cx="841248" cy="841248"/>
          </a:xfrm>
          <a:prstGeom prst="ellipse">
            <a:avLst/>
          </a:prstGeom>
          <a:solidFill>
            <a:srgbClr val="2EC4B6"/>
          </a:solidFill>
          <a:ln/>
        </p:spPr>
      </p:sp>
      <p:pic>
        <p:nvPicPr>
          <p:cNvPr id="4" name="Image 0" descr="preencoded.png"/>
          <p:cNvPicPr>
            <a:picLocks noChangeAspect="1"/>
          </p:cNvPicPr>
          <p:nvPr/>
        </p:nvPicPr>
        <p:blipFill>
          <a:blip r:embed="rId1"/>
          <a:stretch>
            <a:fillRect/>
          </a:stretch>
        </p:blipFill>
        <p:spPr>
          <a:xfrm>
            <a:off x="722376" y="777240"/>
            <a:ext cx="493776" cy="493776"/>
          </a:xfrm>
          <a:prstGeom prst="rect">
            <a:avLst/>
          </a:prstGeom>
        </p:spPr>
      </p:pic>
      <p:sp>
        <p:nvSpPr>
          <p:cNvPr id="5" name="Text 2"/>
          <p:cNvSpPr/>
          <p:nvPr/>
        </p:nvSpPr>
        <p:spPr>
          <a:xfrm>
            <a:off x="1554480" y="713232"/>
            <a:ext cx="64008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COURSE COMPLETE</a:t>
            </a:r>
            <a:endParaRPr lang="en-US" sz="1400" dirty="0"/>
          </a:p>
        </p:txBody>
      </p:sp>
      <p:sp>
        <p:nvSpPr>
          <p:cNvPr id="6" name="Text 3"/>
          <p:cNvSpPr/>
          <p:nvPr/>
        </p:nvSpPr>
        <p:spPr>
          <a:xfrm>
            <a:off x="548640" y="1517904"/>
            <a:ext cx="7955280" cy="1097280"/>
          </a:xfrm>
          <a:prstGeom prst="rect">
            <a:avLst/>
          </a:prstGeom>
          <a:noFill/>
          <a:ln/>
        </p:spPr>
        <p:txBody>
          <a:bodyPr wrap="square" lIns="0" tIns="0" rIns="0" bIns="0" rtlCol="0" anchor="ctr"/>
          <a:lstStyle/>
          <a:p>
            <a:pPr indent="0" marL="0">
              <a:lnSpc>
                <a:spcPct val="98000"/>
              </a:lnSpc>
              <a:buNone/>
            </a:pPr>
            <a:r>
              <a:rPr lang="en-US" sz="2900" b="1" dirty="0">
                <a:solidFill>
                  <a:srgbClr val="FFFFFF"/>
                </a:solidFill>
                <a:latin typeface="Bookman Old Style" pitchFamily="34" charset="0"/>
                <a:ea typeface="Bookman Old Style" pitchFamily="34" charset="-122"/>
                <a:cs typeface="Bookman Old Style" pitchFamily="34" charset="-120"/>
              </a:rPr>
              <a:t>You can govern AWC data</a:t>
            </a:r>
            <a:endParaRPr lang="en-US" sz="2900" dirty="0"/>
          </a:p>
          <a:p>
            <a:pPr indent="0" marL="0">
              <a:lnSpc>
                <a:spcPct val="98000"/>
              </a:lnSpc>
              <a:buNone/>
            </a:pPr>
            <a:r>
              <a:rPr lang="en-US" sz="2900" b="1" dirty="0">
                <a:solidFill>
                  <a:srgbClr val="FFFFFF"/>
                </a:solidFill>
                <a:latin typeface="Bookman Old Style" pitchFamily="34" charset="0"/>
                <a:ea typeface="Bookman Old Style" pitchFamily="34" charset="-122"/>
                <a:cs typeface="Bookman Old Style" pitchFamily="34" charset="-120"/>
              </a:rPr>
              <a:t>end to end</a:t>
            </a:r>
            <a:endParaRPr lang="en-US" sz="2900" dirty="0"/>
          </a:p>
        </p:txBody>
      </p:sp>
      <p:sp>
        <p:nvSpPr>
          <p:cNvPr id="7" name="Shape 4"/>
          <p:cNvSpPr/>
          <p:nvPr/>
        </p:nvSpPr>
        <p:spPr>
          <a:xfrm>
            <a:off x="566928" y="2807208"/>
            <a:ext cx="274320" cy="274320"/>
          </a:xfrm>
          <a:prstGeom prst="ellipse">
            <a:avLst/>
          </a:prstGeom>
          <a:solidFill>
            <a:srgbClr val="2EC4B6"/>
          </a:solidFill>
          <a:ln/>
        </p:spPr>
      </p:sp>
      <p:pic>
        <p:nvPicPr>
          <p:cNvPr id="8" name="Image 1" descr="preencoded.png"/>
          <p:cNvPicPr>
            <a:picLocks noChangeAspect="1"/>
          </p:cNvPicPr>
          <p:nvPr/>
        </p:nvPicPr>
        <p:blipFill>
          <a:blip r:embed="rId2"/>
          <a:stretch>
            <a:fillRect/>
          </a:stretch>
        </p:blipFill>
        <p:spPr>
          <a:xfrm>
            <a:off x="621792" y="2862072"/>
            <a:ext cx="164592" cy="164592"/>
          </a:xfrm>
          <a:prstGeom prst="rect">
            <a:avLst/>
          </a:prstGeom>
        </p:spPr>
      </p:pic>
      <p:sp>
        <p:nvSpPr>
          <p:cNvPr id="9" name="Text 5"/>
          <p:cNvSpPr/>
          <p:nvPr/>
        </p:nvSpPr>
        <p:spPr>
          <a:xfrm>
            <a:off x="987552" y="2788920"/>
            <a:ext cx="7223760" cy="329184"/>
          </a:xfrm>
          <a:prstGeom prst="rect">
            <a:avLst/>
          </a:prstGeom>
          <a:noFill/>
          <a:ln/>
        </p:spPr>
        <p:txBody>
          <a:bodyPr wrap="square" lIns="0" tIns="0" rIns="0" bIns="0" rtlCol="0" anchor="ctr"/>
          <a:lstStyle/>
          <a:p>
            <a:pPr indent="0" marL="0">
              <a:buNone/>
            </a:pPr>
            <a:r>
              <a:rPr lang="en-US" sz="1400" dirty="0">
                <a:solidFill>
                  <a:srgbClr val="DCEEF5"/>
                </a:solidFill>
                <a:latin typeface="Calibri" pitchFamily="34" charset="0"/>
                <a:ea typeface="Calibri" pitchFamily="34" charset="-122"/>
                <a:cs typeface="Calibri" pitchFamily="34" charset="-120"/>
              </a:rPr>
              <a:t>Connect · Explore · Profile · Flag</a:t>
            </a:r>
            <a:endParaRPr lang="en-US" sz="1400" dirty="0"/>
          </a:p>
        </p:txBody>
      </p:sp>
      <p:sp>
        <p:nvSpPr>
          <p:cNvPr id="10" name="Shape 6"/>
          <p:cNvSpPr/>
          <p:nvPr/>
        </p:nvSpPr>
        <p:spPr>
          <a:xfrm>
            <a:off x="566928" y="3264408"/>
            <a:ext cx="274320" cy="274320"/>
          </a:xfrm>
          <a:prstGeom prst="ellipse">
            <a:avLst/>
          </a:prstGeom>
          <a:solidFill>
            <a:srgbClr val="2EC4B6"/>
          </a:solidFill>
          <a:ln/>
        </p:spPr>
      </p:sp>
      <p:pic>
        <p:nvPicPr>
          <p:cNvPr id="11" name="Image 2" descr="preencoded.png"/>
          <p:cNvPicPr>
            <a:picLocks noChangeAspect="1"/>
          </p:cNvPicPr>
          <p:nvPr/>
        </p:nvPicPr>
        <p:blipFill>
          <a:blip r:embed="rId3"/>
          <a:stretch>
            <a:fillRect/>
          </a:stretch>
        </p:blipFill>
        <p:spPr>
          <a:xfrm>
            <a:off x="621792" y="3319272"/>
            <a:ext cx="164592" cy="164592"/>
          </a:xfrm>
          <a:prstGeom prst="rect">
            <a:avLst/>
          </a:prstGeom>
        </p:spPr>
      </p:pic>
      <p:sp>
        <p:nvSpPr>
          <p:cNvPr id="12" name="Text 7"/>
          <p:cNvSpPr/>
          <p:nvPr/>
        </p:nvSpPr>
        <p:spPr>
          <a:xfrm>
            <a:off x="987552" y="3246120"/>
            <a:ext cx="7223760" cy="329184"/>
          </a:xfrm>
          <a:prstGeom prst="rect">
            <a:avLst/>
          </a:prstGeom>
          <a:noFill/>
          <a:ln/>
        </p:spPr>
        <p:txBody>
          <a:bodyPr wrap="square" lIns="0" tIns="0" rIns="0" bIns="0" rtlCol="0" anchor="ctr"/>
          <a:lstStyle/>
          <a:p>
            <a:pPr indent="0" marL="0">
              <a:buNone/>
            </a:pPr>
            <a:r>
              <a:rPr lang="en-US" sz="1400" dirty="0">
                <a:solidFill>
                  <a:srgbClr val="DCEEF5"/>
                </a:solidFill>
                <a:latin typeface="Calibri" pitchFamily="34" charset="0"/>
                <a:ea typeface="Calibri" pitchFamily="34" charset="-122"/>
                <a:cs typeface="Calibri" pitchFamily="34" charset="-120"/>
              </a:rPr>
              <a:t>Search · Define · Curate · Trace</a:t>
            </a:r>
            <a:endParaRPr lang="en-US" sz="1400" dirty="0"/>
          </a:p>
        </p:txBody>
      </p:sp>
      <p:sp>
        <p:nvSpPr>
          <p:cNvPr id="13" name="Shape 8"/>
          <p:cNvSpPr/>
          <p:nvPr/>
        </p:nvSpPr>
        <p:spPr>
          <a:xfrm>
            <a:off x="566928" y="3721608"/>
            <a:ext cx="274320" cy="274320"/>
          </a:xfrm>
          <a:prstGeom prst="ellipse">
            <a:avLst/>
          </a:prstGeom>
          <a:solidFill>
            <a:srgbClr val="2EC4B6"/>
          </a:solidFill>
          <a:ln/>
        </p:spPr>
      </p:sp>
      <p:pic>
        <p:nvPicPr>
          <p:cNvPr id="14" name="Image 3" descr="preencoded.png"/>
          <p:cNvPicPr>
            <a:picLocks noChangeAspect="1"/>
          </p:cNvPicPr>
          <p:nvPr/>
        </p:nvPicPr>
        <p:blipFill>
          <a:blip r:embed="rId4"/>
          <a:stretch>
            <a:fillRect/>
          </a:stretch>
        </p:blipFill>
        <p:spPr>
          <a:xfrm>
            <a:off x="621792" y="3776472"/>
            <a:ext cx="164592" cy="164592"/>
          </a:xfrm>
          <a:prstGeom prst="rect">
            <a:avLst/>
          </a:prstGeom>
        </p:spPr>
      </p:pic>
      <p:sp>
        <p:nvSpPr>
          <p:cNvPr id="15" name="Text 9"/>
          <p:cNvSpPr/>
          <p:nvPr/>
        </p:nvSpPr>
        <p:spPr>
          <a:xfrm>
            <a:off x="987552" y="3703320"/>
            <a:ext cx="7223760" cy="329184"/>
          </a:xfrm>
          <a:prstGeom prst="rect">
            <a:avLst/>
          </a:prstGeom>
          <a:noFill/>
          <a:ln/>
        </p:spPr>
        <p:txBody>
          <a:bodyPr wrap="square" lIns="0" tIns="0" rIns="0" bIns="0" rtlCol="0" anchor="ctr"/>
          <a:lstStyle/>
          <a:p>
            <a:pPr indent="0" marL="0">
              <a:buNone/>
            </a:pPr>
            <a:r>
              <a:rPr lang="en-US" sz="1400" dirty="0">
                <a:solidFill>
                  <a:srgbClr val="DCEEF5"/>
                </a:solidFill>
                <a:latin typeface="Calibri" pitchFamily="34" charset="0"/>
                <a:ea typeface="Calibri" pitchFamily="34" charset="-122"/>
                <a:cs typeface="Calibri" pitchFamily="34" charset="-120"/>
              </a:rPr>
              <a:t>You can read lineage and assess impact</a:t>
            </a:r>
            <a:endParaRPr lang="en-US" sz="1400" dirty="0"/>
          </a:p>
        </p:txBody>
      </p:sp>
      <p:sp>
        <p:nvSpPr>
          <p:cNvPr id="16" name="Shape 10"/>
          <p:cNvSpPr/>
          <p:nvPr/>
        </p:nvSpPr>
        <p:spPr>
          <a:xfrm>
            <a:off x="566928" y="4178808"/>
            <a:ext cx="274320" cy="274320"/>
          </a:xfrm>
          <a:prstGeom prst="ellipse">
            <a:avLst/>
          </a:prstGeom>
          <a:solidFill>
            <a:srgbClr val="2EC4B6"/>
          </a:solidFill>
          <a:ln/>
        </p:spPr>
      </p:sp>
      <p:pic>
        <p:nvPicPr>
          <p:cNvPr id="17" name="Image 4" descr="preencoded.png"/>
          <p:cNvPicPr>
            <a:picLocks noChangeAspect="1"/>
          </p:cNvPicPr>
          <p:nvPr/>
        </p:nvPicPr>
        <p:blipFill>
          <a:blip r:embed="rId5"/>
          <a:stretch>
            <a:fillRect/>
          </a:stretch>
        </p:blipFill>
        <p:spPr>
          <a:xfrm>
            <a:off x="621792" y="4233672"/>
            <a:ext cx="164592" cy="164592"/>
          </a:xfrm>
          <a:prstGeom prst="rect">
            <a:avLst/>
          </a:prstGeom>
        </p:spPr>
      </p:pic>
      <p:sp>
        <p:nvSpPr>
          <p:cNvPr id="18" name="Text 11"/>
          <p:cNvSpPr/>
          <p:nvPr/>
        </p:nvSpPr>
        <p:spPr>
          <a:xfrm>
            <a:off x="987552" y="4160520"/>
            <a:ext cx="7223760" cy="329184"/>
          </a:xfrm>
          <a:prstGeom prst="rect">
            <a:avLst/>
          </a:prstGeom>
          <a:noFill/>
          <a:ln/>
        </p:spPr>
        <p:txBody>
          <a:bodyPr wrap="square" lIns="0" tIns="0" rIns="0" bIns="0" rtlCol="0" anchor="ctr"/>
          <a:lstStyle/>
          <a:p>
            <a:pPr indent="0" marL="0">
              <a:buNone/>
            </a:pPr>
            <a:r>
              <a:rPr lang="en-US" sz="1400" dirty="0">
                <a:solidFill>
                  <a:srgbClr val="DCEEF5"/>
                </a:solidFill>
                <a:latin typeface="Calibri" pitchFamily="34" charset="0"/>
                <a:ea typeface="Calibri" pitchFamily="34" charset="-122"/>
                <a:cs typeface="Calibri" pitchFamily="34" charset="-120"/>
              </a:rPr>
              <a:t>You're ready to be AWC's data catalog champion</a:t>
            </a:r>
            <a:endParaRPr lang="en-US" sz="1400" dirty="0"/>
          </a:p>
        </p:txBody>
      </p:sp>
      <p:sp>
        <p:nvSpPr>
          <p:cNvPr id="19" name="Text 12"/>
          <p:cNvSpPr/>
          <p:nvPr/>
        </p:nvSpPr>
        <p:spPr>
          <a:xfrm>
            <a:off x="548640" y="4626864"/>
            <a:ext cx="8046720" cy="365760"/>
          </a:xfrm>
          <a:prstGeom prst="rect">
            <a:avLst/>
          </a:prstGeom>
          <a:noFill/>
          <a:ln/>
        </p:spPr>
        <p:txBody>
          <a:bodyPr wrap="square" lIns="0" tIns="0" rIns="0" bIns="0" rtlCol="0" anchor="ctr"/>
          <a:lstStyle/>
          <a:p>
            <a:pPr indent="0" marL="0">
              <a:buNone/>
            </a:pPr>
            <a:r>
              <a:rPr lang="en-US" sz="1200" i="1" dirty="0">
                <a:solidFill>
                  <a:srgbClr val="5B7782"/>
                </a:solidFill>
                <a:latin typeface="Calibri" pitchFamily="34" charset="0"/>
                <a:ea typeface="Calibri" pitchFamily="34" charset="-122"/>
                <a:cs typeface="Calibri" pitchFamily="34" charset="-120"/>
              </a:rPr>
              <a:t>Thank you — now go catalog with confidence.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8: Lineage &amp; Impact Analysis</dc:title>
  <dc:subject>PptxGenJS Presentation</dc:subject>
  <dc:creator>Arizona Water Company - PDC BA Course</dc:creator>
  <cp:lastModifiedBy>Arizona Water Company - PDC BA Course</cp:lastModifiedBy>
  <cp:revision>1</cp:revision>
  <dcterms:created xsi:type="dcterms:W3CDTF">2026-06-10T17:22:07Z</dcterms:created>
  <dcterms:modified xsi:type="dcterms:W3CDTF">2026-06-10T17:22:07Z</dcterms:modified>
</cp:coreProperties>
</file>