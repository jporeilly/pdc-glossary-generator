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Workshop 2. The skill here is reading metadata fluently - the core literacy of a catalog-aware analyst. Frame it: they didn't create this data, so how do they learn to trust and understand it? Through the three layers of metadata PDC captures.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idea of the whole workshop - the three layers. Technical is what the database knows: types, keys, sizes. Business is what humans need: definitions, owner, domain. Operational is how the data behaves: quality, freshness, lineage. Give the opted_out_marketing example - technically a boolean, but its business meaning is a GDPR consent flag. Same column, three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asset tabs. Every tab they open maps to one of those three layers. Summary gives business and operational at a glance; Data Elements is the technical layer column by column; Related previews lineage; Custom Properties and Comments add organisational context. Tell them to navigate these on the customers table as you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worked example. These six columns each tell all three stories at once. Linger on the sensitivity column - PII and Confidential. This is the bridge to Workshop 4, where these flags become the basis for compliance. Have them find one column whose business meaning isn't obvious from its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why a BA cares: metadata is how you trust data you didn't create. Use the stats to recap - 6 tables, 3 layers, 5 tabs. Then the discussion: the 'can I email everyone?' question, whose answer is a single column, opted_out_marketing. Transition to profiling in Workshop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p:bgPr>
    </p:bg>
    <p:spTree>
      <p:nvGrpSpPr>
        <p:cNvPr id="1" name=""/>
        <p:cNvGrpSpPr/>
        <p:nvPr/>
      </p:nvGrpSpPr>
      <p:grpSpPr>
        <a:xfrm>
          <a:off x="0" y="0"/>
          <a:ext cx="0" cy="0"/>
          <a:chOff x="0" y="0"/>
          <a:chExt cx="0" cy="0"/>
        </a:xfrm>
      </p:grpSpPr>
      <p:sp>
        <p:nvSpPr>
          <p:cNvPr id="2" name="Shape 0"/>
          <p:cNvSpPr/>
          <p:nvPr/>
        </p:nvSpPr>
        <p:spPr>
          <a:xfrm>
            <a:off x="6949440" y="-1463040"/>
            <a:ext cx="3840480" cy="3840480"/>
          </a:xfrm>
          <a:prstGeom prst="ellipse">
            <a:avLst/>
          </a:prstGeom>
          <a:solidFill>
            <a:srgbClr val="0A3D52"/>
          </a:solidFill>
          <a:ln/>
        </p:spPr>
      </p:sp>
      <p:sp>
        <p:nvSpPr>
          <p:cNvPr id="3" name="Shape 1"/>
          <p:cNvSpPr/>
          <p:nvPr/>
        </p:nvSpPr>
        <p:spPr>
          <a:xfrm>
            <a:off x="8138160" y="2651760"/>
            <a:ext cx="2377440" cy="2377440"/>
          </a:xfrm>
          <a:prstGeom prst="ellipse">
            <a:avLst/>
          </a:prstGeom>
          <a:solidFill>
            <a:srgbClr val="065A82">
              <a:alpha val="45000"/>
            </a:srgbClr>
          </a:solidFill>
          <a:ln/>
        </p:spPr>
      </p:sp>
      <p:sp>
        <p:nvSpPr>
          <p:cNvPr id="4" name="Shape 2"/>
          <p:cNvSpPr/>
          <p:nvPr/>
        </p:nvSpPr>
        <p:spPr>
          <a:xfrm>
            <a:off x="548640" y="566928"/>
            <a:ext cx="841248" cy="841248"/>
          </a:xfrm>
          <a:prstGeom prst="ellipse">
            <a:avLst/>
          </a:prstGeom>
          <a:solidFill>
            <a:srgbClr val="1C7293"/>
          </a:solidFill>
          <a:ln/>
        </p:spPr>
      </p:sp>
      <p:pic>
        <p:nvPicPr>
          <p:cNvPr id="5" name="Image 0" descr="preencoded.png"/>
          <p:cNvPicPr>
            <a:picLocks noChangeAspect="1"/>
          </p:cNvPicPr>
          <p:nvPr/>
        </p:nvPicPr>
        <p:blipFill>
          <a:blip r:embed="rId1"/>
          <a:stretch>
            <a:fillRect/>
          </a:stretch>
        </p:blipFill>
        <p:spPr>
          <a:xfrm>
            <a:off x="722376" y="740664"/>
            <a:ext cx="493776" cy="493776"/>
          </a:xfrm>
          <a:prstGeom prst="rect">
            <a:avLst/>
          </a:prstGeom>
        </p:spPr>
      </p:pic>
      <p:sp>
        <p:nvSpPr>
          <p:cNvPr id="6" name="Text 3"/>
          <p:cNvSpPr/>
          <p:nvPr/>
        </p:nvSpPr>
        <p:spPr>
          <a:xfrm>
            <a:off x="1554480" y="676656"/>
            <a:ext cx="6858000" cy="457200"/>
          </a:xfrm>
          <a:prstGeom prst="rect">
            <a:avLst/>
          </a:prstGeom>
          <a:noFill/>
          <a:ln/>
        </p:spPr>
        <p:txBody>
          <a:bodyPr wrap="square" lIns="0" tIns="0" rIns="0" bIns="0" rtlCol="0" anchor="ctr"/>
          <a:lstStyle/>
          <a:p>
            <a:pPr indent="0" marL="0">
              <a:buNone/>
            </a:pPr>
            <a:r>
              <a:rPr lang="en-US" sz="1400" b="1" spc="300" kern="0" dirty="0">
                <a:solidFill>
                  <a:srgbClr val="2EC4B6"/>
                </a:solidFill>
                <a:latin typeface="Calibri" pitchFamily="34" charset="0"/>
                <a:ea typeface="Calibri" pitchFamily="34" charset="-122"/>
                <a:cs typeface="Calibri" pitchFamily="34" charset="-120"/>
              </a:rPr>
              <a:t>WORKSHOP 6 · 30 MINUTES  ·  PDC · SEARCH &amp; DISCOVERY</a:t>
            </a:r>
            <a:endParaRPr lang="en-US" sz="1400" dirty="0"/>
          </a:p>
        </p:txBody>
      </p:sp>
      <p:sp>
        <p:nvSpPr>
          <p:cNvPr id="7" name="Text 4"/>
          <p:cNvSpPr/>
          <p:nvPr/>
        </p:nvSpPr>
        <p:spPr>
          <a:xfrm>
            <a:off x="548640" y="1737360"/>
            <a:ext cx="8138160" cy="1737360"/>
          </a:xfrm>
          <a:prstGeom prst="rect">
            <a:avLst/>
          </a:prstGeom>
          <a:noFill/>
          <a:ln/>
        </p:spPr>
        <p:txBody>
          <a:bodyPr wrap="square" lIns="0" tIns="0" rIns="0" bIns="0" rtlCol="0" anchor="ctr"/>
          <a:lstStyle/>
          <a:p>
            <a:pPr indent="0" marL="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Discovery</a:t>
            </a:r>
            <a:endParaRPr lang="en-US" sz="4000" dirty="0"/>
          </a:p>
          <a:p>
            <a:pPr indent="0" marL="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&amp; Search</a:t>
            </a:r>
            <a:endParaRPr lang="en-US" sz="4000" dirty="0"/>
          </a:p>
        </p:txBody>
      </p:sp>
      <p:sp>
        <p:nvSpPr>
          <p:cNvPr id="8" name="Text 5"/>
          <p:cNvSpPr/>
          <p:nvPr/>
        </p:nvSpPr>
        <p:spPr>
          <a:xfrm>
            <a:off x="566928" y="3520440"/>
            <a:ext cx="7863840" cy="914400"/>
          </a:xfrm>
          <a:prstGeom prst="rect">
            <a:avLst/>
          </a:prstGeom>
          <a:noFill/>
          <a:ln/>
        </p:spPr>
        <p:txBody>
          <a:bodyPr wrap="square" lIns="0" tIns="0" rIns="0" bIns="0" rtlCol="0" anchor="ctr"/>
          <a:lstStyle/>
          <a:p>
            <a:pPr indent="0" marL="0">
              <a:lnSpc>
                <a:spcPct val="105000"/>
              </a:lnSpc>
              <a:buNone/>
            </a:pPr>
            <a:r>
              <a:rPr lang="en-US" sz="1800" dirty="0">
                <a:solidFill>
                  <a:srgbClr val="DCEEF5"/>
                </a:solidFill>
                <a:latin typeface="Calibri" pitchFamily="34" charset="0"/>
                <a:ea typeface="Calibri" pitchFamily="34" charset="-122"/>
                <a:cs typeface="Calibri" pitchFamily="34" charset="-120"/>
              </a:rPr>
              <a:t>Find any AWC asset in seconds — search by business language, refine with facets, and save the queries you reuse.</a:t>
            </a:r>
            <a:endParaRPr lang="en-US" sz="1800" dirty="0"/>
          </a:p>
        </p:txBody>
      </p:sp>
      <p:sp>
        <p:nvSpPr>
          <p:cNvPr id="9" name="Text 6"/>
          <p:cNvSpPr/>
          <p:nvPr/>
        </p:nvSpPr>
        <p:spPr>
          <a:xfrm>
            <a:off x="566928" y="4626864"/>
            <a:ext cx="8046720" cy="365760"/>
          </a:xfrm>
          <a:prstGeom prst="rect">
            <a:avLst/>
          </a:prstGeom>
          <a:noFill/>
          <a:ln/>
        </p:spPr>
        <p:txBody>
          <a:bodyPr wrap="square" lIns="0" tIns="0" rIns="0" bIns="0" rtlCol="0" anchor="ctr"/>
          <a:lstStyle/>
          <a:p>
            <a:pPr indent="0" marL="0">
              <a:buNone/>
            </a:pPr>
            <a:r>
              <a:rPr lang="en-US" sz="1200" dirty="0">
                <a:solidFill>
                  <a:srgbClr val="5B7782"/>
                </a:solidFill>
                <a:latin typeface="Calibri" pitchFamily="34" charset="0"/>
                <a:ea typeface="Calibri" pitchFamily="34" charset="-122"/>
                <a:cs typeface="Calibri" pitchFamily="34" charset="-120"/>
              </a:rPr>
              <a:t>Pentaho Data Catalog 10.2.11  ·  Global Search → Facets → Saved Searches  ·  awc_operations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BIG IDEA</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Find anything, fast</a:t>
            </a:r>
            <a:endParaRPr lang="en-US" sz="2700" dirty="0"/>
          </a:p>
        </p:txBody>
      </p:sp>
      <p:sp>
        <p:nvSpPr>
          <p:cNvPr id="4" name="Shape 2"/>
          <p:cNvSpPr/>
          <p:nvPr/>
        </p:nvSpPr>
        <p:spPr>
          <a:xfrm>
            <a:off x="548640" y="1517904"/>
            <a:ext cx="2587752" cy="3017520"/>
          </a:xfrm>
          <a:prstGeom prst="roundRect">
            <a:avLst>
              <a:gd name="adj" fmla="val 3180"/>
            </a:avLst>
          </a:prstGeom>
          <a:solidFill>
            <a:srgbClr val="EEF6FA"/>
          </a:solidFill>
          <a:ln/>
          <a:effectLst>
            <a:outerShdw sx="100000" sy="100000" kx="0" ky="0" algn="bl" rotWithShape="0" blurRad="101600" dist="25400" dir="5400000">
              <a:srgbClr val="0A3D52">
                <a:alpha val="12000"/>
              </a:srgbClr>
            </a:outerShdw>
          </a:effectLst>
        </p:spPr>
      </p:sp>
      <p:sp>
        <p:nvSpPr>
          <p:cNvPr id="5" name="Shape 3"/>
          <p:cNvSpPr/>
          <p:nvPr/>
        </p:nvSpPr>
        <p:spPr>
          <a:xfrm>
            <a:off x="804672" y="1792224"/>
            <a:ext cx="713232" cy="713232"/>
          </a:xfrm>
          <a:prstGeom prst="ellipse">
            <a:avLst/>
          </a:prstGeom>
          <a:solidFill>
            <a:srgbClr val="065A82"/>
          </a:solidFill>
          <a:ln/>
        </p:spPr>
      </p:sp>
      <p:pic>
        <p:nvPicPr>
          <p:cNvPr id="6" name="Image 0" descr="preencoded.png"/>
          <p:cNvPicPr>
            <a:picLocks noChangeAspect="1"/>
          </p:cNvPicPr>
          <p:nvPr/>
        </p:nvPicPr>
        <p:blipFill>
          <a:blip r:embed="rId1"/>
          <a:stretch>
            <a:fillRect/>
          </a:stretch>
        </p:blipFill>
        <p:spPr>
          <a:xfrm>
            <a:off x="996696" y="1984248"/>
            <a:ext cx="329184" cy="329184"/>
          </a:xfrm>
          <a:prstGeom prst="rect">
            <a:avLst/>
          </a:prstGeom>
        </p:spPr>
      </p:pic>
      <p:sp>
        <p:nvSpPr>
          <p:cNvPr id="7" name="Text 4"/>
          <p:cNvSpPr/>
          <p:nvPr/>
        </p:nvSpPr>
        <p:spPr>
          <a:xfrm>
            <a:off x="804672" y="2651760"/>
            <a:ext cx="2130552" cy="384048"/>
          </a:xfrm>
          <a:prstGeom prst="rect">
            <a:avLst/>
          </a:prstGeom>
          <a:noFill/>
          <a:ln/>
        </p:spPr>
        <p:txBody>
          <a:bodyPr wrap="square" lIns="0" tIns="0" rIns="0" bIns="0" rtlCol="0" anchor="ctr"/>
          <a:lstStyle/>
          <a:p>
            <a:pPr indent="0" marL="0">
              <a:buNone/>
            </a:pPr>
            <a:r>
              <a:rPr lang="en-US" sz="2000" b="1" dirty="0">
                <a:solidFill>
                  <a:srgbClr val="14333F"/>
                </a:solidFill>
                <a:latin typeface="Bookman Old Style" pitchFamily="34" charset="0"/>
                <a:ea typeface="Bookman Old Style" pitchFamily="34" charset="-122"/>
                <a:cs typeface="Bookman Old Style" pitchFamily="34" charset="-120"/>
              </a:rPr>
              <a:t>Global Search</a:t>
            </a:r>
            <a:endParaRPr lang="en-US" sz="2000" dirty="0"/>
          </a:p>
        </p:txBody>
      </p:sp>
      <p:sp>
        <p:nvSpPr>
          <p:cNvPr id="8" name="Text 5"/>
          <p:cNvSpPr/>
          <p:nvPr/>
        </p:nvSpPr>
        <p:spPr>
          <a:xfrm>
            <a:off x="804672" y="3035808"/>
            <a:ext cx="2130552" cy="292608"/>
          </a:xfrm>
          <a:prstGeom prst="rect">
            <a:avLst/>
          </a:prstGeom>
          <a:noFill/>
          <a:ln/>
        </p:spPr>
        <p:txBody>
          <a:bodyPr wrap="square" lIns="0" tIns="0" rIns="0" bIns="0" rtlCol="0" anchor="ctr"/>
          <a:lstStyle/>
          <a:p>
            <a:pPr indent="0" marL="0">
              <a:buNone/>
            </a:pPr>
            <a:r>
              <a:rPr lang="en-US" sz="1100" b="1" i="1" dirty="0">
                <a:solidFill>
                  <a:srgbClr val="065A82"/>
                </a:solidFill>
                <a:latin typeface="Calibri" pitchFamily="34" charset="0"/>
                <a:ea typeface="Calibri" pitchFamily="34" charset="-122"/>
                <a:cs typeface="Calibri" pitchFamily="34" charset="-120"/>
              </a:rPr>
              <a:t>One bar, every asset</a:t>
            </a:r>
            <a:endParaRPr lang="en-US" sz="1100" dirty="0"/>
          </a:p>
        </p:txBody>
      </p:sp>
      <p:sp>
        <p:nvSpPr>
          <p:cNvPr id="9" name="Text 6"/>
          <p:cNvSpPr/>
          <p:nvPr/>
        </p:nvSpPr>
        <p:spPr>
          <a:xfrm>
            <a:off x="804672" y="3383280"/>
            <a:ext cx="2112264" cy="1005840"/>
          </a:xfrm>
          <a:prstGeom prst="rect">
            <a:avLst/>
          </a:prstGeom>
          <a:noFill/>
          <a:ln/>
        </p:spPr>
        <p:txBody>
          <a:bodyPr wrap="square" lIns="0" tIns="0" rIns="0" bIns="0" rtlCol="0" anchor="ctr"/>
          <a:lstStyle/>
          <a:p>
            <a:pPr indent="0" marL="0">
              <a:lnSpc>
                <a:spcPct val="105000"/>
              </a:lnSpc>
              <a:buNone/>
            </a:pPr>
            <a:r>
              <a:rPr lang="en-US" sz="1100" dirty="0">
                <a:solidFill>
                  <a:srgbClr val="5B7782"/>
                </a:solidFill>
                <a:latin typeface="Calibri" pitchFamily="34" charset="0"/>
                <a:ea typeface="Calibri" pitchFamily="34" charset="-122"/>
                <a:cs typeface="Calibri" pitchFamily="34" charset="-120"/>
              </a:rPr>
              <a:t>Search tables, columns, glossary terms, documents, and Data Products from any page — results ordered for your role.</a:t>
            </a:r>
            <a:endParaRPr lang="en-US" sz="1100" dirty="0"/>
          </a:p>
        </p:txBody>
      </p:sp>
      <p:sp>
        <p:nvSpPr>
          <p:cNvPr id="10" name="Shape 7"/>
          <p:cNvSpPr/>
          <p:nvPr/>
        </p:nvSpPr>
        <p:spPr>
          <a:xfrm>
            <a:off x="3273552" y="1517904"/>
            <a:ext cx="2587752" cy="3017520"/>
          </a:xfrm>
          <a:prstGeom prst="roundRect">
            <a:avLst>
              <a:gd name="adj" fmla="val 3180"/>
            </a:avLst>
          </a:prstGeom>
          <a:solidFill>
            <a:srgbClr val="EEF6FA"/>
          </a:solidFill>
          <a:ln/>
          <a:effectLst>
            <a:outerShdw sx="100000" sy="100000" kx="0" ky="0" algn="bl" rotWithShape="0" blurRad="101600" dist="25400" dir="5400000">
              <a:srgbClr val="0A3D52">
                <a:alpha val="12000"/>
              </a:srgbClr>
            </a:outerShdw>
          </a:effectLst>
        </p:spPr>
      </p:sp>
      <p:sp>
        <p:nvSpPr>
          <p:cNvPr id="11" name="Shape 8"/>
          <p:cNvSpPr/>
          <p:nvPr/>
        </p:nvSpPr>
        <p:spPr>
          <a:xfrm>
            <a:off x="3529584" y="1792224"/>
            <a:ext cx="713232" cy="713232"/>
          </a:xfrm>
          <a:prstGeom prst="ellipse">
            <a:avLst/>
          </a:prstGeom>
          <a:solidFill>
            <a:srgbClr val="1C7293"/>
          </a:solidFill>
          <a:ln/>
        </p:spPr>
      </p:sp>
      <p:pic>
        <p:nvPicPr>
          <p:cNvPr id="12" name="Image 1" descr="preencoded.png"/>
          <p:cNvPicPr>
            <a:picLocks noChangeAspect="1"/>
          </p:cNvPicPr>
          <p:nvPr/>
        </p:nvPicPr>
        <p:blipFill>
          <a:blip r:embed="rId2"/>
          <a:stretch>
            <a:fillRect/>
          </a:stretch>
        </p:blipFill>
        <p:spPr>
          <a:xfrm>
            <a:off x="3721608" y="1984248"/>
            <a:ext cx="329184" cy="329184"/>
          </a:xfrm>
          <a:prstGeom prst="rect">
            <a:avLst/>
          </a:prstGeom>
        </p:spPr>
      </p:pic>
      <p:sp>
        <p:nvSpPr>
          <p:cNvPr id="13" name="Text 9"/>
          <p:cNvSpPr/>
          <p:nvPr/>
        </p:nvSpPr>
        <p:spPr>
          <a:xfrm>
            <a:off x="3529584" y="2651760"/>
            <a:ext cx="2130552" cy="384048"/>
          </a:xfrm>
          <a:prstGeom prst="rect">
            <a:avLst/>
          </a:prstGeom>
          <a:noFill/>
          <a:ln/>
        </p:spPr>
        <p:txBody>
          <a:bodyPr wrap="square" lIns="0" tIns="0" rIns="0" bIns="0" rtlCol="0" anchor="ctr"/>
          <a:lstStyle/>
          <a:p>
            <a:pPr indent="0" marL="0">
              <a:buNone/>
            </a:pPr>
            <a:r>
              <a:rPr lang="en-US" sz="2000" b="1" dirty="0">
                <a:solidFill>
                  <a:srgbClr val="14333F"/>
                </a:solidFill>
                <a:latin typeface="Bookman Old Style" pitchFamily="34" charset="0"/>
                <a:ea typeface="Bookman Old Style" pitchFamily="34" charset="-122"/>
                <a:cs typeface="Bookman Old Style" pitchFamily="34" charset="-120"/>
              </a:rPr>
              <a:t>Facets</a:t>
            </a:r>
            <a:endParaRPr lang="en-US" sz="2000" dirty="0"/>
          </a:p>
        </p:txBody>
      </p:sp>
      <p:sp>
        <p:nvSpPr>
          <p:cNvPr id="14" name="Text 10"/>
          <p:cNvSpPr/>
          <p:nvPr/>
        </p:nvSpPr>
        <p:spPr>
          <a:xfrm>
            <a:off x="3529584" y="3035808"/>
            <a:ext cx="2130552" cy="292608"/>
          </a:xfrm>
          <a:prstGeom prst="rect">
            <a:avLst/>
          </a:prstGeom>
          <a:noFill/>
          <a:ln/>
        </p:spPr>
        <p:txBody>
          <a:bodyPr wrap="square" lIns="0" tIns="0" rIns="0" bIns="0" rtlCol="0" anchor="ctr"/>
          <a:lstStyle/>
          <a:p>
            <a:pPr indent="0" marL="0">
              <a:buNone/>
            </a:pPr>
            <a:r>
              <a:rPr lang="en-US" sz="1100" b="1" i="1" dirty="0">
                <a:solidFill>
                  <a:srgbClr val="1C7293"/>
                </a:solidFill>
                <a:latin typeface="Calibri" pitchFamily="34" charset="0"/>
                <a:ea typeface="Calibri" pitchFamily="34" charset="-122"/>
                <a:cs typeface="Calibri" pitchFamily="34" charset="-120"/>
              </a:rPr>
              <a:t>Refine precisely</a:t>
            </a:r>
            <a:endParaRPr lang="en-US" sz="1100" dirty="0"/>
          </a:p>
        </p:txBody>
      </p:sp>
      <p:sp>
        <p:nvSpPr>
          <p:cNvPr id="15" name="Text 11"/>
          <p:cNvSpPr/>
          <p:nvPr/>
        </p:nvSpPr>
        <p:spPr>
          <a:xfrm>
            <a:off x="3529584" y="3383280"/>
            <a:ext cx="2112264" cy="1005840"/>
          </a:xfrm>
          <a:prstGeom prst="rect">
            <a:avLst/>
          </a:prstGeom>
          <a:noFill/>
          <a:ln/>
        </p:spPr>
        <p:txBody>
          <a:bodyPr wrap="square" lIns="0" tIns="0" rIns="0" bIns="0" rtlCol="0" anchor="ctr"/>
          <a:lstStyle/>
          <a:p>
            <a:pPr indent="0" marL="0">
              <a:lnSpc>
                <a:spcPct val="105000"/>
              </a:lnSpc>
              <a:buNone/>
            </a:pPr>
            <a:r>
              <a:rPr lang="en-US" sz="1100" dirty="0">
                <a:solidFill>
                  <a:srgbClr val="5B7782"/>
                </a:solidFill>
                <a:latin typeface="Calibri" pitchFamily="34" charset="0"/>
                <a:ea typeface="Calibri" pitchFamily="34" charset="-122"/>
                <a:cs typeface="Calibri" pitchFamily="34" charset="-120"/>
              </a:rPr>
              <a:t>Narrow by business term, tag, sensitivity, trust score, or key — turning a broad search into a governed shortlist.</a:t>
            </a:r>
            <a:endParaRPr lang="en-US" sz="1100" dirty="0"/>
          </a:p>
        </p:txBody>
      </p:sp>
      <p:sp>
        <p:nvSpPr>
          <p:cNvPr id="16" name="Shape 12"/>
          <p:cNvSpPr/>
          <p:nvPr/>
        </p:nvSpPr>
        <p:spPr>
          <a:xfrm>
            <a:off x="5998464" y="1517904"/>
            <a:ext cx="2587752" cy="3017520"/>
          </a:xfrm>
          <a:prstGeom prst="roundRect">
            <a:avLst>
              <a:gd name="adj" fmla="val 3180"/>
            </a:avLst>
          </a:prstGeom>
          <a:solidFill>
            <a:srgbClr val="EEF6FA"/>
          </a:solidFill>
          <a:ln/>
          <a:effectLst>
            <a:outerShdw sx="100000" sy="100000" kx="0" ky="0" algn="bl" rotWithShape="0" blurRad="101600" dist="25400" dir="5400000">
              <a:srgbClr val="0A3D52">
                <a:alpha val="12000"/>
              </a:srgbClr>
            </a:outerShdw>
          </a:effectLst>
        </p:spPr>
      </p:sp>
      <p:sp>
        <p:nvSpPr>
          <p:cNvPr id="17" name="Shape 13"/>
          <p:cNvSpPr/>
          <p:nvPr/>
        </p:nvSpPr>
        <p:spPr>
          <a:xfrm>
            <a:off x="6254496" y="1792224"/>
            <a:ext cx="713232" cy="713232"/>
          </a:xfrm>
          <a:prstGeom prst="ellipse">
            <a:avLst/>
          </a:prstGeom>
          <a:solidFill>
            <a:srgbClr val="2EC4B6"/>
          </a:solidFill>
          <a:ln/>
        </p:spPr>
      </p:sp>
      <p:pic>
        <p:nvPicPr>
          <p:cNvPr id="18" name="Image 2" descr="preencoded.png"/>
          <p:cNvPicPr>
            <a:picLocks noChangeAspect="1"/>
          </p:cNvPicPr>
          <p:nvPr/>
        </p:nvPicPr>
        <p:blipFill>
          <a:blip r:embed="rId3"/>
          <a:stretch>
            <a:fillRect/>
          </a:stretch>
        </p:blipFill>
        <p:spPr>
          <a:xfrm>
            <a:off x="6446520" y="1984248"/>
            <a:ext cx="329184" cy="329184"/>
          </a:xfrm>
          <a:prstGeom prst="rect">
            <a:avLst/>
          </a:prstGeom>
        </p:spPr>
      </p:pic>
      <p:sp>
        <p:nvSpPr>
          <p:cNvPr id="19" name="Text 14"/>
          <p:cNvSpPr/>
          <p:nvPr/>
        </p:nvSpPr>
        <p:spPr>
          <a:xfrm>
            <a:off x="6254496" y="2651760"/>
            <a:ext cx="2130552" cy="384048"/>
          </a:xfrm>
          <a:prstGeom prst="rect">
            <a:avLst/>
          </a:prstGeom>
          <a:noFill/>
          <a:ln/>
        </p:spPr>
        <p:txBody>
          <a:bodyPr wrap="square" lIns="0" tIns="0" rIns="0" bIns="0" rtlCol="0" anchor="ctr"/>
          <a:lstStyle/>
          <a:p>
            <a:pPr indent="0" marL="0">
              <a:buNone/>
            </a:pPr>
            <a:r>
              <a:rPr lang="en-US" sz="2000" b="1" dirty="0">
                <a:solidFill>
                  <a:srgbClr val="14333F"/>
                </a:solidFill>
                <a:latin typeface="Bookman Old Style" pitchFamily="34" charset="0"/>
                <a:ea typeface="Bookman Old Style" pitchFamily="34" charset="-122"/>
                <a:cs typeface="Bookman Old Style" pitchFamily="34" charset="-120"/>
              </a:rPr>
              <a:t>Saved Searches</a:t>
            </a:r>
            <a:endParaRPr lang="en-US" sz="2000" dirty="0"/>
          </a:p>
        </p:txBody>
      </p:sp>
      <p:sp>
        <p:nvSpPr>
          <p:cNvPr id="20" name="Text 15"/>
          <p:cNvSpPr/>
          <p:nvPr/>
        </p:nvSpPr>
        <p:spPr>
          <a:xfrm>
            <a:off x="6254496" y="3035808"/>
            <a:ext cx="2130552" cy="292608"/>
          </a:xfrm>
          <a:prstGeom prst="rect">
            <a:avLst/>
          </a:prstGeom>
          <a:noFill/>
          <a:ln/>
        </p:spPr>
        <p:txBody>
          <a:bodyPr wrap="square" lIns="0" tIns="0" rIns="0" bIns="0" rtlCol="0" anchor="ctr"/>
          <a:lstStyle/>
          <a:p>
            <a:pPr indent="0" marL="0">
              <a:buNone/>
            </a:pPr>
            <a:r>
              <a:rPr lang="en-US" sz="1100" b="1" i="1" dirty="0">
                <a:solidFill>
                  <a:srgbClr val="2EC4B6"/>
                </a:solidFill>
                <a:latin typeface="Calibri" pitchFamily="34" charset="0"/>
                <a:ea typeface="Calibri" pitchFamily="34" charset="-122"/>
                <a:cs typeface="Calibri" pitchFamily="34" charset="-120"/>
              </a:rPr>
              <a:t>Reuse the query</a:t>
            </a:r>
            <a:endParaRPr lang="en-US" sz="1100" dirty="0"/>
          </a:p>
        </p:txBody>
      </p:sp>
      <p:sp>
        <p:nvSpPr>
          <p:cNvPr id="21" name="Text 16"/>
          <p:cNvSpPr/>
          <p:nvPr/>
        </p:nvSpPr>
        <p:spPr>
          <a:xfrm>
            <a:off x="6254496" y="3383280"/>
            <a:ext cx="2112264" cy="1005840"/>
          </a:xfrm>
          <a:prstGeom prst="rect">
            <a:avLst/>
          </a:prstGeom>
          <a:noFill/>
          <a:ln/>
        </p:spPr>
        <p:txBody>
          <a:bodyPr wrap="square" lIns="0" tIns="0" rIns="0" bIns="0" rtlCol="0" anchor="ctr"/>
          <a:lstStyle/>
          <a:p>
            <a:pPr indent="0" marL="0">
              <a:lnSpc>
                <a:spcPct val="105000"/>
              </a:lnSpc>
              <a:buNone/>
            </a:pPr>
            <a:r>
              <a:rPr lang="en-US" sz="1100" dirty="0">
                <a:solidFill>
                  <a:srgbClr val="5B7782"/>
                </a:solidFill>
                <a:latin typeface="Calibri" pitchFamily="34" charset="0"/>
                <a:ea typeface="Calibri" pitchFamily="34" charset="-122"/>
                <a:cs typeface="Calibri" pitchFamily="34" charset="-120"/>
              </a:rPr>
              <a:t>Save a search you run often and re-run it any time from the Saved Searches dropdown.</a:t>
            </a:r>
            <a:endParaRPr lang="en-US" sz="1100" dirty="0"/>
          </a:p>
        </p:txBody>
      </p:sp>
      <p:sp>
        <p:nvSpPr>
          <p:cNvPr id="22" name="Text 17"/>
          <p:cNvSpPr/>
          <p:nvPr/>
        </p:nvSpPr>
        <p:spPr>
          <a:xfrm>
            <a:off x="548640" y="4828032"/>
            <a:ext cx="7315200" cy="274320"/>
          </a:xfrm>
          <a:prstGeom prst="rect">
            <a:avLst/>
          </a:prstGeom>
          <a:noFill/>
          <a:ln/>
        </p:spPr>
        <p:txBody>
          <a:bodyPr wrap="square" lIns="0" tIns="0" rIns="0" bIns="0" rtlCol="0" anchor="ctr"/>
          <a:lstStyle/>
          <a:p>
            <a:pPr indent="0" marL="0">
              <a:buNone/>
            </a:pPr>
            <a:r>
              <a:rPr lang="en-US" sz="950" dirty="0">
                <a:solidFill>
                  <a:srgbClr val="5B7782"/>
                </a:solidFill>
                <a:latin typeface="Calibri" pitchFamily="34" charset="0"/>
                <a:ea typeface="Calibri" pitchFamily="34" charset="-122"/>
                <a:cs typeface="Calibri" pitchFamily="34" charset="-120"/>
              </a:rPr>
              <a:t>Workshop 6 · The glossary makes technical columns findable by business word</a:t>
            </a:r>
            <a:endParaRPr lang="en-US" sz="950" dirty="0"/>
          </a:p>
        </p:txBody>
      </p:sp>
      <p:sp>
        <p:nvSpPr>
          <p:cNvPr id="23" name="Text 18"/>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REFINE</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Refine by facet</a:t>
            </a:r>
            <a:endParaRPr lang="en-US" sz="2700" dirty="0"/>
          </a:p>
        </p:txBody>
      </p:sp>
      <p:sp>
        <p:nvSpPr>
          <p:cNvPr id="4" name="Shape 2"/>
          <p:cNvSpPr/>
          <p:nvPr/>
        </p:nvSpPr>
        <p:spPr>
          <a:xfrm>
            <a:off x="548640" y="1499616"/>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5" name="Shape 3"/>
          <p:cNvSpPr/>
          <p:nvPr/>
        </p:nvSpPr>
        <p:spPr>
          <a:xfrm>
            <a:off x="713232" y="1609344"/>
            <a:ext cx="384048" cy="384048"/>
          </a:xfrm>
          <a:prstGeom prst="ellipse">
            <a:avLst/>
          </a:prstGeom>
          <a:solidFill>
            <a:srgbClr val="1C7293"/>
          </a:solidFill>
          <a:ln/>
        </p:spPr>
      </p:sp>
      <p:pic>
        <p:nvPicPr>
          <p:cNvPr id="6" name="Image 0" descr="preencoded.png"/>
          <p:cNvPicPr>
            <a:picLocks noChangeAspect="1"/>
          </p:cNvPicPr>
          <p:nvPr/>
        </p:nvPicPr>
        <p:blipFill>
          <a:blip r:embed="rId1"/>
          <a:stretch>
            <a:fillRect/>
          </a:stretch>
        </p:blipFill>
        <p:spPr>
          <a:xfrm>
            <a:off x="800100" y="1696212"/>
            <a:ext cx="210312" cy="210312"/>
          </a:xfrm>
          <a:prstGeom prst="rect">
            <a:avLst/>
          </a:prstGeom>
        </p:spPr>
      </p:pic>
      <p:sp>
        <p:nvSpPr>
          <p:cNvPr id="7" name="Text 4"/>
          <p:cNvSpPr/>
          <p:nvPr/>
        </p:nvSpPr>
        <p:spPr>
          <a:xfrm>
            <a:off x="1280160" y="1499616"/>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Business Term</a:t>
            </a:r>
            <a:endParaRPr lang="en-US" sz="1400" dirty="0"/>
          </a:p>
        </p:txBody>
      </p:sp>
      <p:sp>
        <p:nvSpPr>
          <p:cNvPr id="8" name="Text 5"/>
          <p:cNvSpPr/>
          <p:nvPr/>
        </p:nvSpPr>
        <p:spPr>
          <a:xfrm>
            <a:off x="3383280" y="1499616"/>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Assets linked to a glossary term — e.g. everything tied to Customer Name.</a:t>
            </a:r>
            <a:endParaRPr lang="en-US" sz="1150" dirty="0"/>
          </a:p>
        </p:txBody>
      </p:sp>
      <p:sp>
        <p:nvSpPr>
          <p:cNvPr id="9" name="Shape 6"/>
          <p:cNvSpPr/>
          <p:nvPr/>
        </p:nvSpPr>
        <p:spPr>
          <a:xfrm>
            <a:off x="548640" y="2176272"/>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10" name="Shape 7"/>
          <p:cNvSpPr/>
          <p:nvPr/>
        </p:nvSpPr>
        <p:spPr>
          <a:xfrm>
            <a:off x="713232" y="2286000"/>
            <a:ext cx="384048" cy="384048"/>
          </a:xfrm>
          <a:prstGeom prst="ellipse">
            <a:avLst/>
          </a:prstGeom>
          <a:solidFill>
            <a:srgbClr val="1C7293"/>
          </a:solidFill>
          <a:ln/>
        </p:spPr>
      </p:sp>
      <p:pic>
        <p:nvPicPr>
          <p:cNvPr id="11" name="Image 1" descr="preencoded.png"/>
          <p:cNvPicPr>
            <a:picLocks noChangeAspect="1"/>
          </p:cNvPicPr>
          <p:nvPr/>
        </p:nvPicPr>
        <p:blipFill>
          <a:blip r:embed="rId2"/>
          <a:stretch>
            <a:fillRect/>
          </a:stretch>
        </p:blipFill>
        <p:spPr>
          <a:xfrm>
            <a:off x="800100" y="2372868"/>
            <a:ext cx="210312" cy="210312"/>
          </a:xfrm>
          <a:prstGeom prst="rect">
            <a:avLst/>
          </a:prstGeom>
        </p:spPr>
      </p:pic>
      <p:sp>
        <p:nvSpPr>
          <p:cNvPr id="12" name="Text 8"/>
          <p:cNvSpPr/>
          <p:nvPr/>
        </p:nvSpPr>
        <p:spPr>
          <a:xfrm>
            <a:off x="1280160" y="2176272"/>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Tag</a:t>
            </a:r>
            <a:endParaRPr lang="en-US" sz="1400" dirty="0"/>
          </a:p>
        </p:txBody>
      </p:sp>
      <p:sp>
        <p:nvSpPr>
          <p:cNvPr id="13" name="Text 9"/>
          <p:cNvSpPr/>
          <p:nvPr/>
        </p:nvSpPr>
        <p:spPr>
          <a:xfrm>
            <a:off x="3383280" y="2176272"/>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Assets carrying a tag — e.g. the PII tag from Workshop 5.</a:t>
            </a:r>
            <a:endParaRPr lang="en-US" sz="1150" dirty="0"/>
          </a:p>
        </p:txBody>
      </p:sp>
      <p:sp>
        <p:nvSpPr>
          <p:cNvPr id="14" name="Shape 10"/>
          <p:cNvSpPr/>
          <p:nvPr/>
        </p:nvSpPr>
        <p:spPr>
          <a:xfrm>
            <a:off x="548640" y="2852928"/>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15" name="Shape 11"/>
          <p:cNvSpPr/>
          <p:nvPr/>
        </p:nvSpPr>
        <p:spPr>
          <a:xfrm>
            <a:off x="713232" y="2962656"/>
            <a:ext cx="384048" cy="384048"/>
          </a:xfrm>
          <a:prstGeom prst="ellipse">
            <a:avLst/>
          </a:prstGeom>
          <a:solidFill>
            <a:srgbClr val="1C7293"/>
          </a:solidFill>
          <a:ln/>
        </p:spPr>
      </p:sp>
      <p:pic>
        <p:nvPicPr>
          <p:cNvPr id="16" name="Image 2" descr="preencoded.png"/>
          <p:cNvPicPr>
            <a:picLocks noChangeAspect="1"/>
          </p:cNvPicPr>
          <p:nvPr/>
        </p:nvPicPr>
        <p:blipFill>
          <a:blip r:embed="rId3"/>
          <a:stretch>
            <a:fillRect/>
          </a:stretch>
        </p:blipFill>
        <p:spPr>
          <a:xfrm>
            <a:off x="800100" y="3049524"/>
            <a:ext cx="210312" cy="210312"/>
          </a:xfrm>
          <a:prstGeom prst="rect">
            <a:avLst/>
          </a:prstGeom>
        </p:spPr>
      </p:pic>
      <p:sp>
        <p:nvSpPr>
          <p:cNvPr id="17" name="Text 12"/>
          <p:cNvSpPr/>
          <p:nvPr/>
        </p:nvSpPr>
        <p:spPr>
          <a:xfrm>
            <a:off x="1280160" y="2852928"/>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Sensitivity</a:t>
            </a:r>
            <a:endParaRPr lang="en-US" sz="1400" dirty="0"/>
          </a:p>
        </p:txBody>
      </p:sp>
      <p:sp>
        <p:nvSpPr>
          <p:cNvPr id="18" name="Text 13"/>
          <p:cNvSpPr/>
          <p:nvPr/>
        </p:nvSpPr>
        <p:spPr>
          <a:xfrm>
            <a:off x="3383280" y="2852928"/>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Unknown, Low, Medium, or High — e.g. only High-sensitivity columns.</a:t>
            </a:r>
            <a:endParaRPr lang="en-US" sz="1150" dirty="0"/>
          </a:p>
        </p:txBody>
      </p:sp>
      <p:sp>
        <p:nvSpPr>
          <p:cNvPr id="19" name="Shape 14"/>
          <p:cNvSpPr/>
          <p:nvPr/>
        </p:nvSpPr>
        <p:spPr>
          <a:xfrm>
            <a:off x="548640" y="3529584"/>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20" name="Shape 15"/>
          <p:cNvSpPr/>
          <p:nvPr/>
        </p:nvSpPr>
        <p:spPr>
          <a:xfrm>
            <a:off x="713232" y="3639312"/>
            <a:ext cx="384048" cy="384048"/>
          </a:xfrm>
          <a:prstGeom prst="ellipse">
            <a:avLst/>
          </a:prstGeom>
          <a:solidFill>
            <a:srgbClr val="1C7293"/>
          </a:solidFill>
          <a:ln/>
        </p:spPr>
      </p:sp>
      <p:pic>
        <p:nvPicPr>
          <p:cNvPr id="21" name="Image 3" descr="preencoded.png"/>
          <p:cNvPicPr>
            <a:picLocks noChangeAspect="1"/>
          </p:cNvPicPr>
          <p:nvPr/>
        </p:nvPicPr>
        <p:blipFill>
          <a:blip r:embed="rId4"/>
          <a:stretch>
            <a:fillRect/>
          </a:stretch>
        </p:blipFill>
        <p:spPr>
          <a:xfrm>
            <a:off x="800100" y="3726180"/>
            <a:ext cx="210312" cy="210312"/>
          </a:xfrm>
          <a:prstGeom prst="rect">
            <a:avLst/>
          </a:prstGeom>
        </p:spPr>
      </p:pic>
      <p:sp>
        <p:nvSpPr>
          <p:cNvPr id="22" name="Text 16"/>
          <p:cNvSpPr/>
          <p:nvPr/>
        </p:nvSpPr>
        <p:spPr>
          <a:xfrm>
            <a:off x="1280160" y="3529584"/>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Trust &amp; Quality</a:t>
            </a:r>
            <a:endParaRPr lang="en-US" sz="1400" dirty="0"/>
          </a:p>
        </p:txBody>
      </p:sp>
      <p:sp>
        <p:nvSpPr>
          <p:cNvPr id="23" name="Text 17"/>
          <p:cNvSpPr/>
          <p:nvPr/>
        </p:nvSpPr>
        <p:spPr>
          <a:xfrm>
            <a:off x="3383280" y="3529584"/>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Keep only trusted, high-quality assets by score.</a:t>
            </a:r>
            <a:endParaRPr lang="en-US" sz="1150" dirty="0"/>
          </a:p>
        </p:txBody>
      </p:sp>
      <p:sp>
        <p:nvSpPr>
          <p:cNvPr id="24" name="Shape 18"/>
          <p:cNvSpPr/>
          <p:nvPr/>
        </p:nvSpPr>
        <p:spPr>
          <a:xfrm>
            <a:off x="548640" y="4206240"/>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25" name="Shape 19"/>
          <p:cNvSpPr/>
          <p:nvPr/>
        </p:nvSpPr>
        <p:spPr>
          <a:xfrm>
            <a:off x="713232" y="4315968"/>
            <a:ext cx="384048" cy="384048"/>
          </a:xfrm>
          <a:prstGeom prst="ellipse">
            <a:avLst/>
          </a:prstGeom>
          <a:solidFill>
            <a:srgbClr val="1C7293"/>
          </a:solidFill>
          <a:ln/>
        </p:spPr>
      </p:sp>
      <p:pic>
        <p:nvPicPr>
          <p:cNvPr id="26" name="Image 4" descr="preencoded.png"/>
          <p:cNvPicPr>
            <a:picLocks noChangeAspect="1"/>
          </p:cNvPicPr>
          <p:nvPr/>
        </p:nvPicPr>
        <p:blipFill>
          <a:blip r:embed="rId5"/>
          <a:stretch>
            <a:fillRect/>
          </a:stretch>
        </p:blipFill>
        <p:spPr>
          <a:xfrm>
            <a:off x="800100" y="4402836"/>
            <a:ext cx="210312" cy="210312"/>
          </a:xfrm>
          <a:prstGeom prst="rect">
            <a:avLst/>
          </a:prstGeom>
        </p:spPr>
      </p:pic>
      <p:sp>
        <p:nvSpPr>
          <p:cNvPr id="27" name="Text 20"/>
          <p:cNvSpPr/>
          <p:nvPr/>
        </p:nvSpPr>
        <p:spPr>
          <a:xfrm>
            <a:off x="1280160" y="4206240"/>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Keys</a:t>
            </a:r>
            <a:endParaRPr lang="en-US" sz="1400" dirty="0"/>
          </a:p>
        </p:txBody>
      </p:sp>
      <p:sp>
        <p:nvSpPr>
          <p:cNvPr id="28" name="Text 21"/>
          <p:cNvSpPr/>
          <p:nvPr/>
        </p:nvSpPr>
        <p:spPr>
          <a:xfrm>
            <a:off x="3383280" y="4206240"/>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Primary- or foreign-key columns — the join keys found in Workshop 4.</a:t>
            </a:r>
            <a:endParaRPr lang="en-US" sz="1150" dirty="0"/>
          </a:p>
        </p:txBody>
      </p:sp>
      <p:sp>
        <p:nvSpPr>
          <p:cNvPr id="29" name="Text 22"/>
          <p:cNvSpPr/>
          <p:nvPr/>
        </p:nvSpPr>
        <p:spPr>
          <a:xfrm>
            <a:off x="548640" y="4828032"/>
            <a:ext cx="7315200" cy="274320"/>
          </a:xfrm>
          <a:prstGeom prst="rect">
            <a:avLst/>
          </a:prstGeom>
          <a:noFill/>
          <a:ln/>
        </p:spPr>
        <p:txBody>
          <a:bodyPr wrap="square" lIns="0" tIns="0" rIns="0" bIns="0" rtlCol="0" anchor="ctr"/>
          <a:lstStyle/>
          <a:p>
            <a:pPr indent="0" marL="0">
              <a:buNone/>
            </a:pPr>
            <a:r>
              <a:rPr lang="en-US" sz="950" dirty="0">
                <a:solidFill>
                  <a:srgbClr val="5B7782"/>
                </a:solidFill>
                <a:latin typeface="Calibri" pitchFamily="34" charset="0"/>
                <a:ea typeface="Calibri" pitchFamily="34" charset="-122"/>
                <a:cs typeface="Calibri" pitchFamily="34" charset="-120"/>
              </a:rPr>
              <a:t>Workshop 6 · Facets live down the left of the results page</a:t>
            </a:r>
            <a:endParaRPr lang="en-US" sz="950" dirty="0"/>
          </a:p>
        </p:txBody>
      </p:sp>
      <p:sp>
        <p:nvSpPr>
          <p:cNvPr id="30" name="Text 23"/>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WORKED EXAMPLE</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Search in business language</a:t>
            </a:r>
            <a:endParaRPr lang="en-US" sz="2700" dirty="0"/>
          </a:p>
        </p:txBody>
      </p:sp>
      <p:sp>
        <p:nvSpPr>
          <p:cNvPr id="4" name="Text 2"/>
          <p:cNvSpPr/>
          <p:nvPr/>
        </p:nvSpPr>
        <p:spPr>
          <a:xfrm>
            <a:off x="548640" y="1389888"/>
            <a:ext cx="8046720" cy="457200"/>
          </a:xfrm>
          <a:prstGeom prst="rect">
            <a:avLst/>
          </a:prstGeom>
          <a:noFill/>
          <a:ln/>
        </p:spPr>
        <p:txBody>
          <a:bodyPr wrap="square" lIns="0" tIns="0" rIns="0" bIns="0" rtlCol="0" anchor="ctr"/>
          <a:lstStyle/>
          <a:p>
            <a:pPr indent="0" marL="0">
              <a:lnSpc>
                <a:spcPct val="104000"/>
              </a:lnSpc>
              <a:buNone/>
            </a:pPr>
            <a:r>
              <a:rPr lang="en-US" sz="1250" dirty="0">
                <a:solidFill>
                  <a:srgbClr val="5B7782"/>
                </a:solidFill>
                <a:latin typeface="Calibri" pitchFamily="34" charset="0"/>
                <a:ea typeface="Calibri" pitchFamily="34" charset="-122"/>
                <a:cs typeface="Calibri" pitchFamily="34" charset="-120"/>
              </a:rPr>
              <a:t>Type what you mean; the glossary, tags, and scores turn it into the exact governed assets.</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938528"/>
          <a:ext cx="8046720" cy="914400"/>
        </p:xfrm>
        <a:graphic>
          <a:graphicData uri="http://schemas.openxmlformats.org/drawingml/2006/table">
            <a:tbl>
              <a:tblPr/>
              <a:tblGrid>
                <a:gridCol w="1920240"/>
                <a:gridCol w="1371600"/>
                <a:gridCol w="3200400"/>
                <a:gridCol w="155448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Search for</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Returns</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Refine by</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You get</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“marketing consent”</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Customer term + opted_out_marketing</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Sensitivity</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The consent field, classified</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“customer”</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All customer tables &amp; columns</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Tag = PII</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Just the personal-data fields</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“lead level”</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water_quality_reports.lead_ppb</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Trust Score</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Only trusted results</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“billing”</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monthly_usage &amp; rate fields</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Business Term</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Governed billing fields</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“email”</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customers.email</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Sensitivity = High</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The PII email column</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4572000"/>
            <a:ext cx="8046720" cy="274320"/>
          </a:xfrm>
          <a:prstGeom prst="rect">
            <a:avLst/>
          </a:prstGeom>
          <a:noFill/>
          <a:ln/>
        </p:spPr>
        <p:txBody>
          <a:bodyPr wrap="square" lIns="0" tIns="0" rIns="0" bIns="0" rtlCol="0" anchor="ctr"/>
          <a:lstStyle/>
          <a:p>
            <a:pPr indent="0" marL="0">
              <a:buNone/>
            </a:pPr>
            <a:r>
              <a:rPr lang="en-US" sz="1050" i="1" dirty="0">
                <a:solidFill>
                  <a:srgbClr val="5B7782"/>
                </a:solidFill>
                <a:latin typeface="Calibri" pitchFamily="34" charset="0"/>
                <a:ea typeface="Calibri" pitchFamily="34" charset="-122"/>
                <a:cs typeface="Calibri" pitchFamily="34" charset="-120"/>
              </a:rPr>
              <a:t>The glossary and Workshop 5 tags make business-word search land on the right column.</a:t>
            </a:r>
            <a:endParaRPr lang="en-US" sz="1050" dirty="0"/>
          </a:p>
        </p:txBody>
      </p:sp>
      <p:sp>
        <p:nvSpPr>
          <p:cNvPr id="7" name="Text 4"/>
          <p:cNvSpPr/>
          <p:nvPr/>
        </p:nvSpPr>
        <p:spPr>
          <a:xfrm>
            <a:off x="548640" y="4828032"/>
            <a:ext cx="7315200" cy="274320"/>
          </a:xfrm>
          <a:prstGeom prst="rect">
            <a:avLst/>
          </a:prstGeom>
          <a:noFill/>
          <a:ln/>
        </p:spPr>
        <p:txBody>
          <a:bodyPr wrap="square" lIns="0" tIns="0" rIns="0" bIns="0" rtlCol="0" anchor="ctr"/>
          <a:lstStyle/>
          <a:p>
            <a:pPr indent="0" marL="0">
              <a:buNone/>
            </a:pPr>
            <a:r>
              <a:rPr lang="en-US" sz="950" dirty="0">
                <a:solidFill>
                  <a:srgbClr val="5B7782"/>
                </a:solidFill>
                <a:latin typeface="Calibri" pitchFamily="34" charset="0"/>
                <a:ea typeface="Calibri" pitchFamily="34" charset="-122"/>
                <a:cs typeface="Calibri" pitchFamily="34" charset="-120"/>
              </a:rPr>
              <a:t>Workshop 6 · Global Search across awc_operations</a:t>
            </a:r>
            <a:endParaRPr lang="en-US" sz="950" dirty="0"/>
          </a:p>
        </p:txBody>
      </p:sp>
      <p:sp>
        <p:nvSpPr>
          <p:cNvPr id="8" name="Text 5"/>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B2B"/>
        </a:solidFill>
      </p:bgPr>
    </p:bg>
    <p:spTree>
      <p:nvGrpSpPr>
        <p:cNvPr id="1" name=""/>
        <p:cNvGrpSpPr/>
        <p:nvPr/>
      </p:nvGrpSpPr>
      <p:grpSpPr>
        <a:xfrm>
          <a:off x="0" y="0"/>
          <a:ext cx="0" cy="0"/>
          <a:chOff x="0" y="0"/>
          <a:chExt cx="0" cy="0"/>
        </a:xfrm>
      </p:grpSpPr>
      <p:sp>
        <p:nvSpPr>
          <p:cNvPr id="2" name="Shape 0"/>
          <p:cNvSpPr/>
          <p:nvPr/>
        </p:nvSpPr>
        <p:spPr>
          <a:xfrm>
            <a:off x="7498080" y="-1280160"/>
            <a:ext cx="3291840" cy="3291840"/>
          </a:xfrm>
          <a:prstGeom prst="ellipse">
            <a:avLst/>
          </a:prstGeom>
          <a:solidFill>
            <a:srgbClr val="0A3D52"/>
          </a:solidFill>
          <a:ln/>
        </p:spPr>
      </p:sp>
      <p:sp>
        <p:nvSpPr>
          <p:cNvPr id="3" name="Shape 1"/>
          <p:cNvSpPr/>
          <p:nvPr/>
        </p:nvSpPr>
        <p:spPr>
          <a:xfrm>
            <a:off x="548640" y="603504"/>
            <a:ext cx="841248" cy="841248"/>
          </a:xfrm>
          <a:prstGeom prst="ellipse">
            <a:avLst/>
          </a:prstGeom>
          <a:solidFill>
            <a:srgbClr val="1C7293"/>
          </a:solidFill>
          <a:ln/>
        </p:spPr>
      </p:sp>
      <p:pic>
        <p:nvPicPr>
          <p:cNvPr id="4" name="Image 0" descr="preencoded.png"/>
          <p:cNvPicPr>
            <a:picLocks noChangeAspect="1"/>
          </p:cNvPicPr>
          <p:nvPr/>
        </p:nvPicPr>
        <p:blipFill>
          <a:blip r:embed="rId1"/>
          <a:stretch>
            <a:fillRect/>
          </a:stretch>
        </p:blipFill>
        <p:spPr>
          <a:xfrm>
            <a:off x="722376" y="777240"/>
            <a:ext cx="493776" cy="493776"/>
          </a:xfrm>
          <a:prstGeom prst="rect">
            <a:avLst/>
          </a:prstGeom>
        </p:spPr>
      </p:pic>
      <p:sp>
        <p:nvSpPr>
          <p:cNvPr id="5" name="Text 2"/>
          <p:cNvSpPr/>
          <p:nvPr/>
        </p:nvSpPr>
        <p:spPr>
          <a:xfrm>
            <a:off x="1554480" y="713232"/>
            <a:ext cx="6400800" cy="457200"/>
          </a:xfrm>
          <a:prstGeom prst="rect">
            <a:avLst/>
          </a:prstGeom>
          <a:noFill/>
          <a:ln/>
        </p:spPr>
        <p:txBody>
          <a:bodyPr wrap="square" lIns="0" tIns="0" rIns="0" bIns="0" rtlCol="0" anchor="ctr"/>
          <a:lstStyle/>
          <a:p>
            <a:pPr indent="0" marL="0">
              <a:buNone/>
            </a:pPr>
            <a:r>
              <a:rPr lang="en-US" sz="1400" b="1" spc="300" kern="0" dirty="0">
                <a:solidFill>
                  <a:srgbClr val="2EC4B6"/>
                </a:solidFill>
                <a:latin typeface="Calibri" pitchFamily="34" charset="0"/>
                <a:ea typeface="Calibri" pitchFamily="34" charset="-122"/>
                <a:cs typeface="Calibri" pitchFamily="34" charset="-120"/>
              </a:rPr>
              <a:t>WHY IT MATTERS</a:t>
            </a:r>
            <a:endParaRPr lang="en-US" sz="1400" dirty="0"/>
          </a:p>
        </p:txBody>
      </p:sp>
      <p:sp>
        <p:nvSpPr>
          <p:cNvPr id="6" name="Text 3"/>
          <p:cNvSpPr/>
          <p:nvPr/>
        </p:nvSpPr>
        <p:spPr>
          <a:xfrm>
            <a:off x="548640" y="1517904"/>
            <a:ext cx="8046720" cy="1097280"/>
          </a:xfrm>
          <a:prstGeom prst="rect">
            <a:avLst/>
          </a:prstGeom>
          <a:noFill/>
          <a:ln/>
        </p:spPr>
        <p:txBody>
          <a:bodyPr wrap="square" lIns="0" tIns="0" rIns="0" bIns="0" rtlCol="0" anchor="ctr"/>
          <a:lstStyle/>
          <a:p>
            <a:pPr indent="0" marL="0">
              <a:lnSpc>
                <a:spcPct val="98000"/>
              </a:lnSpc>
              <a:buNone/>
            </a:pPr>
            <a:r>
              <a:rPr lang="en-US" sz="2800" b="1" dirty="0">
                <a:solidFill>
                  <a:srgbClr val="FFFFFF"/>
                </a:solidFill>
                <a:latin typeface="Bookman Old Style" pitchFamily="34" charset="0"/>
                <a:ea typeface="Bookman Old Style" pitchFamily="34" charset="-122"/>
                <a:cs typeface="Bookman Old Style" pitchFamily="34" charset="-120"/>
              </a:rPr>
              <a:t>Find it yourself,</a:t>
            </a:r>
            <a:endParaRPr lang="en-US" sz="2800" dirty="0"/>
          </a:p>
          <a:p>
            <a:pPr indent="0" marL="0">
              <a:lnSpc>
                <a:spcPct val="98000"/>
              </a:lnSpc>
              <a:buNone/>
            </a:pPr>
            <a:r>
              <a:rPr lang="en-US" sz="2800" b="1" dirty="0">
                <a:solidFill>
                  <a:srgbClr val="FFFFFF"/>
                </a:solidFill>
                <a:latin typeface="Bookman Old Style" pitchFamily="34" charset="0"/>
                <a:ea typeface="Bookman Old Style" pitchFamily="34" charset="-122"/>
                <a:cs typeface="Bookman Old Style" pitchFamily="34" charset="-120"/>
              </a:rPr>
              <a:t>in seconds</a:t>
            </a:r>
            <a:endParaRPr lang="en-US" sz="2800" dirty="0"/>
          </a:p>
        </p:txBody>
      </p:sp>
      <p:sp>
        <p:nvSpPr>
          <p:cNvPr id="7" name="Text 4"/>
          <p:cNvSpPr/>
          <p:nvPr/>
        </p:nvSpPr>
        <p:spPr>
          <a:xfrm>
            <a:off x="777240" y="2926080"/>
            <a:ext cx="2194560" cy="822960"/>
          </a:xfrm>
          <a:prstGeom prst="rect">
            <a:avLst/>
          </a:prstGeom>
          <a:noFill/>
          <a:ln/>
        </p:spPr>
        <p:txBody>
          <a:bodyPr wrap="square" lIns="0" tIns="0" rIns="0" bIns="0" rtlCol="0" anchor="ctr"/>
          <a:lstStyle/>
          <a:p>
            <a:pPr algn="ctr" indent="0" marL="0">
              <a:buNone/>
            </a:pPr>
            <a:r>
              <a:rPr lang="en-US" sz="4600" b="1" dirty="0">
                <a:solidFill>
                  <a:srgbClr val="2EC4B6"/>
                </a:solidFill>
                <a:latin typeface="Bookman Old Style" pitchFamily="34" charset="0"/>
                <a:ea typeface="Bookman Old Style" pitchFamily="34" charset="-122"/>
                <a:cs typeface="Bookman Old Style" pitchFamily="34" charset="-120"/>
              </a:rPr>
              <a:t>1</a:t>
            </a:r>
            <a:endParaRPr lang="en-US" sz="4600" dirty="0"/>
          </a:p>
        </p:txBody>
      </p:sp>
      <p:sp>
        <p:nvSpPr>
          <p:cNvPr id="8" name="Text 5"/>
          <p:cNvSpPr/>
          <p:nvPr/>
        </p:nvSpPr>
        <p:spPr>
          <a:xfrm>
            <a:off x="777240" y="3730752"/>
            <a:ext cx="2194560" cy="365760"/>
          </a:xfrm>
          <a:prstGeom prst="rect">
            <a:avLst/>
          </a:prstGeom>
          <a:noFill/>
          <a:ln/>
        </p:spPr>
        <p:txBody>
          <a:bodyPr wrap="square" lIns="0" tIns="0" rIns="0" bIns="0" rtlCol="0" anchor="ctr"/>
          <a:lstStyle/>
          <a:p>
            <a:pPr algn="ctr" indent="0" marL="0">
              <a:buNone/>
            </a:pPr>
            <a:r>
              <a:rPr lang="en-US" sz="1100" b="1" spc="100" kern="0" dirty="0">
                <a:solidFill>
                  <a:srgbClr val="DCEEF5"/>
                </a:solidFill>
                <a:latin typeface="Calibri" pitchFamily="34" charset="0"/>
                <a:ea typeface="Calibri" pitchFamily="34" charset="-122"/>
                <a:cs typeface="Calibri" pitchFamily="34" charset="-120"/>
              </a:rPr>
              <a:t>BAR, EVERY ASSET TYPE</a:t>
            </a:r>
            <a:endParaRPr lang="en-US" sz="1100" dirty="0"/>
          </a:p>
        </p:txBody>
      </p:sp>
      <p:sp>
        <p:nvSpPr>
          <p:cNvPr id="9" name="Text 6"/>
          <p:cNvSpPr/>
          <p:nvPr/>
        </p:nvSpPr>
        <p:spPr>
          <a:xfrm>
            <a:off x="3337560" y="2926080"/>
            <a:ext cx="2194560" cy="822960"/>
          </a:xfrm>
          <a:prstGeom prst="rect">
            <a:avLst/>
          </a:prstGeom>
          <a:noFill/>
          <a:ln/>
        </p:spPr>
        <p:txBody>
          <a:bodyPr wrap="square" lIns="0" tIns="0" rIns="0" bIns="0" rtlCol="0" anchor="ctr"/>
          <a:lstStyle/>
          <a:p>
            <a:pPr algn="ctr" indent="0" marL="0">
              <a:buNone/>
            </a:pPr>
            <a:r>
              <a:rPr lang="en-US" sz="4600" b="1" dirty="0">
                <a:solidFill>
                  <a:srgbClr val="2EC4B6"/>
                </a:solidFill>
                <a:latin typeface="Bookman Old Style" pitchFamily="34" charset="0"/>
                <a:ea typeface="Bookman Old Style" pitchFamily="34" charset="-122"/>
                <a:cs typeface="Bookman Old Style" pitchFamily="34" charset="-120"/>
              </a:rPr>
              <a:t>8+</a:t>
            </a:r>
            <a:endParaRPr lang="en-US" sz="4600" dirty="0"/>
          </a:p>
        </p:txBody>
      </p:sp>
      <p:sp>
        <p:nvSpPr>
          <p:cNvPr id="10" name="Text 7"/>
          <p:cNvSpPr/>
          <p:nvPr/>
        </p:nvSpPr>
        <p:spPr>
          <a:xfrm>
            <a:off x="3337560" y="3730752"/>
            <a:ext cx="2194560" cy="365760"/>
          </a:xfrm>
          <a:prstGeom prst="rect">
            <a:avLst/>
          </a:prstGeom>
          <a:noFill/>
          <a:ln/>
        </p:spPr>
        <p:txBody>
          <a:bodyPr wrap="square" lIns="0" tIns="0" rIns="0" bIns="0" rtlCol="0" anchor="ctr"/>
          <a:lstStyle/>
          <a:p>
            <a:pPr algn="ctr" indent="0" marL="0">
              <a:buNone/>
            </a:pPr>
            <a:r>
              <a:rPr lang="en-US" sz="1100" b="1" spc="100" kern="0" dirty="0">
                <a:solidFill>
                  <a:srgbClr val="DCEEF5"/>
                </a:solidFill>
                <a:latin typeface="Calibri" pitchFamily="34" charset="0"/>
                <a:ea typeface="Calibri" pitchFamily="34" charset="-122"/>
                <a:cs typeface="Calibri" pitchFamily="34" charset="-120"/>
              </a:rPr>
              <a:t>FACETS TO REFINE</a:t>
            </a:r>
            <a:endParaRPr lang="en-US" sz="1100" dirty="0"/>
          </a:p>
        </p:txBody>
      </p:sp>
      <p:sp>
        <p:nvSpPr>
          <p:cNvPr id="11" name="Text 8"/>
          <p:cNvSpPr/>
          <p:nvPr/>
        </p:nvSpPr>
        <p:spPr>
          <a:xfrm>
            <a:off x="5897880" y="2926080"/>
            <a:ext cx="2194560" cy="822960"/>
          </a:xfrm>
          <a:prstGeom prst="rect">
            <a:avLst/>
          </a:prstGeom>
          <a:noFill/>
          <a:ln/>
        </p:spPr>
        <p:txBody>
          <a:bodyPr wrap="square" lIns="0" tIns="0" rIns="0" bIns="0" rtlCol="0" anchor="ctr"/>
          <a:lstStyle/>
          <a:p>
            <a:pPr algn="ctr" indent="0" marL="0">
              <a:buNone/>
            </a:pPr>
            <a:r>
              <a:rPr lang="en-US" sz="4600" b="1" dirty="0">
                <a:solidFill>
                  <a:srgbClr val="2EC4B6"/>
                </a:solidFill>
                <a:latin typeface="Bookman Old Style" pitchFamily="34" charset="0"/>
                <a:ea typeface="Bookman Old Style" pitchFamily="34" charset="-122"/>
                <a:cs typeface="Bookman Old Style" pitchFamily="34" charset="-120"/>
              </a:rPr>
              <a:t>0</a:t>
            </a:r>
            <a:endParaRPr lang="en-US" sz="4600" dirty="0"/>
          </a:p>
        </p:txBody>
      </p:sp>
      <p:sp>
        <p:nvSpPr>
          <p:cNvPr id="12" name="Text 9"/>
          <p:cNvSpPr/>
          <p:nvPr/>
        </p:nvSpPr>
        <p:spPr>
          <a:xfrm>
            <a:off x="5897880" y="3730752"/>
            <a:ext cx="2194560" cy="365760"/>
          </a:xfrm>
          <a:prstGeom prst="rect">
            <a:avLst/>
          </a:prstGeom>
          <a:noFill/>
          <a:ln/>
        </p:spPr>
        <p:txBody>
          <a:bodyPr wrap="square" lIns="0" tIns="0" rIns="0" bIns="0" rtlCol="0" anchor="ctr"/>
          <a:lstStyle/>
          <a:p>
            <a:pPr algn="ctr" indent="0" marL="0">
              <a:buNone/>
            </a:pPr>
            <a:r>
              <a:rPr lang="en-US" sz="1100" b="1" spc="100" kern="0" dirty="0">
                <a:solidFill>
                  <a:srgbClr val="DCEEF5"/>
                </a:solidFill>
                <a:latin typeface="Calibri" pitchFamily="34" charset="0"/>
                <a:ea typeface="Calibri" pitchFamily="34" charset="-122"/>
                <a:cs typeface="Calibri" pitchFamily="34" charset="-120"/>
              </a:rPr>
              <a:t>EMAILS TO IT</a:t>
            </a:r>
            <a:endParaRPr lang="en-US" sz="1100" dirty="0"/>
          </a:p>
        </p:txBody>
      </p:sp>
      <p:sp>
        <p:nvSpPr>
          <p:cNvPr id="13" name="Text 10"/>
          <p:cNvSpPr/>
          <p:nvPr/>
        </p:nvSpPr>
        <p:spPr>
          <a:xfrm>
            <a:off x="548640" y="4626864"/>
            <a:ext cx="8046720" cy="365760"/>
          </a:xfrm>
          <a:prstGeom prst="rect">
            <a:avLst/>
          </a:prstGeom>
          <a:noFill/>
          <a:ln/>
        </p:spPr>
        <p:txBody>
          <a:bodyPr wrap="square" lIns="0" tIns="0" rIns="0" bIns="0" rtlCol="0" anchor="ctr"/>
          <a:lstStyle/>
          <a:p>
            <a:pPr indent="0" marL="0">
              <a:buNone/>
            </a:pPr>
            <a:r>
              <a:rPr lang="en-US" sz="1200" i="1" dirty="0">
                <a:solidFill>
                  <a:srgbClr val="5B7782"/>
                </a:solidFill>
                <a:latin typeface="Calibri" pitchFamily="34" charset="0"/>
                <a:ea typeface="Calibri" pitchFamily="34" charset="-122"/>
                <a:cs typeface="Calibri" pitchFamily="34" charset="-120"/>
              </a:rPr>
              <a:t>Next up — Workshop 7: Curate a Data Collection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2: Explore Data Structure &amp; Metadata</dc:title>
  <dc:subject>PptxGenJS Presentation</dc:subject>
  <dc:creator>Arizona Water Company - PDC BA Course</dc:creator>
  <cp:lastModifiedBy>Arizona Water Company - PDC BA Course</cp:lastModifiedBy>
  <cp:revision>1</cp:revision>
  <dcterms:created xsi:type="dcterms:W3CDTF">2026-06-10T17:22:06Z</dcterms:created>
  <dcterms:modified xsi:type="dcterms:W3CDTF">2026-06-10T17:22:06Z</dcterms:modified>
</cp:coreProperties>
</file>