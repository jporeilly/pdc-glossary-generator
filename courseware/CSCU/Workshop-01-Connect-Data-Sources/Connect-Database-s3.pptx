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3" r:id="rId14"/>
    <p:sldId id="264" r:id="rId15"/>
    <p:sldId id="262"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4" d="100"/>
          <a:sy n="144" d="100"/>
        </p:scale>
        <p:origin x="612" y="120"/>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9.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5564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 Workshop 1 — about 15 minutes, the first in the series. The goal is concrete: bring BOTH of CSCU's data worlds under governance in Pentaho Data Catalog 11.0.0 — the structured PostgreSQL operational database (cscu_core) and the unstructured MinIO object store (cscu-documents) of compliance reports, inspections, correspondence, SCADA and GIS.</a:t>
            </a:r>
          </a:p>
          <a:p>
            <a:r>
              <a:t>Note the role: connecting a source is a privileged action, done as a Data Steward or IT Administrator. Everything else in the course depends on this step working.</a:t>
            </a:r>
          </a:p>
          <a:p>
            <a:r>
              <a:t>Plant the recurring theme: two on-ramps. Databases come in by ingesting their schema; files come in by scanning them. By the end, both sources are ONLINE and searchable in Discovery.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State the four outcomes: create a PostgreSQL data source for the CSCU database, test and validate the connection, ingest the cscu_core schema, and confirm all six tables appear in Discovery.</a:t>
            </a:r>
          </a:p>
          <a:p>
            <a:r>
              <a:t>Walk the six tables so students know the data: members is the PII master (names, addresses, account holders); branches covers the 8 physical systems CSCU runs; loans and conservation hold rate plans and tiers; transactions and billing are consumption and charges; quality_reports is the EPA water-quality data — the compliance-critical table; suspicious_activity carries service flags.</a:t>
            </a:r>
          </a:p>
          <a:p>
            <a:r>
              <a:t>Flag the two sensitive ones — members (PII) and quality_reports (EPA) — as the reason governance matters. This is the structured half; the file half is slide 6.</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cheat-sheet students enter at Step 3 of the procedure — keep it on screen while they work. The full field-by-field table is in the Workshop Guide.</a:t>
            </a:r>
          </a:p>
          <a:p>
            <a:r>
              <a:t>Naming rule for the data source: letters, digits and underscores only, no spaces. Host is the value people get wrong: 192.168.1.200 is the Docker service name and only resolves if PDC is on the same Docker network; from a host machine use localhost.</a:t>
            </a:r>
          </a:p>
          <a:p>
            <a:r>
              <a:t>Port 5433 inside Docker (mapped to 5433 externally in this lab). Database name exactly cscu_core. pdc_user is READ-ONLY across all six tables — deliberate, since a catalog never needs write access. catalog123! is a lab credential only; rotate it in production.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the click-path at a steady pace — they follow along live: Management -&gt; Resources -&gt; Add Data Source; choose PostgreSQL; enter the parameters from slide 3.</a:t>
            </a:r>
          </a:p>
          <a:p>
            <a:r>
              <a:t>Stress the three-button finish: Test Connection, then Ingest Schema, then Create Data Source. The source stays OFFLINE until Test Connection goes green — that confirmation is the signal to proceed, and PDC encrypts and stores the credentials at that point.</a:t>
            </a:r>
          </a:p>
          <a:p>
            <a:r>
              <a:t>Behind those clicks two worker processes run — Test Connection and Metadata Ingest. Point students at the Workers page so they learn to watch jobs there; it's where they'll monitor profiling and rules later too. Databases have no data-scan quota, so all six tables come in fully. Then verify in Discovery that the six tables appear.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four failures that cover about 90% of issues. Connection refused: Postgres isn't reachable — check the container is up and the port mapping (5432 inside Docker, 5433 externally). Authentication failed: re-type pdc_user / catalog123! exactly.</a:t>
            </a:r>
          </a:p>
          <a:p>
            <a:r>
              <a:t>Database not found: the name must be cscu_core, not 'water' or 'awc'. Connection timeout: wrong host — 192.168.1.200 inside Docker, localhost from your own machine. The most common culprits are the host value and a typo in the database name.</a:t>
            </a:r>
          </a:p>
          <a:p>
            <a:r>
              <a:t>Verification step — walk the room and don't let anyone move on until their source is online and members appears in a Discovery search. Reinforce: a source stays OFFLINE until Test Connection passes, so a red connection is always a connection-detail problem, never a catalog problem.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Broaden the picture before moving to files. A water utility is far more than its billing database — 80 to 90 percent of its data is files.</a:t>
            </a:r>
          </a:p>
          <a:p>
            <a:r>
              <a:t>Walk the five folders in the cscu-documents bucket: compliance/ = EPA water-quality reports (PDF), the regulated core; inspections/ = field and maintenance reports (docx); correspondence/ = member letters that contain PII (txt); scada/ = sensor telemetry (json); gis/ = pipe-network exports (csv, parquet).</a:t>
            </a:r>
          </a:p>
          <a:p>
            <a:r>
              <a:t>Key difference to stress: databases are ingested by schema, but files have no schema, so PDC scans them (Scan Files) and processes them with the Data Optimizer engine. They're connected as a MinIO object store using the AWS S3 data-source type.</a:t>
            </a:r>
          </a:p>
          <a:p>
            <a:r>
              <a:t>Real-world tie-in: Arizona's Department of Water Resources uses PDC for exactly this blend of structured and unstructured data. EPA here = the U.S. Environmental Protection Agency; for CSCU the rules come from the Safe Drinking Water Act, so these are the documents the utility must retain and produce on audit. Full processing happens in Workshop 3.</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Completion checklist — the lab's definition of done: database source connected and all six tables searchable; MinIO object store connected and its files scanned; the student can explain schema-ingest versus file-scan and the two engines; both sources show green in Management -&gt; Resources.</a:t>
            </a:r>
          </a:p>
          <a:p>
            <a:r>
              <a:t>Discussion question to close: why does PDC encrypt credentials and keep a source OFFLINE until a successful test? Tie it back to CSCU's duty to protect member PII and prove governance to regulators.</a:t>
            </a:r>
          </a:p>
          <a:p>
            <a:r>
              <a:t>Recap the two on-ramps once more, then transition: the data is now in — structured and unstructured — and Workshop 2 reads what the catalog learned about it (Explore Data Structure &amp; Metadata).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Cheat-sheet for the MinIO connection. Data Source Type is AWS S3 — MinIO is S3-compatible, so you use the S3 connector. Region us-east-1 is arbitrary for MinIO. Bucket is cscu-documents. Access and secret keys are read-only lab credentials.</a:t>
            </a:r>
          </a:p>
          <a:p>
            <a:r>
              <a:t>The gotcha to emphasize: the Endpoint must be the VM/host IP (for example http://192.168.1.200:9000), NOT localhost. Inside the PDC container localhost points at PDC itself, so the connection is refused. Using an IP also forces S3 path-style addressing, which MinIO requires — and the AWS S3 form has no path-style toggle, so the IP is what makes it work.</a:t>
            </a:r>
          </a:p>
          <a:p>
            <a:r>
              <a:t>Path / scans the whole bucket from its root. After Test Connection, click Scan Files (not Ingest Schema) — there is no schema to ingest. The full table, including the troubleshooting note, is in the Workshop Guide.</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This slide mirrors the actual Choose Process pane in PDC 11.0.0 for the compliance/ folder. Important correction: this build has no LLM document summarizer and no Address Detection or Data Classification options — select the folder, click Process, and you get these five jobs. Each runs on the Workers page and writes results back onto the asset.</a:t>
            </a:r>
          </a:p>
          <a:p>
            <a:r>
              <a:t>Metadata Ingest: reads each file's metadata (name, type, size, timestamps, path) into the catalog. Run it first - every other job builds on it.</a:t>
            </a:r>
          </a:p>
          <a:p>
            <a:r>
              <a:t>Calculate Trust Score: computes an asset-reliability score from Data Quality (completeness, accuracy, validity, uniqueness, consistency), User Ratings (1-5 stars), Data Lineage (verified or not), and whether a glossary term is assigned. The result appears in the asset's Key Metrics panel. Works for tables and files.</a:t>
            </a:r>
          </a:p>
          <a:p>
            <a:r>
              <a:t>Data Discovery: generates statistics, data patterns and samples in a single pass through the data. It is the prerequisite for most downstream analytics. This is the data-profiling step.</a:t>
            </a:r>
          </a:p>
          <a:p>
            <a:r>
              <a:t>Data Identification: automatically classifies content and applies tags using dictionaries and data-pattern analysis - both the built-in sets and any custom dictionaries or patterns you add. This is PDC's classification mechanism, and it is rule-based, not an LLM.</a:t>
            </a:r>
          </a:p>
          <a:p>
            <a:r>
              <a:t>PII Detection: an ML check that identifies PII column names and tags them into an auto-created ML_PII glossary, shown in the Business Terms panel. Scope to call out: it supports only JDBC tables and CSV/TSV files with Korean or Japanese content, so it will not act on CSCU's English PDFs - it appears on the card but is not applicable here.</a:t>
            </a:r>
          </a:p>
          <a:p>
            <a:r>
              <a:t>Teaching sequence for the CSCU compliance documents: Metadata Ingest, then Data Discovery, then Data Identification, optionally Calculate Trust Score. EPA tie-in: CSCU must retain and produce Safe Drinking Water Act documentation on audit, so identifying and tagging these files is what makes them auditable and findable. Full processing is in Workshop 3.</a:t>
            </a:r>
          </a:p>
        </p:txBody>
      </p:sp>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3.png"/></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8" Type="http://schemas.openxmlformats.org/officeDocument/2006/relationships/notesSlide" Target="../notesSlides/notesSlide8.xml"/><Relationship Id="rId10" Type="http://schemas.openxmlformats.org/officeDocument/2006/relationships/image" Target="../media/image13.png"/><Relationship Id="rId11" Type="http://schemas.openxmlformats.org/officeDocument/2006/relationships/image" Target="../media/image4.png"/><Relationship Id="rId12" Type="http://schemas.openxmlformats.org/officeDocument/2006/relationships/image" Target="../media/image5.png"/><Relationship Id="rId13" Type="http://schemas.openxmlformats.org/officeDocument/2006/relationships/image" Target="../media/image6.png"/><Relationship Id="rId14" Type="http://schemas.openxmlformats.org/officeDocument/2006/relationships/image" Target="../media/image1.png"/><Relationship Id="rId15" Type="http://schemas.openxmlformats.org/officeDocument/2006/relationships/image" Target="../media/image10.png"/></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5" Type="http://schemas.openxmlformats.org/officeDocument/2006/relationships/notesSlide" Target="../notesSlides/notesSlide9.xml"/><Relationship Id="rId10" Type="http://schemas.openxmlformats.org/officeDocument/2006/relationships/image" Target="../media/image3.png"/><Relationship Id="rId11" Type="http://schemas.openxmlformats.org/officeDocument/2006/relationships/image" Target="../media/image14.png"/><Relationship Id="rId12" Type="http://schemas.openxmlformats.org/officeDocument/2006/relationships/image" Target="../media/image2.png"/><Relationship Id="rId13" Type="http://schemas.openxmlformats.org/officeDocument/2006/relationships/image" Target="../media/image11.png"/><Relationship Id="rId14" Type="http://schemas.openxmlformats.org/officeDocument/2006/relationships/image" Target="../media/image6.png"/></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B2B"/>
        </a:solidFill>
        <a:effectLst/>
      </p:bgPr>
    </p:bg>
    <p:spTree>
      <p:nvGrpSpPr>
        <p:cNvPr id="1" name=""/>
        <p:cNvGrpSpPr/>
        <p:nvPr/>
      </p:nvGrpSpPr>
      <p:grpSpPr>
        <a:xfrm>
          <a:off x="0" y="0"/>
          <a:ext cx="0" cy="0"/>
          <a:chOff x="0" y="0"/>
          <a:chExt cx="0" cy="0"/>
        </a:xfrm>
      </p:grpSpPr>
      <p:sp>
        <p:nvSpPr>
          <p:cNvPr id="2" name="Shape 0"/>
          <p:cNvSpPr/>
          <p:nvPr/>
        </p:nvSpPr>
        <p:spPr>
          <a:xfrm>
            <a:off x="6949440" y="-1463040"/>
            <a:ext cx="3840480" cy="3840480"/>
          </a:xfrm>
          <a:prstGeom prst="ellipse">
            <a:avLst/>
          </a:prstGeom>
          <a:solidFill>
            <a:srgbClr val="0A3D52"/>
          </a:solidFill>
          <a:ln/>
        </p:spPr>
      </p:sp>
      <p:sp>
        <p:nvSpPr>
          <p:cNvPr id="3" name="Shape 1"/>
          <p:cNvSpPr/>
          <p:nvPr/>
        </p:nvSpPr>
        <p:spPr>
          <a:xfrm>
            <a:off x="8138160" y="2651760"/>
            <a:ext cx="2377440" cy="2377440"/>
          </a:xfrm>
          <a:prstGeom prst="ellipse">
            <a:avLst/>
          </a:prstGeom>
          <a:solidFill>
            <a:srgbClr val="065A82">
              <a:alpha val="45000"/>
            </a:srgbClr>
          </a:solidFill>
          <a:ln/>
        </p:spPr>
      </p:sp>
      <p:sp>
        <p:nvSpPr>
          <p:cNvPr id="4" name="Shape 2"/>
          <p:cNvSpPr/>
          <p:nvPr/>
        </p:nvSpPr>
        <p:spPr>
          <a:xfrm>
            <a:off x="548640" y="566928"/>
            <a:ext cx="841248" cy="841248"/>
          </a:xfrm>
          <a:prstGeom prst="ellipse">
            <a:avLst/>
          </a:prstGeom>
          <a:solidFill>
            <a:srgbClr val="1C7293"/>
          </a:solidFill>
          <a:ln/>
        </p:spPr>
      </p:sp>
      <p:pic>
        <p:nvPicPr>
          <p:cNvPr id="5" name="Image 0" descr="preencoded.png"/>
          <p:cNvPicPr>
            <a:picLocks noChangeAspect="1"/>
          </p:cNvPicPr>
          <p:nvPr/>
        </p:nvPicPr>
        <p:blipFill>
          <a:blip r:embed="rId3"/>
          <a:stretch>
            <a:fillRect/>
          </a:stretch>
        </p:blipFill>
        <p:spPr>
          <a:xfrm>
            <a:off x="722376" y="740664"/>
            <a:ext cx="493776" cy="493776"/>
          </a:xfrm>
          <a:prstGeom prst="rect">
            <a:avLst/>
          </a:prstGeom>
        </p:spPr>
      </p:pic>
      <p:sp>
        <p:nvSpPr>
          <p:cNvPr id="6" name="Text 3"/>
          <p:cNvSpPr/>
          <p:nvPr/>
        </p:nvSpPr>
        <p:spPr>
          <a:xfrm>
            <a:off x="1554480" y="676656"/>
            <a:ext cx="6858000" cy="457200"/>
          </a:xfrm>
          <a:prstGeom prst="rect">
            <a:avLst/>
          </a:prstGeom>
          <a:noFill/>
          <a:ln/>
        </p:spPr>
        <p:txBody>
          <a:bodyPr wrap="square" lIns="0" tIns="0" rIns="0" bIns="0" rtlCol="0" anchor="ctr"/>
          <a:lstStyle/>
          <a:p>
            <a:pPr marL="0" indent="0">
              <a:buNone/>
            </a:pPr>
            <a:r>
              <a:rPr lang="en-US" sz="1400" b="1" kern="0" spc="300" dirty="0">
                <a:solidFill>
                  <a:srgbClr val="2EC4B6"/>
                </a:solidFill>
                <a:latin typeface="Calibri" pitchFamily="34" charset="0"/>
                <a:ea typeface="Calibri" pitchFamily="34" charset="-122"/>
                <a:cs typeface="Calibri" pitchFamily="34" charset="-120"/>
              </a:rPr>
              <a:t>WORKSHOP 1 · 15 MINUTES  ·  PDC PROCESS · METADATA INGEST</a:t>
            </a:r>
            <a:endParaRPr lang="en-US" sz="1400" dirty="0"/>
          </a:p>
        </p:txBody>
      </p:sp>
      <p:sp>
        <p:nvSpPr>
          <p:cNvPr id="7" name="Text 4"/>
          <p:cNvSpPr/>
          <p:nvPr/>
        </p:nvSpPr>
        <p:spPr>
          <a:xfrm>
            <a:off x="548640" y="1737360"/>
            <a:ext cx="8138160" cy="1737360"/>
          </a:xfrm>
          <a:prstGeom prst="rect">
            <a:avLst/>
          </a:prstGeom>
          <a:noFill/>
          <a:ln/>
        </p:spPr>
        <p:txBody>
          <a:bodyPr wrap="square" lIns="0" tIns="0" rIns="0" bIns="0" rtlCol="0" anchor="ctr"/>
          <a:lstStyle/>
          <a:p>
            <a:pPr marL="0" indent="0">
              <a:lnSpc>
                <a:spcPct val="98000"/>
              </a:lnSpc>
              <a:buNone/>
            </a:pPr>
            <a:r>
              <a:rPr lang="en-US" sz="4000" b="1" dirty="0">
                <a:solidFill>
                  <a:srgbClr val="FFFFFF"/>
                </a:solidFill>
                <a:latin typeface="Bookman Old Style" pitchFamily="34" charset="0"/>
                <a:ea typeface="Bookman Old Style" pitchFamily="34" charset="-122"/>
                <a:cs typeface="Bookman Old Style" pitchFamily="34" charset="-120"/>
              </a:rPr>
              <a:t>Connecting the Arizona</a:t>
            </a:r>
            <a:endParaRPr lang="en-US" sz="4000" dirty="0"/>
          </a:p>
          <a:p>
            <a:pPr marL="0" indent="0">
              <a:lnSpc>
                <a:spcPct val="98000"/>
              </a:lnSpc>
              <a:buNone/>
            </a:pPr>
            <a:r>
              <a:rPr lang="en-US" sz="4000" b="1" dirty="0">
                <a:solidFill>
                  <a:srgbClr val="FFFFFF"/>
                </a:solidFill>
                <a:latin typeface="Bookman Old Style" pitchFamily="34" charset="0"/>
                <a:ea typeface="Bookman Old Style" pitchFamily="34" charset="-122"/>
                <a:cs typeface="Bookman Old Style" pitchFamily="34" charset="-120"/>
              </a:rPr>
              <a:t>Water Company Data Sources</a:t>
            </a:r>
            <a:endParaRPr lang="en-US" sz="4000" dirty="0"/>
          </a:p>
        </p:txBody>
      </p:sp>
      <p:sp>
        <p:nvSpPr>
          <p:cNvPr id="8" name="Text 5"/>
          <p:cNvSpPr/>
          <p:nvPr/>
        </p:nvSpPr>
        <p:spPr>
          <a:xfrm>
            <a:off x="566928" y="3520440"/>
            <a:ext cx="7863840" cy="914400"/>
          </a:xfrm>
          <a:prstGeom prst="rect">
            <a:avLst/>
          </a:prstGeom>
          <a:noFill/>
          <a:ln/>
        </p:spPr>
        <p:txBody>
          <a:bodyPr wrap="square" lIns="0" tIns="0" rIns="0" bIns="0" rtlCol="0" anchor="ctr"/>
          <a:lstStyle/>
          <a:p>
            <a:pPr marL="0" indent="0">
              <a:lnSpc>
                <a:spcPct val="105000"/>
              </a:lnSpc>
              <a:buNone/>
            </a:pPr>
            <a:r>
              <a:rPr lang="en-US" sz="1800" dirty="0">
                <a:solidFill>
                  <a:srgbClr val="DCEEF5"/>
                </a:solidFill>
                <a:latin typeface="Calibri" pitchFamily="34" charset="0"/>
                <a:ea typeface="Calibri" pitchFamily="34" charset="-122"/>
                <a:cs typeface="Calibri" pitchFamily="34" charset="-120"/>
              </a:rPr>
              <a:t>Bring both of CSCU's worlds under governance — the PostgreSQL operational database and the MinIO object store of compliance reports, inspections, and sensor data.</a:t>
            </a:r>
            <a:endParaRPr lang="en-US" sz="1800" dirty="0"/>
          </a:p>
        </p:txBody>
      </p:sp>
      <p:sp>
        <p:nvSpPr>
          <p:cNvPr id="9" name="Text 6"/>
          <p:cNvSpPr/>
          <p:nvPr/>
        </p:nvSpPr>
        <p:spPr>
          <a:xfrm>
            <a:off x="566928" y="4626864"/>
            <a:ext cx="8046720" cy="365760"/>
          </a:xfrm>
          <a:prstGeom prst="rect">
            <a:avLst/>
          </a:prstGeom>
          <a:noFill/>
          <a:ln/>
        </p:spPr>
        <p:txBody>
          <a:bodyPr wrap="square" lIns="0" tIns="0" rIns="0" bIns="0" rtlCol="0" anchor="ctr"/>
          <a:lstStyle/>
          <a:p>
            <a:pPr marL="0" indent="0">
              <a:buNone/>
            </a:pPr>
            <a:r>
              <a:rPr lang="en-US" sz="1200" dirty="0">
                <a:solidFill>
                  <a:srgbClr val="5B7782"/>
                </a:solidFill>
                <a:latin typeface="Calibri" pitchFamily="34" charset="0"/>
                <a:ea typeface="Calibri" pitchFamily="34" charset="-122"/>
                <a:cs typeface="Calibri" pitchFamily="34" charset="-120"/>
              </a:rPr>
              <a:t>Pentaho Data Catalog 11.0.0  ·  Database + object store  ·  cscu_core + cscu-documents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6766560" cy="292608"/>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SET THE SCENE</a:t>
            </a:r>
            <a:endParaRPr lang="en-US" sz="1200" dirty="0"/>
          </a:p>
        </p:txBody>
      </p:sp>
      <p:sp>
        <p:nvSpPr>
          <p:cNvPr id="3" name="Text 1"/>
          <p:cNvSpPr/>
          <p:nvPr/>
        </p:nvSpPr>
        <p:spPr>
          <a:xfrm>
            <a:off x="548640" y="713232"/>
            <a:ext cx="7040880" cy="566928"/>
          </a:xfrm>
          <a:prstGeom prst="rect">
            <a:avLst/>
          </a:prstGeom>
          <a:noFill/>
          <a:ln/>
        </p:spPr>
        <p:txBody>
          <a:bodyPr wrap="square" lIns="0" tIns="0" rIns="0" bIns="0" rtlCol="0" anchor="ctr"/>
          <a:lstStyle/>
          <a:p>
            <a:pPr marL="0" indent="0">
              <a:buNone/>
            </a:pPr>
            <a:r>
              <a:rPr lang="en-US" sz="2700" b="1" dirty="0">
                <a:solidFill>
                  <a:srgbClr val="14333F"/>
                </a:solidFill>
                <a:latin typeface="Bookman Old Style" pitchFamily="34" charset="0"/>
                <a:ea typeface="Bookman Old Style" pitchFamily="34" charset="-122"/>
                <a:cs typeface="Bookman Old Style" pitchFamily="34" charset="-120"/>
              </a:rPr>
              <a:t>What you'll accomplish</a:t>
            </a:r>
            <a:endParaRPr lang="en-US" sz="2700" dirty="0"/>
          </a:p>
        </p:txBody>
      </p:sp>
      <p:sp>
        <p:nvSpPr>
          <p:cNvPr id="4" name="Shape 2"/>
          <p:cNvSpPr/>
          <p:nvPr/>
        </p:nvSpPr>
        <p:spPr>
          <a:xfrm>
            <a:off x="548640" y="1481328"/>
            <a:ext cx="4114800" cy="3108960"/>
          </a:xfrm>
          <a:prstGeom prst="roundRect">
            <a:avLst>
              <a:gd name="adj" fmla="val 2647"/>
            </a:avLst>
          </a:prstGeom>
          <a:solidFill>
            <a:srgbClr val="EEF6FA"/>
          </a:solidFill>
          <a:ln/>
          <a:effectLst>
            <a:outerShdw blurRad="88900" dist="25400" dir="5400000" algn="bl" rotWithShape="0">
              <a:srgbClr val="0A3D52">
                <a:alpha val="10000"/>
              </a:srgbClr>
            </a:outerShdw>
          </a:effectLst>
        </p:spPr>
      </p:sp>
      <p:sp>
        <p:nvSpPr>
          <p:cNvPr id="5" name="Text 3"/>
          <p:cNvSpPr/>
          <p:nvPr/>
        </p:nvSpPr>
        <p:spPr>
          <a:xfrm>
            <a:off x="777240" y="1664208"/>
            <a:ext cx="3657600" cy="365760"/>
          </a:xfrm>
          <a:prstGeom prst="rect">
            <a:avLst/>
          </a:prstGeom>
          <a:noFill/>
          <a:ln/>
        </p:spPr>
        <p:txBody>
          <a:bodyPr wrap="square" lIns="0" tIns="0" rIns="0" bIns="0" rtlCol="0" anchor="ctr"/>
          <a:lstStyle/>
          <a:p>
            <a:pPr marL="0" indent="0">
              <a:buNone/>
            </a:pPr>
            <a:r>
              <a:rPr lang="en-US" sz="1550" b="1" dirty="0">
                <a:solidFill>
                  <a:srgbClr val="14333F"/>
                </a:solidFill>
                <a:latin typeface="Bookman Old Style" pitchFamily="34" charset="0"/>
                <a:ea typeface="Bookman Old Style" pitchFamily="34" charset="-122"/>
                <a:cs typeface="Bookman Old Style" pitchFamily="34" charset="-120"/>
              </a:rPr>
              <a:t>By the end of this lab you will</a:t>
            </a:r>
            <a:endParaRPr lang="en-US" sz="1550" dirty="0"/>
          </a:p>
        </p:txBody>
      </p:sp>
      <p:sp>
        <p:nvSpPr>
          <p:cNvPr id="6" name="Text 4"/>
          <p:cNvSpPr/>
          <p:nvPr/>
        </p:nvSpPr>
        <p:spPr>
          <a:xfrm>
            <a:off x="777240" y="2084832"/>
            <a:ext cx="3703320" cy="2377440"/>
          </a:xfrm>
          <a:prstGeom prst="rect">
            <a:avLst/>
          </a:prstGeom>
          <a:noFill/>
          <a:ln/>
        </p:spPr>
        <p:txBody>
          <a:bodyPr wrap="square" lIns="0" tIns="0" rIns="0" bIns="0" rtlCol="0" anchor="ctr"/>
          <a:lstStyle/>
          <a:p>
            <a:pPr marL="228600" indent="-228600">
              <a:lnSpc>
                <a:spcPct val="105000"/>
              </a:lnSpc>
              <a:spcAft>
                <a:spcPts val="900"/>
              </a:spcAft>
              <a:buSzPct val="100000"/>
              <a:buChar char="•"/>
            </a:pPr>
            <a:r>
              <a:rPr lang="en-US" sz="1250" dirty="0">
                <a:solidFill>
                  <a:srgbClr val="5B7782"/>
                </a:solidFill>
                <a:latin typeface="Calibri" pitchFamily="34" charset="0"/>
                <a:ea typeface="Calibri" pitchFamily="34" charset="-122"/>
                <a:cs typeface="Calibri" pitchFamily="34" charset="-120"/>
              </a:rPr>
              <a:t>Create a PostgreSQL data source pointing at the CSCU database</a:t>
            </a:r>
            <a:endParaRPr lang="en-US" sz="1250" dirty="0"/>
          </a:p>
          <a:p>
            <a:pPr marL="228600" indent="-228600">
              <a:lnSpc>
                <a:spcPct val="105000"/>
              </a:lnSpc>
              <a:spcAft>
                <a:spcPts val="900"/>
              </a:spcAft>
              <a:buSzPct val="100000"/>
              <a:buChar char="•"/>
            </a:pPr>
            <a:r>
              <a:rPr lang="en-US" sz="1250" dirty="0">
                <a:solidFill>
                  <a:srgbClr val="5B7782"/>
                </a:solidFill>
                <a:latin typeface="Calibri" pitchFamily="34" charset="0"/>
                <a:ea typeface="Calibri" pitchFamily="34" charset="-122"/>
                <a:cs typeface="Calibri" pitchFamily="34" charset="-120"/>
              </a:rPr>
              <a:t>Test and validate the connection succeeds</a:t>
            </a:r>
            <a:endParaRPr lang="en-US" sz="1250" dirty="0"/>
          </a:p>
          <a:p>
            <a:pPr marL="228600" indent="-228600">
              <a:lnSpc>
                <a:spcPct val="105000"/>
              </a:lnSpc>
              <a:spcAft>
                <a:spcPts val="900"/>
              </a:spcAft>
              <a:buSzPct val="100000"/>
              <a:buChar char="•"/>
            </a:pPr>
            <a:r>
              <a:rPr lang="en-US" sz="1250" dirty="0">
                <a:solidFill>
                  <a:srgbClr val="5B7782"/>
                </a:solidFill>
                <a:latin typeface="Calibri" pitchFamily="34" charset="0"/>
                <a:ea typeface="Calibri" pitchFamily="34" charset="-122"/>
                <a:cs typeface="Calibri" pitchFamily="34" charset="-120"/>
              </a:rPr>
              <a:t>Ingest the cscu_core schema into the catalog</a:t>
            </a:r>
            <a:endParaRPr lang="en-US" sz="1250" dirty="0"/>
          </a:p>
          <a:p>
            <a:pPr marL="228600" indent="-228600">
              <a:lnSpc>
                <a:spcPct val="105000"/>
              </a:lnSpc>
              <a:buSzPct val="100000"/>
              <a:buChar char="•"/>
            </a:pPr>
            <a:r>
              <a:rPr lang="en-US" sz="1250" dirty="0">
                <a:solidFill>
                  <a:srgbClr val="5B7782"/>
                </a:solidFill>
                <a:latin typeface="Calibri" pitchFamily="34" charset="0"/>
                <a:ea typeface="Calibri" pitchFamily="34" charset="-122"/>
                <a:cs typeface="Calibri" pitchFamily="34" charset="-120"/>
              </a:rPr>
              <a:t>Confirm all six tables appear in Discovery</a:t>
            </a:r>
            <a:endParaRPr lang="en-US" sz="1250" dirty="0"/>
          </a:p>
        </p:txBody>
      </p:sp>
      <p:sp>
        <p:nvSpPr>
          <p:cNvPr id="7" name="Text 5"/>
          <p:cNvSpPr/>
          <p:nvPr/>
        </p:nvSpPr>
        <p:spPr>
          <a:xfrm>
            <a:off x="4892040" y="1517904"/>
            <a:ext cx="3749040" cy="320040"/>
          </a:xfrm>
          <a:prstGeom prst="rect">
            <a:avLst/>
          </a:prstGeom>
          <a:noFill/>
          <a:ln/>
        </p:spPr>
        <p:txBody>
          <a:bodyPr wrap="square" lIns="0" tIns="0" rIns="0" bIns="0" rtlCol="0" anchor="ctr"/>
          <a:lstStyle/>
          <a:p>
            <a:pPr marL="0" indent="0">
              <a:buNone/>
            </a:pPr>
            <a:r>
              <a:rPr lang="en-US" sz="1200" b="1" kern="0" spc="100" dirty="0">
                <a:solidFill>
                  <a:srgbClr val="1C7293"/>
                </a:solidFill>
                <a:latin typeface="Calibri" pitchFamily="34" charset="0"/>
                <a:ea typeface="Calibri" pitchFamily="34" charset="-122"/>
                <a:cs typeface="Calibri" pitchFamily="34" charset="-120"/>
              </a:rPr>
              <a:t>The schema you're connecting</a:t>
            </a:r>
            <a:endParaRPr lang="en-US" sz="1200" dirty="0"/>
          </a:p>
        </p:txBody>
      </p:sp>
      <p:sp>
        <p:nvSpPr>
          <p:cNvPr id="8" name="Shape 6"/>
          <p:cNvSpPr/>
          <p:nvPr/>
        </p:nvSpPr>
        <p:spPr>
          <a:xfrm>
            <a:off x="4892040" y="1901952"/>
            <a:ext cx="1773936" cy="713232"/>
          </a:xfrm>
          <a:prstGeom prst="roundRect">
            <a:avLst>
              <a:gd name="adj" fmla="val 8974"/>
            </a:avLst>
          </a:prstGeom>
          <a:solidFill>
            <a:srgbClr val="FFFFFF"/>
          </a:solidFill>
          <a:ln w="12700">
            <a:solidFill>
              <a:srgbClr val="C9DEE8"/>
            </a:solidFill>
            <a:prstDash val="solid"/>
          </a:ln>
          <a:effectLst>
            <a:outerShdw blurRad="63500" dist="12700" dir="5400000" algn="bl" rotWithShape="0">
              <a:srgbClr val="0A3D52">
                <a:alpha val="8000"/>
              </a:srgbClr>
            </a:outerShdw>
          </a:effectLst>
        </p:spPr>
      </p:sp>
      <p:sp>
        <p:nvSpPr>
          <p:cNvPr id="9" name="Shape 7"/>
          <p:cNvSpPr/>
          <p:nvPr/>
        </p:nvSpPr>
        <p:spPr>
          <a:xfrm>
            <a:off x="5001768" y="2020824"/>
            <a:ext cx="457200" cy="457200"/>
          </a:xfrm>
          <a:prstGeom prst="ellipse">
            <a:avLst/>
          </a:prstGeom>
          <a:solidFill>
            <a:srgbClr val="1C7293"/>
          </a:solidFill>
          <a:ln/>
        </p:spPr>
      </p:sp>
      <p:pic>
        <p:nvPicPr>
          <p:cNvPr id="10" name="Image 0" descr="preencoded.png"/>
          <p:cNvPicPr>
            <a:picLocks noChangeAspect="1"/>
          </p:cNvPicPr>
          <p:nvPr/>
        </p:nvPicPr>
        <p:blipFill>
          <a:blip r:embed="rId3"/>
          <a:stretch>
            <a:fillRect/>
          </a:stretch>
        </p:blipFill>
        <p:spPr>
          <a:xfrm>
            <a:off x="5106924" y="2125980"/>
            <a:ext cx="228600" cy="228600"/>
          </a:xfrm>
          <a:prstGeom prst="rect">
            <a:avLst/>
          </a:prstGeom>
        </p:spPr>
      </p:pic>
      <p:sp>
        <p:nvSpPr>
          <p:cNvPr id="11" name="Text 8"/>
          <p:cNvSpPr/>
          <p:nvPr/>
        </p:nvSpPr>
        <p:spPr>
          <a:xfrm>
            <a:off x="5513832" y="1993392"/>
            <a:ext cx="1097280" cy="274320"/>
          </a:xfrm>
          <a:prstGeom prst="rect">
            <a:avLst/>
          </a:prstGeom>
          <a:noFill/>
          <a:ln/>
        </p:spPr>
        <p:txBody>
          <a:bodyPr wrap="square" lIns="0" tIns="0" rIns="0" bIns="0" rtlCol="0" anchor="ctr"/>
          <a:lstStyle/>
          <a:p>
            <a:pPr marL="0" indent="0">
              <a:buNone/>
            </a:pPr>
            <a:r>
              <a:rPr lang="en-US" sz="950" b="1" dirty="0">
                <a:solidFill>
                  <a:srgbClr val="14333F"/>
                </a:solidFill>
                <a:latin typeface="Calibri" pitchFamily="34" charset="0"/>
                <a:ea typeface="Calibri" pitchFamily="34" charset="-122"/>
                <a:cs typeface="Calibri" pitchFamily="34" charset="-120"/>
              </a:rPr>
              <a:t>members</a:t>
            </a:r>
            <a:endParaRPr lang="en-US" sz="950" dirty="0"/>
          </a:p>
        </p:txBody>
      </p:sp>
      <p:sp>
        <p:nvSpPr>
          <p:cNvPr id="12" name="Text 9"/>
          <p:cNvSpPr/>
          <p:nvPr/>
        </p:nvSpPr>
        <p:spPr>
          <a:xfrm>
            <a:off x="5513832" y="2267712"/>
            <a:ext cx="1097280" cy="256032"/>
          </a:xfrm>
          <a:prstGeom prst="rect">
            <a:avLst/>
          </a:prstGeom>
          <a:noFill/>
          <a:ln/>
        </p:spPr>
        <p:txBody>
          <a:bodyPr wrap="square" lIns="0" tIns="0" rIns="0" bIns="0" rtlCol="0" anchor="ctr"/>
          <a:lstStyle/>
          <a:p>
            <a:pPr marL="0" indent="0">
              <a:buNone/>
            </a:pPr>
            <a:r>
              <a:rPr lang="en-US" sz="850" dirty="0">
                <a:solidFill>
                  <a:srgbClr val="5B7782"/>
                </a:solidFill>
                <a:latin typeface="Calibri" pitchFamily="34" charset="0"/>
                <a:ea typeface="Calibri" pitchFamily="34" charset="-122"/>
                <a:cs typeface="Calibri" pitchFamily="34" charset="-120"/>
              </a:rPr>
              <a:t>PII master</a:t>
            </a:r>
            <a:endParaRPr lang="en-US" sz="850" dirty="0"/>
          </a:p>
        </p:txBody>
      </p:sp>
      <p:sp>
        <p:nvSpPr>
          <p:cNvPr id="13" name="Shape 10"/>
          <p:cNvSpPr/>
          <p:nvPr/>
        </p:nvSpPr>
        <p:spPr>
          <a:xfrm>
            <a:off x="6784848" y="1901952"/>
            <a:ext cx="1773936" cy="713232"/>
          </a:xfrm>
          <a:prstGeom prst="roundRect">
            <a:avLst>
              <a:gd name="adj" fmla="val 8974"/>
            </a:avLst>
          </a:prstGeom>
          <a:solidFill>
            <a:srgbClr val="FFFFFF"/>
          </a:solidFill>
          <a:ln w="12700">
            <a:solidFill>
              <a:srgbClr val="C9DEE8"/>
            </a:solidFill>
            <a:prstDash val="solid"/>
          </a:ln>
          <a:effectLst>
            <a:outerShdw blurRad="63500" dist="12700" dir="5400000" algn="bl" rotWithShape="0">
              <a:srgbClr val="0A3D52">
                <a:alpha val="8000"/>
              </a:srgbClr>
            </a:outerShdw>
          </a:effectLst>
        </p:spPr>
      </p:sp>
      <p:sp>
        <p:nvSpPr>
          <p:cNvPr id="14" name="Shape 11"/>
          <p:cNvSpPr/>
          <p:nvPr/>
        </p:nvSpPr>
        <p:spPr>
          <a:xfrm>
            <a:off x="6894576" y="2020824"/>
            <a:ext cx="457200" cy="457200"/>
          </a:xfrm>
          <a:prstGeom prst="ellipse">
            <a:avLst/>
          </a:prstGeom>
          <a:solidFill>
            <a:srgbClr val="1C7293"/>
          </a:solidFill>
          <a:ln/>
        </p:spPr>
      </p:sp>
      <p:pic>
        <p:nvPicPr>
          <p:cNvPr id="15" name="Image 1" descr="preencoded.png"/>
          <p:cNvPicPr>
            <a:picLocks noChangeAspect="1"/>
          </p:cNvPicPr>
          <p:nvPr/>
        </p:nvPicPr>
        <p:blipFill>
          <a:blip r:embed="rId3"/>
          <a:stretch>
            <a:fillRect/>
          </a:stretch>
        </p:blipFill>
        <p:spPr>
          <a:xfrm>
            <a:off x="6999732" y="2125980"/>
            <a:ext cx="228600" cy="228600"/>
          </a:xfrm>
          <a:prstGeom prst="rect">
            <a:avLst/>
          </a:prstGeom>
        </p:spPr>
      </p:pic>
      <p:sp>
        <p:nvSpPr>
          <p:cNvPr id="16" name="Text 12"/>
          <p:cNvSpPr/>
          <p:nvPr/>
        </p:nvSpPr>
        <p:spPr>
          <a:xfrm>
            <a:off x="7406640" y="1993392"/>
            <a:ext cx="1097280" cy="274320"/>
          </a:xfrm>
          <a:prstGeom prst="rect">
            <a:avLst/>
          </a:prstGeom>
          <a:noFill/>
          <a:ln/>
        </p:spPr>
        <p:txBody>
          <a:bodyPr wrap="square" lIns="0" tIns="0" rIns="0" bIns="0" rtlCol="0" anchor="ctr"/>
          <a:lstStyle/>
          <a:p>
            <a:pPr marL="0" indent="0">
              <a:buNone/>
            </a:pPr>
            <a:r>
              <a:rPr lang="en-US" sz="950" b="1" dirty="0">
                <a:solidFill>
                  <a:srgbClr val="14333F"/>
                </a:solidFill>
                <a:latin typeface="Calibri" pitchFamily="34" charset="0"/>
                <a:ea typeface="Calibri" pitchFamily="34" charset="-122"/>
                <a:cs typeface="Calibri" pitchFamily="34" charset="-120"/>
              </a:rPr>
              <a:t>branches</a:t>
            </a:r>
            <a:endParaRPr lang="en-US" sz="950" dirty="0"/>
          </a:p>
        </p:txBody>
      </p:sp>
      <p:sp>
        <p:nvSpPr>
          <p:cNvPr id="17" name="Text 13"/>
          <p:cNvSpPr/>
          <p:nvPr/>
        </p:nvSpPr>
        <p:spPr>
          <a:xfrm>
            <a:off x="7406640" y="2267712"/>
            <a:ext cx="1097280" cy="256032"/>
          </a:xfrm>
          <a:prstGeom prst="rect">
            <a:avLst/>
          </a:prstGeom>
          <a:noFill/>
          <a:ln/>
        </p:spPr>
        <p:txBody>
          <a:bodyPr wrap="square" lIns="0" tIns="0" rIns="0" bIns="0" rtlCol="0" anchor="ctr"/>
          <a:lstStyle/>
          <a:p>
            <a:pPr marL="0" indent="0">
              <a:buNone/>
            </a:pPr>
            <a:r>
              <a:rPr lang="en-US" sz="850" dirty="0">
                <a:solidFill>
                  <a:srgbClr val="5B7782"/>
                </a:solidFill>
                <a:latin typeface="Calibri" pitchFamily="34" charset="0"/>
                <a:ea typeface="Calibri" pitchFamily="34" charset="-122"/>
                <a:cs typeface="Calibri" pitchFamily="34" charset="-120"/>
              </a:rPr>
              <a:t>8 systems</a:t>
            </a:r>
            <a:endParaRPr lang="en-US" sz="850" dirty="0"/>
          </a:p>
        </p:txBody>
      </p:sp>
      <p:sp>
        <p:nvSpPr>
          <p:cNvPr id="18" name="Shape 14"/>
          <p:cNvSpPr/>
          <p:nvPr/>
        </p:nvSpPr>
        <p:spPr>
          <a:xfrm>
            <a:off x="4892040" y="2743200"/>
            <a:ext cx="1773936" cy="713232"/>
          </a:xfrm>
          <a:prstGeom prst="roundRect">
            <a:avLst>
              <a:gd name="adj" fmla="val 8974"/>
            </a:avLst>
          </a:prstGeom>
          <a:solidFill>
            <a:srgbClr val="FFFFFF"/>
          </a:solidFill>
          <a:ln w="12700">
            <a:solidFill>
              <a:srgbClr val="C9DEE8"/>
            </a:solidFill>
            <a:prstDash val="solid"/>
          </a:ln>
          <a:effectLst>
            <a:outerShdw blurRad="63500" dist="12700" dir="5400000" algn="bl" rotWithShape="0">
              <a:srgbClr val="0A3D52">
                <a:alpha val="8000"/>
              </a:srgbClr>
            </a:outerShdw>
          </a:effectLst>
        </p:spPr>
      </p:sp>
      <p:sp>
        <p:nvSpPr>
          <p:cNvPr id="19" name="Shape 15"/>
          <p:cNvSpPr/>
          <p:nvPr/>
        </p:nvSpPr>
        <p:spPr>
          <a:xfrm>
            <a:off x="5001768" y="2862072"/>
            <a:ext cx="457200" cy="457200"/>
          </a:xfrm>
          <a:prstGeom prst="ellipse">
            <a:avLst/>
          </a:prstGeom>
          <a:solidFill>
            <a:srgbClr val="1C7293"/>
          </a:solidFill>
          <a:ln/>
        </p:spPr>
      </p:sp>
      <p:pic>
        <p:nvPicPr>
          <p:cNvPr id="20" name="Image 2" descr="preencoded.png"/>
          <p:cNvPicPr>
            <a:picLocks noChangeAspect="1"/>
          </p:cNvPicPr>
          <p:nvPr/>
        </p:nvPicPr>
        <p:blipFill>
          <a:blip r:embed="rId3"/>
          <a:stretch>
            <a:fillRect/>
          </a:stretch>
        </p:blipFill>
        <p:spPr>
          <a:xfrm>
            <a:off x="5106924" y="2967228"/>
            <a:ext cx="228600" cy="228600"/>
          </a:xfrm>
          <a:prstGeom prst="rect">
            <a:avLst/>
          </a:prstGeom>
        </p:spPr>
      </p:pic>
      <p:sp>
        <p:nvSpPr>
          <p:cNvPr id="21" name="Text 16"/>
          <p:cNvSpPr/>
          <p:nvPr/>
        </p:nvSpPr>
        <p:spPr>
          <a:xfrm>
            <a:off x="5513832" y="2834640"/>
            <a:ext cx="1097280" cy="274320"/>
          </a:xfrm>
          <a:prstGeom prst="rect">
            <a:avLst/>
          </a:prstGeom>
          <a:noFill/>
          <a:ln/>
        </p:spPr>
        <p:txBody>
          <a:bodyPr wrap="square" lIns="0" tIns="0" rIns="0" bIns="0" rtlCol="0" anchor="ctr"/>
          <a:lstStyle/>
          <a:p>
            <a:pPr marL="0" indent="0">
              <a:buNone/>
            </a:pPr>
            <a:r>
              <a:rPr lang="en-US" sz="950" b="1" dirty="0">
                <a:solidFill>
                  <a:srgbClr val="14333F"/>
                </a:solidFill>
                <a:latin typeface="Calibri" pitchFamily="34" charset="0"/>
                <a:ea typeface="Calibri" pitchFamily="34" charset="-122"/>
                <a:cs typeface="Calibri" pitchFamily="34" charset="-120"/>
              </a:rPr>
              <a:t>loans</a:t>
            </a:r>
            <a:endParaRPr lang="en-US" sz="950" dirty="0"/>
          </a:p>
        </p:txBody>
      </p:sp>
      <p:sp>
        <p:nvSpPr>
          <p:cNvPr id="22" name="Text 17"/>
          <p:cNvSpPr/>
          <p:nvPr/>
        </p:nvSpPr>
        <p:spPr>
          <a:xfrm>
            <a:off x="5513832" y="3108960"/>
            <a:ext cx="1097280" cy="256032"/>
          </a:xfrm>
          <a:prstGeom prst="rect">
            <a:avLst/>
          </a:prstGeom>
          <a:noFill/>
          <a:ln/>
        </p:spPr>
        <p:txBody>
          <a:bodyPr wrap="square" lIns="0" tIns="0" rIns="0" bIns="0" rtlCol="0" anchor="ctr"/>
          <a:lstStyle/>
          <a:p>
            <a:pPr marL="0" indent="0">
              <a:buNone/>
            </a:pPr>
            <a:r>
              <a:rPr lang="en-US" sz="850" dirty="0">
                <a:solidFill>
                  <a:srgbClr val="5B7782"/>
                </a:solidFill>
                <a:latin typeface="Calibri" pitchFamily="34" charset="0"/>
                <a:ea typeface="Calibri" pitchFamily="34" charset="-122"/>
                <a:cs typeface="Calibri" pitchFamily="34" charset="-120"/>
              </a:rPr>
              <a:t>conservation</a:t>
            </a:r>
            <a:endParaRPr lang="en-US" sz="850" dirty="0"/>
          </a:p>
        </p:txBody>
      </p:sp>
      <p:sp>
        <p:nvSpPr>
          <p:cNvPr id="23" name="Shape 18"/>
          <p:cNvSpPr/>
          <p:nvPr/>
        </p:nvSpPr>
        <p:spPr>
          <a:xfrm>
            <a:off x="6784848" y="2743200"/>
            <a:ext cx="1773936" cy="713232"/>
          </a:xfrm>
          <a:prstGeom prst="roundRect">
            <a:avLst>
              <a:gd name="adj" fmla="val 8974"/>
            </a:avLst>
          </a:prstGeom>
          <a:solidFill>
            <a:srgbClr val="FFFFFF"/>
          </a:solidFill>
          <a:ln w="12700">
            <a:solidFill>
              <a:srgbClr val="C9DEE8"/>
            </a:solidFill>
            <a:prstDash val="solid"/>
          </a:ln>
          <a:effectLst>
            <a:outerShdw blurRad="63500" dist="12700" dir="5400000" algn="bl" rotWithShape="0">
              <a:srgbClr val="0A3D52">
                <a:alpha val="8000"/>
              </a:srgbClr>
            </a:outerShdw>
          </a:effectLst>
        </p:spPr>
      </p:sp>
      <p:sp>
        <p:nvSpPr>
          <p:cNvPr id="24" name="Shape 19"/>
          <p:cNvSpPr/>
          <p:nvPr/>
        </p:nvSpPr>
        <p:spPr>
          <a:xfrm>
            <a:off x="6894576" y="2862072"/>
            <a:ext cx="457200" cy="457200"/>
          </a:xfrm>
          <a:prstGeom prst="ellipse">
            <a:avLst/>
          </a:prstGeom>
          <a:solidFill>
            <a:srgbClr val="1C7293"/>
          </a:solidFill>
          <a:ln/>
        </p:spPr>
      </p:sp>
      <p:pic>
        <p:nvPicPr>
          <p:cNvPr id="25" name="Image 3" descr="preencoded.png"/>
          <p:cNvPicPr>
            <a:picLocks noChangeAspect="1"/>
          </p:cNvPicPr>
          <p:nvPr/>
        </p:nvPicPr>
        <p:blipFill>
          <a:blip r:embed="rId3"/>
          <a:stretch>
            <a:fillRect/>
          </a:stretch>
        </p:blipFill>
        <p:spPr>
          <a:xfrm>
            <a:off x="6999732" y="2967228"/>
            <a:ext cx="228600" cy="228600"/>
          </a:xfrm>
          <a:prstGeom prst="rect">
            <a:avLst/>
          </a:prstGeom>
        </p:spPr>
      </p:pic>
      <p:sp>
        <p:nvSpPr>
          <p:cNvPr id="26" name="Text 20"/>
          <p:cNvSpPr/>
          <p:nvPr/>
        </p:nvSpPr>
        <p:spPr>
          <a:xfrm>
            <a:off x="7406640" y="2834640"/>
            <a:ext cx="1097280" cy="274320"/>
          </a:xfrm>
          <a:prstGeom prst="rect">
            <a:avLst/>
          </a:prstGeom>
          <a:noFill/>
          <a:ln/>
        </p:spPr>
        <p:txBody>
          <a:bodyPr wrap="square" lIns="0" tIns="0" rIns="0" bIns="0" rtlCol="0" anchor="ctr"/>
          <a:lstStyle/>
          <a:p>
            <a:pPr marL="0" indent="0">
              <a:buNone/>
            </a:pPr>
            <a:r>
              <a:rPr lang="en-US" sz="950" b="1" dirty="0">
                <a:solidFill>
                  <a:srgbClr val="14333F"/>
                </a:solidFill>
                <a:latin typeface="Calibri" pitchFamily="34" charset="0"/>
                <a:ea typeface="Calibri" pitchFamily="34" charset="-122"/>
                <a:cs typeface="Calibri" pitchFamily="34" charset="-120"/>
              </a:rPr>
              <a:t>transactions</a:t>
            </a:r>
            <a:endParaRPr lang="en-US" sz="950" dirty="0"/>
          </a:p>
        </p:txBody>
      </p:sp>
      <p:sp>
        <p:nvSpPr>
          <p:cNvPr id="27" name="Text 21"/>
          <p:cNvSpPr/>
          <p:nvPr/>
        </p:nvSpPr>
        <p:spPr>
          <a:xfrm>
            <a:off x="7406640" y="3108960"/>
            <a:ext cx="1097280" cy="256032"/>
          </a:xfrm>
          <a:prstGeom prst="rect">
            <a:avLst/>
          </a:prstGeom>
          <a:noFill/>
          <a:ln/>
        </p:spPr>
        <p:txBody>
          <a:bodyPr wrap="square" lIns="0" tIns="0" rIns="0" bIns="0" rtlCol="0" anchor="ctr"/>
          <a:lstStyle/>
          <a:p>
            <a:pPr marL="0" indent="0">
              <a:buNone/>
            </a:pPr>
            <a:r>
              <a:rPr lang="en-US" sz="850" dirty="0">
                <a:solidFill>
                  <a:srgbClr val="5B7782"/>
                </a:solidFill>
                <a:latin typeface="Calibri" pitchFamily="34" charset="0"/>
                <a:ea typeface="Calibri" pitchFamily="34" charset="-122"/>
                <a:cs typeface="Calibri" pitchFamily="34" charset="-120"/>
              </a:rPr>
              <a:t>billing</a:t>
            </a:r>
            <a:endParaRPr lang="en-US" sz="850" dirty="0"/>
          </a:p>
        </p:txBody>
      </p:sp>
      <p:sp>
        <p:nvSpPr>
          <p:cNvPr id="28" name="Shape 22"/>
          <p:cNvSpPr/>
          <p:nvPr/>
        </p:nvSpPr>
        <p:spPr>
          <a:xfrm>
            <a:off x="4892040" y="3584448"/>
            <a:ext cx="1773936" cy="713232"/>
          </a:xfrm>
          <a:prstGeom prst="roundRect">
            <a:avLst>
              <a:gd name="adj" fmla="val 8974"/>
            </a:avLst>
          </a:prstGeom>
          <a:solidFill>
            <a:srgbClr val="FFFFFF"/>
          </a:solidFill>
          <a:ln w="12700">
            <a:solidFill>
              <a:srgbClr val="C9DEE8"/>
            </a:solidFill>
            <a:prstDash val="solid"/>
          </a:ln>
          <a:effectLst>
            <a:outerShdw blurRad="63500" dist="12700" dir="5400000" algn="bl" rotWithShape="0">
              <a:srgbClr val="0A3D52">
                <a:alpha val="8000"/>
              </a:srgbClr>
            </a:outerShdw>
          </a:effectLst>
        </p:spPr>
      </p:sp>
      <p:sp>
        <p:nvSpPr>
          <p:cNvPr id="29" name="Shape 23"/>
          <p:cNvSpPr/>
          <p:nvPr/>
        </p:nvSpPr>
        <p:spPr>
          <a:xfrm>
            <a:off x="5001768" y="3703320"/>
            <a:ext cx="457200" cy="457200"/>
          </a:xfrm>
          <a:prstGeom prst="ellipse">
            <a:avLst/>
          </a:prstGeom>
          <a:solidFill>
            <a:srgbClr val="1C7293"/>
          </a:solidFill>
          <a:ln/>
        </p:spPr>
      </p:sp>
      <p:pic>
        <p:nvPicPr>
          <p:cNvPr id="30" name="Image 4" descr="preencoded.png"/>
          <p:cNvPicPr>
            <a:picLocks noChangeAspect="1"/>
          </p:cNvPicPr>
          <p:nvPr/>
        </p:nvPicPr>
        <p:blipFill>
          <a:blip r:embed="rId3"/>
          <a:stretch>
            <a:fillRect/>
          </a:stretch>
        </p:blipFill>
        <p:spPr>
          <a:xfrm>
            <a:off x="5106924" y="3808476"/>
            <a:ext cx="228600" cy="228600"/>
          </a:xfrm>
          <a:prstGeom prst="rect">
            <a:avLst/>
          </a:prstGeom>
        </p:spPr>
      </p:pic>
      <p:sp>
        <p:nvSpPr>
          <p:cNvPr id="31" name="Text 24"/>
          <p:cNvSpPr/>
          <p:nvPr/>
        </p:nvSpPr>
        <p:spPr>
          <a:xfrm>
            <a:off x="5513832" y="3675888"/>
            <a:ext cx="1097280" cy="274320"/>
          </a:xfrm>
          <a:prstGeom prst="rect">
            <a:avLst/>
          </a:prstGeom>
          <a:noFill/>
          <a:ln/>
        </p:spPr>
        <p:txBody>
          <a:bodyPr wrap="square" lIns="0" tIns="0" rIns="0" bIns="0" rtlCol="0" anchor="ctr"/>
          <a:lstStyle/>
          <a:p>
            <a:pPr marL="0" indent="0">
              <a:buNone/>
            </a:pPr>
            <a:r>
              <a:rPr lang="en-US" sz="950" b="1" dirty="0">
                <a:solidFill>
                  <a:srgbClr val="14333F"/>
                </a:solidFill>
                <a:latin typeface="Calibri" pitchFamily="34" charset="0"/>
                <a:ea typeface="Calibri" pitchFamily="34" charset="-122"/>
                <a:cs typeface="Calibri" pitchFamily="34" charset="-120"/>
              </a:rPr>
              <a:t>quality_reports</a:t>
            </a:r>
            <a:endParaRPr lang="en-US" sz="950" dirty="0"/>
          </a:p>
        </p:txBody>
      </p:sp>
      <p:sp>
        <p:nvSpPr>
          <p:cNvPr id="32" name="Text 25"/>
          <p:cNvSpPr/>
          <p:nvPr/>
        </p:nvSpPr>
        <p:spPr>
          <a:xfrm>
            <a:off x="5513832" y="3950208"/>
            <a:ext cx="1097280" cy="256032"/>
          </a:xfrm>
          <a:prstGeom prst="rect">
            <a:avLst/>
          </a:prstGeom>
          <a:noFill/>
          <a:ln/>
        </p:spPr>
        <p:txBody>
          <a:bodyPr wrap="square" lIns="0" tIns="0" rIns="0" bIns="0" rtlCol="0" anchor="ctr"/>
          <a:lstStyle/>
          <a:p>
            <a:pPr marL="0" indent="0">
              <a:buNone/>
            </a:pPr>
            <a:r>
              <a:rPr lang="en-US" sz="850" dirty="0">
                <a:solidFill>
                  <a:srgbClr val="5B7782"/>
                </a:solidFill>
                <a:latin typeface="Calibri" pitchFamily="34" charset="0"/>
                <a:ea typeface="Calibri" pitchFamily="34" charset="-122"/>
                <a:cs typeface="Calibri" pitchFamily="34" charset="-120"/>
              </a:rPr>
              <a:t>EPA</a:t>
            </a:r>
            <a:endParaRPr lang="en-US" sz="850" dirty="0"/>
          </a:p>
        </p:txBody>
      </p:sp>
      <p:sp>
        <p:nvSpPr>
          <p:cNvPr id="33" name="Shape 26"/>
          <p:cNvSpPr/>
          <p:nvPr/>
        </p:nvSpPr>
        <p:spPr>
          <a:xfrm>
            <a:off x="6784848" y="3584448"/>
            <a:ext cx="1773936" cy="713232"/>
          </a:xfrm>
          <a:prstGeom prst="roundRect">
            <a:avLst>
              <a:gd name="adj" fmla="val 8974"/>
            </a:avLst>
          </a:prstGeom>
          <a:solidFill>
            <a:srgbClr val="FFFFFF"/>
          </a:solidFill>
          <a:ln w="12700">
            <a:solidFill>
              <a:srgbClr val="C9DEE8"/>
            </a:solidFill>
            <a:prstDash val="solid"/>
          </a:ln>
          <a:effectLst>
            <a:outerShdw blurRad="63500" dist="12700" dir="5400000" algn="bl" rotWithShape="0">
              <a:srgbClr val="0A3D52">
                <a:alpha val="8000"/>
              </a:srgbClr>
            </a:outerShdw>
          </a:effectLst>
        </p:spPr>
      </p:sp>
      <p:sp>
        <p:nvSpPr>
          <p:cNvPr id="34" name="Shape 27"/>
          <p:cNvSpPr/>
          <p:nvPr/>
        </p:nvSpPr>
        <p:spPr>
          <a:xfrm>
            <a:off x="6894576" y="3703320"/>
            <a:ext cx="457200" cy="457200"/>
          </a:xfrm>
          <a:prstGeom prst="ellipse">
            <a:avLst/>
          </a:prstGeom>
          <a:solidFill>
            <a:srgbClr val="1C7293"/>
          </a:solidFill>
          <a:ln/>
        </p:spPr>
      </p:sp>
      <p:pic>
        <p:nvPicPr>
          <p:cNvPr id="35" name="Image 5" descr="preencoded.png"/>
          <p:cNvPicPr>
            <a:picLocks noChangeAspect="1"/>
          </p:cNvPicPr>
          <p:nvPr/>
        </p:nvPicPr>
        <p:blipFill>
          <a:blip r:embed="rId3"/>
          <a:stretch>
            <a:fillRect/>
          </a:stretch>
        </p:blipFill>
        <p:spPr>
          <a:xfrm>
            <a:off x="6999732" y="3808476"/>
            <a:ext cx="228600" cy="228600"/>
          </a:xfrm>
          <a:prstGeom prst="rect">
            <a:avLst/>
          </a:prstGeom>
        </p:spPr>
      </p:pic>
      <p:sp>
        <p:nvSpPr>
          <p:cNvPr id="36" name="Text 28"/>
          <p:cNvSpPr/>
          <p:nvPr/>
        </p:nvSpPr>
        <p:spPr>
          <a:xfrm>
            <a:off x="7406640" y="3675888"/>
            <a:ext cx="1097280" cy="274320"/>
          </a:xfrm>
          <a:prstGeom prst="rect">
            <a:avLst/>
          </a:prstGeom>
          <a:noFill/>
          <a:ln/>
        </p:spPr>
        <p:txBody>
          <a:bodyPr wrap="square" lIns="0" tIns="0" rIns="0" bIns="0" rtlCol="0" anchor="ctr"/>
          <a:lstStyle/>
          <a:p>
            <a:pPr marL="0" indent="0">
              <a:buNone/>
            </a:pPr>
            <a:r>
              <a:rPr lang="en-US" sz="950" b="1" dirty="0">
                <a:solidFill>
                  <a:srgbClr val="14333F"/>
                </a:solidFill>
                <a:latin typeface="Calibri" pitchFamily="34" charset="0"/>
                <a:ea typeface="Calibri" pitchFamily="34" charset="-122"/>
                <a:cs typeface="Calibri" pitchFamily="34" charset="-120"/>
              </a:rPr>
              <a:t>suspicious_activity</a:t>
            </a:r>
            <a:endParaRPr lang="en-US" sz="950" dirty="0"/>
          </a:p>
        </p:txBody>
      </p:sp>
      <p:sp>
        <p:nvSpPr>
          <p:cNvPr id="37" name="Text 29"/>
          <p:cNvSpPr/>
          <p:nvPr/>
        </p:nvSpPr>
        <p:spPr>
          <a:xfrm>
            <a:off x="7406640" y="3950208"/>
            <a:ext cx="1097280" cy="256032"/>
          </a:xfrm>
          <a:prstGeom prst="rect">
            <a:avLst/>
          </a:prstGeom>
          <a:noFill/>
          <a:ln/>
        </p:spPr>
        <p:txBody>
          <a:bodyPr wrap="square" lIns="0" tIns="0" rIns="0" bIns="0" rtlCol="0" anchor="ctr"/>
          <a:lstStyle/>
          <a:p>
            <a:pPr marL="0" indent="0">
              <a:buNone/>
            </a:pPr>
            <a:r>
              <a:rPr lang="en-US" sz="850" dirty="0">
                <a:solidFill>
                  <a:srgbClr val="5B7782"/>
                </a:solidFill>
                <a:latin typeface="Calibri" pitchFamily="34" charset="0"/>
                <a:ea typeface="Calibri" pitchFamily="34" charset="-122"/>
                <a:cs typeface="Calibri" pitchFamily="34" charset="-120"/>
              </a:rPr>
              <a:t>service flags</a:t>
            </a:r>
            <a:endParaRPr lang="en-US" sz="850" dirty="0"/>
          </a:p>
        </p:txBody>
      </p:sp>
      <p:sp>
        <p:nvSpPr>
          <p:cNvPr id="38" name="Text 30"/>
          <p:cNvSpPr/>
          <p:nvPr/>
        </p:nvSpPr>
        <p:spPr>
          <a:xfrm>
            <a:off x="548640" y="4828032"/>
            <a:ext cx="7315200" cy="274320"/>
          </a:xfrm>
          <a:prstGeom prst="rect">
            <a:avLst/>
          </a:prstGeom>
          <a:noFill/>
          <a:ln/>
        </p:spPr>
        <p:txBody>
          <a:bodyPr wrap="square" lIns="0" tIns="0" rIns="0" bIns="0" rtlCol="0" anchor="ctr"/>
          <a:lstStyle/>
          <a:p>
            <a:pPr marL="0" indent="0">
              <a:buNone/>
            </a:pPr>
            <a:r>
              <a:rPr lang="en-US" sz="950" dirty="0">
                <a:solidFill>
                  <a:srgbClr val="5B7782"/>
                </a:solidFill>
                <a:latin typeface="Calibri" pitchFamily="34" charset="0"/>
                <a:ea typeface="Calibri" pitchFamily="34" charset="-122"/>
                <a:cs typeface="Calibri" pitchFamily="34" charset="-120"/>
              </a:rPr>
              <a:t>Workshop 1 · Connect the CSCU Database</a:t>
            </a:r>
            <a:endParaRPr lang="en-US" sz="950" dirty="0"/>
          </a:p>
        </p:txBody>
      </p:sp>
      <p:sp>
        <p:nvSpPr>
          <p:cNvPr id="39" name="Text 31"/>
          <p:cNvSpPr/>
          <p:nvPr/>
        </p:nvSpPr>
        <p:spPr>
          <a:xfrm>
            <a:off x="8366760" y="4828032"/>
            <a:ext cx="320040" cy="274320"/>
          </a:xfrm>
          <a:prstGeom prst="rect">
            <a:avLst/>
          </a:prstGeom>
          <a:noFill/>
          <a:ln/>
        </p:spPr>
        <p:txBody>
          <a:bodyPr wrap="square" lIns="0" tIns="0" rIns="0" bIns="0" rtlCol="0" anchor="ctr"/>
          <a:lstStyle/>
          <a:p>
            <a:pPr marL="0" indent="0" algn="r">
              <a:buNone/>
            </a:pPr>
            <a:r>
              <a:rPr lang="en-US" sz="950" dirty="0">
                <a:solidFill>
                  <a:srgbClr val="5B7782"/>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6766560" cy="292608"/>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REFERENCE</a:t>
            </a:r>
            <a:endParaRPr lang="en-US" sz="1200" dirty="0"/>
          </a:p>
        </p:txBody>
      </p:sp>
      <p:sp>
        <p:nvSpPr>
          <p:cNvPr id="3" name="Text 1"/>
          <p:cNvSpPr/>
          <p:nvPr/>
        </p:nvSpPr>
        <p:spPr>
          <a:xfrm>
            <a:off x="548640" y="713232"/>
            <a:ext cx="7040880" cy="566928"/>
          </a:xfrm>
          <a:prstGeom prst="rect">
            <a:avLst/>
          </a:prstGeom>
          <a:noFill/>
          <a:ln/>
        </p:spPr>
        <p:txBody>
          <a:bodyPr wrap="square" lIns="0" tIns="0" rIns="0" bIns="0" rtlCol="0" anchor="ctr"/>
          <a:lstStyle/>
          <a:p>
            <a:pPr marL="0" indent="0">
              <a:buNone/>
            </a:pPr>
            <a:r>
              <a:rPr lang="en-US" sz="2700" b="1" dirty="0">
                <a:solidFill>
                  <a:srgbClr val="14333F"/>
                </a:solidFill>
                <a:latin typeface="Bookman Old Style" pitchFamily="34" charset="0"/>
                <a:ea typeface="Bookman Old Style" pitchFamily="34" charset="-122"/>
                <a:cs typeface="Bookman Old Style" pitchFamily="34" charset="-120"/>
              </a:rPr>
              <a:t>Your connection parameters</a:t>
            </a:r>
            <a:endParaRPr lang="en-US" sz="2700" dirty="0"/>
          </a:p>
        </p:txBody>
      </p:sp>
      <p:sp>
        <p:nvSpPr>
          <p:cNvPr id="4" name="Shape 2"/>
          <p:cNvSpPr/>
          <p:nvPr/>
        </p:nvSpPr>
        <p:spPr>
          <a:xfrm>
            <a:off x="548640" y="1517904"/>
            <a:ext cx="8046720" cy="566928"/>
          </a:xfrm>
          <a:prstGeom prst="roundRect">
            <a:avLst>
              <a:gd name="adj" fmla="val 11290"/>
            </a:avLst>
          </a:prstGeom>
          <a:solidFill>
            <a:srgbClr val="EEF6FA"/>
          </a:solidFill>
          <a:ln/>
          <a:effectLst>
            <a:outerShdw blurRad="50800" dist="12700" dir="5400000" algn="bl" rotWithShape="0">
              <a:srgbClr val="0A3D52">
                <a:alpha val="7000"/>
              </a:srgbClr>
            </a:outerShdw>
          </a:effectLst>
        </p:spPr>
      </p:sp>
      <p:sp>
        <p:nvSpPr>
          <p:cNvPr id="5" name="Shape 3"/>
          <p:cNvSpPr/>
          <p:nvPr/>
        </p:nvSpPr>
        <p:spPr>
          <a:xfrm>
            <a:off x="676656" y="1609344"/>
            <a:ext cx="384048" cy="384048"/>
          </a:xfrm>
          <a:prstGeom prst="ellipse">
            <a:avLst/>
          </a:prstGeom>
          <a:solidFill>
            <a:srgbClr val="065A82"/>
          </a:solidFill>
          <a:ln/>
        </p:spPr>
      </p:sp>
      <p:pic>
        <p:nvPicPr>
          <p:cNvPr id="6" name="Image 0" descr="preencoded.png"/>
          <p:cNvPicPr>
            <a:picLocks noChangeAspect="1"/>
          </p:cNvPicPr>
          <p:nvPr/>
        </p:nvPicPr>
        <p:blipFill>
          <a:blip r:embed="rId3"/>
          <a:stretch>
            <a:fillRect/>
          </a:stretch>
        </p:blipFill>
        <p:spPr>
          <a:xfrm>
            <a:off x="763524" y="1696212"/>
            <a:ext cx="210312" cy="210312"/>
          </a:xfrm>
          <a:prstGeom prst="rect">
            <a:avLst/>
          </a:prstGeom>
        </p:spPr>
      </p:pic>
      <p:sp>
        <p:nvSpPr>
          <p:cNvPr id="7" name="Text 4"/>
          <p:cNvSpPr/>
          <p:nvPr/>
        </p:nvSpPr>
        <p:spPr>
          <a:xfrm>
            <a:off x="1225296" y="1517904"/>
            <a:ext cx="1645920" cy="566928"/>
          </a:xfrm>
          <a:prstGeom prst="rect">
            <a:avLst/>
          </a:prstGeom>
          <a:noFill/>
          <a:ln/>
        </p:spPr>
        <p:txBody>
          <a:bodyPr wrap="square" lIns="0" tIns="0" rIns="0" bIns="0" rtlCol="0" anchor="ctr"/>
          <a:lstStyle/>
          <a:p>
            <a:pPr marL="0" indent="0">
              <a:buNone/>
            </a:pPr>
            <a:r>
              <a:rPr lang="en-US" sz="1300" b="1" dirty="0">
                <a:solidFill>
                  <a:srgbClr val="14333F"/>
                </a:solidFill>
                <a:latin typeface="Calibri" pitchFamily="34" charset="0"/>
                <a:ea typeface="Calibri" pitchFamily="34" charset="-122"/>
                <a:cs typeface="Calibri" pitchFamily="34" charset="-120"/>
              </a:rPr>
              <a:t>Host</a:t>
            </a:r>
            <a:endParaRPr lang="en-US" sz="1300" dirty="0"/>
          </a:p>
        </p:txBody>
      </p:sp>
      <p:sp>
        <p:nvSpPr>
          <p:cNvPr id="8" name="Text 5"/>
          <p:cNvSpPr/>
          <p:nvPr/>
        </p:nvSpPr>
        <p:spPr>
          <a:xfrm>
            <a:off x="2834640" y="1517904"/>
            <a:ext cx="2651760" cy="566928"/>
          </a:xfrm>
          <a:prstGeom prst="rect">
            <a:avLst/>
          </a:prstGeom>
          <a:noFill/>
          <a:ln/>
        </p:spPr>
        <p:txBody>
          <a:bodyPr wrap="square" lIns="0" tIns="0" rIns="0" bIns="0" rtlCol="0" anchor="ctr"/>
          <a:lstStyle/>
          <a:p>
            <a:pPr marL="0" indent="0">
              <a:buNone/>
            </a:pPr>
            <a:r>
              <a:rPr lang="en-US" sz="1300" b="1" dirty="0">
                <a:solidFill>
                  <a:srgbClr val="065A82"/>
                </a:solidFill>
                <a:latin typeface="Courier New" pitchFamily="34" charset="0"/>
                <a:ea typeface="Courier New" pitchFamily="34" charset="-122"/>
                <a:cs typeface="Courier New" pitchFamily="34" charset="-120"/>
              </a:rPr>
              <a:t>192.168.1.200</a:t>
            </a:r>
            <a:endParaRPr lang="en-US" sz="1300" dirty="0"/>
          </a:p>
        </p:txBody>
      </p:sp>
      <p:sp>
        <p:nvSpPr>
          <p:cNvPr id="9" name="Text 6"/>
          <p:cNvSpPr/>
          <p:nvPr/>
        </p:nvSpPr>
        <p:spPr>
          <a:xfrm>
            <a:off x="5486400" y="1517904"/>
            <a:ext cx="3017520" cy="566928"/>
          </a:xfrm>
          <a:prstGeom prst="rect">
            <a:avLst/>
          </a:prstGeom>
          <a:noFill/>
          <a:ln/>
        </p:spPr>
        <p:txBody>
          <a:bodyPr wrap="square" lIns="0" tIns="0" rIns="0" bIns="0" rtlCol="0" anchor="ctr"/>
          <a:lstStyle/>
          <a:p>
            <a:pPr marL="0" indent="0">
              <a:buNone/>
            </a:pPr>
            <a:r>
              <a:rPr lang="en-US" sz="1050" dirty="0">
                <a:solidFill>
                  <a:srgbClr val="5B7782"/>
                </a:solidFill>
                <a:latin typeface="Calibri" pitchFamily="34" charset="0"/>
                <a:ea typeface="Calibri" pitchFamily="34" charset="-122"/>
                <a:cs typeface="Calibri" pitchFamily="34" charset="-120"/>
              </a:rPr>
              <a:t>Docker service name (or ensure </a:t>
            </a:r>
            <a:r>
              <a:rPr lang="en-US" sz="1050" dirty="0" err="1">
                <a:solidFill>
                  <a:srgbClr val="5B7782"/>
                </a:solidFill>
                <a:latin typeface="Calibri" pitchFamily="34" charset="0"/>
                <a:ea typeface="Calibri" pitchFamily="34" charset="-122"/>
                <a:cs typeface="Calibri" pitchFamily="34" charset="-120"/>
              </a:rPr>
              <a:t>PostgreSql</a:t>
            </a:r>
            <a:r>
              <a:rPr lang="en-US" sz="1050" dirty="0">
                <a:solidFill>
                  <a:srgbClr val="5B7782"/>
                </a:solidFill>
                <a:latin typeface="Calibri" pitchFamily="34" charset="0"/>
                <a:ea typeface="Calibri" pitchFamily="34" charset="-122"/>
                <a:cs typeface="Calibri" pitchFamily="34" charset="-120"/>
              </a:rPr>
              <a:t> database is on the same network as PDC to use the container name)</a:t>
            </a:r>
            <a:endParaRPr lang="en-US" sz="1050" dirty="0"/>
          </a:p>
        </p:txBody>
      </p:sp>
      <p:sp>
        <p:nvSpPr>
          <p:cNvPr id="10" name="Shape 7"/>
          <p:cNvSpPr/>
          <p:nvPr/>
        </p:nvSpPr>
        <p:spPr>
          <a:xfrm>
            <a:off x="548640" y="2176272"/>
            <a:ext cx="8046720" cy="566928"/>
          </a:xfrm>
          <a:prstGeom prst="roundRect">
            <a:avLst>
              <a:gd name="adj" fmla="val 11290"/>
            </a:avLst>
          </a:prstGeom>
          <a:solidFill>
            <a:srgbClr val="EEF6FA"/>
          </a:solidFill>
          <a:ln/>
          <a:effectLst>
            <a:outerShdw blurRad="50800" dist="12700" dir="5400000" algn="bl" rotWithShape="0">
              <a:srgbClr val="0A3D52">
                <a:alpha val="7000"/>
              </a:srgbClr>
            </a:outerShdw>
          </a:effectLst>
        </p:spPr>
      </p:sp>
      <p:sp>
        <p:nvSpPr>
          <p:cNvPr id="11" name="Shape 8"/>
          <p:cNvSpPr/>
          <p:nvPr/>
        </p:nvSpPr>
        <p:spPr>
          <a:xfrm>
            <a:off x="676656" y="2267712"/>
            <a:ext cx="384048" cy="384048"/>
          </a:xfrm>
          <a:prstGeom prst="ellipse">
            <a:avLst/>
          </a:prstGeom>
          <a:solidFill>
            <a:srgbClr val="065A82"/>
          </a:solidFill>
          <a:ln/>
        </p:spPr>
      </p:sp>
      <p:pic>
        <p:nvPicPr>
          <p:cNvPr id="12" name="Image 1" descr="preencoded.png"/>
          <p:cNvPicPr>
            <a:picLocks noChangeAspect="1"/>
          </p:cNvPicPr>
          <p:nvPr/>
        </p:nvPicPr>
        <p:blipFill>
          <a:blip r:embed="rId4"/>
          <a:stretch>
            <a:fillRect/>
          </a:stretch>
        </p:blipFill>
        <p:spPr>
          <a:xfrm>
            <a:off x="763524" y="2354580"/>
            <a:ext cx="210312" cy="210312"/>
          </a:xfrm>
          <a:prstGeom prst="rect">
            <a:avLst/>
          </a:prstGeom>
        </p:spPr>
      </p:pic>
      <p:sp>
        <p:nvSpPr>
          <p:cNvPr id="13" name="Text 9"/>
          <p:cNvSpPr/>
          <p:nvPr/>
        </p:nvSpPr>
        <p:spPr>
          <a:xfrm>
            <a:off x="1225296" y="2176272"/>
            <a:ext cx="1645920" cy="566928"/>
          </a:xfrm>
          <a:prstGeom prst="rect">
            <a:avLst/>
          </a:prstGeom>
          <a:noFill/>
          <a:ln/>
        </p:spPr>
        <p:txBody>
          <a:bodyPr wrap="square" lIns="0" tIns="0" rIns="0" bIns="0" rtlCol="0" anchor="ctr"/>
          <a:lstStyle/>
          <a:p>
            <a:pPr marL="0" indent="0">
              <a:buNone/>
            </a:pPr>
            <a:r>
              <a:rPr lang="en-US" sz="1300" b="1" dirty="0">
                <a:solidFill>
                  <a:srgbClr val="14333F"/>
                </a:solidFill>
                <a:latin typeface="Calibri" pitchFamily="34" charset="0"/>
                <a:ea typeface="Calibri" pitchFamily="34" charset="-122"/>
                <a:cs typeface="Calibri" pitchFamily="34" charset="-120"/>
              </a:rPr>
              <a:t>Port</a:t>
            </a:r>
            <a:endParaRPr lang="en-US" sz="1300" dirty="0"/>
          </a:p>
        </p:txBody>
      </p:sp>
      <p:sp>
        <p:nvSpPr>
          <p:cNvPr id="14" name="Text 10"/>
          <p:cNvSpPr/>
          <p:nvPr/>
        </p:nvSpPr>
        <p:spPr>
          <a:xfrm>
            <a:off x="2834640" y="2176272"/>
            <a:ext cx="2651760" cy="566928"/>
          </a:xfrm>
          <a:prstGeom prst="rect">
            <a:avLst/>
          </a:prstGeom>
          <a:noFill/>
          <a:ln/>
        </p:spPr>
        <p:txBody>
          <a:bodyPr wrap="square" lIns="0" tIns="0" rIns="0" bIns="0" rtlCol="0" anchor="ctr"/>
          <a:lstStyle/>
          <a:p>
            <a:pPr marL="0" indent="0">
              <a:buNone/>
            </a:pPr>
            <a:r>
              <a:rPr lang="en-US" sz="1300" b="1" dirty="0">
                <a:solidFill>
                  <a:srgbClr val="065A82"/>
                </a:solidFill>
                <a:latin typeface="Courier New" pitchFamily="34" charset="0"/>
                <a:ea typeface="Courier New" pitchFamily="34" charset="-122"/>
                <a:cs typeface="Courier New" pitchFamily="34" charset="-120"/>
              </a:rPr>
              <a:t>5432</a:t>
            </a:r>
            <a:endParaRPr lang="en-US" sz="1300" dirty="0"/>
          </a:p>
        </p:txBody>
      </p:sp>
      <p:sp>
        <p:nvSpPr>
          <p:cNvPr id="15" name="Text 11"/>
          <p:cNvSpPr/>
          <p:nvPr/>
        </p:nvSpPr>
        <p:spPr>
          <a:xfrm>
            <a:off x="5486400" y="2176272"/>
            <a:ext cx="3017520" cy="566928"/>
          </a:xfrm>
          <a:prstGeom prst="rect">
            <a:avLst/>
          </a:prstGeom>
          <a:noFill/>
          <a:ln/>
        </p:spPr>
        <p:txBody>
          <a:bodyPr wrap="square" lIns="0" tIns="0" rIns="0" bIns="0" rtlCol="0" anchor="ctr"/>
          <a:lstStyle/>
          <a:p>
            <a:pPr marL="0" indent="0">
              <a:buNone/>
            </a:pPr>
            <a:r>
              <a:rPr lang="en-US" sz="1050" dirty="0">
                <a:solidFill>
                  <a:srgbClr val="5B7782"/>
                </a:solidFill>
                <a:latin typeface="Calibri" pitchFamily="34" charset="0"/>
                <a:ea typeface="Calibri" pitchFamily="34" charset="-122"/>
                <a:cs typeface="Calibri" pitchFamily="34" charset="-120"/>
              </a:rPr>
              <a:t>Default </a:t>
            </a:r>
            <a:r>
              <a:rPr lang="en-US" sz="1050" dirty="0" err="1">
                <a:solidFill>
                  <a:srgbClr val="5B7782"/>
                </a:solidFill>
                <a:latin typeface="Calibri" pitchFamily="34" charset="0"/>
                <a:ea typeface="Calibri" pitchFamily="34" charset="-122"/>
                <a:cs typeface="Calibri" pitchFamily="34" charset="-120"/>
              </a:rPr>
              <a:t>PostgreSql</a:t>
            </a:r>
            <a:r>
              <a:rPr lang="en-US" sz="1050" dirty="0">
                <a:solidFill>
                  <a:srgbClr val="5B7782"/>
                </a:solidFill>
                <a:latin typeface="Calibri" pitchFamily="34" charset="0"/>
                <a:ea typeface="Calibri" pitchFamily="34" charset="-122"/>
                <a:cs typeface="Calibri" pitchFamily="34" charset="-120"/>
              </a:rPr>
              <a:t> port.  </a:t>
            </a:r>
            <a:endParaRPr lang="en-US" sz="1050" dirty="0"/>
          </a:p>
        </p:txBody>
      </p:sp>
      <p:sp>
        <p:nvSpPr>
          <p:cNvPr id="16" name="Shape 12"/>
          <p:cNvSpPr/>
          <p:nvPr/>
        </p:nvSpPr>
        <p:spPr>
          <a:xfrm>
            <a:off x="548640" y="2834640"/>
            <a:ext cx="8046720" cy="566928"/>
          </a:xfrm>
          <a:prstGeom prst="roundRect">
            <a:avLst>
              <a:gd name="adj" fmla="val 11290"/>
            </a:avLst>
          </a:prstGeom>
          <a:solidFill>
            <a:srgbClr val="EEF6FA"/>
          </a:solidFill>
          <a:ln/>
          <a:effectLst>
            <a:outerShdw blurRad="50800" dist="12700" dir="5400000" algn="bl" rotWithShape="0">
              <a:srgbClr val="0A3D52">
                <a:alpha val="7000"/>
              </a:srgbClr>
            </a:outerShdw>
          </a:effectLst>
        </p:spPr>
      </p:sp>
      <p:sp>
        <p:nvSpPr>
          <p:cNvPr id="17" name="Shape 13"/>
          <p:cNvSpPr/>
          <p:nvPr/>
        </p:nvSpPr>
        <p:spPr>
          <a:xfrm>
            <a:off x="676656" y="2926080"/>
            <a:ext cx="384048" cy="384048"/>
          </a:xfrm>
          <a:prstGeom prst="ellipse">
            <a:avLst/>
          </a:prstGeom>
          <a:solidFill>
            <a:srgbClr val="065A82"/>
          </a:solidFill>
          <a:ln/>
        </p:spPr>
      </p:sp>
      <p:pic>
        <p:nvPicPr>
          <p:cNvPr id="18" name="Image 2" descr="preencoded.png"/>
          <p:cNvPicPr>
            <a:picLocks noChangeAspect="1"/>
          </p:cNvPicPr>
          <p:nvPr/>
        </p:nvPicPr>
        <p:blipFill>
          <a:blip r:embed="rId5"/>
          <a:stretch>
            <a:fillRect/>
          </a:stretch>
        </p:blipFill>
        <p:spPr>
          <a:xfrm>
            <a:off x="763524" y="3012948"/>
            <a:ext cx="210312" cy="210312"/>
          </a:xfrm>
          <a:prstGeom prst="rect">
            <a:avLst/>
          </a:prstGeom>
        </p:spPr>
      </p:pic>
      <p:sp>
        <p:nvSpPr>
          <p:cNvPr id="19" name="Text 14"/>
          <p:cNvSpPr/>
          <p:nvPr/>
        </p:nvSpPr>
        <p:spPr>
          <a:xfrm>
            <a:off x="1225296" y="2834640"/>
            <a:ext cx="1645920" cy="566928"/>
          </a:xfrm>
          <a:prstGeom prst="rect">
            <a:avLst/>
          </a:prstGeom>
          <a:noFill/>
          <a:ln/>
        </p:spPr>
        <p:txBody>
          <a:bodyPr wrap="square" lIns="0" tIns="0" rIns="0" bIns="0" rtlCol="0" anchor="ctr"/>
          <a:lstStyle/>
          <a:p>
            <a:pPr marL="0" indent="0">
              <a:buNone/>
            </a:pPr>
            <a:r>
              <a:rPr lang="en-US" sz="1300" b="1" dirty="0">
                <a:solidFill>
                  <a:srgbClr val="14333F"/>
                </a:solidFill>
                <a:latin typeface="Calibri" pitchFamily="34" charset="0"/>
                <a:ea typeface="Calibri" pitchFamily="34" charset="-122"/>
                <a:cs typeface="Calibri" pitchFamily="34" charset="-120"/>
              </a:rPr>
              <a:t>Database</a:t>
            </a:r>
            <a:endParaRPr lang="en-US" sz="1300" dirty="0"/>
          </a:p>
        </p:txBody>
      </p:sp>
      <p:sp>
        <p:nvSpPr>
          <p:cNvPr id="20" name="Text 15"/>
          <p:cNvSpPr/>
          <p:nvPr/>
        </p:nvSpPr>
        <p:spPr>
          <a:xfrm>
            <a:off x="2834640" y="2834640"/>
            <a:ext cx="2651760" cy="566928"/>
          </a:xfrm>
          <a:prstGeom prst="rect">
            <a:avLst/>
          </a:prstGeom>
          <a:noFill/>
          <a:ln/>
        </p:spPr>
        <p:txBody>
          <a:bodyPr wrap="square" lIns="0" tIns="0" rIns="0" bIns="0" rtlCol="0" anchor="ctr"/>
          <a:lstStyle/>
          <a:p>
            <a:pPr marL="0" indent="0">
              <a:buNone/>
            </a:pPr>
            <a:r>
              <a:rPr lang="en-US" sz="1300" b="1" dirty="0">
                <a:solidFill>
                  <a:srgbClr val="065A82"/>
                </a:solidFill>
                <a:latin typeface="Courier New" pitchFamily="34" charset="0"/>
                <a:ea typeface="Courier New" pitchFamily="34" charset="-122"/>
                <a:cs typeface="Courier New" pitchFamily="34" charset="-120"/>
              </a:rPr>
              <a:t>cscu_core</a:t>
            </a:r>
            <a:endParaRPr lang="en-US" sz="1300" dirty="0"/>
          </a:p>
        </p:txBody>
      </p:sp>
      <p:sp>
        <p:nvSpPr>
          <p:cNvPr id="21" name="Text 16"/>
          <p:cNvSpPr/>
          <p:nvPr/>
        </p:nvSpPr>
        <p:spPr>
          <a:xfrm>
            <a:off x="5486400" y="2834640"/>
            <a:ext cx="3017520" cy="566928"/>
          </a:xfrm>
          <a:prstGeom prst="rect">
            <a:avLst/>
          </a:prstGeom>
          <a:noFill/>
          <a:ln/>
        </p:spPr>
        <p:txBody>
          <a:bodyPr wrap="square" lIns="0" tIns="0" rIns="0" bIns="0" rtlCol="0" anchor="ctr"/>
          <a:lstStyle/>
          <a:p>
            <a:pPr marL="0" indent="0">
              <a:buNone/>
            </a:pPr>
            <a:r>
              <a:rPr lang="en-US" sz="1050" dirty="0">
                <a:solidFill>
                  <a:srgbClr val="5B7782"/>
                </a:solidFill>
                <a:latin typeface="Calibri" pitchFamily="34" charset="0"/>
                <a:ea typeface="Calibri" pitchFamily="34" charset="-122"/>
                <a:cs typeface="Calibri" pitchFamily="34" charset="-120"/>
              </a:rPr>
              <a:t>The CSCU operational database</a:t>
            </a:r>
            <a:endParaRPr lang="en-US" sz="1050" dirty="0"/>
          </a:p>
        </p:txBody>
      </p:sp>
      <p:sp>
        <p:nvSpPr>
          <p:cNvPr id="22" name="Shape 17"/>
          <p:cNvSpPr/>
          <p:nvPr/>
        </p:nvSpPr>
        <p:spPr>
          <a:xfrm>
            <a:off x="548640" y="3493008"/>
            <a:ext cx="8046720" cy="566928"/>
          </a:xfrm>
          <a:prstGeom prst="roundRect">
            <a:avLst>
              <a:gd name="adj" fmla="val 11290"/>
            </a:avLst>
          </a:prstGeom>
          <a:solidFill>
            <a:srgbClr val="EEF6FA"/>
          </a:solidFill>
          <a:ln/>
          <a:effectLst>
            <a:outerShdw blurRad="50800" dist="12700" dir="5400000" algn="bl" rotWithShape="0">
              <a:srgbClr val="0A3D52">
                <a:alpha val="7000"/>
              </a:srgbClr>
            </a:outerShdw>
          </a:effectLst>
        </p:spPr>
      </p:sp>
      <p:sp>
        <p:nvSpPr>
          <p:cNvPr id="23" name="Shape 18"/>
          <p:cNvSpPr/>
          <p:nvPr/>
        </p:nvSpPr>
        <p:spPr>
          <a:xfrm>
            <a:off x="676656" y="3584448"/>
            <a:ext cx="384048" cy="384048"/>
          </a:xfrm>
          <a:prstGeom prst="ellipse">
            <a:avLst/>
          </a:prstGeom>
          <a:solidFill>
            <a:srgbClr val="065A82"/>
          </a:solidFill>
          <a:ln/>
        </p:spPr>
      </p:sp>
      <p:pic>
        <p:nvPicPr>
          <p:cNvPr id="24" name="Image 3" descr="preencoded.png"/>
          <p:cNvPicPr>
            <a:picLocks noChangeAspect="1"/>
          </p:cNvPicPr>
          <p:nvPr/>
        </p:nvPicPr>
        <p:blipFill>
          <a:blip r:embed="rId6"/>
          <a:stretch>
            <a:fillRect/>
          </a:stretch>
        </p:blipFill>
        <p:spPr>
          <a:xfrm>
            <a:off x="763524" y="3671316"/>
            <a:ext cx="210312" cy="210312"/>
          </a:xfrm>
          <a:prstGeom prst="rect">
            <a:avLst/>
          </a:prstGeom>
        </p:spPr>
      </p:pic>
      <p:sp>
        <p:nvSpPr>
          <p:cNvPr id="25" name="Text 19"/>
          <p:cNvSpPr/>
          <p:nvPr/>
        </p:nvSpPr>
        <p:spPr>
          <a:xfrm>
            <a:off x="1225296" y="3493008"/>
            <a:ext cx="1645920" cy="566928"/>
          </a:xfrm>
          <a:prstGeom prst="rect">
            <a:avLst/>
          </a:prstGeom>
          <a:noFill/>
          <a:ln/>
        </p:spPr>
        <p:txBody>
          <a:bodyPr wrap="square" lIns="0" tIns="0" rIns="0" bIns="0" rtlCol="0" anchor="ctr"/>
          <a:lstStyle/>
          <a:p>
            <a:pPr marL="0" indent="0">
              <a:buNone/>
            </a:pPr>
            <a:r>
              <a:rPr lang="en-US" sz="1300" b="1" dirty="0">
                <a:solidFill>
                  <a:srgbClr val="14333F"/>
                </a:solidFill>
                <a:latin typeface="Calibri" pitchFamily="34" charset="0"/>
                <a:ea typeface="Calibri" pitchFamily="34" charset="-122"/>
                <a:cs typeface="Calibri" pitchFamily="34" charset="-120"/>
              </a:rPr>
              <a:t>Username</a:t>
            </a:r>
            <a:endParaRPr lang="en-US" sz="1300" dirty="0"/>
          </a:p>
        </p:txBody>
      </p:sp>
      <p:sp>
        <p:nvSpPr>
          <p:cNvPr id="26" name="Text 20"/>
          <p:cNvSpPr/>
          <p:nvPr/>
        </p:nvSpPr>
        <p:spPr>
          <a:xfrm>
            <a:off x="2834640" y="3493008"/>
            <a:ext cx="2651760" cy="566928"/>
          </a:xfrm>
          <a:prstGeom prst="rect">
            <a:avLst/>
          </a:prstGeom>
          <a:noFill/>
          <a:ln/>
        </p:spPr>
        <p:txBody>
          <a:bodyPr wrap="square" lIns="0" tIns="0" rIns="0" bIns="0" rtlCol="0" anchor="ctr"/>
          <a:lstStyle/>
          <a:p>
            <a:pPr marL="0" indent="0">
              <a:buNone/>
            </a:pPr>
            <a:r>
              <a:rPr lang="en-US" sz="1300" b="1" dirty="0">
                <a:solidFill>
                  <a:srgbClr val="065A82"/>
                </a:solidFill>
                <a:latin typeface="Courier New" pitchFamily="34" charset="0"/>
                <a:ea typeface="Courier New" pitchFamily="34" charset="-122"/>
                <a:cs typeface="Courier New" pitchFamily="34" charset="-120"/>
              </a:rPr>
              <a:t>pdc_user</a:t>
            </a:r>
            <a:endParaRPr lang="en-US" sz="1300" dirty="0"/>
          </a:p>
        </p:txBody>
      </p:sp>
      <p:sp>
        <p:nvSpPr>
          <p:cNvPr id="27" name="Text 21"/>
          <p:cNvSpPr/>
          <p:nvPr/>
        </p:nvSpPr>
        <p:spPr>
          <a:xfrm>
            <a:off x="5486400" y="3493008"/>
            <a:ext cx="3017520" cy="566928"/>
          </a:xfrm>
          <a:prstGeom prst="rect">
            <a:avLst/>
          </a:prstGeom>
          <a:noFill/>
          <a:ln/>
        </p:spPr>
        <p:txBody>
          <a:bodyPr wrap="square" lIns="0" tIns="0" rIns="0" bIns="0" rtlCol="0" anchor="ctr"/>
          <a:lstStyle/>
          <a:p>
            <a:pPr marL="0" indent="0">
              <a:buNone/>
            </a:pPr>
            <a:r>
              <a:rPr lang="en-US" sz="1050" dirty="0">
                <a:solidFill>
                  <a:srgbClr val="5B7782"/>
                </a:solidFill>
                <a:latin typeface="Calibri" pitchFamily="34" charset="0"/>
                <a:ea typeface="Calibri" pitchFamily="34" charset="-122"/>
                <a:cs typeface="Calibri" pitchFamily="34" charset="-120"/>
              </a:rPr>
              <a:t>Read access to all six tables</a:t>
            </a:r>
            <a:endParaRPr lang="en-US" sz="1050" dirty="0"/>
          </a:p>
        </p:txBody>
      </p:sp>
      <p:sp>
        <p:nvSpPr>
          <p:cNvPr id="28" name="Shape 22"/>
          <p:cNvSpPr/>
          <p:nvPr/>
        </p:nvSpPr>
        <p:spPr>
          <a:xfrm>
            <a:off x="548640" y="4151376"/>
            <a:ext cx="8046720" cy="566928"/>
          </a:xfrm>
          <a:prstGeom prst="roundRect">
            <a:avLst>
              <a:gd name="adj" fmla="val 11290"/>
            </a:avLst>
          </a:prstGeom>
          <a:solidFill>
            <a:srgbClr val="EEF6FA"/>
          </a:solidFill>
          <a:ln/>
          <a:effectLst>
            <a:outerShdw blurRad="50800" dist="12700" dir="5400000" algn="bl" rotWithShape="0">
              <a:srgbClr val="0A3D52">
                <a:alpha val="7000"/>
              </a:srgbClr>
            </a:outerShdw>
          </a:effectLst>
        </p:spPr>
      </p:sp>
      <p:sp>
        <p:nvSpPr>
          <p:cNvPr id="29" name="Shape 23"/>
          <p:cNvSpPr/>
          <p:nvPr/>
        </p:nvSpPr>
        <p:spPr>
          <a:xfrm>
            <a:off x="676656" y="4242816"/>
            <a:ext cx="384048" cy="384048"/>
          </a:xfrm>
          <a:prstGeom prst="ellipse">
            <a:avLst/>
          </a:prstGeom>
          <a:solidFill>
            <a:srgbClr val="065A82"/>
          </a:solidFill>
          <a:ln/>
        </p:spPr>
      </p:sp>
      <p:pic>
        <p:nvPicPr>
          <p:cNvPr id="30" name="Image 4" descr="preencoded.png"/>
          <p:cNvPicPr>
            <a:picLocks noChangeAspect="1"/>
          </p:cNvPicPr>
          <p:nvPr/>
        </p:nvPicPr>
        <p:blipFill>
          <a:blip r:embed="rId7"/>
          <a:stretch>
            <a:fillRect/>
          </a:stretch>
        </p:blipFill>
        <p:spPr>
          <a:xfrm>
            <a:off x="763524" y="4329684"/>
            <a:ext cx="210312" cy="210312"/>
          </a:xfrm>
          <a:prstGeom prst="rect">
            <a:avLst/>
          </a:prstGeom>
        </p:spPr>
      </p:pic>
      <p:sp>
        <p:nvSpPr>
          <p:cNvPr id="31" name="Text 24"/>
          <p:cNvSpPr/>
          <p:nvPr/>
        </p:nvSpPr>
        <p:spPr>
          <a:xfrm>
            <a:off x="1225296" y="4151376"/>
            <a:ext cx="1645920" cy="566928"/>
          </a:xfrm>
          <a:prstGeom prst="rect">
            <a:avLst/>
          </a:prstGeom>
          <a:noFill/>
          <a:ln/>
        </p:spPr>
        <p:txBody>
          <a:bodyPr wrap="square" lIns="0" tIns="0" rIns="0" bIns="0" rtlCol="0" anchor="ctr"/>
          <a:lstStyle/>
          <a:p>
            <a:pPr marL="0" indent="0">
              <a:buNone/>
            </a:pPr>
            <a:r>
              <a:rPr lang="en-US" sz="1300" b="1" dirty="0">
                <a:solidFill>
                  <a:srgbClr val="14333F"/>
                </a:solidFill>
                <a:latin typeface="Calibri" pitchFamily="34" charset="0"/>
                <a:ea typeface="Calibri" pitchFamily="34" charset="-122"/>
                <a:cs typeface="Calibri" pitchFamily="34" charset="-120"/>
              </a:rPr>
              <a:t>Password</a:t>
            </a:r>
            <a:endParaRPr lang="en-US" sz="1300" dirty="0"/>
          </a:p>
        </p:txBody>
      </p:sp>
      <p:sp>
        <p:nvSpPr>
          <p:cNvPr id="32" name="Text 25"/>
          <p:cNvSpPr/>
          <p:nvPr/>
        </p:nvSpPr>
        <p:spPr>
          <a:xfrm>
            <a:off x="2834640" y="4151376"/>
            <a:ext cx="2651760" cy="566928"/>
          </a:xfrm>
          <a:prstGeom prst="rect">
            <a:avLst/>
          </a:prstGeom>
          <a:noFill/>
          <a:ln/>
        </p:spPr>
        <p:txBody>
          <a:bodyPr wrap="square" lIns="0" tIns="0" rIns="0" bIns="0" rtlCol="0" anchor="ctr"/>
          <a:lstStyle/>
          <a:p>
            <a:pPr marL="0" indent="0">
              <a:buNone/>
            </a:pPr>
            <a:r>
              <a:rPr lang="en-US" sz="1300" b="1" dirty="0">
                <a:solidFill>
                  <a:srgbClr val="065A82"/>
                </a:solidFill>
                <a:latin typeface="Courier New" pitchFamily="34" charset="0"/>
                <a:ea typeface="Courier New" pitchFamily="34" charset="-122"/>
                <a:cs typeface="Courier New" pitchFamily="34" charset="-120"/>
              </a:rPr>
              <a:t>catalog123!</a:t>
            </a:r>
            <a:endParaRPr lang="en-US" sz="1300" dirty="0"/>
          </a:p>
        </p:txBody>
      </p:sp>
      <p:sp>
        <p:nvSpPr>
          <p:cNvPr id="33" name="Text 26"/>
          <p:cNvSpPr/>
          <p:nvPr/>
        </p:nvSpPr>
        <p:spPr>
          <a:xfrm>
            <a:off x="5486400" y="4151376"/>
            <a:ext cx="3017520" cy="566928"/>
          </a:xfrm>
          <a:prstGeom prst="rect">
            <a:avLst/>
          </a:prstGeom>
          <a:noFill/>
          <a:ln/>
        </p:spPr>
        <p:txBody>
          <a:bodyPr wrap="square" lIns="0" tIns="0" rIns="0" bIns="0" rtlCol="0" anchor="ctr"/>
          <a:lstStyle/>
          <a:p>
            <a:pPr marL="0" indent="0">
              <a:buNone/>
            </a:pPr>
            <a:r>
              <a:rPr lang="en-US" sz="1050" dirty="0">
                <a:solidFill>
                  <a:srgbClr val="5B7782"/>
                </a:solidFill>
                <a:latin typeface="Calibri" pitchFamily="34" charset="0"/>
                <a:ea typeface="Calibri" pitchFamily="34" charset="-122"/>
                <a:cs typeface="Calibri" pitchFamily="34" charset="-120"/>
              </a:rPr>
              <a:t>Lab credential — change in production</a:t>
            </a:r>
            <a:endParaRPr lang="en-US" sz="1050" dirty="0"/>
          </a:p>
        </p:txBody>
      </p:sp>
      <p:sp>
        <p:nvSpPr>
          <p:cNvPr id="34" name="Text 27"/>
          <p:cNvSpPr/>
          <p:nvPr/>
        </p:nvSpPr>
        <p:spPr>
          <a:xfrm>
            <a:off x="548640" y="4828032"/>
            <a:ext cx="7315200" cy="274320"/>
          </a:xfrm>
          <a:prstGeom prst="rect">
            <a:avLst/>
          </a:prstGeom>
          <a:noFill/>
          <a:ln/>
        </p:spPr>
        <p:txBody>
          <a:bodyPr wrap="square" lIns="0" tIns="0" rIns="0" bIns="0" rtlCol="0" anchor="ctr"/>
          <a:lstStyle/>
          <a:p>
            <a:pPr marL="0" indent="0">
              <a:buNone/>
            </a:pPr>
            <a:r>
              <a:rPr lang="en-US" sz="950" dirty="0">
                <a:solidFill>
                  <a:srgbClr val="5B7782"/>
                </a:solidFill>
                <a:latin typeface="Calibri" pitchFamily="34" charset="0"/>
                <a:ea typeface="Calibri" pitchFamily="34" charset="-122"/>
                <a:cs typeface="Calibri" pitchFamily="34" charset="-120"/>
              </a:rPr>
              <a:t>Workshop 1 · Keep these handy — you'll enter them in Step 3</a:t>
            </a:r>
            <a:endParaRPr lang="en-US" sz="950" dirty="0"/>
          </a:p>
        </p:txBody>
      </p:sp>
      <p:sp>
        <p:nvSpPr>
          <p:cNvPr id="35" name="Text 28"/>
          <p:cNvSpPr/>
          <p:nvPr/>
        </p:nvSpPr>
        <p:spPr>
          <a:xfrm>
            <a:off x="8366760" y="4828032"/>
            <a:ext cx="320040" cy="274320"/>
          </a:xfrm>
          <a:prstGeom prst="rect">
            <a:avLst/>
          </a:prstGeom>
          <a:noFill/>
          <a:ln/>
        </p:spPr>
        <p:txBody>
          <a:bodyPr wrap="square" lIns="0" tIns="0" rIns="0" bIns="0" rtlCol="0" anchor="ctr"/>
          <a:lstStyle/>
          <a:p>
            <a:pPr marL="0" indent="0" algn="r">
              <a:buNone/>
            </a:pPr>
            <a:r>
              <a:rPr lang="en-US" sz="950" dirty="0">
                <a:solidFill>
                  <a:srgbClr val="5B7782"/>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6766560" cy="292608"/>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THE PROCEDURE</a:t>
            </a:r>
            <a:endParaRPr lang="en-US" sz="1200" dirty="0"/>
          </a:p>
        </p:txBody>
      </p:sp>
      <p:sp>
        <p:nvSpPr>
          <p:cNvPr id="3" name="Text 1"/>
          <p:cNvSpPr/>
          <p:nvPr/>
        </p:nvSpPr>
        <p:spPr>
          <a:xfrm>
            <a:off x="548640" y="713232"/>
            <a:ext cx="7040880" cy="566928"/>
          </a:xfrm>
          <a:prstGeom prst="rect">
            <a:avLst/>
          </a:prstGeom>
          <a:noFill/>
          <a:ln/>
        </p:spPr>
        <p:txBody>
          <a:bodyPr wrap="square" lIns="0" tIns="0" rIns="0" bIns="0" rtlCol="0" anchor="ctr"/>
          <a:lstStyle/>
          <a:p>
            <a:pPr marL="0" indent="0">
              <a:buNone/>
            </a:pPr>
            <a:r>
              <a:rPr lang="en-US" sz="2700" b="1" dirty="0">
                <a:solidFill>
                  <a:srgbClr val="14333F"/>
                </a:solidFill>
                <a:latin typeface="Bookman Old Style" pitchFamily="34" charset="0"/>
                <a:ea typeface="Bookman Old Style" pitchFamily="34" charset="-122"/>
                <a:cs typeface="Bookman Old Style" pitchFamily="34" charset="-120"/>
              </a:rPr>
              <a:t>Seven steps to a governed data source</a:t>
            </a:r>
            <a:endParaRPr lang="en-US" sz="2700" dirty="0"/>
          </a:p>
        </p:txBody>
      </p:sp>
      <p:sp>
        <p:nvSpPr>
          <p:cNvPr id="4" name="Shape 2"/>
          <p:cNvSpPr/>
          <p:nvPr/>
        </p:nvSpPr>
        <p:spPr>
          <a:xfrm>
            <a:off x="548640" y="1481328"/>
            <a:ext cx="457200" cy="457200"/>
          </a:xfrm>
          <a:prstGeom prst="ellipse">
            <a:avLst/>
          </a:prstGeom>
          <a:solidFill>
            <a:srgbClr val="065A82"/>
          </a:solidFill>
          <a:ln/>
        </p:spPr>
      </p:sp>
      <p:sp>
        <p:nvSpPr>
          <p:cNvPr id="5" name="Text 3"/>
          <p:cNvSpPr/>
          <p:nvPr/>
        </p:nvSpPr>
        <p:spPr>
          <a:xfrm>
            <a:off x="548640" y="14813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143000" y="1463040"/>
            <a:ext cx="2743200" cy="457200"/>
          </a:xfrm>
          <a:prstGeom prst="rect">
            <a:avLst/>
          </a:prstGeom>
          <a:noFill/>
          <a:ln/>
        </p:spPr>
        <p:txBody>
          <a:bodyPr wrap="square" lIns="0" tIns="0" rIns="0" bIns="0" rtlCol="0" anchor="ctr"/>
          <a:lstStyle/>
          <a:p>
            <a:pPr marL="0" indent="0">
              <a:buNone/>
            </a:pPr>
            <a:r>
              <a:rPr lang="en-US" sz="1350" b="1" dirty="0">
                <a:solidFill>
                  <a:srgbClr val="14333F"/>
                </a:solidFill>
                <a:latin typeface="Calibri" pitchFamily="34" charset="0"/>
                <a:ea typeface="Calibri" pitchFamily="34" charset="-122"/>
                <a:cs typeface="Calibri" pitchFamily="34" charset="-120"/>
              </a:rPr>
              <a:t>Open Data Sources</a:t>
            </a:r>
            <a:endParaRPr lang="en-US" sz="1350" dirty="0"/>
          </a:p>
        </p:txBody>
      </p:sp>
      <p:sp>
        <p:nvSpPr>
          <p:cNvPr id="7" name="Text 5"/>
          <p:cNvSpPr/>
          <p:nvPr/>
        </p:nvSpPr>
        <p:spPr>
          <a:xfrm>
            <a:off x="3931920" y="1463040"/>
            <a:ext cx="4617720" cy="457200"/>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Management → Resources → Add Data Source</a:t>
            </a:r>
            <a:endParaRPr lang="en-US" sz="1150" dirty="0"/>
          </a:p>
        </p:txBody>
      </p:sp>
      <p:sp>
        <p:nvSpPr>
          <p:cNvPr id="8" name="Shape 6"/>
          <p:cNvSpPr/>
          <p:nvPr/>
        </p:nvSpPr>
        <p:spPr>
          <a:xfrm>
            <a:off x="777240" y="1938528"/>
            <a:ext cx="0" cy="18288"/>
          </a:xfrm>
          <a:prstGeom prst="line">
            <a:avLst/>
          </a:prstGeom>
          <a:noFill/>
          <a:ln w="19050">
            <a:solidFill>
              <a:srgbClr val="C9DEE8"/>
            </a:solidFill>
            <a:prstDash val="solid"/>
          </a:ln>
        </p:spPr>
      </p:sp>
      <p:sp>
        <p:nvSpPr>
          <p:cNvPr id="9" name="Shape 7"/>
          <p:cNvSpPr/>
          <p:nvPr/>
        </p:nvSpPr>
        <p:spPr>
          <a:xfrm>
            <a:off x="548640" y="1938528"/>
            <a:ext cx="457200" cy="457200"/>
          </a:xfrm>
          <a:prstGeom prst="ellipse">
            <a:avLst/>
          </a:prstGeom>
          <a:solidFill>
            <a:srgbClr val="065A82"/>
          </a:solidFill>
          <a:ln/>
        </p:spPr>
      </p:sp>
      <p:sp>
        <p:nvSpPr>
          <p:cNvPr id="10" name="Text 8"/>
          <p:cNvSpPr/>
          <p:nvPr/>
        </p:nvSpPr>
        <p:spPr>
          <a:xfrm>
            <a:off x="548640" y="19385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p:nvPr/>
        </p:nvSpPr>
        <p:spPr>
          <a:xfrm>
            <a:off x="1143000" y="1920240"/>
            <a:ext cx="2743200" cy="457200"/>
          </a:xfrm>
          <a:prstGeom prst="rect">
            <a:avLst/>
          </a:prstGeom>
          <a:noFill/>
          <a:ln/>
        </p:spPr>
        <p:txBody>
          <a:bodyPr wrap="square" lIns="0" tIns="0" rIns="0" bIns="0" rtlCol="0" anchor="ctr"/>
          <a:lstStyle/>
          <a:p>
            <a:pPr marL="0" indent="0">
              <a:buNone/>
            </a:pPr>
            <a:r>
              <a:rPr lang="en-US" sz="1350" b="1" dirty="0">
                <a:solidFill>
                  <a:srgbClr val="14333F"/>
                </a:solidFill>
                <a:latin typeface="Calibri" pitchFamily="34" charset="0"/>
                <a:ea typeface="Calibri" pitchFamily="34" charset="-122"/>
                <a:cs typeface="Calibri" pitchFamily="34" charset="-120"/>
              </a:rPr>
              <a:t>Choose PostgreSQL</a:t>
            </a:r>
            <a:endParaRPr lang="en-US" sz="1350" dirty="0"/>
          </a:p>
        </p:txBody>
      </p:sp>
      <p:sp>
        <p:nvSpPr>
          <p:cNvPr id="12" name="Text 10"/>
          <p:cNvSpPr/>
          <p:nvPr/>
        </p:nvSpPr>
        <p:spPr>
          <a:xfrm>
            <a:off x="3931920" y="1920240"/>
            <a:ext cx="4617720" cy="457200"/>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Select the connector type</a:t>
            </a:r>
            <a:endParaRPr lang="en-US" sz="1150" dirty="0"/>
          </a:p>
        </p:txBody>
      </p:sp>
      <p:sp>
        <p:nvSpPr>
          <p:cNvPr id="13" name="Shape 11"/>
          <p:cNvSpPr/>
          <p:nvPr/>
        </p:nvSpPr>
        <p:spPr>
          <a:xfrm>
            <a:off x="777240" y="2395728"/>
            <a:ext cx="0" cy="18288"/>
          </a:xfrm>
          <a:prstGeom prst="line">
            <a:avLst/>
          </a:prstGeom>
          <a:noFill/>
          <a:ln w="19050">
            <a:solidFill>
              <a:srgbClr val="C9DEE8"/>
            </a:solidFill>
            <a:prstDash val="solid"/>
          </a:ln>
        </p:spPr>
      </p:sp>
      <p:sp>
        <p:nvSpPr>
          <p:cNvPr id="14" name="Shape 12"/>
          <p:cNvSpPr/>
          <p:nvPr/>
        </p:nvSpPr>
        <p:spPr>
          <a:xfrm>
            <a:off x="548640" y="2395728"/>
            <a:ext cx="457200" cy="457200"/>
          </a:xfrm>
          <a:prstGeom prst="ellipse">
            <a:avLst/>
          </a:prstGeom>
          <a:solidFill>
            <a:srgbClr val="065A82"/>
          </a:solidFill>
          <a:ln/>
        </p:spPr>
      </p:sp>
      <p:sp>
        <p:nvSpPr>
          <p:cNvPr id="15" name="Text 13"/>
          <p:cNvSpPr/>
          <p:nvPr/>
        </p:nvSpPr>
        <p:spPr>
          <a:xfrm>
            <a:off x="548640" y="23957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4"/>
          <p:cNvSpPr/>
          <p:nvPr/>
        </p:nvSpPr>
        <p:spPr>
          <a:xfrm>
            <a:off x="1143000" y="2377440"/>
            <a:ext cx="2743200" cy="457200"/>
          </a:xfrm>
          <a:prstGeom prst="rect">
            <a:avLst/>
          </a:prstGeom>
          <a:noFill/>
          <a:ln/>
        </p:spPr>
        <p:txBody>
          <a:bodyPr wrap="square" lIns="0" tIns="0" rIns="0" bIns="0" rtlCol="0" anchor="ctr"/>
          <a:lstStyle/>
          <a:p>
            <a:pPr marL="0" indent="0">
              <a:buNone/>
            </a:pPr>
            <a:r>
              <a:rPr lang="en-US" sz="1350" b="1" dirty="0">
                <a:solidFill>
                  <a:srgbClr val="14333F"/>
                </a:solidFill>
                <a:latin typeface="Calibri" pitchFamily="34" charset="0"/>
                <a:ea typeface="Calibri" pitchFamily="34" charset="-122"/>
                <a:cs typeface="Calibri" pitchFamily="34" charset="-120"/>
              </a:rPr>
              <a:t>Enter parameters</a:t>
            </a:r>
            <a:endParaRPr lang="en-US" sz="1350" dirty="0"/>
          </a:p>
        </p:txBody>
      </p:sp>
      <p:sp>
        <p:nvSpPr>
          <p:cNvPr id="17" name="Text 15"/>
          <p:cNvSpPr/>
          <p:nvPr/>
        </p:nvSpPr>
        <p:spPr>
          <a:xfrm>
            <a:off x="3931920" y="2377440"/>
            <a:ext cx="4617720" cy="457200"/>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Host, port, database, credentials</a:t>
            </a:r>
            <a:endParaRPr lang="en-US" sz="1150" dirty="0"/>
          </a:p>
        </p:txBody>
      </p:sp>
      <p:sp>
        <p:nvSpPr>
          <p:cNvPr id="18" name="Shape 16"/>
          <p:cNvSpPr/>
          <p:nvPr/>
        </p:nvSpPr>
        <p:spPr>
          <a:xfrm>
            <a:off x="777240" y="2852928"/>
            <a:ext cx="0" cy="18288"/>
          </a:xfrm>
          <a:prstGeom prst="line">
            <a:avLst/>
          </a:prstGeom>
          <a:noFill/>
          <a:ln w="19050">
            <a:solidFill>
              <a:srgbClr val="C9DEE8"/>
            </a:solidFill>
            <a:prstDash val="solid"/>
          </a:ln>
        </p:spPr>
      </p:sp>
      <p:sp>
        <p:nvSpPr>
          <p:cNvPr id="19" name="Shape 17"/>
          <p:cNvSpPr/>
          <p:nvPr/>
        </p:nvSpPr>
        <p:spPr>
          <a:xfrm>
            <a:off x="548640" y="2852928"/>
            <a:ext cx="457200" cy="457200"/>
          </a:xfrm>
          <a:prstGeom prst="ellipse">
            <a:avLst/>
          </a:prstGeom>
          <a:solidFill>
            <a:srgbClr val="065A82"/>
          </a:solidFill>
          <a:ln/>
        </p:spPr>
      </p:sp>
      <p:sp>
        <p:nvSpPr>
          <p:cNvPr id="20" name="Text 18"/>
          <p:cNvSpPr/>
          <p:nvPr/>
        </p:nvSpPr>
        <p:spPr>
          <a:xfrm>
            <a:off x="548640" y="28529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1" name="Text 19"/>
          <p:cNvSpPr/>
          <p:nvPr/>
        </p:nvSpPr>
        <p:spPr>
          <a:xfrm>
            <a:off x="1143000" y="2834640"/>
            <a:ext cx="2743200" cy="457200"/>
          </a:xfrm>
          <a:prstGeom prst="rect">
            <a:avLst/>
          </a:prstGeom>
          <a:noFill/>
          <a:ln/>
        </p:spPr>
        <p:txBody>
          <a:bodyPr wrap="square" lIns="0" tIns="0" rIns="0" bIns="0" rtlCol="0" anchor="ctr"/>
          <a:lstStyle/>
          <a:p>
            <a:pPr marL="0" indent="0">
              <a:buNone/>
            </a:pPr>
            <a:r>
              <a:rPr lang="en-US" sz="1350" b="1" dirty="0">
                <a:solidFill>
                  <a:srgbClr val="14333F"/>
                </a:solidFill>
                <a:latin typeface="Calibri" pitchFamily="34" charset="0"/>
                <a:ea typeface="Calibri" pitchFamily="34" charset="-122"/>
                <a:cs typeface="Calibri" pitchFamily="34" charset="-120"/>
              </a:rPr>
              <a:t>Test Connection</a:t>
            </a:r>
            <a:endParaRPr lang="en-US" sz="1350" dirty="0"/>
          </a:p>
        </p:txBody>
      </p:sp>
      <p:sp>
        <p:nvSpPr>
          <p:cNvPr id="22" name="Text 20"/>
          <p:cNvSpPr/>
          <p:nvPr/>
        </p:nvSpPr>
        <p:spPr>
          <a:xfrm>
            <a:off x="3931920" y="2834640"/>
            <a:ext cx="4617720" cy="457200"/>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Confirm the green success message</a:t>
            </a:r>
            <a:endParaRPr lang="en-US" sz="1150" dirty="0"/>
          </a:p>
        </p:txBody>
      </p:sp>
      <p:sp>
        <p:nvSpPr>
          <p:cNvPr id="23" name="Shape 21"/>
          <p:cNvSpPr/>
          <p:nvPr/>
        </p:nvSpPr>
        <p:spPr>
          <a:xfrm>
            <a:off x="777240" y="3310128"/>
            <a:ext cx="0" cy="18288"/>
          </a:xfrm>
          <a:prstGeom prst="line">
            <a:avLst/>
          </a:prstGeom>
          <a:noFill/>
          <a:ln w="19050">
            <a:solidFill>
              <a:srgbClr val="C9DEE8"/>
            </a:solidFill>
            <a:prstDash val="solid"/>
          </a:ln>
        </p:spPr>
      </p:sp>
      <p:sp>
        <p:nvSpPr>
          <p:cNvPr id="24" name="Shape 22"/>
          <p:cNvSpPr/>
          <p:nvPr/>
        </p:nvSpPr>
        <p:spPr>
          <a:xfrm>
            <a:off x="548640" y="3310128"/>
            <a:ext cx="457200" cy="457200"/>
          </a:xfrm>
          <a:prstGeom prst="ellipse">
            <a:avLst/>
          </a:prstGeom>
          <a:solidFill>
            <a:srgbClr val="065A82"/>
          </a:solidFill>
          <a:ln/>
        </p:spPr>
      </p:sp>
      <p:sp>
        <p:nvSpPr>
          <p:cNvPr id="25" name="Text 23"/>
          <p:cNvSpPr/>
          <p:nvPr/>
        </p:nvSpPr>
        <p:spPr>
          <a:xfrm>
            <a:off x="548640" y="33101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6" name="Text 24"/>
          <p:cNvSpPr/>
          <p:nvPr/>
        </p:nvSpPr>
        <p:spPr>
          <a:xfrm>
            <a:off x="1143000" y="3291840"/>
            <a:ext cx="2743200" cy="457200"/>
          </a:xfrm>
          <a:prstGeom prst="rect">
            <a:avLst/>
          </a:prstGeom>
          <a:noFill/>
          <a:ln/>
        </p:spPr>
        <p:txBody>
          <a:bodyPr wrap="square" lIns="0" tIns="0" rIns="0" bIns="0" rtlCol="0" anchor="ctr"/>
          <a:lstStyle/>
          <a:p>
            <a:pPr marL="0" indent="0">
              <a:buNone/>
            </a:pPr>
            <a:r>
              <a:rPr lang="en-US" sz="1350" b="1" dirty="0">
                <a:solidFill>
                  <a:srgbClr val="14333F"/>
                </a:solidFill>
                <a:latin typeface="Calibri" pitchFamily="34" charset="0"/>
                <a:ea typeface="Calibri" pitchFamily="34" charset="-122"/>
                <a:cs typeface="Calibri" pitchFamily="34" charset="-120"/>
              </a:rPr>
              <a:t>Save the source</a:t>
            </a:r>
            <a:endParaRPr lang="en-US" sz="1350" dirty="0"/>
          </a:p>
        </p:txBody>
      </p:sp>
      <p:sp>
        <p:nvSpPr>
          <p:cNvPr id="27" name="Text 25"/>
          <p:cNvSpPr/>
          <p:nvPr/>
        </p:nvSpPr>
        <p:spPr>
          <a:xfrm>
            <a:off x="3931920" y="3291840"/>
            <a:ext cx="4617720" cy="457200"/>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Name it 'Copper State — Operations'</a:t>
            </a:r>
            <a:endParaRPr lang="en-US" sz="1150" dirty="0"/>
          </a:p>
        </p:txBody>
      </p:sp>
      <p:sp>
        <p:nvSpPr>
          <p:cNvPr id="28" name="Shape 26"/>
          <p:cNvSpPr/>
          <p:nvPr/>
        </p:nvSpPr>
        <p:spPr>
          <a:xfrm>
            <a:off x="777240" y="3767328"/>
            <a:ext cx="0" cy="18288"/>
          </a:xfrm>
          <a:prstGeom prst="line">
            <a:avLst/>
          </a:prstGeom>
          <a:noFill/>
          <a:ln w="19050">
            <a:solidFill>
              <a:srgbClr val="C9DEE8"/>
            </a:solidFill>
            <a:prstDash val="solid"/>
          </a:ln>
        </p:spPr>
      </p:sp>
      <p:sp>
        <p:nvSpPr>
          <p:cNvPr id="29" name="Shape 27"/>
          <p:cNvSpPr/>
          <p:nvPr/>
        </p:nvSpPr>
        <p:spPr>
          <a:xfrm>
            <a:off x="548640" y="3767328"/>
            <a:ext cx="457200" cy="457200"/>
          </a:xfrm>
          <a:prstGeom prst="ellipse">
            <a:avLst/>
          </a:prstGeom>
          <a:solidFill>
            <a:srgbClr val="065A82"/>
          </a:solidFill>
          <a:ln/>
        </p:spPr>
      </p:sp>
      <p:sp>
        <p:nvSpPr>
          <p:cNvPr id="30" name="Text 28"/>
          <p:cNvSpPr/>
          <p:nvPr/>
        </p:nvSpPr>
        <p:spPr>
          <a:xfrm>
            <a:off x="548640" y="37673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1" name="Text 29"/>
          <p:cNvSpPr/>
          <p:nvPr/>
        </p:nvSpPr>
        <p:spPr>
          <a:xfrm>
            <a:off x="1143000" y="3749040"/>
            <a:ext cx="2743200" cy="457200"/>
          </a:xfrm>
          <a:prstGeom prst="rect">
            <a:avLst/>
          </a:prstGeom>
          <a:noFill/>
          <a:ln/>
        </p:spPr>
        <p:txBody>
          <a:bodyPr wrap="square" lIns="0" tIns="0" rIns="0" bIns="0" rtlCol="0" anchor="ctr"/>
          <a:lstStyle/>
          <a:p>
            <a:pPr marL="0" indent="0">
              <a:buNone/>
            </a:pPr>
            <a:r>
              <a:rPr lang="en-US" sz="1350" b="1" dirty="0">
                <a:solidFill>
                  <a:srgbClr val="14333F"/>
                </a:solidFill>
                <a:latin typeface="Calibri" pitchFamily="34" charset="0"/>
                <a:ea typeface="Calibri" pitchFamily="34" charset="-122"/>
                <a:cs typeface="Calibri" pitchFamily="34" charset="-120"/>
              </a:rPr>
              <a:t>Ingest Schema</a:t>
            </a:r>
            <a:endParaRPr lang="en-US" sz="1350" dirty="0"/>
          </a:p>
        </p:txBody>
      </p:sp>
      <p:sp>
        <p:nvSpPr>
          <p:cNvPr id="32" name="Text 30"/>
          <p:cNvSpPr/>
          <p:nvPr/>
        </p:nvSpPr>
        <p:spPr>
          <a:xfrm>
            <a:off x="3931920" y="3749040"/>
            <a:ext cx="4617720" cy="457200"/>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Select cscu_core, run ingestion</a:t>
            </a:r>
            <a:endParaRPr lang="en-US" sz="1150" dirty="0"/>
          </a:p>
        </p:txBody>
      </p:sp>
      <p:sp>
        <p:nvSpPr>
          <p:cNvPr id="33" name="Shape 31"/>
          <p:cNvSpPr/>
          <p:nvPr/>
        </p:nvSpPr>
        <p:spPr>
          <a:xfrm>
            <a:off x="777240" y="4224528"/>
            <a:ext cx="0" cy="18288"/>
          </a:xfrm>
          <a:prstGeom prst="line">
            <a:avLst/>
          </a:prstGeom>
          <a:noFill/>
          <a:ln w="19050">
            <a:solidFill>
              <a:srgbClr val="C9DEE8"/>
            </a:solidFill>
            <a:prstDash val="solid"/>
          </a:ln>
        </p:spPr>
      </p:sp>
      <p:sp>
        <p:nvSpPr>
          <p:cNvPr id="34" name="Shape 32"/>
          <p:cNvSpPr/>
          <p:nvPr/>
        </p:nvSpPr>
        <p:spPr>
          <a:xfrm>
            <a:off x="548640" y="4224528"/>
            <a:ext cx="457200" cy="457200"/>
          </a:xfrm>
          <a:prstGeom prst="ellipse">
            <a:avLst/>
          </a:prstGeom>
          <a:solidFill>
            <a:srgbClr val="2EC4B6"/>
          </a:solidFill>
          <a:ln/>
        </p:spPr>
      </p:sp>
      <p:sp>
        <p:nvSpPr>
          <p:cNvPr id="35" name="Text 33"/>
          <p:cNvSpPr/>
          <p:nvPr/>
        </p:nvSpPr>
        <p:spPr>
          <a:xfrm>
            <a:off x="548640" y="42245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36" name="Text 34"/>
          <p:cNvSpPr/>
          <p:nvPr/>
        </p:nvSpPr>
        <p:spPr>
          <a:xfrm>
            <a:off x="1143000" y="4206240"/>
            <a:ext cx="2743200" cy="457200"/>
          </a:xfrm>
          <a:prstGeom prst="rect">
            <a:avLst/>
          </a:prstGeom>
          <a:noFill/>
          <a:ln/>
        </p:spPr>
        <p:txBody>
          <a:bodyPr wrap="square" lIns="0" tIns="0" rIns="0" bIns="0" rtlCol="0" anchor="ctr"/>
          <a:lstStyle/>
          <a:p>
            <a:pPr marL="0" indent="0">
              <a:buNone/>
            </a:pPr>
            <a:r>
              <a:rPr lang="en-US" sz="1350" b="1" dirty="0">
                <a:solidFill>
                  <a:srgbClr val="14333F"/>
                </a:solidFill>
                <a:latin typeface="Calibri" pitchFamily="34" charset="0"/>
                <a:ea typeface="Calibri" pitchFamily="34" charset="-122"/>
                <a:cs typeface="Calibri" pitchFamily="34" charset="-120"/>
              </a:rPr>
              <a:t>Verify in Discovery</a:t>
            </a:r>
            <a:endParaRPr lang="en-US" sz="1350" dirty="0"/>
          </a:p>
        </p:txBody>
      </p:sp>
      <p:sp>
        <p:nvSpPr>
          <p:cNvPr id="37" name="Text 35"/>
          <p:cNvSpPr/>
          <p:nvPr/>
        </p:nvSpPr>
        <p:spPr>
          <a:xfrm>
            <a:off x="3931920" y="4206240"/>
            <a:ext cx="4617720" cy="457200"/>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Search and confirm 6 tables appear</a:t>
            </a:r>
            <a:endParaRPr lang="en-US" sz="1150" dirty="0"/>
          </a:p>
        </p:txBody>
      </p:sp>
      <p:sp>
        <p:nvSpPr>
          <p:cNvPr id="38" name="Text 36"/>
          <p:cNvSpPr/>
          <p:nvPr/>
        </p:nvSpPr>
        <p:spPr>
          <a:xfrm>
            <a:off x="548640" y="4828032"/>
            <a:ext cx="7315200" cy="274320"/>
          </a:xfrm>
          <a:prstGeom prst="rect">
            <a:avLst/>
          </a:prstGeom>
          <a:noFill/>
          <a:ln/>
        </p:spPr>
        <p:txBody>
          <a:bodyPr wrap="square" lIns="0" tIns="0" rIns="0" bIns="0" rtlCol="0" anchor="ctr"/>
          <a:lstStyle/>
          <a:p>
            <a:pPr marL="0" indent="0">
              <a:buNone/>
            </a:pPr>
            <a:r>
              <a:rPr lang="en-US" sz="950" dirty="0">
                <a:solidFill>
                  <a:srgbClr val="5B7782"/>
                </a:solidFill>
                <a:latin typeface="Calibri" pitchFamily="34" charset="0"/>
                <a:ea typeface="Calibri" pitchFamily="34" charset="-122"/>
                <a:cs typeface="Calibri" pitchFamily="34" charset="-120"/>
              </a:rPr>
              <a:t>Workshop 1 · Full click-paths are in the Workshop Guide</a:t>
            </a:r>
            <a:endParaRPr lang="en-US" sz="950" dirty="0"/>
          </a:p>
        </p:txBody>
      </p:sp>
      <p:sp>
        <p:nvSpPr>
          <p:cNvPr id="39" name="Text 37"/>
          <p:cNvSpPr/>
          <p:nvPr/>
        </p:nvSpPr>
        <p:spPr>
          <a:xfrm>
            <a:off x="8366760" y="4828032"/>
            <a:ext cx="320040" cy="274320"/>
          </a:xfrm>
          <a:prstGeom prst="rect">
            <a:avLst/>
          </a:prstGeom>
          <a:noFill/>
          <a:ln/>
        </p:spPr>
        <p:txBody>
          <a:bodyPr wrap="square" lIns="0" tIns="0" rIns="0" bIns="0" rtlCol="0" anchor="ctr"/>
          <a:lstStyle/>
          <a:p>
            <a:pPr marL="0" indent="0" algn="r">
              <a:buNone/>
            </a:pPr>
            <a:r>
              <a:rPr lang="en-US" sz="950" dirty="0">
                <a:solidFill>
                  <a:srgbClr val="5B7782"/>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6766560" cy="292608"/>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WHEN THINGS GO WRONG</a:t>
            </a:r>
            <a:endParaRPr lang="en-US" sz="1200" dirty="0"/>
          </a:p>
        </p:txBody>
      </p:sp>
      <p:sp>
        <p:nvSpPr>
          <p:cNvPr id="3" name="Text 1"/>
          <p:cNvSpPr/>
          <p:nvPr/>
        </p:nvSpPr>
        <p:spPr>
          <a:xfrm>
            <a:off x="548640" y="713232"/>
            <a:ext cx="7040880" cy="566928"/>
          </a:xfrm>
          <a:prstGeom prst="rect">
            <a:avLst/>
          </a:prstGeom>
          <a:noFill/>
          <a:ln/>
        </p:spPr>
        <p:txBody>
          <a:bodyPr wrap="square" lIns="0" tIns="0" rIns="0" bIns="0" rtlCol="0" anchor="ctr"/>
          <a:lstStyle/>
          <a:p>
            <a:pPr marL="0" indent="0">
              <a:buNone/>
            </a:pPr>
            <a:r>
              <a:rPr lang="en-US" sz="2700" b="1" dirty="0">
                <a:solidFill>
                  <a:srgbClr val="14333F"/>
                </a:solidFill>
                <a:latin typeface="Bookman Old Style" pitchFamily="34" charset="0"/>
                <a:ea typeface="Bookman Old Style" pitchFamily="34" charset="-122"/>
                <a:cs typeface="Bookman Old Style" pitchFamily="34" charset="-120"/>
              </a:rPr>
              <a:t>Troubleshooting the connection</a:t>
            </a:r>
            <a:endParaRPr lang="en-US" sz="2700" dirty="0"/>
          </a:p>
        </p:txBody>
      </p:sp>
      <p:sp>
        <p:nvSpPr>
          <p:cNvPr id="4" name="Shape 2"/>
          <p:cNvSpPr/>
          <p:nvPr/>
        </p:nvSpPr>
        <p:spPr>
          <a:xfrm>
            <a:off x="548640" y="1499616"/>
            <a:ext cx="3931920" cy="1444752"/>
          </a:xfrm>
          <a:prstGeom prst="roundRect">
            <a:avLst>
              <a:gd name="adj" fmla="val 5696"/>
            </a:avLst>
          </a:prstGeom>
          <a:solidFill>
            <a:srgbClr val="EEF6FA"/>
          </a:solidFill>
          <a:ln/>
          <a:effectLst>
            <a:outerShdw blurRad="76200" dist="25400" dir="5400000" algn="bl" rotWithShape="0">
              <a:srgbClr val="0A3D52">
                <a:alpha val="10000"/>
              </a:srgbClr>
            </a:outerShdw>
          </a:effectLst>
        </p:spPr>
      </p:sp>
      <p:sp>
        <p:nvSpPr>
          <p:cNvPr id="5" name="Shape 3"/>
          <p:cNvSpPr/>
          <p:nvPr/>
        </p:nvSpPr>
        <p:spPr>
          <a:xfrm>
            <a:off x="749808" y="1700784"/>
            <a:ext cx="512064" cy="512064"/>
          </a:xfrm>
          <a:prstGeom prst="ellipse">
            <a:avLst/>
          </a:prstGeom>
          <a:solidFill>
            <a:srgbClr val="E36963"/>
          </a:solidFill>
          <a:ln/>
        </p:spPr>
      </p:sp>
      <p:pic>
        <p:nvPicPr>
          <p:cNvPr id="6" name="Image 0" descr="preencoded.png"/>
          <p:cNvPicPr>
            <a:picLocks noChangeAspect="1"/>
          </p:cNvPicPr>
          <p:nvPr/>
        </p:nvPicPr>
        <p:blipFill>
          <a:blip r:embed="rId3"/>
          <a:stretch>
            <a:fillRect/>
          </a:stretch>
        </p:blipFill>
        <p:spPr>
          <a:xfrm>
            <a:off x="873252" y="1824228"/>
            <a:ext cx="265176" cy="265176"/>
          </a:xfrm>
          <a:prstGeom prst="rect">
            <a:avLst/>
          </a:prstGeom>
        </p:spPr>
      </p:pic>
      <p:sp>
        <p:nvSpPr>
          <p:cNvPr id="7" name="Text 4"/>
          <p:cNvSpPr/>
          <p:nvPr/>
        </p:nvSpPr>
        <p:spPr>
          <a:xfrm>
            <a:off x="1389888" y="1719072"/>
            <a:ext cx="2926080" cy="457200"/>
          </a:xfrm>
          <a:prstGeom prst="rect">
            <a:avLst/>
          </a:prstGeom>
          <a:noFill/>
          <a:ln/>
        </p:spPr>
        <p:txBody>
          <a:bodyPr wrap="square" lIns="0" tIns="0" rIns="0" bIns="0" rtlCol="0" anchor="ctr"/>
          <a:lstStyle/>
          <a:p>
            <a:pPr marL="0" indent="0">
              <a:buNone/>
            </a:pPr>
            <a:r>
              <a:rPr lang="en-US" sz="1450" b="1" dirty="0">
                <a:solidFill>
                  <a:srgbClr val="14333F"/>
                </a:solidFill>
                <a:latin typeface="Bookman Old Style" pitchFamily="34" charset="0"/>
                <a:ea typeface="Bookman Old Style" pitchFamily="34" charset="-122"/>
                <a:cs typeface="Bookman Old Style" pitchFamily="34" charset="-120"/>
              </a:rPr>
              <a:t>Connection refused</a:t>
            </a:r>
            <a:endParaRPr lang="en-US" sz="1450" dirty="0"/>
          </a:p>
        </p:txBody>
      </p:sp>
      <p:sp>
        <p:nvSpPr>
          <p:cNvPr id="8" name="Text 5"/>
          <p:cNvSpPr/>
          <p:nvPr/>
        </p:nvSpPr>
        <p:spPr>
          <a:xfrm>
            <a:off x="786384" y="2267712"/>
            <a:ext cx="3474720" cy="603504"/>
          </a:xfrm>
          <a:prstGeom prst="rect">
            <a:avLst/>
          </a:prstGeom>
          <a:noFill/>
          <a:ln/>
        </p:spPr>
        <p:txBody>
          <a:bodyPr wrap="square" lIns="0" tIns="0" rIns="0" bIns="0" rtlCol="0" anchor="ctr"/>
          <a:lstStyle/>
          <a:p>
            <a:pPr marL="0" indent="0">
              <a:lnSpc>
                <a:spcPct val="103000"/>
              </a:lnSpc>
              <a:buNone/>
            </a:pPr>
            <a:r>
              <a:rPr lang="en-US" sz="1100" dirty="0">
                <a:solidFill>
                  <a:srgbClr val="5B7782"/>
                </a:solidFill>
                <a:latin typeface="Calibri" pitchFamily="34" charset="0"/>
                <a:ea typeface="Calibri" pitchFamily="34" charset="-122"/>
                <a:cs typeface="Calibri" pitchFamily="34" charset="-120"/>
              </a:rPr>
              <a:t>Postgres isn't reachable. Check the container is running and the port maps to 5433 external.</a:t>
            </a:r>
            <a:endParaRPr lang="en-US" sz="1100" dirty="0"/>
          </a:p>
        </p:txBody>
      </p:sp>
      <p:sp>
        <p:nvSpPr>
          <p:cNvPr id="9" name="Shape 6"/>
          <p:cNvSpPr/>
          <p:nvPr/>
        </p:nvSpPr>
        <p:spPr>
          <a:xfrm>
            <a:off x="4663440" y="1499616"/>
            <a:ext cx="3931920" cy="1444752"/>
          </a:xfrm>
          <a:prstGeom prst="roundRect">
            <a:avLst>
              <a:gd name="adj" fmla="val 5696"/>
            </a:avLst>
          </a:prstGeom>
          <a:solidFill>
            <a:srgbClr val="EEF6FA"/>
          </a:solidFill>
          <a:ln/>
          <a:effectLst>
            <a:outerShdw blurRad="76200" dist="25400" dir="5400000" algn="bl" rotWithShape="0">
              <a:srgbClr val="0A3D52">
                <a:alpha val="10000"/>
              </a:srgbClr>
            </a:outerShdw>
          </a:effectLst>
        </p:spPr>
      </p:sp>
      <p:sp>
        <p:nvSpPr>
          <p:cNvPr id="10" name="Shape 7"/>
          <p:cNvSpPr/>
          <p:nvPr/>
        </p:nvSpPr>
        <p:spPr>
          <a:xfrm>
            <a:off x="4864608" y="1700784"/>
            <a:ext cx="512064" cy="512064"/>
          </a:xfrm>
          <a:prstGeom prst="ellipse">
            <a:avLst/>
          </a:prstGeom>
          <a:solidFill>
            <a:srgbClr val="F4A259"/>
          </a:solidFill>
          <a:ln/>
        </p:spPr>
      </p:sp>
      <p:pic>
        <p:nvPicPr>
          <p:cNvPr id="11" name="Image 1" descr="preencoded.png"/>
          <p:cNvPicPr>
            <a:picLocks noChangeAspect="1"/>
          </p:cNvPicPr>
          <p:nvPr/>
        </p:nvPicPr>
        <p:blipFill>
          <a:blip r:embed="rId4"/>
          <a:stretch>
            <a:fillRect/>
          </a:stretch>
        </p:blipFill>
        <p:spPr>
          <a:xfrm>
            <a:off x="4988052" y="1824228"/>
            <a:ext cx="265176" cy="265176"/>
          </a:xfrm>
          <a:prstGeom prst="rect">
            <a:avLst/>
          </a:prstGeom>
        </p:spPr>
      </p:pic>
      <p:sp>
        <p:nvSpPr>
          <p:cNvPr id="12" name="Text 8"/>
          <p:cNvSpPr/>
          <p:nvPr/>
        </p:nvSpPr>
        <p:spPr>
          <a:xfrm>
            <a:off x="5504688" y="1719072"/>
            <a:ext cx="2926080" cy="457200"/>
          </a:xfrm>
          <a:prstGeom prst="rect">
            <a:avLst/>
          </a:prstGeom>
          <a:noFill/>
          <a:ln/>
        </p:spPr>
        <p:txBody>
          <a:bodyPr wrap="square" lIns="0" tIns="0" rIns="0" bIns="0" rtlCol="0" anchor="ctr"/>
          <a:lstStyle/>
          <a:p>
            <a:pPr marL="0" indent="0">
              <a:buNone/>
            </a:pPr>
            <a:r>
              <a:rPr lang="en-US" sz="1450" b="1" dirty="0">
                <a:solidFill>
                  <a:srgbClr val="14333F"/>
                </a:solidFill>
                <a:latin typeface="Bookman Old Style" pitchFamily="34" charset="0"/>
                <a:ea typeface="Bookman Old Style" pitchFamily="34" charset="-122"/>
                <a:cs typeface="Bookman Old Style" pitchFamily="34" charset="-120"/>
              </a:rPr>
              <a:t>Authentication failed</a:t>
            </a:r>
            <a:endParaRPr lang="en-US" sz="1450" dirty="0"/>
          </a:p>
        </p:txBody>
      </p:sp>
      <p:sp>
        <p:nvSpPr>
          <p:cNvPr id="13" name="Text 9"/>
          <p:cNvSpPr/>
          <p:nvPr/>
        </p:nvSpPr>
        <p:spPr>
          <a:xfrm>
            <a:off x="4901184" y="2267712"/>
            <a:ext cx="3474720" cy="603504"/>
          </a:xfrm>
          <a:prstGeom prst="rect">
            <a:avLst/>
          </a:prstGeom>
          <a:noFill/>
          <a:ln/>
        </p:spPr>
        <p:txBody>
          <a:bodyPr wrap="square" lIns="0" tIns="0" rIns="0" bIns="0" rtlCol="0" anchor="ctr"/>
          <a:lstStyle/>
          <a:p>
            <a:pPr marL="0" indent="0">
              <a:lnSpc>
                <a:spcPct val="103000"/>
              </a:lnSpc>
              <a:buNone/>
            </a:pPr>
            <a:r>
              <a:rPr lang="en-US" sz="1100" dirty="0">
                <a:solidFill>
                  <a:srgbClr val="5B7782"/>
                </a:solidFill>
                <a:latin typeface="Calibri" pitchFamily="34" charset="0"/>
                <a:ea typeface="Calibri" pitchFamily="34" charset="-122"/>
                <a:cs typeface="Calibri" pitchFamily="34" charset="-120"/>
              </a:rPr>
              <a:t>Username or password is wrong. Re-type pdc_user / catalog123! exactly.</a:t>
            </a:r>
            <a:endParaRPr lang="en-US" sz="1100" dirty="0"/>
          </a:p>
        </p:txBody>
      </p:sp>
      <p:sp>
        <p:nvSpPr>
          <p:cNvPr id="14" name="Shape 10"/>
          <p:cNvSpPr/>
          <p:nvPr/>
        </p:nvSpPr>
        <p:spPr>
          <a:xfrm>
            <a:off x="548640" y="3090672"/>
            <a:ext cx="3931920" cy="1444752"/>
          </a:xfrm>
          <a:prstGeom prst="roundRect">
            <a:avLst>
              <a:gd name="adj" fmla="val 5696"/>
            </a:avLst>
          </a:prstGeom>
          <a:solidFill>
            <a:srgbClr val="EEF6FA"/>
          </a:solidFill>
          <a:ln/>
          <a:effectLst>
            <a:outerShdw blurRad="76200" dist="25400" dir="5400000" algn="bl" rotWithShape="0">
              <a:srgbClr val="0A3D52">
                <a:alpha val="10000"/>
              </a:srgbClr>
            </a:outerShdw>
          </a:effectLst>
        </p:spPr>
      </p:sp>
      <p:sp>
        <p:nvSpPr>
          <p:cNvPr id="15" name="Shape 11"/>
          <p:cNvSpPr/>
          <p:nvPr/>
        </p:nvSpPr>
        <p:spPr>
          <a:xfrm>
            <a:off x="749808" y="3291840"/>
            <a:ext cx="512064" cy="512064"/>
          </a:xfrm>
          <a:prstGeom prst="ellipse">
            <a:avLst/>
          </a:prstGeom>
          <a:solidFill>
            <a:srgbClr val="F4A259"/>
          </a:solidFill>
          <a:ln/>
        </p:spPr>
      </p:sp>
      <p:pic>
        <p:nvPicPr>
          <p:cNvPr id="16" name="Image 2" descr="preencoded.png"/>
          <p:cNvPicPr>
            <a:picLocks noChangeAspect="1"/>
          </p:cNvPicPr>
          <p:nvPr/>
        </p:nvPicPr>
        <p:blipFill>
          <a:blip r:embed="rId5"/>
          <a:stretch>
            <a:fillRect/>
          </a:stretch>
        </p:blipFill>
        <p:spPr>
          <a:xfrm>
            <a:off x="873252" y="3415284"/>
            <a:ext cx="265176" cy="265176"/>
          </a:xfrm>
          <a:prstGeom prst="rect">
            <a:avLst/>
          </a:prstGeom>
        </p:spPr>
      </p:pic>
      <p:sp>
        <p:nvSpPr>
          <p:cNvPr id="17" name="Text 12"/>
          <p:cNvSpPr/>
          <p:nvPr/>
        </p:nvSpPr>
        <p:spPr>
          <a:xfrm>
            <a:off x="1389888" y="3310128"/>
            <a:ext cx="2926080" cy="457200"/>
          </a:xfrm>
          <a:prstGeom prst="rect">
            <a:avLst/>
          </a:prstGeom>
          <a:noFill/>
          <a:ln/>
        </p:spPr>
        <p:txBody>
          <a:bodyPr wrap="square" lIns="0" tIns="0" rIns="0" bIns="0" rtlCol="0" anchor="ctr"/>
          <a:lstStyle/>
          <a:p>
            <a:pPr marL="0" indent="0">
              <a:buNone/>
            </a:pPr>
            <a:r>
              <a:rPr lang="en-US" sz="1450" b="1" dirty="0">
                <a:solidFill>
                  <a:srgbClr val="14333F"/>
                </a:solidFill>
                <a:latin typeface="Bookman Old Style" pitchFamily="34" charset="0"/>
                <a:ea typeface="Bookman Old Style" pitchFamily="34" charset="-122"/>
                <a:cs typeface="Bookman Old Style" pitchFamily="34" charset="-120"/>
              </a:rPr>
              <a:t>Database not found</a:t>
            </a:r>
            <a:endParaRPr lang="en-US" sz="1450" dirty="0"/>
          </a:p>
        </p:txBody>
      </p:sp>
      <p:sp>
        <p:nvSpPr>
          <p:cNvPr id="18" name="Text 13"/>
          <p:cNvSpPr/>
          <p:nvPr/>
        </p:nvSpPr>
        <p:spPr>
          <a:xfrm>
            <a:off x="786384" y="3858768"/>
            <a:ext cx="3474720" cy="603504"/>
          </a:xfrm>
          <a:prstGeom prst="rect">
            <a:avLst/>
          </a:prstGeom>
          <a:noFill/>
          <a:ln/>
        </p:spPr>
        <p:txBody>
          <a:bodyPr wrap="square" lIns="0" tIns="0" rIns="0" bIns="0" rtlCol="0" anchor="ctr"/>
          <a:lstStyle/>
          <a:p>
            <a:pPr marL="0" indent="0">
              <a:lnSpc>
                <a:spcPct val="103000"/>
              </a:lnSpc>
              <a:buNone/>
            </a:pPr>
            <a:r>
              <a:rPr lang="en-US" sz="1100" dirty="0">
                <a:solidFill>
                  <a:srgbClr val="5B7782"/>
                </a:solidFill>
                <a:latin typeface="Calibri" pitchFamily="34" charset="0"/>
                <a:ea typeface="Calibri" pitchFamily="34" charset="-122"/>
                <a:cs typeface="Calibri" pitchFamily="34" charset="-120"/>
              </a:rPr>
              <a:t>The name must be cscu_core — not 'water' or 'awc'. Check spelling.</a:t>
            </a:r>
            <a:endParaRPr lang="en-US" sz="1100" dirty="0"/>
          </a:p>
        </p:txBody>
      </p:sp>
      <p:sp>
        <p:nvSpPr>
          <p:cNvPr id="19" name="Shape 14"/>
          <p:cNvSpPr/>
          <p:nvPr/>
        </p:nvSpPr>
        <p:spPr>
          <a:xfrm>
            <a:off x="4663440" y="3090672"/>
            <a:ext cx="3931920" cy="1444752"/>
          </a:xfrm>
          <a:prstGeom prst="roundRect">
            <a:avLst>
              <a:gd name="adj" fmla="val 5696"/>
            </a:avLst>
          </a:prstGeom>
          <a:solidFill>
            <a:srgbClr val="EEF6FA"/>
          </a:solidFill>
          <a:ln/>
          <a:effectLst>
            <a:outerShdw blurRad="76200" dist="25400" dir="5400000" algn="bl" rotWithShape="0">
              <a:srgbClr val="0A3D52">
                <a:alpha val="10000"/>
              </a:srgbClr>
            </a:outerShdw>
          </a:effectLst>
        </p:spPr>
      </p:sp>
      <p:sp>
        <p:nvSpPr>
          <p:cNvPr id="20" name="Shape 15"/>
          <p:cNvSpPr/>
          <p:nvPr/>
        </p:nvSpPr>
        <p:spPr>
          <a:xfrm>
            <a:off x="4864608" y="3291840"/>
            <a:ext cx="512064" cy="512064"/>
          </a:xfrm>
          <a:prstGeom prst="ellipse">
            <a:avLst/>
          </a:prstGeom>
          <a:solidFill>
            <a:srgbClr val="1C7293"/>
          </a:solidFill>
          <a:ln/>
        </p:spPr>
      </p:sp>
      <p:pic>
        <p:nvPicPr>
          <p:cNvPr id="21" name="Image 3" descr="preencoded.png"/>
          <p:cNvPicPr>
            <a:picLocks noChangeAspect="1"/>
          </p:cNvPicPr>
          <p:nvPr/>
        </p:nvPicPr>
        <p:blipFill>
          <a:blip r:embed="rId6"/>
          <a:stretch>
            <a:fillRect/>
          </a:stretch>
        </p:blipFill>
        <p:spPr>
          <a:xfrm>
            <a:off x="4988052" y="3415284"/>
            <a:ext cx="265176" cy="265176"/>
          </a:xfrm>
          <a:prstGeom prst="rect">
            <a:avLst/>
          </a:prstGeom>
        </p:spPr>
      </p:pic>
      <p:sp>
        <p:nvSpPr>
          <p:cNvPr id="22" name="Text 16"/>
          <p:cNvSpPr/>
          <p:nvPr/>
        </p:nvSpPr>
        <p:spPr>
          <a:xfrm>
            <a:off x="5504688" y="3310128"/>
            <a:ext cx="2926080" cy="457200"/>
          </a:xfrm>
          <a:prstGeom prst="rect">
            <a:avLst/>
          </a:prstGeom>
          <a:noFill/>
          <a:ln/>
        </p:spPr>
        <p:txBody>
          <a:bodyPr wrap="square" lIns="0" tIns="0" rIns="0" bIns="0" rtlCol="0" anchor="ctr"/>
          <a:lstStyle/>
          <a:p>
            <a:pPr marL="0" indent="0">
              <a:buNone/>
            </a:pPr>
            <a:r>
              <a:rPr lang="en-US" sz="1450" b="1" dirty="0">
                <a:solidFill>
                  <a:srgbClr val="14333F"/>
                </a:solidFill>
                <a:latin typeface="Bookman Old Style" pitchFamily="34" charset="0"/>
                <a:ea typeface="Bookman Old Style" pitchFamily="34" charset="-122"/>
                <a:cs typeface="Bookman Old Style" pitchFamily="34" charset="-120"/>
              </a:rPr>
              <a:t>Connection timeout</a:t>
            </a:r>
            <a:endParaRPr lang="en-US" sz="1450" dirty="0"/>
          </a:p>
        </p:txBody>
      </p:sp>
      <p:sp>
        <p:nvSpPr>
          <p:cNvPr id="23" name="Text 17"/>
          <p:cNvSpPr/>
          <p:nvPr/>
        </p:nvSpPr>
        <p:spPr>
          <a:xfrm>
            <a:off x="4901184" y="3858768"/>
            <a:ext cx="3474720" cy="603504"/>
          </a:xfrm>
          <a:prstGeom prst="rect">
            <a:avLst/>
          </a:prstGeom>
          <a:noFill/>
          <a:ln/>
        </p:spPr>
        <p:txBody>
          <a:bodyPr wrap="square" lIns="0" tIns="0" rIns="0" bIns="0" rtlCol="0" anchor="ctr"/>
          <a:lstStyle/>
          <a:p>
            <a:pPr marL="0" indent="0">
              <a:lnSpc>
                <a:spcPct val="103000"/>
              </a:lnSpc>
              <a:buNone/>
            </a:pPr>
            <a:r>
              <a:rPr lang="en-US" sz="1100" dirty="0">
                <a:solidFill>
                  <a:srgbClr val="5B7782"/>
                </a:solidFill>
                <a:latin typeface="Calibri" pitchFamily="34" charset="0"/>
                <a:ea typeface="Calibri" pitchFamily="34" charset="-122"/>
                <a:cs typeface="Calibri" pitchFamily="34" charset="-120"/>
              </a:rPr>
              <a:t>Wrong host. Use 192.168.1.200 inside Docker, localhost from your machine.</a:t>
            </a:r>
            <a:endParaRPr lang="en-US" sz="1100" dirty="0"/>
          </a:p>
        </p:txBody>
      </p:sp>
      <p:sp>
        <p:nvSpPr>
          <p:cNvPr id="24" name="Text 18"/>
          <p:cNvSpPr/>
          <p:nvPr/>
        </p:nvSpPr>
        <p:spPr>
          <a:xfrm>
            <a:off x="548640" y="4828032"/>
            <a:ext cx="7315200" cy="274320"/>
          </a:xfrm>
          <a:prstGeom prst="rect">
            <a:avLst/>
          </a:prstGeom>
          <a:noFill/>
          <a:ln/>
        </p:spPr>
        <p:txBody>
          <a:bodyPr wrap="square" lIns="0" tIns="0" rIns="0" bIns="0" rtlCol="0" anchor="ctr"/>
          <a:lstStyle/>
          <a:p>
            <a:pPr marL="0" indent="0">
              <a:buNone/>
            </a:pPr>
            <a:r>
              <a:rPr lang="en-US" sz="950" dirty="0">
                <a:solidFill>
                  <a:srgbClr val="5B7782"/>
                </a:solidFill>
                <a:latin typeface="Calibri" pitchFamily="34" charset="0"/>
                <a:ea typeface="Calibri" pitchFamily="34" charset="-122"/>
                <a:cs typeface="Calibri" pitchFamily="34" charset="-120"/>
              </a:rPr>
              <a:t>Workshop 1 · 90% of issues are one of these four</a:t>
            </a:r>
            <a:endParaRPr lang="en-US" sz="950" dirty="0"/>
          </a:p>
        </p:txBody>
      </p:sp>
      <p:sp>
        <p:nvSpPr>
          <p:cNvPr id="25" name="Text 19"/>
          <p:cNvSpPr/>
          <p:nvPr/>
        </p:nvSpPr>
        <p:spPr>
          <a:xfrm>
            <a:off x="8366760" y="4828032"/>
            <a:ext cx="320040" cy="274320"/>
          </a:xfrm>
          <a:prstGeom prst="rect">
            <a:avLst/>
          </a:prstGeom>
          <a:noFill/>
          <a:ln/>
        </p:spPr>
        <p:txBody>
          <a:bodyPr wrap="square" lIns="0" tIns="0" rIns="0" bIns="0" rtlCol="0" anchor="ctr"/>
          <a:lstStyle/>
          <a:p>
            <a:pPr marL="0" indent="0" algn="r">
              <a:buNone/>
            </a:pPr>
            <a:r>
              <a:rPr lang="en-US" sz="950" dirty="0">
                <a:solidFill>
                  <a:srgbClr val="5B7782"/>
                </a:solidFill>
                <a:latin typeface="Calibri" pitchFamily="34" charset="0"/>
                <a:ea typeface="Calibri" pitchFamily="34" charset="-122"/>
                <a:cs typeface="Calibri" pitchFamily="34" charset="-120"/>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6766560" cy="292608"/>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BEYOND THE DATABASE</a:t>
            </a:r>
            <a:endParaRPr lang="en-US" sz="1200" dirty="0"/>
          </a:p>
        </p:txBody>
      </p:sp>
      <p:sp>
        <p:nvSpPr>
          <p:cNvPr id="3" name="Text 1"/>
          <p:cNvSpPr/>
          <p:nvPr/>
        </p:nvSpPr>
        <p:spPr>
          <a:xfrm>
            <a:off x="548640" y="713232"/>
            <a:ext cx="7040880" cy="566928"/>
          </a:xfrm>
          <a:prstGeom prst="rect">
            <a:avLst/>
          </a:prstGeom>
          <a:noFill/>
          <a:ln/>
        </p:spPr>
        <p:txBody>
          <a:bodyPr wrap="square" lIns="0" tIns="0" rIns="0" bIns="0" rtlCol="0" anchor="ctr"/>
          <a:lstStyle/>
          <a:p>
            <a:pPr marL="0" indent="0">
              <a:buNone/>
            </a:pPr>
            <a:r>
              <a:rPr lang="en-US" sz="2700" b="1" dirty="0">
                <a:solidFill>
                  <a:srgbClr val="14333F"/>
                </a:solidFill>
                <a:latin typeface="Bookman Old Style" pitchFamily="34" charset="0"/>
                <a:ea typeface="Bookman Old Style" pitchFamily="34" charset="-122"/>
                <a:cs typeface="Bookman Old Style" pitchFamily="34" charset="-120"/>
              </a:rPr>
              <a:t>CSCU's unstructured data</a:t>
            </a:r>
            <a:endParaRPr lang="en-US" sz="2700" dirty="0"/>
          </a:p>
        </p:txBody>
      </p:sp>
      <p:sp>
        <p:nvSpPr>
          <p:cNvPr id="4" name="Text 2"/>
          <p:cNvSpPr/>
          <p:nvPr/>
        </p:nvSpPr>
        <p:spPr>
          <a:xfrm>
            <a:off x="548640" y="1371600"/>
            <a:ext cx="8046720" cy="512064"/>
          </a:xfrm>
          <a:prstGeom prst="rect">
            <a:avLst/>
          </a:prstGeom>
          <a:noFill/>
          <a:ln/>
        </p:spPr>
        <p:txBody>
          <a:bodyPr wrap="square" lIns="0" tIns="0" rIns="0" bIns="0" rtlCol="0" anchor="ctr"/>
          <a:lstStyle/>
          <a:p>
            <a:pPr marL="0" indent="0">
              <a:lnSpc>
                <a:spcPct val="104000"/>
              </a:lnSpc>
              <a:buNone/>
            </a:pPr>
            <a:r>
              <a:rPr lang="en-US" sz="1250" dirty="0">
                <a:solidFill>
                  <a:srgbClr val="5B7782"/>
                </a:solidFill>
                <a:latin typeface="Calibri" pitchFamily="34" charset="0"/>
                <a:ea typeface="Calibri" pitchFamily="34" charset="-122"/>
                <a:cs typeface="Calibri" pitchFamily="34" charset="-120"/>
              </a:rPr>
              <a:t>80–90% of a utility's data lives in files, not tables. PDC catalogs these too — scanned, not schema-ingested, and processed by the Data Optimizer engine.</a:t>
            </a:r>
            <a:endParaRPr lang="en-US" sz="1250" dirty="0"/>
          </a:p>
        </p:txBody>
      </p:sp>
      <p:sp>
        <p:nvSpPr>
          <p:cNvPr id="5" name="Shape 3"/>
          <p:cNvSpPr/>
          <p:nvPr/>
        </p:nvSpPr>
        <p:spPr>
          <a:xfrm>
            <a:off x="548640" y="1938528"/>
            <a:ext cx="8046720" cy="475488"/>
          </a:xfrm>
          <a:prstGeom prst="roundRect">
            <a:avLst>
              <a:gd name="adj" fmla="val 11538"/>
            </a:avLst>
          </a:prstGeom>
          <a:solidFill>
            <a:srgbClr val="EEF6FA"/>
          </a:solidFill>
          <a:ln/>
          <a:effectLst>
            <a:outerShdw blurRad="50800" dist="12700" dir="5400000" algn="bl" rotWithShape="0">
              <a:srgbClr val="0A3D52">
                <a:alpha val="6000"/>
              </a:srgbClr>
            </a:outerShdw>
          </a:effectLst>
        </p:spPr>
      </p:sp>
      <p:sp>
        <p:nvSpPr>
          <p:cNvPr id="6" name="Shape 4"/>
          <p:cNvSpPr/>
          <p:nvPr/>
        </p:nvSpPr>
        <p:spPr>
          <a:xfrm>
            <a:off x="694944" y="2020824"/>
            <a:ext cx="310896" cy="310896"/>
          </a:xfrm>
          <a:prstGeom prst="ellipse">
            <a:avLst/>
          </a:prstGeom>
          <a:solidFill>
            <a:srgbClr val="E36963"/>
          </a:solidFill>
          <a:ln/>
        </p:spPr>
      </p:sp>
      <p:pic>
        <p:nvPicPr>
          <p:cNvPr id="7" name="Image 0" descr="preencoded.png"/>
          <p:cNvPicPr>
            <a:picLocks noChangeAspect="1"/>
          </p:cNvPicPr>
          <p:nvPr/>
        </p:nvPicPr>
        <p:blipFill>
          <a:blip r:embed="rId3"/>
          <a:stretch>
            <a:fillRect/>
          </a:stretch>
        </p:blipFill>
        <p:spPr>
          <a:xfrm>
            <a:off x="763524" y="2089404"/>
            <a:ext cx="173736" cy="173736"/>
          </a:xfrm>
          <a:prstGeom prst="rect">
            <a:avLst/>
          </a:prstGeom>
        </p:spPr>
      </p:pic>
      <p:sp>
        <p:nvSpPr>
          <p:cNvPr id="8" name="Text 5"/>
          <p:cNvSpPr/>
          <p:nvPr/>
        </p:nvSpPr>
        <p:spPr>
          <a:xfrm>
            <a:off x="1170432" y="1938528"/>
            <a:ext cx="2468880" cy="475488"/>
          </a:xfrm>
          <a:prstGeom prst="rect">
            <a:avLst/>
          </a:prstGeom>
          <a:noFill/>
          <a:ln/>
        </p:spPr>
        <p:txBody>
          <a:bodyPr wrap="square" lIns="0" tIns="0" rIns="0" bIns="0" rtlCol="0" anchor="ctr"/>
          <a:lstStyle/>
          <a:p>
            <a:pPr marL="0" indent="0">
              <a:buNone/>
            </a:pPr>
            <a:r>
              <a:rPr lang="en-US" sz="1200" b="1" dirty="0">
                <a:solidFill>
                  <a:srgbClr val="14333F"/>
                </a:solidFill>
                <a:latin typeface="Courier New" pitchFamily="34" charset="0"/>
                <a:ea typeface="Courier New" pitchFamily="34" charset="-122"/>
                <a:cs typeface="Courier New" pitchFamily="34" charset="-120"/>
              </a:rPr>
              <a:t>compliance/</a:t>
            </a:r>
            <a:endParaRPr lang="en-US" sz="1200" dirty="0"/>
          </a:p>
        </p:txBody>
      </p:sp>
      <p:sp>
        <p:nvSpPr>
          <p:cNvPr id="9" name="Text 6"/>
          <p:cNvSpPr/>
          <p:nvPr/>
        </p:nvSpPr>
        <p:spPr>
          <a:xfrm>
            <a:off x="3657600" y="1938528"/>
            <a:ext cx="4754880" cy="475488"/>
          </a:xfrm>
          <a:prstGeom prst="rect">
            <a:avLst/>
          </a:prstGeom>
          <a:noFill/>
          <a:ln/>
        </p:spPr>
        <p:txBody>
          <a:bodyPr wrap="square" lIns="0" tIns="0" rIns="0" bIns="0" rtlCol="0" anchor="ctr"/>
          <a:lstStyle/>
          <a:p>
            <a:pPr marL="0" indent="0">
              <a:buNone/>
            </a:pPr>
            <a:r>
              <a:rPr lang="en-US" sz="1100" dirty="0">
                <a:solidFill>
                  <a:srgbClr val="5B7782"/>
                </a:solidFill>
                <a:latin typeface="Calibri" pitchFamily="34" charset="0"/>
                <a:ea typeface="Calibri" pitchFamily="34" charset="-122"/>
                <a:cs typeface="Calibri" pitchFamily="34" charset="-120"/>
              </a:rPr>
              <a:t>EPA water-quality reports (.pdf)</a:t>
            </a:r>
            <a:endParaRPr lang="en-US" sz="1100" dirty="0"/>
          </a:p>
        </p:txBody>
      </p:sp>
      <p:sp>
        <p:nvSpPr>
          <p:cNvPr id="10" name="Shape 7"/>
          <p:cNvSpPr/>
          <p:nvPr/>
        </p:nvSpPr>
        <p:spPr>
          <a:xfrm>
            <a:off x="548640" y="2487168"/>
            <a:ext cx="8046720" cy="475488"/>
          </a:xfrm>
          <a:prstGeom prst="roundRect">
            <a:avLst>
              <a:gd name="adj" fmla="val 11538"/>
            </a:avLst>
          </a:prstGeom>
          <a:solidFill>
            <a:srgbClr val="EEF6FA"/>
          </a:solidFill>
          <a:ln/>
          <a:effectLst>
            <a:outerShdw blurRad="50800" dist="12700" dir="5400000" algn="bl" rotWithShape="0">
              <a:srgbClr val="0A3D52">
                <a:alpha val="6000"/>
              </a:srgbClr>
            </a:outerShdw>
          </a:effectLst>
        </p:spPr>
      </p:sp>
      <p:sp>
        <p:nvSpPr>
          <p:cNvPr id="11" name="Shape 8"/>
          <p:cNvSpPr/>
          <p:nvPr/>
        </p:nvSpPr>
        <p:spPr>
          <a:xfrm>
            <a:off x="694944" y="2569464"/>
            <a:ext cx="310896" cy="310896"/>
          </a:xfrm>
          <a:prstGeom prst="ellipse">
            <a:avLst/>
          </a:prstGeom>
          <a:solidFill>
            <a:srgbClr val="065A82"/>
          </a:solidFill>
          <a:ln/>
        </p:spPr>
      </p:sp>
      <p:pic>
        <p:nvPicPr>
          <p:cNvPr id="12" name="Image 1" descr="preencoded.png"/>
          <p:cNvPicPr>
            <a:picLocks noChangeAspect="1"/>
          </p:cNvPicPr>
          <p:nvPr/>
        </p:nvPicPr>
        <p:blipFill>
          <a:blip r:embed="rId4"/>
          <a:stretch>
            <a:fillRect/>
          </a:stretch>
        </p:blipFill>
        <p:spPr>
          <a:xfrm>
            <a:off x="763524" y="2638044"/>
            <a:ext cx="173736" cy="173736"/>
          </a:xfrm>
          <a:prstGeom prst="rect">
            <a:avLst/>
          </a:prstGeom>
        </p:spPr>
      </p:pic>
      <p:sp>
        <p:nvSpPr>
          <p:cNvPr id="13" name="Text 9"/>
          <p:cNvSpPr/>
          <p:nvPr/>
        </p:nvSpPr>
        <p:spPr>
          <a:xfrm>
            <a:off x="1170432" y="2487168"/>
            <a:ext cx="2468880" cy="475488"/>
          </a:xfrm>
          <a:prstGeom prst="rect">
            <a:avLst/>
          </a:prstGeom>
          <a:noFill/>
          <a:ln/>
        </p:spPr>
        <p:txBody>
          <a:bodyPr wrap="square" lIns="0" tIns="0" rIns="0" bIns="0" rtlCol="0" anchor="ctr"/>
          <a:lstStyle/>
          <a:p>
            <a:pPr marL="0" indent="0">
              <a:buNone/>
            </a:pPr>
            <a:r>
              <a:rPr lang="en-US" sz="1200" b="1" dirty="0">
                <a:solidFill>
                  <a:srgbClr val="14333F"/>
                </a:solidFill>
                <a:latin typeface="Courier New" pitchFamily="34" charset="0"/>
                <a:ea typeface="Courier New" pitchFamily="34" charset="-122"/>
                <a:cs typeface="Courier New" pitchFamily="34" charset="-120"/>
              </a:rPr>
              <a:t>inspections/</a:t>
            </a:r>
            <a:endParaRPr lang="en-US" sz="1200" dirty="0"/>
          </a:p>
        </p:txBody>
      </p:sp>
      <p:sp>
        <p:nvSpPr>
          <p:cNvPr id="14" name="Text 10"/>
          <p:cNvSpPr/>
          <p:nvPr/>
        </p:nvSpPr>
        <p:spPr>
          <a:xfrm>
            <a:off x="3657600" y="2487168"/>
            <a:ext cx="4754880" cy="475488"/>
          </a:xfrm>
          <a:prstGeom prst="rect">
            <a:avLst/>
          </a:prstGeom>
          <a:noFill/>
          <a:ln/>
        </p:spPr>
        <p:txBody>
          <a:bodyPr wrap="square" lIns="0" tIns="0" rIns="0" bIns="0" rtlCol="0" anchor="ctr"/>
          <a:lstStyle/>
          <a:p>
            <a:pPr marL="0" indent="0">
              <a:buNone/>
            </a:pPr>
            <a:r>
              <a:rPr lang="en-US" sz="1100" dirty="0">
                <a:solidFill>
                  <a:srgbClr val="5B7782"/>
                </a:solidFill>
                <a:latin typeface="Calibri" pitchFamily="34" charset="0"/>
                <a:ea typeface="Calibri" pitchFamily="34" charset="-122"/>
                <a:cs typeface="Calibri" pitchFamily="34" charset="-120"/>
              </a:rPr>
              <a:t>Field &amp; maintenance reports (.docx)</a:t>
            </a:r>
            <a:endParaRPr lang="en-US" sz="1100" dirty="0"/>
          </a:p>
        </p:txBody>
      </p:sp>
      <p:sp>
        <p:nvSpPr>
          <p:cNvPr id="15" name="Shape 11"/>
          <p:cNvSpPr/>
          <p:nvPr/>
        </p:nvSpPr>
        <p:spPr>
          <a:xfrm>
            <a:off x="548640" y="3035808"/>
            <a:ext cx="8046720" cy="475488"/>
          </a:xfrm>
          <a:prstGeom prst="roundRect">
            <a:avLst>
              <a:gd name="adj" fmla="val 11538"/>
            </a:avLst>
          </a:prstGeom>
          <a:solidFill>
            <a:srgbClr val="EEF6FA"/>
          </a:solidFill>
          <a:ln/>
          <a:effectLst>
            <a:outerShdw blurRad="50800" dist="12700" dir="5400000" algn="bl" rotWithShape="0">
              <a:srgbClr val="0A3D52">
                <a:alpha val="6000"/>
              </a:srgbClr>
            </a:outerShdw>
          </a:effectLst>
        </p:spPr>
      </p:sp>
      <p:sp>
        <p:nvSpPr>
          <p:cNvPr id="16" name="Shape 12"/>
          <p:cNvSpPr/>
          <p:nvPr/>
        </p:nvSpPr>
        <p:spPr>
          <a:xfrm>
            <a:off x="694944" y="3118104"/>
            <a:ext cx="310896" cy="310896"/>
          </a:xfrm>
          <a:prstGeom prst="ellipse">
            <a:avLst/>
          </a:prstGeom>
          <a:solidFill>
            <a:srgbClr val="F4A259"/>
          </a:solidFill>
          <a:ln/>
        </p:spPr>
      </p:sp>
      <p:pic>
        <p:nvPicPr>
          <p:cNvPr id="17" name="Image 2" descr="preencoded.png"/>
          <p:cNvPicPr>
            <a:picLocks noChangeAspect="1"/>
          </p:cNvPicPr>
          <p:nvPr/>
        </p:nvPicPr>
        <p:blipFill>
          <a:blip r:embed="rId5"/>
          <a:stretch>
            <a:fillRect/>
          </a:stretch>
        </p:blipFill>
        <p:spPr>
          <a:xfrm>
            <a:off x="763524" y="3186684"/>
            <a:ext cx="173736" cy="173736"/>
          </a:xfrm>
          <a:prstGeom prst="rect">
            <a:avLst/>
          </a:prstGeom>
        </p:spPr>
      </p:pic>
      <p:sp>
        <p:nvSpPr>
          <p:cNvPr id="18" name="Text 13"/>
          <p:cNvSpPr/>
          <p:nvPr/>
        </p:nvSpPr>
        <p:spPr>
          <a:xfrm>
            <a:off x="1170432" y="3035808"/>
            <a:ext cx="2468880" cy="475488"/>
          </a:xfrm>
          <a:prstGeom prst="rect">
            <a:avLst/>
          </a:prstGeom>
          <a:noFill/>
          <a:ln/>
        </p:spPr>
        <p:txBody>
          <a:bodyPr wrap="square" lIns="0" tIns="0" rIns="0" bIns="0" rtlCol="0" anchor="ctr"/>
          <a:lstStyle/>
          <a:p>
            <a:pPr marL="0" indent="0">
              <a:buNone/>
            </a:pPr>
            <a:r>
              <a:rPr lang="en-US" sz="1200" b="1" dirty="0">
                <a:solidFill>
                  <a:srgbClr val="14333F"/>
                </a:solidFill>
                <a:latin typeface="Courier New" pitchFamily="34" charset="0"/>
                <a:ea typeface="Courier New" pitchFamily="34" charset="-122"/>
                <a:cs typeface="Courier New" pitchFamily="34" charset="-120"/>
              </a:rPr>
              <a:t>correspondence/</a:t>
            </a:r>
            <a:endParaRPr lang="en-US" sz="1200" dirty="0"/>
          </a:p>
        </p:txBody>
      </p:sp>
      <p:sp>
        <p:nvSpPr>
          <p:cNvPr id="19" name="Text 14"/>
          <p:cNvSpPr/>
          <p:nvPr/>
        </p:nvSpPr>
        <p:spPr>
          <a:xfrm>
            <a:off x="3657600" y="3035808"/>
            <a:ext cx="4754880" cy="475488"/>
          </a:xfrm>
          <a:prstGeom prst="rect">
            <a:avLst/>
          </a:prstGeom>
          <a:noFill/>
          <a:ln/>
        </p:spPr>
        <p:txBody>
          <a:bodyPr wrap="square" lIns="0" tIns="0" rIns="0" bIns="0" rtlCol="0" anchor="ctr"/>
          <a:lstStyle/>
          <a:p>
            <a:pPr marL="0" indent="0">
              <a:buNone/>
            </a:pPr>
            <a:r>
              <a:rPr lang="en-US" sz="1100" dirty="0">
                <a:solidFill>
                  <a:srgbClr val="5B7782"/>
                </a:solidFill>
                <a:latin typeface="Calibri" pitchFamily="34" charset="0"/>
                <a:ea typeface="Calibri" pitchFamily="34" charset="-122"/>
                <a:cs typeface="Calibri" pitchFamily="34" charset="-120"/>
              </a:rPr>
              <a:t>Member letters — contains PII (.txt)</a:t>
            </a:r>
            <a:endParaRPr lang="en-US" sz="1100" dirty="0"/>
          </a:p>
        </p:txBody>
      </p:sp>
      <p:sp>
        <p:nvSpPr>
          <p:cNvPr id="20" name="Shape 15"/>
          <p:cNvSpPr/>
          <p:nvPr/>
        </p:nvSpPr>
        <p:spPr>
          <a:xfrm>
            <a:off x="548640" y="3584448"/>
            <a:ext cx="8046720" cy="475488"/>
          </a:xfrm>
          <a:prstGeom prst="roundRect">
            <a:avLst>
              <a:gd name="adj" fmla="val 11538"/>
            </a:avLst>
          </a:prstGeom>
          <a:solidFill>
            <a:srgbClr val="EEF6FA"/>
          </a:solidFill>
          <a:ln/>
          <a:effectLst>
            <a:outerShdw blurRad="50800" dist="12700" dir="5400000" algn="bl" rotWithShape="0">
              <a:srgbClr val="0A3D52">
                <a:alpha val="6000"/>
              </a:srgbClr>
            </a:outerShdw>
          </a:effectLst>
        </p:spPr>
      </p:sp>
      <p:sp>
        <p:nvSpPr>
          <p:cNvPr id="21" name="Shape 16"/>
          <p:cNvSpPr/>
          <p:nvPr/>
        </p:nvSpPr>
        <p:spPr>
          <a:xfrm>
            <a:off x="694944" y="3666744"/>
            <a:ext cx="310896" cy="310896"/>
          </a:xfrm>
          <a:prstGeom prst="ellipse">
            <a:avLst/>
          </a:prstGeom>
          <a:solidFill>
            <a:srgbClr val="1C7293"/>
          </a:solidFill>
          <a:ln/>
        </p:spPr>
      </p:sp>
      <p:pic>
        <p:nvPicPr>
          <p:cNvPr id="22" name="Image 3" descr="preencoded.png"/>
          <p:cNvPicPr>
            <a:picLocks noChangeAspect="1"/>
          </p:cNvPicPr>
          <p:nvPr/>
        </p:nvPicPr>
        <p:blipFill>
          <a:blip r:embed="rId6"/>
          <a:stretch>
            <a:fillRect/>
          </a:stretch>
        </p:blipFill>
        <p:spPr>
          <a:xfrm>
            <a:off x="763524" y="3735324"/>
            <a:ext cx="173736" cy="173736"/>
          </a:xfrm>
          <a:prstGeom prst="rect">
            <a:avLst/>
          </a:prstGeom>
        </p:spPr>
      </p:pic>
      <p:sp>
        <p:nvSpPr>
          <p:cNvPr id="23" name="Text 17"/>
          <p:cNvSpPr/>
          <p:nvPr/>
        </p:nvSpPr>
        <p:spPr>
          <a:xfrm>
            <a:off x="1170432" y="3584448"/>
            <a:ext cx="2468880" cy="475488"/>
          </a:xfrm>
          <a:prstGeom prst="rect">
            <a:avLst/>
          </a:prstGeom>
          <a:noFill/>
          <a:ln/>
        </p:spPr>
        <p:txBody>
          <a:bodyPr wrap="square" lIns="0" tIns="0" rIns="0" bIns="0" rtlCol="0" anchor="ctr"/>
          <a:lstStyle/>
          <a:p>
            <a:pPr marL="0" indent="0">
              <a:buNone/>
            </a:pPr>
            <a:r>
              <a:rPr lang="en-US" sz="1200" b="1" dirty="0">
                <a:solidFill>
                  <a:srgbClr val="14333F"/>
                </a:solidFill>
                <a:latin typeface="Courier New" pitchFamily="34" charset="0"/>
                <a:ea typeface="Courier New" pitchFamily="34" charset="-122"/>
                <a:cs typeface="Courier New" pitchFamily="34" charset="-120"/>
              </a:rPr>
              <a:t>scada/</a:t>
            </a:r>
            <a:endParaRPr lang="en-US" sz="1200" dirty="0"/>
          </a:p>
        </p:txBody>
      </p:sp>
      <p:sp>
        <p:nvSpPr>
          <p:cNvPr id="24" name="Text 18"/>
          <p:cNvSpPr/>
          <p:nvPr/>
        </p:nvSpPr>
        <p:spPr>
          <a:xfrm>
            <a:off x="3657600" y="3584448"/>
            <a:ext cx="4754880" cy="475488"/>
          </a:xfrm>
          <a:prstGeom prst="rect">
            <a:avLst/>
          </a:prstGeom>
          <a:noFill/>
          <a:ln/>
        </p:spPr>
        <p:txBody>
          <a:bodyPr wrap="square" lIns="0" tIns="0" rIns="0" bIns="0" rtlCol="0" anchor="ctr"/>
          <a:lstStyle/>
          <a:p>
            <a:pPr marL="0" indent="0">
              <a:buNone/>
            </a:pPr>
            <a:r>
              <a:rPr lang="en-US" sz="1100" dirty="0">
                <a:solidFill>
                  <a:srgbClr val="5B7782"/>
                </a:solidFill>
                <a:latin typeface="Calibri" pitchFamily="34" charset="0"/>
                <a:ea typeface="Calibri" pitchFamily="34" charset="-122"/>
                <a:cs typeface="Calibri" pitchFamily="34" charset="-120"/>
              </a:rPr>
              <a:t>Sensor telemetry (.json)</a:t>
            </a:r>
            <a:endParaRPr lang="en-US" sz="1100" dirty="0"/>
          </a:p>
        </p:txBody>
      </p:sp>
      <p:sp>
        <p:nvSpPr>
          <p:cNvPr id="25" name="Shape 19"/>
          <p:cNvSpPr/>
          <p:nvPr/>
        </p:nvSpPr>
        <p:spPr>
          <a:xfrm>
            <a:off x="548640" y="4133088"/>
            <a:ext cx="8046720" cy="475488"/>
          </a:xfrm>
          <a:prstGeom prst="roundRect">
            <a:avLst>
              <a:gd name="adj" fmla="val 11538"/>
            </a:avLst>
          </a:prstGeom>
          <a:solidFill>
            <a:srgbClr val="EEF6FA"/>
          </a:solidFill>
          <a:ln/>
          <a:effectLst>
            <a:outerShdw blurRad="50800" dist="12700" dir="5400000" algn="bl" rotWithShape="0">
              <a:srgbClr val="0A3D52">
                <a:alpha val="6000"/>
              </a:srgbClr>
            </a:outerShdw>
          </a:effectLst>
        </p:spPr>
      </p:sp>
      <p:sp>
        <p:nvSpPr>
          <p:cNvPr id="26" name="Shape 20"/>
          <p:cNvSpPr/>
          <p:nvPr/>
        </p:nvSpPr>
        <p:spPr>
          <a:xfrm>
            <a:off x="694944" y="4215384"/>
            <a:ext cx="310896" cy="310896"/>
          </a:xfrm>
          <a:prstGeom prst="ellipse">
            <a:avLst/>
          </a:prstGeom>
          <a:solidFill>
            <a:srgbClr val="2EC4B6"/>
          </a:solidFill>
          <a:ln/>
        </p:spPr>
      </p:sp>
      <p:pic>
        <p:nvPicPr>
          <p:cNvPr id="27" name="Image 4" descr="preencoded.png"/>
          <p:cNvPicPr>
            <a:picLocks noChangeAspect="1"/>
          </p:cNvPicPr>
          <p:nvPr/>
        </p:nvPicPr>
        <p:blipFill>
          <a:blip r:embed="rId7"/>
          <a:stretch>
            <a:fillRect/>
          </a:stretch>
        </p:blipFill>
        <p:spPr>
          <a:xfrm>
            <a:off x="763524" y="4283964"/>
            <a:ext cx="173736" cy="173736"/>
          </a:xfrm>
          <a:prstGeom prst="rect">
            <a:avLst/>
          </a:prstGeom>
        </p:spPr>
      </p:pic>
      <p:sp>
        <p:nvSpPr>
          <p:cNvPr id="28" name="Text 21"/>
          <p:cNvSpPr/>
          <p:nvPr/>
        </p:nvSpPr>
        <p:spPr>
          <a:xfrm>
            <a:off x="1170432" y="4133088"/>
            <a:ext cx="2468880" cy="475488"/>
          </a:xfrm>
          <a:prstGeom prst="rect">
            <a:avLst/>
          </a:prstGeom>
          <a:noFill/>
          <a:ln/>
        </p:spPr>
        <p:txBody>
          <a:bodyPr wrap="square" lIns="0" tIns="0" rIns="0" bIns="0" rtlCol="0" anchor="ctr"/>
          <a:lstStyle/>
          <a:p>
            <a:pPr marL="0" indent="0">
              <a:buNone/>
            </a:pPr>
            <a:r>
              <a:rPr lang="en-US" sz="1200" b="1" dirty="0">
                <a:solidFill>
                  <a:srgbClr val="14333F"/>
                </a:solidFill>
                <a:latin typeface="Courier New" pitchFamily="34" charset="0"/>
                <a:ea typeface="Courier New" pitchFamily="34" charset="-122"/>
                <a:cs typeface="Courier New" pitchFamily="34" charset="-120"/>
              </a:rPr>
              <a:t>gis/</a:t>
            </a:r>
            <a:endParaRPr lang="en-US" sz="1200" dirty="0"/>
          </a:p>
        </p:txBody>
      </p:sp>
      <p:sp>
        <p:nvSpPr>
          <p:cNvPr id="29" name="Text 22"/>
          <p:cNvSpPr/>
          <p:nvPr/>
        </p:nvSpPr>
        <p:spPr>
          <a:xfrm>
            <a:off x="3657600" y="4133088"/>
            <a:ext cx="4754880" cy="475488"/>
          </a:xfrm>
          <a:prstGeom prst="rect">
            <a:avLst/>
          </a:prstGeom>
          <a:noFill/>
          <a:ln/>
        </p:spPr>
        <p:txBody>
          <a:bodyPr wrap="square" lIns="0" tIns="0" rIns="0" bIns="0" rtlCol="0" anchor="ctr"/>
          <a:lstStyle/>
          <a:p>
            <a:pPr marL="0" indent="0">
              <a:buNone/>
            </a:pPr>
            <a:r>
              <a:rPr lang="en-US" sz="1100" dirty="0">
                <a:solidFill>
                  <a:srgbClr val="5B7782"/>
                </a:solidFill>
                <a:latin typeface="Calibri" pitchFamily="34" charset="0"/>
                <a:ea typeface="Calibri" pitchFamily="34" charset="-122"/>
                <a:cs typeface="Calibri" pitchFamily="34" charset="-120"/>
              </a:rPr>
              <a:t>Pipe-network exports (.csv, .parquet)</a:t>
            </a:r>
            <a:endParaRPr lang="en-US" sz="1100" dirty="0"/>
          </a:p>
        </p:txBody>
      </p:sp>
      <p:sp>
        <p:nvSpPr>
          <p:cNvPr id="30" name="Shape 23"/>
          <p:cNvSpPr/>
          <p:nvPr/>
        </p:nvSpPr>
        <p:spPr>
          <a:xfrm>
            <a:off x="548640" y="4754880"/>
            <a:ext cx="8046720" cy="457200"/>
          </a:xfrm>
          <a:prstGeom prst="roundRect">
            <a:avLst>
              <a:gd name="adj" fmla="val 12000"/>
            </a:avLst>
          </a:prstGeom>
          <a:solidFill>
            <a:srgbClr val="0A3D52"/>
          </a:solidFill>
          <a:ln/>
        </p:spPr>
      </p:sp>
      <p:sp>
        <p:nvSpPr>
          <p:cNvPr id="31" name="Shape 24"/>
          <p:cNvSpPr/>
          <p:nvPr/>
        </p:nvSpPr>
        <p:spPr>
          <a:xfrm>
            <a:off x="713232" y="4828032"/>
            <a:ext cx="310896" cy="310896"/>
          </a:xfrm>
          <a:prstGeom prst="ellipse">
            <a:avLst/>
          </a:prstGeom>
          <a:solidFill>
            <a:srgbClr val="2EC4B6"/>
          </a:solidFill>
          <a:ln/>
        </p:spPr>
      </p:sp>
      <p:pic>
        <p:nvPicPr>
          <p:cNvPr id="32" name="Image 5" descr="preencoded.png"/>
          <p:cNvPicPr>
            <a:picLocks noChangeAspect="1"/>
          </p:cNvPicPr>
          <p:nvPr/>
        </p:nvPicPr>
        <p:blipFill>
          <a:blip r:embed="rId8"/>
          <a:stretch>
            <a:fillRect/>
          </a:stretch>
        </p:blipFill>
        <p:spPr>
          <a:xfrm>
            <a:off x="777240" y="4896612"/>
            <a:ext cx="182880" cy="182880"/>
          </a:xfrm>
          <a:prstGeom prst="rect">
            <a:avLst/>
          </a:prstGeom>
        </p:spPr>
      </p:pic>
      <p:sp>
        <p:nvSpPr>
          <p:cNvPr id="33" name="Text 25"/>
          <p:cNvSpPr/>
          <p:nvPr/>
        </p:nvSpPr>
        <p:spPr>
          <a:xfrm>
            <a:off x="1170432" y="4754880"/>
            <a:ext cx="7315200" cy="45720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Connected as a MinIO object store → Test Connection → Scan Files (not Ingest Schema)</a:t>
            </a:r>
            <a:endParaRPr lang="en-US" sz="1050" dirty="0"/>
          </a:p>
        </p:txBody>
      </p:sp>
      <p:sp>
        <p:nvSpPr>
          <p:cNvPr id="34" name="Text 26"/>
          <p:cNvSpPr/>
          <p:nvPr/>
        </p:nvSpPr>
        <p:spPr>
          <a:xfrm>
            <a:off x="548640" y="4828032"/>
            <a:ext cx="7315200" cy="274320"/>
          </a:xfrm>
          <a:prstGeom prst="rect">
            <a:avLst/>
          </a:prstGeom>
          <a:noFill/>
          <a:ln/>
        </p:spPr>
        <p:txBody>
          <a:bodyPr wrap="square" lIns="0" tIns="0" rIns="0" bIns="0" rtlCol="0" anchor="ctr"/>
          <a:lstStyle/>
          <a:p>
            <a:pPr marL="0" indent="0">
              <a:buNone/>
            </a:pPr>
            <a:endParaRPr lang="en-US" sz="950" dirty="0"/>
          </a:p>
        </p:txBody>
      </p:sp>
      <p:sp>
        <p:nvSpPr>
          <p:cNvPr id="35" name="Text 27"/>
          <p:cNvSpPr/>
          <p:nvPr/>
        </p:nvSpPr>
        <p:spPr>
          <a:xfrm>
            <a:off x="8366760" y="4828032"/>
            <a:ext cx="320040" cy="274320"/>
          </a:xfrm>
          <a:prstGeom prst="rect">
            <a:avLst/>
          </a:prstGeom>
          <a:noFill/>
          <a:ln/>
        </p:spPr>
        <p:txBody>
          <a:bodyPr wrap="square" lIns="0" tIns="0" rIns="0" bIns="0" rtlCol="0" anchor="ctr"/>
          <a:lstStyle/>
          <a:p>
            <a:pPr marL="0" indent="0" algn="r">
              <a:buNone/>
            </a:pPr>
            <a:r>
              <a:rPr lang="en-US" sz="950" dirty="0">
                <a:solidFill>
                  <a:srgbClr val="5B7782"/>
                </a:solidFill>
                <a:latin typeface="Calibri" pitchFamily="34" charset="0"/>
                <a:ea typeface="Calibri" pitchFamily="34" charset="-122"/>
                <a:cs typeface="Calibri" pitchFamily="34" charset="-120"/>
              </a:rPr>
              <a:t>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Eyebrow"/>
          <p:cNvSpPr/>
          <p:nvPr/>
        </p:nvSpPr>
        <p:spPr>
          <a:xfrm>
            <a:off x="548640" y="457200"/>
            <a:ext cx="6766560" cy="292608"/>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REFERENCE</a:t>
            </a:r>
          </a:p>
        </p:txBody>
      </p:sp>
      <p:sp>
        <p:nvSpPr>
          <p:cNvPr id="3" name="Title"/>
          <p:cNvSpPr/>
          <p:nvPr/>
        </p:nvSpPr>
        <p:spPr>
          <a:xfrm>
            <a:off x="548640" y="713232"/>
            <a:ext cx="8046720" cy="566928"/>
          </a:xfrm>
          <a:prstGeom prst="rect">
            <a:avLst/>
          </a:prstGeom>
          <a:noFill/>
          <a:ln/>
        </p:spPr>
        <p:txBody>
          <a:bodyPr wrap="square" lIns="0" tIns="0" rIns="0" bIns="0" rtlCol="0" anchor="ctr"/>
          <a:lstStyle/>
          <a:p>
            <a:pPr marL="0" indent="0">
              <a:buNone/>
            </a:pPr>
            <a:r>
              <a:rPr lang="en-US" sz="2700" b="1" dirty="0">
                <a:solidFill>
                  <a:srgbClr val="14333F"/>
                </a:solidFill>
                <a:latin typeface="Bookman Old Style" pitchFamily="34" charset="0"/>
                <a:ea typeface="Bookman Old Style" pitchFamily="34" charset="-122"/>
                <a:cs typeface="Bookman Old Style" pitchFamily="34" charset="-120"/>
              </a:rPr>
              <a:t>Your object-store parameters</a:t>
            </a:r>
          </a:p>
        </p:txBody>
      </p:sp>
      <p:sp>
        <p:nvSpPr>
          <p:cNvPr id="100" name="RowBg 0"/>
          <p:cNvSpPr/>
          <p:nvPr/>
        </p:nvSpPr>
        <p:spPr>
          <a:xfrm>
            <a:off x="548640" y="1470000"/>
            <a:ext cx="8046720" cy="495000"/>
          </a:xfrm>
          <a:prstGeom prst="roundRect">
            <a:avLst>
              <a:gd name="adj" fmla="val 11290"/>
            </a:avLst>
          </a:prstGeom>
          <a:solidFill>
            <a:srgbClr val="EEF6FA"/>
          </a:solidFill>
          <a:ln/>
          <a:effectLst>
            <a:outerShdw blurRad="50800" dist="12700" dir="5400000" algn="bl" rotWithShape="0">
              <a:srgbClr val="0A3D52">
                <a:alpha val="7000"/>
              </a:srgbClr>
            </a:outerShdw>
          </a:effectLst>
        </p:spPr>
      </p:sp>
      <p:sp>
        <p:nvSpPr>
          <p:cNvPr id="101" name="RowCircle 0"/>
          <p:cNvSpPr/>
          <p:nvPr/>
        </p:nvSpPr>
        <p:spPr>
          <a:xfrm>
            <a:off x="676656" y="1537500"/>
            <a:ext cx="360000" cy="360000"/>
          </a:xfrm>
          <a:prstGeom prst="ellipse">
            <a:avLst/>
          </a:prstGeom>
          <a:solidFill>
            <a:srgbClr val="065A82"/>
          </a:solidFill>
          <a:ln/>
        </p:spPr>
      </p:sp>
      <p:pic>
        <p:nvPicPr>
          <p:cNvPr id="102" name="RowIcon 0" descr="preencoded.png"/>
          <p:cNvPicPr>
            <a:picLocks noChangeAspect="1"/>
          </p:cNvPicPr>
          <p:nvPr/>
        </p:nvPicPr>
        <p:blipFill>
          <a:blip r:embed="rId10"/>
          <a:stretch>
            <a:fillRect/>
          </a:stretch>
        </p:blipFill>
        <p:spPr>
          <a:xfrm>
            <a:off x="751500" y="1612344"/>
            <a:ext cx="210312" cy="210312"/>
          </a:xfrm>
          <a:prstGeom prst="rect">
            <a:avLst/>
          </a:prstGeom>
        </p:spPr>
      </p:pic>
      <p:sp>
        <p:nvSpPr>
          <p:cNvPr id="103" name="RowLabel 0"/>
          <p:cNvSpPr/>
          <p:nvPr/>
        </p:nvSpPr>
        <p:spPr>
          <a:xfrm>
            <a:off x="1225296" y="1470000"/>
            <a:ext cx="1609344" cy="495000"/>
          </a:xfrm>
          <a:prstGeom prst="rect">
            <a:avLst/>
          </a:prstGeom>
          <a:noFill/>
          <a:ln/>
        </p:spPr>
        <p:txBody>
          <a:bodyPr wrap="square" lIns="0" tIns="0" rIns="0" bIns="0" rtlCol="0" anchor="ctr"/>
          <a:lstStyle/>
          <a:p>
            <a:pPr marL="0" indent="0">
              <a:buNone/>
            </a:pPr>
            <a:r>
              <a:rPr lang="en-US" sz="1300" b="1" dirty="0">
                <a:solidFill>
                  <a:srgbClr val="14333F"/>
                </a:solidFill>
                <a:latin typeface="Calibri" pitchFamily="34" charset="0"/>
                <a:ea typeface="Calibri" pitchFamily="34" charset="-122"/>
                <a:cs typeface="Calibri" pitchFamily="34" charset="-120"/>
              </a:rPr>
              <a:t>Region</a:t>
            </a:r>
          </a:p>
        </p:txBody>
      </p:sp>
      <p:sp>
        <p:nvSpPr>
          <p:cNvPr id="104" name="RowValue 0"/>
          <p:cNvSpPr/>
          <p:nvPr/>
        </p:nvSpPr>
        <p:spPr>
          <a:xfrm>
            <a:off x="2834640" y="1470000"/>
            <a:ext cx="2651760" cy="495000"/>
          </a:xfrm>
          <a:prstGeom prst="rect">
            <a:avLst/>
          </a:prstGeom>
          <a:noFill/>
          <a:ln/>
        </p:spPr>
        <p:txBody>
          <a:bodyPr wrap="square" lIns="0" tIns="0" rIns="0" bIns="0" rtlCol="0" anchor="ctr"/>
          <a:lstStyle/>
          <a:p>
            <a:pPr marL="0" indent="0">
              <a:buNone/>
            </a:pPr>
            <a:r>
              <a:rPr lang="en-US" sz="1300" b="1" dirty="0">
                <a:solidFill>
                  <a:srgbClr val="065A82"/>
                </a:solidFill>
                <a:latin typeface="Courier New" pitchFamily="34" charset="0"/>
                <a:ea typeface="Courier New" pitchFamily="34" charset="-122"/>
                <a:cs typeface="Courier New" pitchFamily="34" charset="-120"/>
              </a:rPr>
              <a:t>us-east-1</a:t>
            </a:r>
          </a:p>
        </p:txBody>
      </p:sp>
      <p:sp>
        <p:nvSpPr>
          <p:cNvPr id="105" name="RowDesc 0"/>
          <p:cNvSpPr/>
          <p:nvPr/>
        </p:nvSpPr>
        <p:spPr>
          <a:xfrm>
            <a:off x="5486400" y="1470000"/>
            <a:ext cx="3017520" cy="495000"/>
          </a:xfrm>
          <a:prstGeom prst="rect">
            <a:avLst/>
          </a:prstGeom>
          <a:noFill/>
          <a:ln/>
        </p:spPr>
        <p:txBody>
          <a:bodyPr wrap="square" lIns="0" tIns="0" rIns="0" bIns="0" rtlCol="0" anchor="ctr"/>
          <a:lstStyle/>
          <a:p>
            <a:pPr marL="0" indent="0">
              <a:buNone/>
            </a:pPr>
            <a:r>
              <a:rPr lang="en-US" sz="1050" dirty="0">
                <a:solidFill>
                  <a:srgbClr val="5B7782"/>
                </a:solidFill>
                <a:latin typeface="Calibri" pitchFamily="34" charset="0"/>
                <a:ea typeface="Calibri" pitchFamily="34" charset="-122"/>
                <a:cs typeface="Calibri" pitchFamily="34" charset="-120"/>
              </a:rPr>
              <a:t>Any value works for MinIO — leave as us-east-1</a:t>
            </a:r>
          </a:p>
        </p:txBody>
      </p:sp>
      <p:sp>
        <p:nvSpPr>
          <p:cNvPr id="110" name="RowBg 1"/>
          <p:cNvSpPr/>
          <p:nvPr/>
        </p:nvSpPr>
        <p:spPr>
          <a:xfrm>
            <a:off x="548640" y="2010000"/>
            <a:ext cx="8046720" cy="495000"/>
          </a:xfrm>
          <a:prstGeom prst="roundRect">
            <a:avLst>
              <a:gd name="adj" fmla="val 11290"/>
            </a:avLst>
          </a:prstGeom>
          <a:solidFill>
            <a:srgbClr val="EEF6FA"/>
          </a:solidFill>
          <a:ln/>
          <a:effectLst>
            <a:outerShdw blurRad="50800" dist="12700" dir="5400000" algn="bl" rotWithShape="0">
              <a:srgbClr val="0A3D52">
                <a:alpha val="7000"/>
              </a:srgbClr>
            </a:outerShdw>
          </a:effectLst>
        </p:spPr>
      </p:sp>
      <p:sp>
        <p:nvSpPr>
          <p:cNvPr id="111" name="RowCircle 1"/>
          <p:cNvSpPr/>
          <p:nvPr/>
        </p:nvSpPr>
        <p:spPr>
          <a:xfrm>
            <a:off x="676656" y="2077500"/>
            <a:ext cx="360000" cy="360000"/>
          </a:xfrm>
          <a:prstGeom prst="ellipse">
            <a:avLst/>
          </a:prstGeom>
          <a:solidFill>
            <a:srgbClr val="065A82"/>
          </a:solidFill>
          <a:ln/>
        </p:spPr>
      </p:sp>
      <p:pic>
        <p:nvPicPr>
          <p:cNvPr id="112" name="RowIcon 1" descr="preencoded.png"/>
          <p:cNvPicPr>
            <a:picLocks noChangeAspect="1"/>
          </p:cNvPicPr>
          <p:nvPr/>
        </p:nvPicPr>
        <p:blipFill>
          <a:blip r:embed="rId11"/>
          <a:stretch>
            <a:fillRect/>
          </a:stretch>
        </p:blipFill>
        <p:spPr>
          <a:xfrm>
            <a:off x="751500" y="2152344"/>
            <a:ext cx="210312" cy="210312"/>
          </a:xfrm>
          <a:prstGeom prst="rect">
            <a:avLst/>
          </a:prstGeom>
        </p:spPr>
      </p:pic>
      <p:sp>
        <p:nvSpPr>
          <p:cNvPr id="113" name="RowLabel 1"/>
          <p:cNvSpPr/>
          <p:nvPr/>
        </p:nvSpPr>
        <p:spPr>
          <a:xfrm>
            <a:off x="1225296" y="2010000"/>
            <a:ext cx="1609344" cy="495000"/>
          </a:xfrm>
          <a:prstGeom prst="rect">
            <a:avLst/>
          </a:prstGeom>
          <a:noFill/>
          <a:ln/>
        </p:spPr>
        <p:txBody>
          <a:bodyPr wrap="square" lIns="0" tIns="0" rIns="0" bIns="0" rtlCol="0" anchor="ctr"/>
          <a:lstStyle/>
          <a:p>
            <a:pPr marL="0" indent="0">
              <a:buNone/>
            </a:pPr>
            <a:r>
              <a:rPr lang="en-US" sz="1300" b="1" dirty="0">
                <a:solidFill>
                  <a:srgbClr val="14333F"/>
                </a:solidFill>
                <a:latin typeface="Calibri" pitchFamily="34" charset="0"/>
                <a:ea typeface="Calibri" pitchFamily="34" charset="-122"/>
                <a:cs typeface="Calibri" pitchFamily="34" charset="-120"/>
              </a:rPr>
              <a:t>Bucket Name</a:t>
            </a:r>
          </a:p>
        </p:txBody>
      </p:sp>
      <p:sp>
        <p:nvSpPr>
          <p:cNvPr id="114" name="RowValue 1"/>
          <p:cNvSpPr/>
          <p:nvPr/>
        </p:nvSpPr>
        <p:spPr>
          <a:xfrm>
            <a:off x="2834640" y="2010000"/>
            <a:ext cx="2651760" cy="495000"/>
          </a:xfrm>
          <a:prstGeom prst="rect">
            <a:avLst/>
          </a:prstGeom>
          <a:noFill/>
          <a:ln/>
        </p:spPr>
        <p:txBody>
          <a:bodyPr wrap="square" lIns="0" tIns="0" rIns="0" bIns="0" rtlCol="0" anchor="ctr"/>
          <a:lstStyle/>
          <a:p>
            <a:pPr marL="0" indent="0">
              <a:buNone/>
            </a:pPr>
            <a:r>
              <a:rPr lang="en-US" sz="1300" b="1" dirty="0">
                <a:solidFill>
                  <a:srgbClr val="065A82"/>
                </a:solidFill>
                <a:latin typeface="Courier New" pitchFamily="34" charset="0"/>
                <a:ea typeface="Courier New" pitchFamily="34" charset="-122"/>
                <a:cs typeface="Courier New" pitchFamily="34" charset="-120"/>
              </a:rPr>
              <a:t>cscu-documents</a:t>
            </a:r>
          </a:p>
        </p:txBody>
      </p:sp>
      <p:sp>
        <p:nvSpPr>
          <p:cNvPr id="115" name="RowDesc 1"/>
          <p:cNvSpPr/>
          <p:nvPr/>
        </p:nvSpPr>
        <p:spPr>
          <a:xfrm>
            <a:off x="5486400" y="2010000"/>
            <a:ext cx="3017520" cy="495000"/>
          </a:xfrm>
          <a:prstGeom prst="rect">
            <a:avLst/>
          </a:prstGeom>
          <a:noFill/>
          <a:ln/>
        </p:spPr>
        <p:txBody>
          <a:bodyPr wrap="square" lIns="0" tIns="0" rIns="0" bIns="0" rtlCol="0" anchor="ctr"/>
          <a:lstStyle/>
          <a:p>
            <a:pPr marL="0" indent="0">
              <a:buNone/>
            </a:pPr>
            <a:r>
              <a:rPr lang="en-US" sz="1050" dirty="0">
                <a:solidFill>
                  <a:srgbClr val="5B7782"/>
                </a:solidFill>
                <a:latin typeface="Calibri" pitchFamily="34" charset="0"/>
                <a:ea typeface="Calibri" pitchFamily="34" charset="-122"/>
                <a:cs typeface="Calibri" pitchFamily="34" charset="-120"/>
              </a:rPr>
              <a:t>The bucket holding CSCU’s documents</a:t>
            </a:r>
          </a:p>
        </p:txBody>
      </p:sp>
      <p:sp>
        <p:nvSpPr>
          <p:cNvPr id="120" name="RowBg 2"/>
          <p:cNvSpPr/>
          <p:nvPr/>
        </p:nvSpPr>
        <p:spPr>
          <a:xfrm>
            <a:off x="548640" y="2550000"/>
            <a:ext cx="8046720" cy="495000"/>
          </a:xfrm>
          <a:prstGeom prst="roundRect">
            <a:avLst>
              <a:gd name="adj" fmla="val 11290"/>
            </a:avLst>
          </a:prstGeom>
          <a:solidFill>
            <a:srgbClr val="EEF6FA"/>
          </a:solidFill>
          <a:ln/>
          <a:effectLst>
            <a:outerShdw blurRad="50800" dist="12700" dir="5400000" algn="bl" rotWithShape="0">
              <a:srgbClr val="0A3D52">
                <a:alpha val="7000"/>
              </a:srgbClr>
            </a:outerShdw>
          </a:effectLst>
        </p:spPr>
      </p:sp>
      <p:sp>
        <p:nvSpPr>
          <p:cNvPr id="121" name="RowCircle 2"/>
          <p:cNvSpPr/>
          <p:nvPr/>
        </p:nvSpPr>
        <p:spPr>
          <a:xfrm>
            <a:off x="676656" y="2617500"/>
            <a:ext cx="360000" cy="360000"/>
          </a:xfrm>
          <a:prstGeom prst="ellipse">
            <a:avLst/>
          </a:prstGeom>
          <a:solidFill>
            <a:srgbClr val="065A82"/>
          </a:solidFill>
          <a:ln/>
        </p:spPr>
      </p:sp>
      <p:pic>
        <p:nvPicPr>
          <p:cNvPr id="122" name="RowIcon 2" descr="preencoded.png"/>
          <p:cNvPicPr>
            <a:picLocks noChangeAspect="1"/>
          </p:cNvPicPr>
          <p:nvPr/>
        </p:nvPicPr>
        <p:blipFill>
          <a:blip r:embed="rId12"/>
          <a:stretch>
            <a:fillRect/>
          </a:stretch>
        </p:blipFill>
        <p:spPr>
          <a:xfrm>
            <a:off x="751500" y="2692344"/>
            <a:ext cx="210312" cy="210312"/>
          </a:xfrm>
          <a:prstGeom prst="rect">
            <a:avLst/>
          </a:prstGeom>
        </p:spPr>
      </p:pic>
      <p:sp>
        <p:nvSpPr>
          <p:cNvPr id="123" name="RowLabel 2"/>
          <p:cNvSpPr/>
          <p:nvPr/>
        </p:nvSpPr>
        <p:spPr>
          <a:xfrm>
            <a:off x="1225296" y="2550000"/>
            <a:ext cx="1609344" cy="495000"/>
          </a:xfrm>
          <a:prstGeom prst="rect">
            <a:avLst/>
          </a:prstGeom>
          <a:noFill/>
          <a:ln/>
        </p:spPr>
        <p:txBody>
          <a:bodyPr wrap="square" lIns="0" tIns="0" rIns="0" bIns="0" rtlCol="0" anchor="ctr"/>
          <a:lstStyle/>
          <a:p>
            <a:pPr marL="0" indent="0">
              <a:buNone/>
            </a:pPr>
            <a:r>
              <a:rPr lang="en-US" sz="1300" b="1" dirty="0">
                <a:solidFill>
                  <a:srgbClr val="14333F"/>
                </a:solidFill>
                <a:latin typeface="Calibri" pitchFamily="34" charset="0"/>
                <a:ea typeface="Calibri" pitchFamily="34" charset="-122"/>
                <a:cs typeface="Calibri" pitchFamily="34" charset="-120"/>
              </a:rPr>
              <a:t>Access Key</a:t>
            </a:r>
          </a:p>
        </p:txBody>
      </p:sp>
      <p:sp>
        <p:nvSpPr>
          <p:cNvPr id="124" name="RowValue 2"/>
          <p:cNvSpPr/>
          <p:nvPr/>
        </p:nvSpPr>
        <p:spPr>
          <a:xfrm>
            <a:off x="2834640" y="2550000"/>
            <a:ext cx="2651760" cy="495000"/>
          </a:xfrm>
          <a:prstGeom prst="rect">
            <a:avLst/>
          </a:prstGeom>
          <a:noFill/>
          <a:ln/>
        </p:spPr>
        <p:txBody>
          <a:bodyPr wrap="square" lIns="0" tIns="0" rIns="0" bIns="0" rtlCol="0" anchor="ctr"/>
          <a:lstStyle/>
          <a:p>
            <a:pPr marL="0" indent="0">
              <a:buNone/>
            </a:pPr>
            <a:r>
              <a:rPr lang="en-US" sz="1300" b="1" dirty="0">
                <a:solidFill>
                  <a:srgbClr val="065A82"/>
                </a:solidFill>
                <a:latin typeface="Courier New" pitchFamily="34" charset="0"/>
                <a:ea typeface="Courier New" pitchFamily="34" charset="-122"/>
                <a:cs typeface="Courier New" pitchFamily="34" charset="-120"/>
              </a:rPr>
              <a:t>cscu_minio_user</a:t>
            </a:r>
          </a:p>
        </p:txBody>
      </p:sp>
      <p:sp>
        <p:nvSpPr>
          <p:cNvPr id="125" name="RowDesc 2"/>
          <p:cNvSpPr/>
          <p:nvPr/>
        </p:nvSpPr>
        <p:spPr>
          <a:xfrm>
            <a:off x="5486400" y="2550000"/>
            <a:ext cx="3017520" cy="495000"/>
          </a:xfrm>
          <a:prstGeom prst="rect">
            <a:avLst/>
          </a:prstGeom>
          <a:noFill/>
          <a:ln/>
        </p:spPr>
        <p:txBody>
          <a:bodyPr wrap="square" lIns="0" tIns="0" rIns="0" bIns="0" rtlCol="0" anchor="ctr"/>
          <a:lstStyle/>
          <a:p>
            <a:pPr marL="0" indent="0">
              <a:buNone/>
            </a:pPr>
            <a:r>
              <a:rPr lang="en-US" sz="1050" dirty="0">
                <a:solidFill>
                  <a:srgbClr val="5B7782"/>
                </a:solidFill>
                <a:latin typeface="Calibri" pitchFamily="34" charset="0"/>
                <a:ea typeface="Calibri" pitchFamily="34" charset="-122"/>
                <a:cs typeface="Calibri" pitchFamily="34" charset="-120"/>
              </a:rPr>
              <a:t>MinIO access key — read-only</a:t>
            </a:r>
          </a:p>
        </p:txBody>
      </p:sp>
      <p:sp>
        <p:nvSpPr>
          <p:cNvPr id="130" name="RowBg 3"/>
          <p:cNvSpPr/>
          <p:nvPr/>
        </p:nvSpPr>
        <p:spPr>
          <a:xfrm>
            <a:off x="548640" y="3090000"/>
            <a:ext cx="8046720" cy="495000"/>
          </a:xfrm>
          <a:prstGeom prst="roundRect">
            <a:avLst>
              <a:gd name="adj" fmla="val 11290"/>
            </a:avLst>
          </a:prstGeom>
          <a:solidFill>
            <a:srgbClr val="EEF6FA"/>
          </a:solidFill>
          <a:ln/>
          <a:effectLst>
            <a:outerShdw blurRad="50800" dist="12700" dir="5400000" algn="bl" rotWithShape="0">
              <a:srgbClr val="0A3D52">
                <a:alpha val="7000"/>
              </a:srgbClr>
            </a:outerShdw>
          </a:effectLst>
        </p:spPr>
      </p:sp>
      <p:sp>
        <p:nvSpPr>
          <p:cNvPr id="131" name="RowCircle 3"/>
          <p:cNvSpPr/>
          <p:nvPr/>
        </p:nvSpPr>
        <p:spPr>
          <a:xfrm>
            <a:off x="676656" y="3157500"/>
            <a:ext cx="360000" cy="360000"/>
          </a:xfrm>
          <a:prstGeom prst="ellipse">
            <a:avLst/>
          </a:prstGeom>
          <a:solidFill>
            <a:srgbClr val="065A82"/>
          </a:solidFill>
          <a:ln/>
        </p:spPr>
      </p:sp>
      <p:pic>
        <p:nvPicPr>
          <p:cNvPr id="132" name="RowIcon 3" descr="preencoded.png"/>
          <p:cNvPicPr>
            <a:picLocks noChangeAspect="1"/>
          </p:cNvPicPr>
          <p:nvPr/>
        </p:nvPicPr>
        <p:blipFill>
          <a:blip r:embed="rId13"/>
          <a:stretch>
            <a:fillRect/>
          </a:stretch>
        </p:blipFill>
        <p:spPr>
          <a:xfrm>
            <a:off x="751500" y="3232344"/>
            <a:ext cx="210312" cy="210312"/>
          </a:xfrm>
          <a:prstGeom prst="rect">
            <a:avLst/>
          </a:prstGeom>
        </p:spPr>
      </p:pic>
      <p:sp>
        <p:nvSpPr>
          <p:cNvPr id="133" name="RowLabel 3"/>
          <p:cNvSpPr/>
          <p:nvPr/>
        </p:nvSpPr>
        <p:spPr>
          <a:xfrm>
            <a:off x="1225296" y="3090000"/>
            <a:ext cx="1609344" cy="495000"/>
          </a:xfrm>
          <a:prstGeom prst="rect">
            <a:avLst/>
          </a:prstGeom>
          <a:noFill/>
          <a:ln/>
        </p:spPr>
        <p:txBody>
          <a:bodyPr wrap="square" lIns="0" tIns="0" rIns="0" bIns="0" rtlCol="0" anchor="ctr"/>
          <a:lstStyle/>
          <a:p>
            <a:pPr marL="0" indent="0">
              <a:buNone/>
            </a:pPr>
            <a:r>
              <a:rPr lang="en-US" sz="1300" b="1" dirty="0">
                <a:solidFill>
                  <a:srgbClr val="14333F"/>
                </a:solidFill>
                <a:latin typeface="Calibri" pitchFamily="34" charset="0"/>
                <a:ea typeface="Calibri" pitchFamily="34" charset="-122"/>
                <a:cs typeface="Calibri" pitchFamily="34" charset="-120"/>
              </a:rPr>
              <a:t>Secret Key</a:t>
            </a:r>
          </a:p>
        </p:txBody>
      </p:sp>
      <p:sp>
        <p:nvSpPr>
          <p:cNvPr id="134" name="RowValue 3"/>
          <p:cNvSpPr/>
          <p:nvPr/>
        </p:nvSpPr>
        <p:spPr>
          <a:xfrm>
            <a:off x="2834640" y="3090000"/>
            <a:ext cx="2651760" cy="495000"/>
          </a:xfrm>
          <a:prstGeom prst="rect">
            <a:avLst/>
          </a:prstGeom>
          <a:noFill/>
          <a:ln/>
        </p:spPr>
        <p:txBody>
          <a:bodyPr wrap="square" lIns="0" tIns="0" rIns="0" bIns="0" rtlCol="0" anchor="ctr"/>
          <a:lstStyle/>
          <a:p>
            <a:pPr marL="0" indent="0">
              <a:buNone/>
            </a:pPr>
            <a:r>
              <a:rPr lang="en-US" sz="1300" b="1" dirty="0">
                <a:solidFill>
                  <a:srgbClr val="065A82"/>
                </a:solidFill>
                <a:latin typeface="Courier New" pitchFamily="34" charset="0"/>
                <a:ea typeface="Courier New" pitchFamily="34" charset="-122"/>
                <a:cs typeface="Courier New" pitchFamily="34" charset="-120"/>
              </a:rPr>
              <a:t>minio_secret_123!</a:t>
            </a:r>
          </a:p>
        </p:txBody>
      </p:sp>
      <p:sp>
        <p:nvSpPr>
          <p:cNvPr id="135" name="RowDesc 3"/>
          <p:cNvSpPr/>
          <p:nvPr/>
        </p:nvSpPr>
        <p:spPr>
          <a:xfrm>
            <a:off x="5486400" y="3090000"/>
            <a:ext cx="3017520" cy="495000"/>
          </a:xfrm>
          <a:prstGeom prst="rect">
            <a:avLst/>
          </a:prstGeom>
          <a:noFill/>
          <a:ln/>
        </p:spPr>
        <p:txBody>
          <a:bodyPr wrap="square" lIns="0" tIns="0" rIns="0" bIns="0" rtlCol="0" anchor="ctr"/>
          <a:lstStyle/>
          <a:p>
            <a:pPr marL="0" indent="0">
              <a:buNone/>
            </a:pPr>
            <a:r>
              <a:rPr lang="en-US" sz="1050" dirty="0">
                <a:solidFill>
                  <a:srgbClr val="5B7782"/>
                </a:solidFill>
                <a:latin typeface="Calibri" pitchFamily="34" charset="0"/>
                <a:ea typeface="Calibri" pitchFamily="34" charset="-122"/>
                <a:cs typeface="Calibri" pitchFamily="34" charset="-120"/>
              </a:rPr>
              <a:t>Lab credential — change in production</a:t>
            </a:r>
          </a:p>
        </p:txBody>
      </p:sp>
      <p:sp>
        <p:nvSpPr>
          <p:cNvPr id="140" name="RowBg 4"/>
          <p:cNvSpPr/>
          <p:nvPr/>
        </p:nvSpPr>
        <p:spPr>
          <a:xfrm>
            <a:off x="548640" y="3630000"/>
            <a:ext cx="8046720" cy="495000"/>
          </a:xfrm>
          <a:prstGeom prst="roundRect">
            <a:avLst>
              <a:gd name="adj" fmla="val 11290"/>
            </a:avLst>
          </a:prstGeom>
          <a:solidFill>
            <a:srgbClr val="EEF6FA"/>
          </a:solidFill>
          <a:ln/>
          <a:effectLst>
            <a:outerShdw blurRad="50800" dist="12700" dir="5400000" algn="bl" rotWithShape="0">
              <a:srgbClr val="0A3D52">
                <a:alpha val="7000"/>
              </a:srgbClr>
            </a:outerShdw>
          </a:effectLst>
        </p:spPr>
      </p:sp>
      <p:sp>
        <p:nvSpPr>
          <p:cNvPr id="141" name="RowCircle 4"/>
          <p:cNvSpPr/>
          <p:nvPr/>
        </p:nvSpPr>
        <p:spPr>
          <a:xfrm>
            <a:off x="676656" y="3697500"/>
            <a:ext cx="360000" cy="360000"/>
          </a:xfrm>
          <a:prstGeom prst="ellipse">
            <a:avLst/>
          </a:prstGeom>
          <a:solidFill>
            <a:srgbClr val="065A82"/>
          </a:solidFill>
          <a:ln/>
        </p:spPr>
      </p:sp>
      <p:pic>
        <p:nvPicPr>
          <p:cNvPr id="142" name="RowIcon 4" descr="preencoded.png"/>
          <p:cNvPicPr>
            <a:picLocks noChangeAspect="1"/>
          </p:cNvPicPr>
          <p:nvPr/>
        </p:nvPicPr>
        <p:blipFill>
          <a:blip r:embed="rId14"/>
          <a:stretch>
            <a:fillRect/>
          </a:stretch>
        </p:blipFill>
        <p:spPr>
          <a:xfrm>
            <a:off x="751500" y="3772344"/>
            <a:ext cx="210312" cy="210312"/>
          </a:xfrm>
          <a:prstGeom prst="rect">
            <a:avLst/>
          </a:prstGeom>
        </p:spPr>
      </p:pic>
      <p:sp>
        <p:nvSpPr>
          <p:cNvPr id="143" name="RowLabel 4"/>
          <p:cNvSpPr/>
          <p:nvPr/>
        </p:nvSpPr>
        <p:spPr>
          <a:xfrm>
            <a:off x="1225296" y="3630000"/>
            <a:ext cx="1609344" cy="495000"/>
          </a:xfrm>
          <a:prstGeom prst="rect">
            <a:avLst/>
          </a:prstGeom>
          <a:noFill/>
          <a:ln/>
        </p:spPr>
        <p:txBody>
          <a:bodyPr wrap="square" lIns="0" tIns="0" rIns="0" bIns="0" rtlCol="0" anchor="ctr"/>
          <a:lstStyle/>
          <a:p>
            <a:pPr marL="0" indent="0">
              <a:buNone/>
            </a:pPr>
            <a:r>
              <a:rPr lang="en-US" sz="1300" b="1" dirty="0">
                <a:solidFill>
                  <a:srgbClr val="14333F"/>
                </a:solidFill>
                <a:latin typeface="Calibri" pitchFamily="34" charset="0"/>
                <a:ea typeface="Calibri" pitchFamily="34" charset="-122"/>
                <a:cs typeface="Calibri" pitchFamily="34" charset="-120"/>
              </a:rPr>
              <a:t>Endpoint</a:t>
            </a:r>
          </a:p>
        </p:txBody>
      </p:sp>
      <p:sp>
        <p:nvSpPr>
          <p:cNvPr id="144" name="RowValue 4"/>
          <p:cNvSpPr/>
          <p:nvPr/>
        </p:nvSpPr>
        <p:spPr>
          <a:xfrm>
            <a:off x="2834640" y="3630000"/>
            <a:ext cx="2651760" cy="495000"/>
          </a:xfrm>
          <a:prstGeom prst="rect">
            <a:avLst/>
          </a:prstGeom>
          <a:noFill/>
          <a:ln/>
        </p:spPr>
        <p:txBody>
          <a:bodyPr wrap="square" lIns="0" tIns="0" rIns="0" bIns="0" rtlCol="0" anchor="ctr"/>
          <a:lstStyle/>
          <a:p>
            <a:pPr marL="0" indent="0">
              <a:buNone/>
            </a:pPr>
            <a:r>
              <a:rPr lang="en-US" sz="1300" b="1" dirty="0">
                <a:solidFill>
                  <a:srgbClr val="065A82"/>
                </a:solidFill>
                <a:latin typeface="Courier New" pitchFamily="34" charset="0"/>
                <a:ea typeface="Courier New" pitchFamily="34" charset="-122"/>
                <a:cs typeface="Courier New" pitchFamily="34" charset="-120"/>
              </a:rPr>
              <a:t>http://192.168.1.200:9000</a:t>
            </a:r>
          </a:p>
        </p:txBody>
      </p:sp>
      <p:sp>
        <p:nvSpPr>
          <p:cNvPr id="145" name="RowDesc 4"/>
          <p:cNvSpPr/>
          <p:nvPr/>
        </p:nvSpPr>
        <p:spPr>
          <a:xfrm>
            <a:off x="5486400" y="3630000"/>
            <a:ext cx="3017520" cy="495000"/>
          </a:xfrm>
          <a:prstGeom prst="rect">
            <a:avLst/>
          </a:prstGeom>
          <a:noFill/>
          <a:ln/>
        </p:spPr>
        <p:txBody>
          <a:bodyPr wrap="square" lIns="0" tIns="0" rIns="0" bIns="0" rtlCol="0" anchor="ctr"/>
          <a:lstStyle/>
          <a:p>
            <a:pPr marL="0" indent="0">
              <a:buNone/>
            </a:pPr>
            <a:r>
              <a:rPr lang="en-US" sz="1050" dirty="0">
                <a:solidFill>
                  <a:srgbClr val="5B7782"/>
                </a:solidFill>
                <a:latin typeface="Calibri" pitchFamily="34" charset="0"/>
                <a:ea typeface="Calibri" pitchFamily="34" charset="-122"/>
                <a:cs typeface="Calibri" pitchFamily="34" charset="-120"/>
              </a:rPr>
              <a:t>Use the VM/host IP, not localhost — an IP forces S3 path-style, which MinIO needs</a:t>
            </a:r>
          </a:p>
        </p:txBody>
      </p:sp>
      <p:sp>
        <p:nvSpPr>
          <p:cNvPr id="150" name="RowBg 5"/>
          <p:cNvSpPr/>
          <p:nvPr/>
        </p:nvSpPr>
        <p:spPr>
          <a:xfrm>
            <a:off x="548640" y="4170000"/>
            <a:ext cx="8046720" cy="495000"/>
          </a:xfrm>
          <a:prstGeom prst="roundRect">
            <a:avLst>
              <a:gd name="adj" fmla="val 11290"/>
            </a:avLst>
          </a:prstGeom>
          <a:solidFill>
            <a:srgbClr val="EEF6FA"/>
          </a:solidFill>
          <a:ln/>
          <a:effectLst>
            <a:outerShdw blurRad="50800" dist="12700" dir="5400000" algn="bl" rotWithShape="0">
              <a:srgbClr val="0A3D52">
                <a:alpha val="7000"/>
              </a:srgbClr>
            </a:outerShdw>
          </a:effectLst>
        </p:spPr>
      </p:sp>
      <p:sp>
        <p:nvSpPr>
          <p:cNvPr id="151" name="RowCircle 5"/>
          <p:cNvSpPr/>
          <p:nvPr/>
        </p:nvSpPr>
        <p:spPr>
          <a:xfrm>
            <a:off x="676656" y="4237500"/>
            <a:ext cx="360000" cy="360000"/>
          </a:xfrm>
          <a:prstGeom prst="ellipse">
            <a:avLst/>
          </a:prstGeom>
          <a:solidFill>
            <a:srgbClr val="065A82"/>
          </a:solidFill>
          <a:ln/>
        </p:spPr>
      </p:sp>
      <p:pic>
        <p:nvPicPr>
          <p:cNvPr id="152" name="RowIcon 5" descr="preencoded.png"/>
          <p:cNvPicPr>
            <a:picLocks noChangeAspect="1"/>
          </p:cNvPicPr>
          <p:nvPr/>
        </p:nvPicPr>
        <p:blipFill>
          <a:blip r:embed="rId15"/>
          <a:stretch>
            <a:fillRect/>
          </a:stretch>
        </p:blipFill>
        <p:spPr>
          <a:xfrm>
            <a:off x="751500" y="4312344"/>
            <a:ext cx="210312" cy="210312"/>
          </a:xfrm>
          <a:prstGeom prst="rect">
            <a:avLst/>
          </a:prstGeom>
        </p:spPr>
      </p:pic>
      <p:sp>
        <p:nvSpPr>
          <p:cNvPr id="153" name="RowLabel 5"/>
          <p:cNvSpPr/>
          <p:nvPr/>
        </p:nvSpPr>
        <p:spPr>
          <a:xfrm>
            <a:off x="1225296" y="4170000"/>
            <a:ext cx="1609344" cy="495000"/>
          </a:xfrm>
          <a:prstGeom prst="rect">
            <a:avLst/>
          </a:prstGeom>
          <a:noFill/>
          <a:ln/>
        </p:spPr>
        <p:txBody>
          <a:bodyPr wrap="square" lIns="0" tIns="0" rIns="0" bIns="0" rtlCol="0" anchor="ctr"/>
          <a:lstStyle/>
          <a:p>
            <a:pPr marL="0" indent="0">
              <a:buNone/>
            </a:pPr>
            <a:r>
              <a:rPr lang="en-US" sz="1300" b="1" dirty="0">
                <a:solidFill>
                  <a:srgbClr val="14333F"/>
                </a:solidFill>
                <a:latin typeface="Calibri" pitchFamily="34" charset="0"/>
                <a:ea typeface="Calibri" pitchFamily="34" charset="-122"/>
                <a:cs typeface="Calibri" pitchFamily="34" charset="-120"/>
              </a:rPr>
              <a:t>Path</a:t>
            </a:r>
          </a:p>
        </p:txBody>
      </p:sp>
      <p:sp>
        <p:nvSpPr>
          <p:cNvPr id="154" name="RowValue 5"/>
          <p:cNvSpPr/>
          <p:nvPr/>
        </p:nvSpPr>
        <p:spPr>
          <a:xfrm>
            <a:off x="2834640" y="4170000"/>
            <a:ext cx="2651760" cy="495000"/>
          </a:xfrm>
          <a:prstGeom prst="rect">
            <a:avLst/>
          </a:prstGeom>
          <a:noFill/>
          <a:ln/>
        </p:spPr>
        <p:txBody>
          <a:bodyPr wrap="square" lIns="0" tIns="0" rIns="0" bIns="0" rtlCol="0" anchor="ctr"/>
          <a:lstStyle/>
          <a:p>
            <a:pPr marL="0" indent="0">
              <a:buNone/>
            </a:pPr>
            <a:r>
              <a:rPr lang="en-US" sz="1300" b="1" dirty="0">
                <a:solidFill>
                  <a:srgbClr val="065A82"/>
                </a:solidFill>
                <a:latin typeface="Courier New" pitchFamily="34" charset="0"/>
                <a:ea typeface="Courier New" pitchFamily="34" charset="-122"/>
                <a:cs typeface="Courier New" pitchFamily="34" charset="-120"/>
              </a:rPr>
              <a:t>/</a:t>
            </a:r>
          </a:p>
        </p:txBody>
      </p:sp>
      <p:sp>
        <p:nvSpPr>
          <p:cNvPr id="155" name="RowDesc 5"/>
          <p:cNvSpPr/>
          <p:nvPr/>
        </p:nvSpPr>
        <p:spPr>
          <a:xfrm>
            <a:off x="5486400" y="4170000"/>
            <a:ext cx="3017520" cy="495000"/>
          </a:xfrm>
          <a:prstGeom prst="rect">
            <a:avLst/>
          </a:prstGeom>
          <a:noFill/>
          <a:ln/>
        </p:spPr>
        <p:txBody>
          <a:bodyPr wrap="square" lIns="0" tIns="0" rIns="0" bIns="0" rtlCol="0" anchor="ctr"/>
          <a:lstStyle/>
          <a:p>
            <a:pPr marL="0" indent="0">
              <a:buNone/>
            </a:pPr>
            <a:r>
              <a:rPr lang="en-US" sz="1050" dirty="0">
                <a:solidFill>
                  <a:srgbClr val="5B7782"/>
                </a:solidFill>
                <a:latin typeface="Calibri" pitchFamily="34" charset="0"/>
                <a:ea typeface="Calibri" pitchFamily="34" charset="-122"/>
                <a:cs typeface="Calibri" pitchFamily="34" charset="-120"/>
              </a:rPr>
              <a:t>Scan the whole bucket from its root</a:t>
            </a:r>
          </a:p>
        </p:txBody>
      </p:sp>
      <p:sp>
        <p:nvSpPr>
          <p:cNvPr id="90" name="FooterL"/>
          <p:cNvSpPr/>
          <p:nvPr/>
        </p:nvSpPr>
        <p:spPr>
          <a:xfrm>
            <a:off x="548640" y="4828032"/>
            <a:ext cx="7315200" cy="274320"/>
          </a:xfrm>
          <a:prstGeom prst="rect">
            <a:avLst/>
          </a:prstGeom>
          <a:noFill/>
          <a:ln/>
        </p:spPr>
        <p:txBody>
          <a:bodyPr wrap="square" lIns="0" tIns="0" rIns="0" bIns="0" rtlCol="0" anchor="ctr"/>
          <a:lstStyle/>
          <a:p>
            <a:pPr marL="0" indent="0">
              <a:buNone/>
            </a:pPr>
            <a:r>
              <a:rPr lang="en-US" sz="950" dirty="0">
                <a:solidFill>
                  <a:srgbClr val="5B7782"/>
                </a:solidFill>
                <a:latin typeface="Calibri" pitchFamily="34" charset="0"/>
                <a:ea typeface="Calibri" pitchFamily="34" charset="-122"/>
                <a:cs typeface="Calibri" pitchFamily="34" charset="-120"/>
              </a:rPr>
              <a:t>Workshop 1 · MinIO object store — Data Source Type: AWS S3 · Test Connection → Scan Files</a:t>
            </a:r>
          </a:p>
        </p:txBody>
      </p:sp>
      <p:sp>
        <p:nvSpPr>
          <p:cNvPr id="91" name="FooterR"/>
          <p:cNvSpPr/>
          <p:nvPr/>
        </p:nvSpPr>
        <p:spPr>
          <a:xfrm>
            <a:off x="8366760" y="4828032"/>
            <a:ext cx="320040" cy="274320"/>
          </a:xfrm>
          <a:prstGeom prst="rect">
            <a:avLst/>
          </a:prstGeom>
          <a:noFill/>
          <a:ln/>
        </p:spPr>
        <p:txBody>
          <a:bodyPr wrap="square" lIns="0" tIns="0" rIns="0" bIns="0" rtlCol="0" anchor="ctr"/>
          <a:lstStyle/>
          <a:p>
            <a:pPr marL="0" indent="0" algn="r">
              <a:buNone/>
            </a:pPr>
            <a:r>
              <a:rPr lang="en-US" sz="950" dirty="0">
                <a:solidFill>
                  <a:srgbClr val="5B7782"/>
                </a:solidFill>
                <a:latin typeface="Calibri" pitchFamily="34" charset="0"/>
                <a:ea typeface="Calibri" pitchFamily="34" charset="-122"/>
                <a:cs typeface="Calibri" pitchFamily="34" charset="-120"/>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Eyebrow"/>
          <p:cNvSpPr/>
          <p:nvPr/>
        </p:nvSpPr>
        <p:spPr>
          <a:xfrm>
            <a:off x="548640" y="400000"/>
            <a:ext cx="7800000" cy="280000"/>
          </a:xfrm>
          <a:prstGeom prst="rect">
            <a:avLst/>
          </a:prstGeom>
          <a:noFill/>
          <a:ln/>
        </p:spPr>
        <p:txBody>
          <a:bodyPr wrap="square" lIns="0" tIns="0" rIns="0" bIns="0" rtlCol="0" anchor="ctr"/>
          <a:lstStyle/>
          <a:p>
            <a:pPr marL="0" indent="0">
              <a:buNone/>
            </a:pPr>
            <a:r>
              <a:rPr lang="en-US" sz="1200" b="1" spc="200" dirty="0">
                <a:solidFill>
                  <a:srgbClr val="1C7293"/>
                </a:solidFill>
                <a:latin typeface="Calibri" pitchFamily="34" charset="0"/>
                <a:ea typeface="Calibri" pitchFamily="34" charset="-122"/>
                <a:cs typeface="Calibri" pitchFamily="34" charset="-120"/>
              </a:rPr>
              <a:t>CHOOSE PROCESS  ·  PDC 11.0.0</a:t>
            </a:r>
          </a:p>
        </p:txBody>
      </p:sp>
      <p:sp>
        <p:nvSpPr>
          <p:cNvPr id="3" name="Title"/>
          <p:cNvSpPr/>
          <p:nvPr/>
        </p:nvSpPr>
        <p:spPr>
          <a:xfrm>
            <a:off x="548640" y="660000"/>
            <a:ext cx="8046720" cy="560000"/>
          </a:xfrm>
          <a:prstGeom prst="rect">
            <a:avLst/>
          </a:prstGeom>
          <a:noFill/>
          <a:ln/>
        </p:spPr>
        <p:txBody>
          <a:bodyPr wrap="square" lIns="0" tIns="0" rIns="0" bIns="0" rtlCol="0" anchor="ctr"/>
          <a:lstStyle/>
          <a:p>
            <a:pPr marL="0" indent="0">
              <a:buNone/>
            </a:pPr>
            <a:r>
              <a:rPr lang="en-US" sz="2600" b="1" dirty="0">
                <a:solidFill>
                  <a:srgbClr val="14333F"/>
                </a:solidFill>
                <a:latin typeface="Bookman Old Style" pitchFamily="34" charset="0"/>
                <a:ea typeface="Bookman Old Style" pitchFamily="34" charset="-122"/>
                <a:cs typeface="Bookman Old Style" pitchFamily="34" charset="-120"/>
              </a:rPr>
              <a:t>Making documents catalog-ready</a:t>
            </a:r>
          </a:p>
        </p:txBody>
      </p:sp>
      <p:sp>
        <p:nvSpPr>
          <p:cNvPr id="4" name="Sub"/>
          <p:cNvSpPr/>
          <p:nvPr/>
        </p:nvSpPr>
        <p:spPr>
          <a:xfrm>
            <a:off x="548640" y="1235000"/>
            <a:ext cx="8046720" cy="250000"/>
          </a:xfrm>
          <a:prstGeom prst="rect">
            <a:avLst/>
          </a:prstGeom>
          <a:noFill/>
          <a:ln/>
        </p:spPr>
        <p:txBody>
          <a:bodyPr wrap="square" lIns="0" tIns="0" rIns="0" bIns="0" rtlCol="0" anchor="ctr"/>
          <a:lstStyle/>
          <a:p>
            <a:pPr marL="0" indent="0">
              <a:buNone/>
            </a:pPr>
            <a:r>
              <a:rPr lang="en-US" sz="1200" dirty="0">
                <a:solidFill>
                  <a:srgbClr val="5B7782"/>
                </a:solidFill>
                <a:latin typeface="Calibri" pitchFamily="34" charset="0"/>
                <a:ea typeface="Calibri" pitchFamily="34" charset="-122"/>
                <a:cs typeface="Calibri" pitchFamily="34" charset="-120"/>
              </a:rPr>
              <a:t>Select the folder → Process. Each job runs on the Workers page and writes results back to the asset.</a:t>
            </a:r>
          </a:p>
        </p:txBody>
      </p:sp>
      <p:sp>
        <p:nvSpPr>
          <p:cNvPr id="100" name="Card0"/>
          <p:cNvSpPr/>
          <p:nvPr/>
        </p:nvSpPr>
        <p:spPr>
          <a:xfrm>
            <a:off x="548640" y="1500000"/>
            <a:ext cx="2562000" cy="1410000"/>
          </a:xfrm>
          <a:prstGeom prst="roundRect">
            <a:avLst>
              <a:gd name="adj" fmla="val 7000"/>
            </a:avLst>
          </a:prstGeom>
          <a:solidFill>
            <a:srgbClr val="EEF6FA"/>
          </a:solidFill>
          <a:ln/>
          <a:effectLst>
            <a:outerShdw blurRad="50800" dist="12700" dir="5400000" algn="bl" rotWithShape="0">
              <a:srgbClr val="0A3D52">
                <a:alpha val="7000"/>
              </a:srgbClr>
            </a:outerShdw>
          </a:effectLst>
        </p:spPr>
      </p:sp>
      <p:sp>
        <p:nvSpPr>
          <p:cNvPr id="101" name="Circ0"/>
          <p:cNvSpPr/>
          <p:nvPr/>
        </p:nvSpPr>
        <p:spPr>
          <a:xfrm>
            <a:off x="718640" y="1650000"/>
            <a:ext cx="430000" cy="430000"/>
          </a:xfrm>
          <a:prstGeom prst="ellipse">
            <a:avLst/>
          </a:prstGeom>
          <a:solidFill>
            <a:srgbClr val="065A82"/>
          </a:solidFill>
          <a:ln/>
        </p:spPr>
      </p:sp>
      <p:pic>
        <p:nvPicPr>
          <p:cNvPr id="102" name="Ic0" descr="preencoded.png"/>
          <p:cNvPicPr>
            <a:picLocks noChangeAspect="1"/>
          </p:cNvPicPr>
          <p:nvPr/>
        </p:nvPicPr>
        <p:blipFill>
          <a:blip r:embed="rId10"/>
          <a:stretch>
            <a:fillRect/>
          </a:stretch>
        </p:blipFill>
        <p:spPr>
          <a:xfrm>
            <a:off x="813640" y="1745000"/>
            <a:ext cx="240000" cy="240000"/>
          </a:xfrm>
          <a:prstGeom prst="rect">
            <a:avLst/>
          </a:prstGeom>
        </p:spPr>
      </p:pic>
      <p:sp>
        <p:nvSpPr>
          <p:cNvPr id="103" name="Ttl0"/>
          <p:cNvSpPr/>
          <p:nvPr/>
        </p:nvSpPr>
        <p:spPr>
          <a:xfrm>
            <a:off x="1258640" y="1650000"/>
            <a:ext cx="1742000" cy="430000"/>
          </a:xfrm>
          <a:prstGeom prst="rect">
            <a:avLst/>
          </a:prstGeom>
          <a:noFill/>
          <a:ln/>
        </p:spPr>
        <p:txBody>
          <a:bodyPr wrap="square" lIns="0" tIns="0" rIns="0" bIns="0" rtlCol="0" anchor="ctr"/>
          <a:lstStyle/>
          <a:p>
            <a:pPr marL="0" indent="0">
              <a:buNone/>
            </a:pPr>
            <a:r>
              <a:rPr lang="en-US" sz="1250" b="1" dirty="0">
                <a:solidFill>
                  <a:srgbClr val="14333F"/>
                </a:solidFill>
                <a:latin typeface="Calibri" pitchFamily="34" charset="0"/>
                <a:ea typeface="Calibri" pitchFamily="34" charset="-122"/>
                <a:cs typeface="Calibri" pitchFamily="34" charset="-120"/>
              </a:rPr>
              <a:t>Metadata Ingest</a:t>
            </a:r>
          </a:p>
        </p:txBody>
      </p:sp>
      <p:sp>
        <p:nvSpPr>
          <p:cNvPr id="104" name="De0"/>
          <p:cNvSpPr/>
          <p:nvPr/>
        </p:nvSpPr>
        <p:spPr>
          <a:xfrm>
            <a:off x="728640" y="2150000"/>
            <a:ext cx="2202000" cy="710000"/>
          </a:xfrm>
          <a:prstGeom prst="rect">
            <a:avLst/>
          </a:prstGeom>
          <a:noFill/>
          <a:ln/>
        </p:spPr>
        <p:txBody>
          <a:bodyPr wrap="square" lIns="0" tIns="0" rIns="0" bIns="0" rtlCol="0" anchor="t"/>
          <a:lstStyle/>
          <a:p>
            <a:pPr marL="0" indent="0">
              <a:buNone/>
            </a:pPr>
            <a:r>
              <a:rPr lang="en-US" sz="950" dirty="0">
                <a:solidFill>
                  <a:srgbClr val="3C5A66"/>
                </a:solidFill>
                <a:latin typeface="Calibri" pitchFamily="34" charset="0"/>
                <a:ea typeface="Calibri" pitchFamily="34" charset="-122"/>
                <a:cs typeface="Calibri" pitchFamily="34" charset="-120"/>
              </a:rPr>
              <a:t>Reads each file’s metadata into the catalog. Run this first — the rest build on it.</a:t>
            </a:r>
          </a:p>
        </p:txBody>
      </p:sp>
      <p:sp>
        <p:nvSpPr>
          <p:cNvPr id="110" name="Card1"/>
          <p:cNvSpPr/>
          <p:nvPr/>
        </p:nvSpPr>
        <p:spPr>
          <a:xfrm>
            <a:off x="3290640" y="1500000"/>
            <a:ext cx="2562000" cy="1410000"/>
          </a:xfrm>
          <a:prstGeom prst="roundRect">
            <a:avLst>
              <a:gd name="adj" fmla="val 7000"/>
            </a:avLst>
          </a:prstGeom>
          <a:solidFill>
            <a:srgbClr val="EEF6FA"/>
          </a:solidFill>
          <a:ln/>
          <a:effectLst>
            <a:outerShdw blurRad="50800" dist="12700" dir="5400000" algn="bl" rotWithShape="0">
              <a:srgbClr val="0A3D52">
                <a:alpha val="7000"/>
              </a:srgbClr>
            </a:outerShdw>
          </a:effectLst>
        </p:spPr>
      </p:sp>
      <p:sp>
        <p:nvSpPr>
          <p:cNvPr id="111" name="Circ1"/>
          <p:cNvSpPr/>
          <p:nvPr/>
        </p:nvSpPr>
        <p:spPr>
          <a:xfrm>
            <a:off x="3460640" y="1650000"/>
            <a:ext cx="430000" cy="430000"/>
          </a:xfrm>
          <a:prstGeom prst="ellipse">
            <a:avLst/>
          </a:prstGeom>
          <a:solidFill>
            <a:srgbClr val="065A82"/>
          </a:solidFill>
          <a:ln/>
        </p:spPr>
      </p:sp>
      <p:pic>
        <p:nvPicPr>
          <p:cNvPr id="112" name="Ic1" descr="preencoded.png"/>
          <p:cNvPicPr>
            <a:picLocks noChangeAspect="1"/>
          </p:cNvPicPr>
          <p:nvPr/>
        </p:nvPicPr>
        <p:blipFill>
          <a:blip r:embed="rId11"/>
          <a:stretch>
            <a:fillRect/>
          </a:stretch>
        </p:blipFill>
        <p:spPr>
          <a:xfrm>
            <a:off x="3555640" y="1745000"/>
            <a:ext cx="240000" cy="240000"/>
          </a:xfrm>
          <a:prstGeom prst="rect">
            <a:avLst/>
          </a:prstGeom>
        </p:spPr>
      </p:pic>
      <p:sp>
        <p:nvSpPr>
          <p:cNvPr id="113" name="Ttl1"/>
          <p:cNvSpPr/>
          <p:nvPr/>
        </p:nvSpPr>
        <p:spPr>
          <a:xfrm>
            <a:off x="4000640" y="1650000"/>
            <a:ext cx="1742000" cy="430000"/>
          </a:xfrm>
          <a:prstGeom prst="rect">
            <a:avLst/>
          </a:prstGeom>
          <a:noFill/>
          <a:ln/>
        </p:spPr>
        <p:txBody>
          <a:bodyPr wrap="square" lIns="0" tIns="0" rIns="0" bIns="0" rtlCol="0" anchor="ctr"/>
          <a:lstStyle/>
          <a:p>
            <a:pPr marL="0" indent="0">
              <a:buNone/>
            </a:pPr>
            <a:r>
              <a:rPr lang="en-US" sz="1250" b="1" dirty="0">
                <a:solidFill>
                  <a:srgbClr val="14333F"/>
                </a:solidFill>
                <a:latin typeface="Calibri" pitchFamily="34" charset="0"/>
                <a:ea typeface="Calibri" pitchFamily="34" charset="-122"/>
                <a:cs typeface="Calibri" pitchFamily="34" charset="-120"/>
              </a:rPr>
              <a:t>Calculate Trust Score</a:t>
            </a:r>
          </a:p>
        </p:txBody>
      </p:sp>
      <p:sp>
        <p:nvSpPr>
          <p:cNvPr id="114" name="De1"/>
          <p:cNvSpPr/>
          <p:nvPr/>
        </p:nvSpPr>
        <p:spPr>
          <a:xfrm>
            <a:off x="3470640" y="2150000"/>
            <a:ext cx="2202000" cy="710000"/>
          </a:xfrm>
          <a:prstGeom prst="rect">
            <a:avLst/>
          </a:prstGeom>
          <a:noFill/>
          <a:ln/>
        </p:spPr>
        <p:txBody>
          <a:bodyPr wrap="square" lIns="0" tIns="0" rIns="0" bIns="0" rtlCol="0" anchor="t"/>
          <a:lstStyle/>
          <a:p>
            <a:pPr marL="0" indent="0">
              <a:buNone/>
            </a:pPr>
            <a:r>
              <a:rPr lang="en-US" sz="950" dirty="0">
                <a:solidFill>
                  <a:srgbClr val="3C5A66"/>
                </a:solidFill>
                <a:latin typeface="Calibri" pitchFamily="34" charset="0"/>
                <a:ea typeface="Calibri" pitchFamily="34" charset="-122"/>
                <a:cs typeface="Calibri" pitchFamily="34" charset="-120"/>
              </a:rPr>
              <a:t>Scores asset reliability from data quality, ratings, lineage and glossary terms.</a:t>
            </a:r>
          </a:p>
        </p:txBody>
      </p:sp>
      <p:sp>
        <p:nvSpPr>
          <p:cNvPr id="120" name="Card2"/>
          <p:cNvSpPr/>
          <p:nvPr/>
        </p:nvSpPr>
        <p:spPr>
          <a:xfrm>
            <a:off x="6032640" y="1500000"/>
            <a:ext cx="2562000" cy="1410000"/>
          </a:xfrm>
          <a:prstGeom prst="roundRect">
            <a:avLst>
              <a:gd name="adj" fmla="val 7000"/>
            </a:avLst>
          </a:prstGeom>
          <a:solidFill>
            <a:srgbClr val="EEF6FA"/>
          </a:solidFill>
          <a:ln/>
          <a:effectLst>
            <a:outerShdw blurRad="50800" dist="12700" dir="5400000" algn="bl" rotWithShape="0">
              <a:srgbClr val="0A3D52">
                <a:alpha val="7000"/>
              </a:srgbClr>
            </a:outerShdw>
          </a:effectLst>
        </p:spPr>
      </p:sp>
      <p:sp>
        <p:nvSpPr>
          <p:cNvPr id="121" name="Circ2"/>
          <p:cNvSpPr/>
          <p:nvPr/>
        </p:nvSpPr>
        <p:spPr>
          <a:xfrm>
            <a:off x="6202640" y="1650000"/>
            <a:ext cx="430000" cy="430000"/>
          </a:xfrm>
          <a:prstGeom prst="ellipse">
            <a:avLst/>
          </a:prstGeom>
          <a:solidFill>
            <a:srgbClr val="065A82"/>
          </a:solidFill>
          <a:ln/>
        </p:spPr>
      </p:sp>
      <p:pic>
        <p:nvPicPr>
          <p:cNvPr id="122" name="Ic2" descr="preencoded.png"/>
          <p:cNvPicPr>
            <a:picLocks noChangeAspect="1"/>
          </p:cNvPicPr>
          <p:nvPr/>
        </p:nvPicPr>
        <p:blipFill>
          <a:blip r:embed="rId12"/>
          <a:stretch>
            <a:fillRect/>
          </a:stretch>
        </p:blipFill>
        <p:spPr>
          <a:xfrm>
            <a:off x="6297640" y="1745000"/>
            <a:ext cx="240000" cy="240000"/>
          </a:xfrm>
          <a:prstGeom prst="rect">
            <a:avLst/>
          </a:prstGeom>
        </p:spPr>
      </p:pic>
      <p:sp>
        <p:nvSpPr>
          <p:cNvPr id="123" name="Ttl2"/>
          <p:cNvSpPr/>
          <p:nvPr/>
        </p:nvSpPr>
        <p:spPr>
          <a:xfrm>
            <a:off x="6742640" y="1650000"/>
            <a:ext cx="1742000" cy="430000"/>
          </a:xfrm>
          <a:prstGeom prst="rect">
            <a:avLst/>
          </a:prstGeom>
          <a:noFill/>
          <a:ln/>
        </p:spPr>
        <p:txBody>
          <a:bodyPr wrap="square" lIns="0" tIns="0" rIns="0" bIns="0" rtlCol="0" anchor="ctr"/>
          <a:lstStyle/>
          <a:p>
            <a:pPr marL="0" indent="0">
              <a:buNone/>
            </a:pPr>
            <a:r>
              <a:rPr lang="en-US" sz="1250" b="1" dirty="0">
                <a:solidFill>
                  <a:srgbClr val="14333F"/>
                </a:solidFill>
                <a:latin typeface="Calibri" pitchFamily="34" charset="0"/>
                <a:ea typeface="Calibri" pitchFamily="34" charset="-122"/>
                <a:cs typeface="Calibri" pitchFamily="34" charset="-120"/>
              </a:rPr>
              <a:t>Data Discovery</a:t>
            </a:r>
          </a:p>
        </p:txBody>
      </p:sp>
      <p:sp>
        <p:nvSpPr>
          <p:cNvPr id="124" name="De2"/>
          <p:cNvSpPr/>
          <p:nvPr/>
        </p:nvSpPr>
        <p:spPr>
          <a:xfrm>
            <a:off x="6212640" y="2150000"/>
            <a:ext cx="2202000" cy="710000"/>
          </a:xfrm>
          <a:prstGeom prst="rect">
            <a:avLst/>
          </a:prstGeom>
          <a:noFill/>
          <a:ln/>
        </p:spPr>
        <p:txBody>
          <a:bodyPr wrap="square" lIns="0" tIns="0" rIns="0" bIns="0" rtlCol="0" anchor="t"/>
          <a:lstStyle/>
          <a:p>
            <a:pPr marL="0" indent="0">
              <a:buNone/>
            </a:pPr>
            <a:r>
              <a:rPr lang="en-US" sz="950" dirty="0">
                <a:solidFill>
                  <a:srgbClr val="3C5A66"/>
                </a:solidFill>
                <a:latin typeface="Calibri" pitchFamily="34" charset="0"/>
                <a:ea typeface="Calibri" pitchFamily="34" charset="-122"/>
                <a:cs typeface="Calibri" pitchFamily="34" charset="-120"/>
              </a:rPr>
              <a:t>Generates statistics, data patterns and samples in one pass — prerequisite for analytics.</a:t>
            </a:r>
          </a:p>
        </p:txBody>
      </p:sp>
      <p:sp>
        <p:nvSpPr>
          <p:cNvPr id="130" name="Card3"/>
          <p:cNvSpPr/>
          <p:nvPr/>
        </p:nvSpPr>
        <p:spPr>
          <a:xfrm>
            <a:off x="548640" y="3000000"/>
            <a:ext cx="2562000" cy="1410000"/>
          </a:xfrm>
          <a:prstGeom prst="roundRect">
            <a:avLst>
              <a:gd name="adj" fmla="val 7000"/>
            </a:avLst>
          </a:prstGeom>
          <a:solidFill>
            <a:srgbClr val="EEF6FA"/>
          </a:solidFill>
          <a:ln/>
          <a:effectLst>
            <a:outerShdw blurRad="50800" dist="12700" dir="5400000" algn="bl" rotWithShape="0">
              <a:srgbClr val="0A3D52">
                <a:alpha val="7000"/>
              </a:srgbClr>
            </a:outerShdw>
          </a:effectLst>
        </p:spPr>
      </p:sp>
      <p:sp>
        <p:nvSpPr>
          <p:cNvPr id="131" name="Circ3"/>
          <p:cNvSpPr/>
          <p:nvPr/>
        </p:nvSpPr>
        <p:spPr>
          <a:xfrm>
            <a:off x="718640" y="3150000"/>
            <a:ext cx="430000" cy="430000"/>
          </a:xfrm>
          <a:prstGeom prst="ellipse">
            <a:avLst/>
          </a:prstGeom>
          <a:solidFill>
            <a:srgbClr val="065A82"/>
          </a:solidFill>
          <a:ln/>
        </p:spPr>
      </p:sp>
      <p:pic>
        <p:nvPicPr>
          <p:cNvPr id="132" name="Ic3" descr="preencoded.png"/>
          <p:cNvPicPr>
            <a:picLocks noChangeAspect="1"/>
          </p:cNvPicPr>
          <p:nvPr/>
        </p:nvPicPr>
        <p:blipFill>
          <a:blip r:embed="rId13"/>
          <a:stretch>
            <a:fillRect/>
          </a:stretch>
        </p:blipFill>
        <p:spPr>
          <a:xfrm>
            <a:off x="813640" y="3245000"/>
            <a:ext cx="240000" cy="240000"/>
          </a:xfrm>
          <a:prstGeom prst="rect">
            <a:avLst/>
          </a:prstGeom>
        </p:spPr>
      </p:pic>
      <p:sp>
        <p:nvSpPr>
          <p:cNvPr id="133" name="Ttl3"/>
          <p:cNvSpPr/>
          <p:nvPr/>
        </p:nvSpPr>
        <p:spPr>
          <a:xfrm>
            <a:off x="1258640" y="3150000"/>
            <a:ext cx="1742000" cy="430000"/>
          </a:xfrm>
          <a:prstGeom prst="rect">
            <a:avLst/>
          </a:prstGeom>
          <a:noFill/>
          <a:ln/>
        </p:spPr>
        <p:txBody>
          <a:bodyPr wrap="square" lIns="0" tIns="0" rIns="0" bIns="0" rtlCol="0" anchor="ctr"/>
          <a:lstStyle/>
          <a:p>
            <a:pPr marL="0" indent="0">
              <a:buNone/>
            </a:pPr>
            <a:r>
              <a:rPr lang="en-US" sz="1250" b="1" dirty="0">
                <a:solidFill>
                  <a:srgbClr val="14333F"/>
                </a:solidFill>
                <a:latin typeface="Calibri" pitchFamily="34" charset="0"/>
                <a:ea typeface="Calibri" pitchFamily="34" charset="-122"/>
                <a:cs typeface="Calibri" pitchFamily="34" charset="-120"/>
              </a:rPr>
              <a:t>Data Identification</a:t>
            </a:r>
          </a:p>
        </p:txBody>
      </p:sp>
      <p:sp>
        <p:nvSpPr>
          <p:cNvPr id="134" name="De3"/>
          <p:cNvSpPr/>
          <p:nvPr/>
        </p:nvSpPr>
        <p:spPr>
          <a:xfrm>
            <a:off x="728640" y="3650000"/>
            <a:ext cx="2202000" cy="710000"/>
          </a:xfrm>
          <a:prstGeom prst="rect">
            <a:avLst/>
          </a:prstGeom>
          <a:noFill/>
          <a:ln/>
        </p:spPr>
        <p:txBody>
          <a:bodyPr wrap="square" lIns="0" tIns="0" rIns="0" bIns="0" rtlCol="0" anchor="t"/>
          <a:lstStyle/>
          <a:p>
            <a:pPr marL="0" indent="0">
              <a:buNone/>
            </a:pPr>
            <a:r>
              <a:rPr lang="en-US" sz="950" dirty="0">
                <a:solidFill>
                  <a:srgbClr val="3C5A66"/>
                </a:solidFill>
                <a:latin typeface="Calibri" pitchFamily="34" charset="0"/>
                <a:ea typeface="Calibri" pitchFamily="34" charset="-122"/>
                <a:cs typeface="Calibri" pitchFamily="34" charset="-120"/>
              </a:rPr>
              <a:t>Auto-classifies content and applies tags using dictionaries and patterns — no LLM.</a:t>
            </a:r>
          </a:p>
        </p:txBody>
      </p:sp>
      <p:sp>
        <p:nvSpPr>
          <p:cNvPr id="140" name="Card4"/>
          <p:cNvSpPr/>
          <p:nvPr/>
        </p:nvSpPr>
        <p:spPr>
          <a:xfrm>
            <a:off x="3290640" y="3000000"/>
            <a:ext cx="2562000" cy="1410000"/>
          </a:xfrm>
          <a:prstGeom prst="roundRect">
            <a:avLst>
              <a:gd name="adj" fmla="val 7000"/>
            </a:avLst>
          </a:prstGeom>
          <a:solidFill>
            <a:srgbClr val="EEF6FA"/>
          </a:solidFill>
          <a:ln/>
          <a:effectLst>
            <a:outerShdw blurRad="50800" dist="12700" dir="5400000" algn="bl" rotWithShape="0">
              <a:srgbClr val="0A3D52">
                <a:alpha val="7000"/>
              </a:srgbClr>
            </a:outerShdw>
          </a:effectLst>
        </p:spPr>
      </p:sp>
      <p:sp>
        <p:nvSpPr>
          <p:cNvPr id="141" name="Circ4"/>
          <p:cNvSpPr/>
          <p:nvPr/>
        </p:nvSpPr>
        <p:spPr>
          <a:xfrm>
            <a:off x="3460640" y="3150000"/>
            <a:ext cx="430000" cy="430000"/>
          </a:xfrm>
          <a:prstGeom prst="ellipse">
            <a:avLst/>
          </a:prstGeom>
          <a:solidFill>
            <a:srgbClr val="065A82"/>
          </a:solidFill>
          <a:ln/>
        </p:spPr>
      </p:sp>
      <p:pic>
        <p:nvPicPr>
          <p:cNvPr id="142" name="Ic4" descr="preencoded.png"/>
          <p:cNvPicPr>
            <a:picLocks noChangeAspect="1"/>
          </p:cNvPicPr>
          <p:nvPr/>
        </p:nvPicPr>
        <p:blipFill>
          <a:blip r:embed="rId14"/>
          <a:stretch>
            <a:fillRect/>
          </a:stretch>
        </p:blipFill>
        <p:spPr>
          <a:xfrm>
            <a:off x="3555640" y="3245000"/>
            <a:ext cx="240000" cy="240000"/>
          </a:xfrm>
          <a:prstGeom prst="rect">
            <a:avLst/>
          </a:prstGeom>
        </p:spPr>
      </p:pic>
      <p:sp>
        <p:nvSpPr>
          <p:cNvPr id="143" name="Ttl4"/>
          <p:cNvSpPr/>
          <p:nvPr/>
        </p:nvSpPr>
        <p:spPr>
          <a:xfrm>
            <a:off x="4000640" y="3150000"/>
            <a:ext cx="1742000" cy="430000"/>
          </a:xfrm>
          <a:prstGeom prst="rect">
            <a:avLst/>
          </a:prstGeom>
          <a:noFill/>
          <a:ln/>
        </p:spPr>
        <p:txBody>
          <a:bodyPr wrap="square" lIns="0" tIns="0" rIns="0" bIns="0" rtlCol="0" anchor="ctr"/>
          <a:lstStyle/>
          <a:p>
            <a:pPr marL="0" indent="0">
              <a:buNone/>
            </a:pPr>
            <a:r>
              <a:rPr lang="en-US" sz="1250" b="1" dirty="0">
                <a:solidFill>
                  <a:srgbClr val="14333F"/>
                </a:solidFill>
                <a:latin typeface="Calibri" pitchFamily="34" charset="0"/>
                <a:ea typeface="Calibri" pitchFamily="34" charset="-122"/>
                <a:cs typeface="Calibri" pitchFamily="34" charset="-120"/>
              </a:rPr>
              <a:t>PII Detection</a:t>
            </a:r>
          </a:p>
        </p:txBody>
      </p:sp>
      <p:sp>
        <p:nvSpPr>
          <p:cNvPr id="144" name="De4"/>
          <p:cNvSpPr/>
          <p:nvPr/>
        </p:nvSpPr>
        <p:spPr>
          <a:xfrm>
            <a:off x="3470640" y="3650000"/>
            <a:ext cx="2202000" cy="710000"/>
          </a:xfrm>
          <a:prstGeom prst="rect">
            <a:avLst/>
          </a:prstGeom>
          <a:noFill/>
          <a:ln/>
        </p:spPr>
        <p:txBody>
          <a:bodyPr wrap="square" lIns="0" tIns="0" rIns="0" bIns="0" rtlCol="0" anchor="t"/>
          <a:lstStyle/>
          <a:p>
            <a:pPr marL="0" indent="0">
              <a:buNone/>
            </a:pPr>
            <a:r>
              <a:rPr lang="en-US" sz="950" dirty="0">
                <a:solidFill>
                  <a:srgbClr val="3C5A66"/>
                </a:solidFill>
                <a:latin typeface="Calibri" pitchFamily="34" charset="0"/>
                <a:ea typeface="Calibri" pitchFamily="34" charset="-122"/>
                <a:cs typeface="Calibri" pitchFamily="34" charset="-120"/>
              </a:rPr>
              <a:t>ML check for PII column names — JDBC and CSV/TSV, Korean/Japanese only.</a:t>
            </a:r>
          </a:p>
        </p:txBody>
      </p:sp>
      <p:sp>
        <p:nvSpPr>
          <p:cNvPr id="90" name="FooterL"/>
          <p:cNvSpPr/>
          <p:nvPr/>
        </p:nvSpPr>
        <p:spPr>
          <a:xfrm>
            <a:off x="548640" y="4828032"/>
            <a:ext cx="7700000" cy="274320"/>
          </a:xfrm>
          <a:prstGeom prst="rect">
            <a:avLst/>
          </a:prstGeom>
          <a:noFill/>
          <a:ln/>
        </p:spPr>
        <p:txBody>
          <a:bodyPr wrap="square" lIns="0" tIns="0" rIns="0" bIns="0" rtlCol="0" anchor="ctr"/>
          <a:lstStyle/>
          <a:p>
            <a:pPr marL="0" indent="0">
              <a:buNone/>
            </a:pPr>
            <a:r>
              <a:rPr lang="en-US" sz="950" dirty="0">
                <a:solidFill>
                  <a:srgbClr val="5B7782"/>
                </a:solidFill>
                <a:latin typeface="Calibri" pitchFamily="34" charset="0"/>
                <a:ea typeface="Calibri" pitchFamily="34" charset="-122"/>
                <a:cs typeface="Calibri" pitchFamily="34" charset="-120"/>
              </a:rPr>
              <a:t>Workshop 1 · Run Metadata Ingest first · full processing in Workshop 3</a:t>
            </a:r>
          </a:p>
        </p:txBody>
      </p:sp>
      <p:sp>
        <p:nvSpPr>
          <p:cNvPr id="91" name="FooterR"/>
          <p:cNvSpPr/>
          <p:nvPr/>
        </p:nvSpPr>
        <p:spPr>
          <a:xfrm>
            <a:off x="8366760" y="4828032"/>
            <a:ext cx="320040" cy="274320"/>
          </a:xfrm>
          <a:prstGeom prst="rect">
            <a:avLst/>
          </a:prstGeom>
          <a:noFill/>
          <a:ln/>
        </p:spPr>
        <p:txBody>
          <a:bodyPr wrap="square" lIns="0" tIns="0" rIns="0" bIns="0" rtlCol="0" anchor="ctr"/>
          <a:lstStyle/>
          <a:p>
            <a:pPr marL="0" indent="0" algn="r">
              <a:buNone/>
            </a:pPr>
            <a:r>
              <a:rPr lang="en-US" sz="950" dirty="0">
                <a:solidFill>
                  <a:srgbClr val="5B7782"/>
                </a:solidFill>
                <a:latin typeface="Calibri" pitchFamily="34" charset="0"/>
                <a:ea typeface="Calibri" pitchFamily="34" charset="-122"/>
                <a:cs typeface="Calibri" pitchFamily="34" charset="-120"/>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0B1B2B"/>
        </a:solidFill>
        <a:effectLst/>
      </p:bgPr>
    </p:bg>
    <p:spTree>
      <p:nvGrpSpPr>
        <p:cNvPr id="1" name=""/>
        <p:cNvGrpSpPr/>
        <p:nvPr/>
      </p:nvGrpSpPr>
      <p:grpSpPr>
        <a:xfrm>
          <a:off x="0" y="0"/>
          <a:ext cx="0" cy="0"/>
          <a:chOff x="0" y="0"/>
          <a:chExt cx="0" cy="0"/>
        </a:xfrm>
      </p:grpSpPr>
      <p:sp>
        <p:nvSpPr>
          <p:cNvPr id="2" name="Shape 0"/>
          <p:cNvSpPr/>
          <p:nvPr/>
        </p:nvSpPr>
        <p:spPr>
          <a:xfrm>
            <a:off x="7315200" y="3017520"/>
            <a:ext cx="3108960" cy="3108960"/>
          </a:xfrm>
          <a:prstGeom prst="ellipse">
            <a:avLst/>
          </a:prstGeom>
          <a:solidFill>
            <a:srgbClr val="0A3D52"/>
          </a:solidFill>
          <a:ln/>
        </p:spPr>
      </p:sp>
      <p:sp>
        <p:nvSpPr>
          <p:cNvPr id="3" name="Shape 1"/>
          <p:cNvSpPr/>
          <p:nvPr/>
        </p:nvSpPr>
        <p:spPr>
          <a:xfrm>
            <a:off x="548640" y="603504"/>
            <a:ext cx="841248" cy="841248"/>
          </a:xfrm>
          <a:prstGeom prst="ellipse">
            <a:avLst/>
          </a:prstGeom>
          <a:solidFill>
            <a:srgbClr val="2EC4B6"/>
          </a:solidFill>
          <a:ln/>
        </p:spPr>
      </p:sp>
      <p:pic>
        <p:nvPicPr>
          <p:cNvPr id="4" name="Image 0" descr="preencoded.png"/>
          <p:cNvPicPr>
            <a:picLocks noChangeAspect="1"/>
          </p:cNvPicPr>
          <p:nvPr/>
        </p:nvPicPr>
        <p:blipFill>
          <a:blip r:embed="rId3"/>
          <a:stretch>
            <a:fillRect/>
          </a:stretch>
        </p:blipFill>
        <p:spPr>
          <a:xfrm>
            <a:off x="722376" y="777240"/>
            <a:ext cx="493776" cy="493776"/>
          </a:xfrm>
          <a:prstGeom prst="rect">
            <a:avLst/>
          </a:prstGeom>
        </p:spPr>
      </p:pic>
      <p:sp>
        <p:nvSpPr>
          <p:cNvPr id="5" name="Text 2"/>
          <p:cNvSpPr/>
          <p:nvPr/>
        </p:nvSpPr>
        <p:spPr>
          <a:xfrm>
            <a:off x="1554480" y="713232"/>
            <a:ext cx="6400800" cy="457200"/>
          </a:xfrm>
          <a:prstGeom prst="rect">
            <a:avLst/>
          </a:prstGeom>
          <a:noFill/>
          <a:ln/>
        </p:spPr>
        <p:txBody>
          <a:bodyPr wrap="square" lIns="0" tIns="0" rIns="0" bIns="0" rtlCol="0" anchor="ctr"/>
          <a:lstStyle/>
          <a:p>
            <a:pPr marL="0" indent="0">
              <a:buNone/>
            </a:pPr>
            <a:r>
              <a:rPr lang="en-US" sz="1400" b="1" kern="0" spc="300" dirty="0">
                <a:solidFill>
                  <a:srgbClr val="2EC4B6"/>
                </a:solidFill>
                <a:latin typeface="Calibri" pitchFamily="34" charset="0"/>
                <a:ea typeface="Calibri" pitchFamily="34" charset="-122"/>
                <a:cs typeface="Calibri" pitchFamily="34" charset="-120"/>
              </a:rPr>
              <a:t>DONE WHEN</a:t>
            </a:r>
            <a:endParaRPr lang="en-US" sz="1400" dirty="0"/>
          </a:p>
        </p:txBody>
      </p:sp>
      <p:sp>
        <p:nvSpPr>
          <p:cNvPr id="6" name="Text 3"/>
          <p:cNvSpPr/>
          <p:nvPr/>
        </p:nvSpPr>
        <p:spPr>
          <a:xfrm>
            <a:off x="548640" y="1554480"/>
            <a:ext cx="7955280" cy="822960"/>
          </a:xfrm>
          <a:prstGeom prst="rect">
            <a:avLst/>
          </a:prstGeom>
          <a:noFill/>
          <a:ln/>
        </p:spPr>
        <p:txBody>
          <a:bodyPr wrap="square" lIns="0" tIns="0" rIns="0" bIns="0" rtlCol="0" anchor="ctr"/>
          <a:lstStyle/>
          <a:p>
            <a:pPr marL="0" indent="0">
              <a:buNone/>
            </a:pPr>
            <a:r>
              <a:rPr lang="en-US" sz="3000" b="1" dirty="0">
                <a:solidFill>
                  <a:srgbClr val="FFFFFF"/>
                </a:solidFill>
                <a:latin typeface="Bookman Old Style" pitchFamily="34" charset="0"/>
                <a:ea typeface="Bookman Old Style" pitchFamily="34" charset="-122"/>
                <a:cs typeface="Bookman Old Style" pitchFamily="34" charset="-120"/>
              </a:rPr>
              <a:t>You've brought CSCU under governance</a:t>
            </a:r>
            <a:endParaRPr lang="en-US" sz="3000" dirty="0"/>
          </a:p>
        </p:txBody>
      </p:sp>
      <p:sp>
        <p:nvSpPr>
          <p:cNvPr id="7" name="Shape 4"/>
          <p:cNvSpPr/>
          <p:nvPr/>
        </p:nvSpPr>
        <p:spPr>
          <a:xfrm>
            <a:off x="566928" y="2715768"/>
            <a:ext cx="274320" cy="274320"/>
          </a:xfrm>
          <a:prstGeom prst="ellipse">
            <a:avLst/>
          </a:prstGeom>
          <a:solidFill>
            <a:srgbClr val="2EC4B6"/>
          </a:solidFill>
          <a:ln/>
        </p:spPr>
      </p:sp>
      <p:pic>
        <p:nvPicPr>
          <p:cNvPr id="8" name="Image 1" descr="preencoded.png"/>
          <p:cNvPicPr>
            <a:picLocks noChangeAspect="1"/>
          </p:cNvPicPr>
          <p:nvPr/>
        </p:nvPicPr>
        <p:blipFill>
          <a:blip r:embed="rId3"/>
          <a:stretch>
            <a:fillRect/>
          </a:stretch>
        </p:blipFill>
        <p:spPr>
          <a:xfrm>
            <a:off x="621792" y="2770632"/>
            <a:ext cx="164592" cy="164592"/>
          </a:xfrm>
          <a:prstGeom prst="rect">
            <a:avLst/>
          </a:prstGeom>
        </p:spPr>
      </p:pic>
      <p:sp>
        <p:nvSpPr>
          <p:cNvPr id="9" name="Text 5"/>
          <p:cNvSpPr/>
          <p:nvPr/>
        </p:nvSpPr>
        <p:spPr>
          <a:xfrm>
            <a:off x="987552" y="2697480"/>
            <a:ext cx="7132320" cy="329184"/>
          </a:xfrm>
          <a:prstGeom prst="rect">
            <a:avLst/>
          </a:prstGeom>
          <a:noFill/>
          <a:ln/>
        </p:spPr>
        <p:txBody>
          <a:bodyPr wrap="square" lIns="0" tIns="0" rIns="0" bIns="0" rtlCol="0" anchor="ctr"/>
          <a:lstStyle/>
          <a:p>
            <a:pPr marL="0" indent="0">
              <a:buNone/>
            </a:pPr>
            <a:r>
              <a:rPr lang="en-US" sz="1400" dirty="0">
                <a:solidFill>
                  <a:srgbClr val="DCEEF5"/>
                </a:solidFill>
                <a:latin typeface="Calibri" pitchFamily="34" charset="0"/>
                <a:ea typeface="Calibri" pitchFamily="34" charset="-122"/>
                <a:cs typeface="Calibri" pitchFamily="34" charset="-120"/>
              </a:rPr>
              <a:t>The database source is connected and all six tables are searchable</a:t>
            </a:r>
            <a:endParaRPr lang="en-US" sz="1400" dirty="0"/>
          </a:p>
        </p:txBody>
      </p:sp>
      <p:sp>
        <p:nvSpPr>
          <p:cNvPr id="10" name="Shape 6"/>
          <p:cNvSpPr/>
          <p:nvPr/>
        </p:nvSpPr>
        <p:spPr>
          <a:xfrm>
            <a:off x="566928" y="3172968"/>
            <a:ext cx="274320" cy="274320"/>
          </a:xfrm>
          <a:prstGeom prst="ellipse">
            <a:avLst/>
          </a:prstGeom>
          <a:solidFill>
            <a:srgbClr val="2EC4B6"/>
          </a:solidFill>
          <a:ln/>
        </p:spPr>
      </p:sp>
      <p:pic>
        <p:nvPicPr>
          <p:cNvPr id="11" name="Image 2" descr="preencoded.png"/>
          <p:cNvPicPr>
            <a:picLocks noChangeAspect="1"/>
          </p:cNvPicPr>
          <p:nvPr/>
        </p:nvPicPr>
        <p:blipFill>
          <a:blip r:embed="rId3"/>
          <a:stretch>
            <a:fillRect/>
          </a:stretch>
        </p:blipFill>
        <p:spPr>
          <a:xfrm>
            <a:off x="621792" y="3227832"/>
            <a:ext cx="164592" cy="164592"/>
          </a:xfrm>
          <a:prstGeom prst="rect">
            <a:avLst/>
          </a:prstGeom>
        </p:spPr>
      </p:pic>
      <p:sp>
        <p:nvSpPr>
          <p:cNvPr id="12" name="Text 7"/>
          <p:cNvSpPr/>
          <p:nvPr/>
        </p:nvSpPr>
        <p:spPr>
          <a:xfrm>
            <a:off x="987552" y="3154680"/>
            <a:ext cx="7132320" cy="329184"/>
          </a:xfrm>
          <a:prstGeom prst="rect">
            <a:avLst/>
          </a:prstGeom>
          <a:noFill/>
          <a:ln/>
        </p:spPr>
        <p:txBody>
          <a:bodyPr wrap="square" lIns="0" tIns="0" rIns="0" bIns="0" rtlCol="0" anchor="ctr"/>
          <a:lstStyle/>
          <a:p>
            <a:pPr marL="0" indent="0">
              <a:buNone/>
            </a:pPr>
            <a:r>
              <a:rPr lang="en-US" sz="1400" dirty="0">
                <a:solidFill>
                  <a:srgbClr val="DCEEF5"/>
                </a:solidFill>
                <a:latin typeface="Calibri" pitchFamily="34" charset="0"/>
                <a:ea typeface="Calibri" pitchFamily="34" charset="-122"/>
                <a:cs typeface="Calibri" pitchFamily="34" charset="-120"/>
              </a:rPr>
              <a:t>The MinIO object store is connected and its files are scanned</a:t>
            </a:r>
            <a:endParaRPr lang="en-US" sz="1400" dirty="0"/>
          </a:p>
        </p:txBody>
      </p:sp>
      <p:sp>
        <p:nvSpPr>
          <p:cNvPr id="13" name="Shape 8"/>
          <p:cNvSpPr/>
          <p:nvPr/>
        </p:nvSpPr>
        <p:spPr>
          <a:xfrm>
            <a:off x="566928" y="3630168"/>
            <a:ext cx="274320" cy="274320"/>
          </a:xfrm>
          <a:prstGeom prst="ellipse">
            <a:avLst/>
          </a:prstGeom>
          <a:solidFill>
            <a:srgbClr val="2EC4B6"/>
          </a:solidFill>
          <a:ln/>
        </p:spPr>
      </p:sp>
      <p:pic>
        <p:nvPicPr>
          <p:cNvPr id="14" name="Image 3" descr="preencoded.png"/>
          <p:cNvPicPr>
            <a:picLocks noChangeAspect="1"/>
          </p:cNvPicPr>
          <p:nvPr/>
        </p:nvPicPr>
        <p:blipFill>
          <a:blip r:embed="rId3"/>
          <a:stretch>
            <a:fillRect/>
          </a:stretch>
        </p:blipFill>
        <p:spPr>
          <a:xfrm>
            <a:off x="621792" y="3685032"/>
            <a:ext cx="164592" cy="164592"/>
          </a:xfrm>
          <a:prstGeom prst="rect">
            <a:avLst/>
          </a:prstGeom>
        </p:spPr>
      </p:pic>
      <p:sp>
        <p:nvSpPr>
          <p:cNvPr id="15" name="Text 9"/>
          <p:cNvSpPr/>
          <p:nvPr/>
        </p:nvSpPr>
        <p:spPr>
          <a:xfrm>
            <a:off x="987552" y="3611880"/>
            <a:ext cx="7132320" cy="329184"/>
          </a:xfrm>
          <a:prstGeom prst="rect">
            <a:avLst/>
          </a:prstGeom>
          <a:noFill/>
          <a:ln/>
        </p:spPr>
        <p:txBody>
          <a:bodyPr wrap="square" lIns="0" tIns="0" rIns="0" bIns="0" rtlCol="0" anchor="ctr"/>
          <a:lstStyle/>
          <a:p>
            <a:pPr marL="0" indent="0">
              <a:buNone/>
            </a:pPr>
            <a:r>
              <a:rPr lang="en-US" sz="1400" dirty="0">
                <a:solidFill>
                  <a:srgbClr val="DCEEF5"/>
                </a:solidFill>
                <a:latin typeface="Calibri" pitchFamily="34" charset="0"/>
                <a:ea typeface="Calibri" pitchFamily="34" charset="-122"/>
                <a:cs typeface="Calibri" pitchFamily="34" charset="-120"/>
              </a:rPr>
              <a:t>You can explain schema-ingest vs. file-scan, and the two engines</a:t>
            </a:r>
            <a:endParaRPr lang="en-US" sz="1400" dirty="0"/>
          </a:p>
        </p:txBody>
      </p:sp>
      <p:sp>
        <p:nvSpPr>
          <p:cNvPr id="16" name="Shape 10"/>
          <p:cNvSpPr/>
          <p:nvPr/>
        </p:nvSpPr>
        <p:spPr>
          <a:xfrm>
            <a:off x="566928" y="4087368"/>
            <a:ext cx="274320" cy="274320"/>
          </a:xfrm>
          <a:prstGeom prst="ellipse">
            <a:avLst/>
          </a:prstGeom>
          <a:solidFill>
            <a:srgbClr val="2EC4B6"/>
          </a:solidFill>
          <a:ln/>
        </p:spPr>
      </p:sp>
      <p:pic>
        <p:nvPicPr>
          <p:cNvPr id="17" name="Image 4" descr="preencoded.png"/>
          <p:cNvPicPr>
            <a:picLocks noChangeAspect="1"/>
          </p:cNvPicPr>
          <p:nvPr/>
        </p:nvPicPr>
        <p:blipFill>
          <a:blip r:embed="rId3"/>
          <a:stretch>
            <a:fillRect/>
          </a:stretch>
        </p:blipFill>
        <p:spPr>
          <a:xfrm>
            <a:off x="621792" y="4142232"/>
            <a:ext cx="164592" cy="164592"/>
          </a:xfrm>
          <a:prstGeom prst="rect">
            <a:avLst/>
          </a:prstGeom>
        </p:spPr>
      </p:pic>
      <p:sp>
        <p:nvSpPr>
          <p:cNvPr id="18" name="Text 11"/>
          <p:cNvSpPr/>
          <p:nvPr/>
        </p:nvSpPr>
        <p:spPr>
          <a:xfrm>
            <a:off x="987552" y="4069080"/>
            <a:ext cx="7132320" cy="329184"/>
          </a:xfrm>
          <a:prstGeom prst="rect">
            <a:avLst/>
          </a:prstGeom>
          <a:noFill/>
          <a:ln/>
        </p:spPr>
        <p:txBody>
          <a:bodyPr wrap="square" lIns="0" tIns="0" rIns="0" bIns="0" rtlCol="0" anchor="ctr"/>
          <a:lstStyle/>
          <a:p>
            <a:pPr marL="0" indent="0">
              <a:buNone/>
            </a:pPr>
            <a:r>
              <a:rPr lang="en-US" sz="1400" dirty="0">
                <a:solidFill>
                  <a:srgbClr val="DCEEF5"/>
                </a:solidFill>
                <a:latin typeface="Calibri" pitchFamily="34" charset="0"/>
                <a:ea typeface="Calibri" pitchFamily="34" charset="-122"/>
                <a:cs typeface="Calibri" pitchFamily="34" charset="-120"/>
              </a:rPr>
              <a:t>Both sources show green in Management → Resources</a:t>
            </a:r>
            <a:endParaRPr lang="en-US" sz="1400" dirty="0"/>
          </a:p>
        </p:txBody>
      </p:sp>
      <p:sp>
        <p:nvSpPr>
          <p:cNvPr id="19" name="Text 12"/>
          <p:cNvSpPr/>
          <p:nvPr/>
        </p:nvSpPr>
        <p:spPr>
          <a:xfrm>
            <a:off x="548640" y="4626864"/>
            <a:ext cx="8046720" cy="365760"/>
          </a:xfrm>
          <a:prstGeom prst="rect">
            <a:avLst/>
          </a:prstGeom>
          <a:noFill/>
          <a:ln/>
        </p:spPr>
        <p:txBody>
          <a:bodyPr wrap="square" lIns="0" tIns="0" rIns="0" bIns="0" rtlCol="0" anchor="ctr"/>
          <a:lstStyle/>
          <a:p>
            <a:pPr marL="0" indent="0">
              <a:buNone/>
            </a:pPr>
            <a:r>
              <a:rPr lang="en-US" sz="1200" i="1" dirty="0">
                <a:solidFill>
                  <a:srgbClr val="5B7782"/>
                </a:solidFill>
                <a:latin typeface="Calibri" pitchFamily="34" charset="0"/>
                <a:ea typeface="Calibri" pitchFamily="34" charset="-122"/>
                <a:cs typeface="Calibri" pitchFamily="34" charset="-120"/>
              </a:rPr>
              <a:t>Next up — Workshop 2: Explore Data Structure &amp; Metadata</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79</TotalTime>
  <Words>1016</Words>
  <Application>Microsoft Office PowerPoint</Application>
  <PresentationFormat>On-screen Show (16:9)</PresentationFormat>
  <Paragraphs>119</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Bookman Old Style</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 1: Connect the CSCU Database</dc:title>
  <dc:subject>PptxGenJS Presentation</dc:subject>
  <dc:creator>Copper State Credit Union - PDC BA Course</dc:creator>
  <cp:lastModifiedBy>James O'Reilly</cp:lastModifiedBy>
  <cp:revision>4</cp:revision>
  <dcterms:created xsi:type="dcterms:W3CDTF">2026-06-11T09:53:22Z</dcterms:created>
  <dcterms:modified xsi:type="dcterms:W3CDTF">2026-06-15T16:55:03Z</dcterms:modified>
</cp:coreProperties>
</file>