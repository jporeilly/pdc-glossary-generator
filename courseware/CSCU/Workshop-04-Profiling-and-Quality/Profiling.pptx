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8.xml" ContentType="application/vnd.openxmlformats-officedocument.presentationml.slide+xml"/>
</Types>
</file>

<file path=_rels/.rels><?xml version="1.0" encoding="UTF-8"?><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3" r:id="rId14"/>
    <p:sldId id="261" r:id="rId6"/>
    <p:sldId id="262" r:id="rId7"/>
    <p:sldId id="260" r:id="rId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4" d="100"/>
          <a:sy n="144" d="100"/>
        </p:scale>
        <p:origin x="606" y="120"/>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slide" Target="slides/slide8.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43022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Workshop 2. The skill here is reading metadata fluently - the core literacy of a catalog-aware analyst. Frame it: they didn't create this data, so how do they learn to trust and understand it? Through the three layers of metadata PDC captures.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central idea of the whole workshop - the three layers. Technical is what the database knows: types, keys, sizes. Business is what humans need: definitions, owner, domain. Operational is how the data behaves: quality, freshness, lineage. Give the opted_out_marketing example - technically a boolean, but its business meaning is a GDPR consent flag. Same column, three layers.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asset tabs. Every tab they open maps to one of those three layers. Summary gives business and operational at a glance; Data Elements is the technical layer column by column; Related previews lineage; Custom Properties and Comments add organisational context. Tell them to navigate these on the members table as you talk.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worked example. These six columns each tell all three stories at once. Linger on the sensitivity column - PII and Confidential. This is the bridge to Workshop 4, where these flags become the basis for compliance. Have them find one column whose business meaning isn't obvious from its name.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why a BA cares: metadata is how you trust data you didn't create. Use the stats to recap - 6 tables, 3 layers, 5 tabs. Then the discussion: the 'can I email everyone?' question, whose answer is a single column, opted_out_marketing. Transition to profiling in Workshop 3.</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B2B"/>
        </a:solidFill>
        <a:effectLst/>
      </p:bgPr>
    </p:bg>
    <p:spTree>
      <p:nvGrpSpPr>
        <p:cNvPr id="1" name=""/>
        <p:cNvGrpSpPr/>
        <p:nvPr/>
      </p:nvGrpSpPr>
      <p:grpSpPr>
        <a:xfrm>
          <a:off x="0" y="0"/>
          <a:ext cx="0" cy="0"/>
          <a:chOff x="0" y="0"/>
          <a:chExt cx="0" cy="0"/>
        </a:xfrm>
      </p:grpSpPr>
      <p:sp>
        <p:nvSpPr>
          <p:cNvPr id="2" name="Shape 0"/>
          <p:cNvSpPr/>
          <p:nvPr/>
        </p:nvSpPr>
        <p:spPr>
          <a:xfrm>
            <a:off x="6949440" y="-1463040"/>
            <a:ext cx="3840480" cy="3840480"/>
          </a:xfrm>
          <a:prstGeom prst="ellipse">
            <a:avLst/>
          </a:prstGeom>
          <a:solidFill>
            <a:srgbClr val="0A3D52"/>
          </a:solidFill>
          <a:ln/>
        </p:spPr>
      </p:sp>
      <p:sp>
        <p:nvSpPr>
          <p:cNvPr id="3" name="Shape 1"/>
          <p:cNvSpPr/>
          <p:nvPr/>
        </p:nvSpPr>
        <p:spPr>
          <a:xfrm>
            <a:off x="8138160" y="2651760"/>
            <a:ext cx="2377440" cy="2377440"/>
          </a:xfrm>
          <a:prstGeom prst="ellipse">
            <a:avLst/>
          </a:prstGeom>
          <a:solidFill>
            <a:srgbClr val="065A82">
              <a:alpha val="45000"/>
            </a:srgbClr>
          </a:solidFill>
          <a:ln/>
        </p:spPr>
      </p:sp>
      <p:sp>
        <p:nvSpPr>
          <p:cNvPr id="4" name="Shape 2"/>
          <p:cNvSpPr/>
          <p:nvPr/>
        </p:nvSpPr>
        <p:spPr>
          <a:xfrm>
            <a:off x="548640" y="566928"/>
            <a:ext cx="841248" cy="841248"/>
          </a:xfrm>
          <a:prstGeom prst="ellipse">
            <a:avLst/>
          </a:prstGeom>
          <a:solidFill>
            <a:srgbClr val="1C7293"/>
          </a:solidFill>
          <a:ln/>
        </p:spPr>
      </p:sp>
      <p:pic>
        <p:nvPicPr>
          <p:cNvPr id="5" name="Image 0" descr="preencoded.png"/>
          <p:cNvPicPr>
            <a:picLocks noChangeAspect="1"/>
          </p:cNvPicPr>
          <p:nvPr/>
        </p:nvPicPr>
        <p:blipFill>
          <a:blip r:embed="rId3"/>
          <a:stretch>
            <a:fillRect/>
          </a:stretch>
        </p:blipFill>
        <p:spPr>
          <a:xfrm>
            <a:off x="722376" y="740664"/>
            <a:ext cx="493776" cy="493776"/>
          </a:xfrm>
          <a:prstGeom prst="rect">
            <a:avLst/>
          </a:prstGeom>
        </p:spPr>
      </p:pic>
      <p:sp>
        <p:nvSpPr>
          <p:cNvPr id="6" name="Text 3"/>
          <p:cNvSpPr/>
          <p:nvPr/>
        </p:nvSpPr>
        <p:spPr>
          <a:xfrm>
            <a:off x="1554480" y="676656"/>
            <a:ext cx="6858000" cy="457200"/>
          </a:xfrm>
          <a:prstGeom prst="rect">
            <a:avLst/>
          </a:prstGeom>
          <a:noFill/>
          <a:ln/>
        </p:spPr>
        <p:txBody>
          <a:bodyPr wrap="square" lIns="0" tIns="0" rIns="0" bIns="0" rtlCol="0" anchor="ctr"/>
          <a:lstStyle/>
          <a:p>
            <a:pPr marL="0" indent="0">
              <a:buNone/>
            </a:pPr>
            <a:r>
              <a:rPr lang="en-US" sz="1400" b="1" kern="0" spc="300" dirty="0">
                <a:solidFill>
                  <a:srgbClr val="2EC4B6"/>
                </a:solidFill>
                <a:latin typeface="Calibri" pitchFamily="34" charset="0"/>
                <a:ea typeface="Calibri" pitchFamily="34" charset="-122"/>
                <a:cs typeface="Calibri" pitchFamily="34" charset="-120"/>
              </a:rPr>
              <a:t>WORKSHOP 4 · 45 MINUTES  ·  PDC PROCESS · DATA PROFILING · TRUST SCORE</a:t>
            </a:r>
            <a:endParaRPr lang="en-US" sz="1400" dirty="0"/>
          </a:p>
        </p:txBody>
      </p:sp>
      <p:sp>
        <p:nvSpPr>
          <p:cNvPr id="7" name="Text 4"/>
          <p:cNvSpPr/>
          <p:nvPr/>
        </p:nvSpPr>
        <p:spPr>
          <a:xfrm>
            <a:off x="548640" y="1737360"/>
            <a:ext cx="8138160" cy="1737360"/>
          </a:xfrm>
          <a:prstGeom prst="rect">
            <a:avLst/>
          </a:prstGeom>
          <a:noFill/>
          <a:ln/>
        </p:spPr>
        <p:txBody>
          <a:bodyPr wrap="square" lIns="0" tIns="0" rIns="0" bIns="0" rtlCol="0" anchor="ctr"/>
          <a:lstStyle/>
          <a:p>
            <a:pPr marL="0" indent="0">
              <a:lnSpc>
                <a:spcPct val="98000"/>
              </a:lnSpc>
              <a:buNone/>
            </a:pPr>
            <a:r>
              <a:rPr lang="en-US" sz="4000" b="1" dirty="0">
                <a:solidFill>
                  <a:srgbClr val="FFFFFF"/>
                </a:solidFill>
                <a:latin typeface="Bookman Old Style" pitchFamily="34" charset="0"/>
                <a:ea typeface="Bookman Old Style" pitchFamily="34" charset="-122"/>
                <a:cs typeface="Bookman Old Style" pitchFamily="34" charset="-120"/>
              </a:rPr>
              <a:t>Profiling &amp;</a:t>
            </a:r>
            <a:endParaRPr lang="en-US" sz="4000" dirty="0"/>
          </a:p>
          <a:p>
            <a:pPr marL="0" indent="0">
              <a:lnSpc>
                <a:spcPct val="98000"/>
              </a:lnSpc>
              <a:buNone/>
            </a:pPr>
            <a:r>
              <a:rPr lang="en-US" sz="4000" b="1" dirty="0">
                <a:solidFill>
                  <a:srgbClr val="FFFFFF"/>
                </a:solidFill>
                <a:latin typeface="Bookman Old Style" pitchFamily="34" charset="0"/>
                <a:ea typeface="Bookman Old Style" pitchFamily="34" charset="-122"/>
                <a:cs typeface="Bookman Old Style" pitchFamily="34" charset="-120"/>
              </a:rPr>
              <a:t>Data Quality</a:t>
            </a:r>
            <a:endParaRPr lang="en-US" sz="4000" dirty="0"/>
          </a:p>
        </p:txBody>
      </p:sp>
      <p:sp>
        <p:nvSpPr>
          <p:cNvPr id="8" name="Text 5"/>
          <p:cNvSpPr/>
          <p:nvPr/>
        </p:nvSpPr>
        <p:spPr>
          <a:xfrm>
            <a:off x="566928" y="3520440"/>
            <a:ext cx="7863840" cy="914400"/>
          </a:xfrm>
          <a:prstGeom prst="rect">
            <a:avLst/>
          </a:prstGeom>
          <a:noFill/>
          <a:ln/>
        </p:spPr>
        <p:txBody>
          <a:bodyPr wrap="square" lIns="0" tIns="0" rIns="0" bIns="0" rtlCol="0" anchor="ctr"/>
          <a:lstStyle/>
          <a:p>
            <a:pPr marL="0" indent="0">
              <a:lnSpc>
                <a:spcPct val="105000"/>
              </a:lnSpc>
              <a:buNone/>
            </a:pPr>
            <a:r>
              <a:rPr lang="en-US" sz="1800" dirty="0">
                <a:solidFill>
                  <a:srgbClr val="DCEEF5"/>
                </a:solidFill>
                <a:latin typeface="Calibri" pitchFamily="34" charset="0"/>
                <a:ea typeface="Calibri" pitchFamily="34" charset="-122"/>
                <a:cs typeface="Calibri" pitchFamily="34" charset="-120"/>
              </a:rPr>
              <a:t>Profile CSCU’s tables to generate statistics, discover keys, and turn the Trust Score into a real, evidence-based number.</a:t>
            </a:r>
            <a:endParaRPr lang="en-US" sz="1800" dirty="0"/>
          </a:p>
        </p:txBody>
      </p:sp>
      <p:sp>
        <p:nvSpPr>
          <p:cNvPr id="9" name="Text 6"/>
          <p:cNvSpPr/>
          <p:nvPr/>
        </p:nvSpPr>
        <p:spPr>
          <a:xfrm>
            <a:off x="566928" y="4626864"/>
            <a:ext cx="8046720" cy="365760"/>
          </a:xfrm>
          <a:prstGeom prst="rect">
            <a:avLst/>
          </a:prstGeom>
          <a:noFill/>
          <a:ln/>
        </p:spPr>
        <p:txBody>
          <a:bodyPr wrap="square" lIns="0" tIns="0" rIns="0" bIns="0" rtlCol="0" anchor="ctr"/>
          <a:lstStyle/>
          <a:p>
            <a:pPr marL="0" indent="0">
              <a:buNone/>
            </a:pPr>
            <a:r>
              <a:rPr lang="en-US" sz="1200" dirty="0">
                <a:solidFill>
                  <a:srgbClr val="5B7782"/>
                </a:solidFill>
                <a:latin typeface="Calibri" pitchFamily="34" charset="0"/>
                <a:ea typeface="Calibri" pitchFamily="34" charset="-122"/>
                <a:cs typeface="Calibri" pitchFamily="34" charset="-120"/>
              </a:rPr>
              <a:t>Pentaho Data Catalog 11.0.0  ·  Data Profiling → Foreign-key detection → Trust Score  ·  cscu_core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6766560" cy="292608"/>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THE BIG IDEA</a:t>
            </a:r>
            <a:endParaRPr lang="en-US" sz="1200" dirty="0"/>
          </a:p>
        </p:txBody>
      </p:sp>
      <p:sp>
        <p:nvSpPr>
          <p:cNvPr id="3" name="Text 1"/>
          <p:cNvSpPr/>
          <p:nvPr/>
        </p:nvSpPr>
        <p:spPr>
          <a:xfrm>
            <a:off x="548640" y="713232"/>
            <a:ext cx="7040880" cy="566928"/>
          </a:xfrm>
          <a:prstGeom prst="rect">
            <a:avLst/>
          </a:prstGeom>
          <a:noFill/>
          <a:ln/>
        </p:spPr>
        <p:txBody>
          <a:bodyPr wrap="square" lIns="0" tIns="0" rIns="0" bIns="0" rtlCol="0" anchor="ctr"/>
          <a:lstStyle/>
          <a:p>
            <a:pPr marL="0" indent="0">
              <a:buNone/>
            </a:pPr>
            <a:r>
              <a:rPr lang="en-US" sz="2700" b="1" dirty="0">
                <a:solidFill>
                  <a:srgbClr val="14333F"/>
                </a:solidFill>
                <a:latin typeface="Bookman Old Style" pitchFamily="34" charset="0"/>
                <a:ea typeface="Bookman Old Style" pitchFamily="34" charset="-122"/>
                <a:cs typeface="Bookman Old Style" pitchFamily="34" charset="-120"/>
              </a:rPr>
              <a:t>Profiling fills the operational layer</a:t>
            </a:r>
            <a:endParaRPr lang="en-US" sz="2700" dirty="0"/>
          </a:p>
        </p:txBody>
      </p:sp>
      <p:sp>
        <p:nvSpPr>
          <p:cNvPr id="4" name="Shape 2"/>
          <p:cNvSpPr/>
          <p:nvPr/>
        </p:nvSpPr>
        <p:spPr>
          <a:xfrm>
            <a:off x="548640" y="1517904"/>
            <a:ext cx="2587752" cy="3017520"/>
          </a:xfrm>
          <a:prstGeom prst="roundRect">
            <a:avLst>
              <a:gd name="adj" fmla="val 3180"/>
            </a:avLst>
          </a:prstGeom>
          <a:solidFill>
            <a:srgbClr val="EEF6FA"/>
          </a:solidFill>
          <a:ln/>
          <a:effectLst>
            <a:outerShdw blurRad="101600" dist="25400" dir="5400000" algn="bl" rotWithShape="0">
              <a:srgbClr val="0A3D52">
                <a:alpha val="12000"/>
              </a:srgbClr>
            </a:outerShdw>
          </a:effectLst>
        </p:spPr>
      </p:sp>
      <p:sp>
        <p:nvSpPr>
          <p:cNvPr id="5" name="Shape 3"/>
          <p:cNvSpPr/>
          <p:nvPr/>
        </p:nvSpPr>
        <p:spPr>
          <a:xfrm>
            <a:off x="804672" y="1792224"/>
            <a:ext cx="713232" cy="713232"/>
          </a:xfrm>
          <a:prstGeom prst="ellipse">
            <a:avLst/>
          </a:prstGeom>
          <a:solidFill>
            <a:srgbClr val="065A82"/>
          </a:solidFill>
          <a:ln/>
        </p:spPr>
      </p:sp>
      <p:pic>
        <p:nvPicPr>
          <p:cNvPr id="6" name="Image 0" descr="preencoded.png"/>
          <p:cNvPicPr>
            <a:picLocks noChangeAspect="1"/>
          </p:cNvPicPr>
          <p:nvPr/>
        </p:nvPicPr>
        <p:blipFill>
          <a:blip r:embed="rId3"/>
          <a:stretch>
            <a:fillRect/>
          </a:stretch>
        </p:blipFill>
        <p:spPr>
          <a:xfrm>
            <a:off x="996696" y="1984248"/>
            <a:ext cx="329184" cy="329184"/>
          </a:xfrm>
          <a:prstGeom prst="rect">
            <a:avLst/>
          </a:prstGeom>
        </p:spPr>
      </p:pic>
      <p:sp>
        <p:nvSpPr>
          <p:cNvPr id="7" name="Text 4"/>
          <p:cNvSpPr/>
          <p:nvPr/>
        </p:nvSpPr>
        <p:spPr>
          <a:xfrm>
            <a:off x="804672" y="2651760"/>
            <a:ext cx="2130552" cy="384048"/>
          </a:xfrm>
          <a:prstGeom prst="rect">
            <a:avLst/>
          </a:prstGeom>
          <a:noFill/>
          <a:ln/>
        </p:spPr>
        <p:txBody>
          <a:bodyPr wrap="square" lIns="0" tIns="0" rIns="0" bIns="0" rtlCol="0" anchor="ctr"/>
          <a:lstStyle/>
          <a:p>
            <a:pPr marL="0" indent="0">
              <a:buNone/>
            </a:pPr>
            <a:r>
              <a:rPr lang="en-US" sz="2000" b="1" dirty="0">
                <a:solidFill>
                  <a:srgbClr val="14333F"/>
                </a:solidFill>
                <a:latin typeface="Bookman Old Style" pitchFamily="34" charset="0"/>
                <a:ea typeface="Bookman Old Style" pitchFamily="34" charset="-122"/>
                <a:cs typeface="Bookman Old Style" pitchFamily="34" charset="-120"/>
              </a:rPr>
              <a:t>Statistics</a:t>
            </a:r>
            <a:endParaRPr lang="en-US" sz="2000" dirty="0"/>
          </a:p>
        </p:txBody>
      </p:sp>
      <p:sp>
        <p:nvSpPr>
          <p:cNvPr id="8" name="Text 5"/>
          <p:cNvSpPr/>
          <p:nvPr/>
        </p:nvSpPr>
        <p:spPr>
          <a:xfrm>
            <a:off x="804672" y="3035808"/>
            <a:ext cx="2130552" cy="292608"/>
          </a:xfrm>
          <a:prstGeom prst="rect">
            <a:avLst/>
          </a:prstGeom>
          <a:noFill/>
          <a:ln/>
        </p:spPr>
        <p:txBody>
          <a:bodyPr wrap="square" lIns="0" tIns="0" rIns="0" bIns="0" rtlCol="0" anchor="ctr"/>
          <a:lstStyle/>
          <a:p>
            <a:pPr marL="0" indent="0">
              <a:buNone/>
            </a:pPr>
            <a:r>
              <a:rPr lang="en-US" sz="1100" b="1" i="1" dirty="0">
                <a:solidFill>
                  <a:srgbClr val="065A82"/>
                </a:solidFill>
                <a:latin typeface="Calibri" pitchFamily="34" charset="0"/>
                <a:ea typeface="Calibri" pitchFamily="34" charset="-122"/>
                <a:cs typeface="Calibri" pitchFamily="34" charset="-120"/>
              </a:rPr>
              <a:t>What profiling measures</a:t>
            </a:r>
            <a:endParaRPr lang="en-US" sz="1100" dirty="0"/>
          </a:p>
        </p:txBody>
      </p:sp>
      <p:sp>
        <p:nvSpPr>
          <p:cNvPr id="9" name="Text 6"/>
          <p:cNvSpPr/>
          <p:nvPr/>
        </p:nvSpPr>
        <p:spPr>
          <a:xfrm>
            <a:off x="804672" y="3383280"/>
            <a:ext cx="2112264" cy="1005840"/>
          </a:xfrm>
          <a:prstGeom prst="rect">
            <a:avLst/>
          </a:prstGeom>
          <a:noFill/>
          <a:ln/>
        </p:spPr>
        <p:txBody>
          <a:bodyPr wrap="square" lIns="0" tIns="0" rIns="0" bIns="0" rtlCol="0" anchor="ctr"/>
          <a:lstStyle/>
          <a:p>
            <a:pPr marL="0" indent="0">
              <a:lnSpc>
                <a:spcPct val="105000"/>
              </a:lnSpc>
              <a:buNone/>
            </a:pPr>
            <a:r>
              <a:rPr lang="en-US" sz="1100" dirty="0">
                <a:solidFill>
                  <a:srgbClr val="5B7782"/>
                </a:solidFill>
                <a:latin typeface="Calibri" pitchFamily="34" charset="0"/>
                <a:ea typeface="Calibri" pitchFamily="34" charset="-122"/>
                <a:cs typeface="Calibri" pitchFamily="34" charset="-120"/>
              </a:rPr>
              <a:t>Row counts, null counts, cardinality, data patterns, and sample values — gathered in one pass through the data.</a:t>
            </a:r>
            <a:endParaRPr lang="en-US" sz="1100" dirty="0"/>
          </a:p>
        </p:txBody>
      </p:sp>
      <p:sp>
        <p:nvSpPr>
          <p:cNvPr id="10" name="Shape 7"/>
          <p:cNvSpPr/>
          <p:nvPr/>
        </p:nvSpPr>
        <p:spPr>
          <a:xfrm>
            <a:off x="3273552" y="1517904"/>
            <a:ext cx="2587752" cy="3017520"/>
          </a:xfrm>
          <a:prstGeom prst="roundRect">
            <a:avLst>
              <a:gd name="adj" fmla="val 3180"/>
            </a:avLst>
          </a:prstGeom>
          <a:solidFill>
            <a:srgbClr val="EEF6FA"/>
          </a:solidFill>
          <a:ln/>
          <a:effectLst>
            <a:outerShdw blurRad="101600" dist="25400" dir="5400000" algn="bl" rotWithShape="0">
              <a:srgbClr val="0A3D52">
                <a:alpha val="12000"/>
              </a:srgbClr>
            </a:outerShdw>
          </a:effectLst>
        </p:spPr>
      </p:sp>
      <p:sp>
        <p:nvSpPr>
          <p:cNvPr id="11" name="Shape 8"/>
          <p:cNvSpPr/>
          <p:nvPr/>
        </p:nvSpPr>
        <p:spPr>
          <a:xfrm>
            <a:off x="3529584" y="1792224"/>
            <a:ext cx="713232" cy="713232"/>
          </a:xfrm>
          <a:prstGeom prst="ellipse">
            <a:avLst/>
          </a:prstGeom>
          <a:solidFill>
            <a:srgbClr val="1C7293"/>
          </a:solidFill>
          <a:ln/>
        </p:spPr>
      </p:sp>
      <p:pic>
        <p:nvPicPr>
          <p:cNvPr id="12" name="Image 1" descr="preencoded.png"/>
          <p:cNvPicPr>
            <a:picLocks noChangeAspect="1"/>
          </p:cNvPicPr>
          <p:nvPr/>
        </p:nvPicPr>
        <p:blipFill>
          <a:blip r:embed="rId4"/>
          <a:stretch>
            <a:fillRect/>
          </a:stretch>
        </p:blipFill>
        <p:spPr>
          <a:xfrm>
            <a:off x="3721608" y="1984248"/>
            <a:ext cx="329184" cy="329184"/>
          </a:xfrm>
          <a:prstGeom prst="rect">
            <a:avLst/>
          </a:prstGeom>
        </p:spPr>
      </p:pic>
      <p:sp>
        <p:nvSpPr>
          <p:cNvPr id="13" name="Text 9"/>
          <p:cNvSpPr/>
          <p:nvPr/>
        </p:nvSpPr>
        <p:spPr>
          <a:xfrm>
            <a:off x="3529584" y="2651760"/>
            <a:ext cx="2130552" cy="384048"/>
          </a:xfrm>
          <a:prstGeom prst="rect">
            <a:avLst/>
          </a:prstGeom>
          <a:noFill/>
          <a:ln/>
        </p:spPr>
        <p:txBody>
          <a:bodyPr wrap="square" lIns="0" tIns="0" rIns="0" bIns="0" rtlCol="0" anchor="ctr"/>
          <a:lstStyle/>
          <a:p>
            <a:pPr marL="0" indent="0">
              <a:buNone/>
            </a:pPr>
            <a:r>
              <a:rPr lang="en-US" sz="2000" b="1" dirty="0">
                <a:solidFill>
                  <a:srgbClr val="14333F"/>
                </a:solidFill>
                <a:latin typeface="Bookman Old Style" pitchFamily="34" charset="0"/>
                <a:ea typeface="Bookman Old Style" pitchFamily="34" charset="-122"/>
                <a:cs typeface="Bookman Old Style" pitchFamily="34" charset="-120"/>
              </a:rPr>
              <a:t>Keys</a:t>
            </a:r>
            <a:endParaRPr lang="en-US" sz="2000" dirty="0"/>
          </a:p>
        </p:txBody>
      </p:sp>
      <p:sp>
        <p:nvSpPr>
          <p:cNvPr id="14" name="Text 10"/>
          <p:cNvSpPr/>
          <p:nvPr/>
        </p:nvSpPr>
        <p:spPr>
          <a:xfrm>
            <a:off x="3529584" y="3035808"/>
            <a:ext cx="2130552" cy="292608"/>
          </a:xfrm>
          <a:prstGeom prst="rect">
            <a:avLst/>
          </a:prstGeom>
          <a:noFill/>
          <a:ln/>
        </p:spPr>
        <p:txBody>
          <a:bodyPr wrap="square" lIns="0" tIns="0" rIns="0" bIns="0" rtlCol="0" anchor="ctr"/>
          <a:lstStyle/>
          <a:p>
            <a:pPr marL="0" indent="0">
              <a:buNone/>
            </a:pPr>
            <a:r>
              <a:rPr lang="en-US" sz="1100" b="1" i="1" dirty="0">
                <a:solidFill>
                  <a:srgbClr val="1C7293"/>
                </a:solidFill>
                <a:latin typeface="Calibri" pitchFamily="34" charset="0"/>
                <a:ea typeface="Calibri" pitchFamily="34" charset="-122"/>
                <a:cs typeface="Calibri" pitchFamily="34" charset="-120"/>
              </a:rPr>
              <a:t>What it unlocks</a:t>
            </a:r>
            <a:endParaRPr lang="en-US" sz="1100" dirty="0"/>
          </a:p>
        </p:txBody>
      </p:sp>
      <p:sp>
        <p:nvSpPr>
          <p:cNvPr id="15" name="Text 11"/>
          <p:cNvSpPr/>
          <p:nvPr/>
        </p:nvSpPr>
        <p:spPr>
          <a:xfrm>
            <a:off x="3529584" y="3383280"/>
            <a:ext cx="2112264" cy="1005840"/>
          </a:xfrm>
          <a:prstGeom prst="rect">
            <a:avLst/>
          </a:prstGeom>
          <a:noFill/>
          <a:ln/>
        </p:spPr>
        <p:txBody>
          <a:bodyPr wrap="square" lIns="0" tIns="0" rIns="0" bIns="0" rtlCol="0" anchor="ctr"/>
          <a:lstStyle/>
          <a:p>
            <a:pPr marL="0" indent="0">
              <a:lnSpc>
                <a:spcPct val="105000"/>
              </a:lnSpc>
              <a:buNone/>
            </a:pPr>
            <a:r>
              <a:rPr lang="en-US" sz="1100" dirty="0">
                <a:solidFill>
                  <a:srgbClr val="5B7782"/>
                </a:solidFill>
                <a:latin typeface="Calibri" pitchFamily="34" charset="0"/>
                <a:ea typeface="Calibri" pitchFamily="34" charset="-122"/>
                <a:cs typeface="Calibri" pitchFamily="34" charset="-120"/>
              </a:rPr>
              <a:t>Foreign-key detection runs on profiling output across related tables, so the PK/FK column reflects the source’s declared keys once every related table is profiled.</a:t>
            </a:r>
            <a:endParaRPr lang="en-US" sz="1100" dirty="0"/>
          </a:p>
        </p:txBody>
      </p:sp>
      <p:sp>
        <p:nvSpPr>
          <p:cNvPr id="16" name="Shape 12"/>
          <p:cNvSpPr/>
          <p:nvPr/>
        </p:nvSpPr>
        <p:spPr>
          <a:xfrm>
            <a:off x="5998464" y="1517904"/>
            <a:ext cx="2587752" cy="3017520"/>
          </a:xfrm>
          <a:prstGeom prst="roundRect">
            <a:avLst>
              <a:gd name="adj" fmla="val 3180"/>
            </a:avLst>
          </a:prstGeom>
          <a:solidFill>
            <a:srgbClr val="EEF6FA"/>
          </a:solidFill>
          <a:ln/>
          <a:effectLst>
            <a:outerShdw blurRad="101600" dist="25400" dir="5400000" algn="bl" rotWithShape="0">
              <a:srgbClr val="0A3D52">
                <a:alpha val="12000"/>
              </a:srgbClr>
            </a:outerShdw>
          </a:effectLst>
        </p:spPr>
      </p:sp>
      <p:sp>
        <p:nvSpPr>
          <p:cNvPr id="17" name="Shape 13"/>
          <p:cNvSpPr/>
          <p:nvPr/>
        </p:nvSpPr>
        <p:spPr>
          <a:xfrm>
            <a:off x="6254496" y="1792224"/>
            <a:ext cx="713232" cy="713232"/>
          </a:xfrm>
          <a:prstGeom prst="ellipse">
            <a:avLst/>
          </a:prstGeom>
          <a:solidFill>
            <a:srgbClr val="2EC4B6"/>
          </a:solidFill>
          <a:ln/>
        </p:spPr>
      </p:sp>
      <p:pic>
        <p:nvPicPr>
          <p:cNvPr id="18" name="Image 2" descr="preencoded.png"/>
          <p:cNvPicPr>
            <a:picLocks noChangeAspect="1"/>
          </p:cNvPicPr>
          <p:nvPr/>
        </p:nvPicPr>
        <p:blipFill>
          <a:blip r:embed="rId5"/>
          <a:stretch>
            <a:fillRect/>
          </a:stretch>
        </p:blipFill>
        <p:spPr>
          <a:xfrm>
            <a:off x="6446520" y="1984248"/>
            <a:ext cx="329184" cy="329184"/>
          </a:xfrm>
          <a:prstGeom prst="rect">
            <a:avLst/>
          </a:prstGeom>
        </p:spPr>
      </p:pic>
      <p:sp>
        <p:nvSpPr>
          <p:cNvPr id="19" name="Text 14"/>
          <p:cNvSpPr/>
          <p:nvPr/>
        </p:nvSpPr>
        <p:spPr>
          <a:xfrm>
            <a:off x="6254496" y="2651760"/>
            <a:ext cx="2130552" cy="384048"/>
          </a:xfrm>
          <a:prstGeom prst="rect">
            <a:avLst/>
          </a:prstGeom>
          <a:noFill/>
          <a:ln/>
        </p:spPr>
        <p:txBody>
          <a:bodyPr wrap="square" lIns="0" tIns="0" rIns="0" bIns="0" rtlCol="0" anchor="ctr"/>
          <a:lstStyle/>
          <a:p>
            <a:pPr marL="0" indent="0">
              <a:buNone/>
            </a:pPr>
            <a:r>
              <a:rPr lang="en-US" sz="2000" b="1" dirty="0">
                <a:solidFill>
                  <a:srgbClr val="14333F"/>
                </a:solidFill>
                <a:latin typeface="Bookman Old Style" pitchFamily="34" charset="0"/>
                <a:ea typeface="Bookman Old Style" pitchFamily="34" charset="-122"/>
                <a:cs typeface="Bookman Old Style" pitchFamily="34" charset="-120"/>
              </a:rPr>
              <a:t>Trust Score</a:t>
            </a:r>
            <a:endParaRPr lang="en-US" sz="2000" dirty="0"/>
          </a:p>
        </p:txBody>
      </p:sp>
      <p:sp>
        <p:nvSpPr>
          <p:cNvPr id="20" name="Text 15"/>
          <p:cNvSpPr/>
          <p:nvPr/>
        </p:nvSpPr>
        <p:spPr>
          <a:xfrm>
            <a:off x="6254496" y="3035808"/>
            <a:ext cx="2130552" cy="292608"/>
          </a:xfrm>
          <a:prstGeom prst="rect">
            <a:avLst/>
          </a:prstGeom>
          <a:noFill/>
          <a:ln/>
        </p:spPr>
        <p:txBody>
          <a:bodyPr wrap="square" lIns="0" tIns="0" rIns="0" bIns="0" rtlCol="0" anchor="ctr"/>
          <a:lstStyle/>
          <a:p>
            <a:pPr marL="0" indent="0">
              <a:buNone/>
            </a:pPr>
            <a:r>
              <a:rPr lang="en-US" sz="1100" b="1" i="1" dirty="0">
                <a:solidFill>
                  <a:srgbClr val="2EC4B6"/>
                </a:solidFill>
                <a:latin typeface="Calibri" pitchFamily="34" charset="0"/>
                <a:ea typeface="Calibri" pitchFamily="34" charset="-122"/>
                <a:cs typeface="Calibri" pitchFamily="34" charset="-120"/>
              </a:rPr>
              <a:t>What it makes real</a:t>
            </a:r>
            <a:endParaRPr lang="en-US" sz="1100" dirty="0"/>
          </a:p>
        </p:txBody>
      </p:sp>
      <p:sp>
        <p:nvSpPr>
          <p:cNvPr id="21" name="Text 16"/>
          <p:cNvSpPr/>
          <p:nvPr/>
        </p:nvSpPr>
        <p:spPr>
          <a:xfrm>
            <a:off x="6254496" y="3383280"/>
            <a:ext cx="2112264" cy="1005840"/>
          </a:xfrm>
          <a:prstGeom prst="rect">
            <a:avLst/>
          </a:prstGeom>
          <a:noFill/>
          <a:ln/>
        </p:spPr>
        <p:txBody>
          <a:bodyPr wrap="square" lIns="0" tIns="0" rIns="0" bIns="0" rtlCol="0" anchor="ctr"/>
          <a:lstStyle/>
          <a:p>
            <a:pPr marL="0" indent="0">
              <a:lnSpc>
                <a:spcPct val="105000"/>
              </a:lnSpc>
              <a:buNone/>
            </a:pPr>
            <a:r>
              <a:rPr lang="en-US" sz="1100" dirty="0">
                <a:solidFill>
                  <a:srgbClr val="5B7782"/>
                </a:solidFill>
                <a:latin typeface="Calibri" pitchFamily="34" charset="0"/>
                <a:ea typeface="Calibri" pitchFamily="34" charset="-122"/>
                <a:cs typeface="Calibri" pitchFamily="34" charset="-120"/>
              </a:rPr>
              <a:t>With a glossary term linked and the table profiled, Calculate Trust Score rolls up real evidence instead of defaults.</a:t>
            </a:r>
            <a:endParaRPr lang="en-US" sz="1100" dirty="0"/>
          </a:p>
        </p:txBody>
      </p:sp>
      <p:sp>
        <p:nvSpPr>
          <p:cNvPr id="22" name="Text 17"/>
          <p:cNvSpPr/>
          <p:nvPr/>
        </p:nvSpPr>
        <p:spPr>
          <a:xfrm>
            <a:off x="548640" y="4828032"/>
            <a:ext cx="7315200" cy="274320"/>
          </a:xfrm>
          <a:prstGeom prst="rect">
            <a:avLst/>
          </a:prstGeom>
          <a:noFill/>
          <a:ln/>
        </p:spPr>
        <p:txBody>
          <a:bodyPr wrap="square" lIns="0" tIns="0" rIns="0" bIns="0" rtlCol="0" anchor="ctr"/>
          <a:lstStyle/>
          <a:p>
            <a:pPr marL="0" indent="0">
              <a:buNone/>
            </a:pPr>
            <a:r>
              <a:rPr lang="en-US" sz="950" dirty="0">
                <a:solidFill>
                  <a:srgbClr val="5B7782"/>
                </a:solidFill>
                <a:latin typeface="Calibri" pitchFamily="34" charset="0"/>
                <a:ea typeface="Calibri" pitchFamily="34" charset="-122"/>
                <a:cs typeface="Calibri" pitchFamily="34" charset="-120"/>
              </a:rPr>
              <a:t>Workshop 4 · One profiling pass feeds keys, quality, and the Trust Score</a:t>
            </a:r>
            <a:endParaRPr lang="en-US" sz="950" dirty="0"/>
          </a:p>
        </p:txBody>
      </p:sp>
      <p:sp>
        <p:nvSpPr>
          <p:cNvPr id="23" name="Text 18"/>
          <p:cNvSpPr/>
          <p:nvPr/>
        </p:nvSpPr>
        <p:spPr>
          <a:xfrm>
            <a:off x="8366760" y="4828032"/>
            <a:ext cx="320040" cy="274320"/>
          </a:xfrm>
          <a:prstGeom prst="rect">
            <a:avLst/>
          </a:prstGeom>
          <a:noFill/>
          <a:ln/>
        </p:spPr>
        <p:txBody>
          <a:bodyPr wrap="square" lIns="0" tIns="0" rIns="0" bIns="0" rtlCol="0" anchor="ctr"/>
          <a:lstStyle/>
          <a:p>
            <a:pPr marL="0" indent="0" algn="r">
              <a:buNone/>
            </a:pPr>
            <a:r>
              <a:rPr lang="en-US" sz="950" dirty="0">
                <a:solidFill>
                  <a:srgbClr val="5B7782"/>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6766560" cy="292608"/>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DATA QUALITY</a:t>
            </a:r>
            <a:endParaRPr lang="en-US" sz="1200" dirty="0"/>
          </a:p>
        </p:txBody>
      </p:sp>
      <p:sp>
        <p:nvSpPr>
          <p:cNvPr id="3" name="Text 1"/>
          <p:cNvSpPr/>
          <p:nvPr/>
        </p:nvSpPr>
        <p:spPr>
          <a:xfrm>
            <a:off x="548640" y="713232"/>
            <a:ext cx="7040880" cy="566928"/>
          </a:xfrm>
          <a:prstGeom prst="rect">
            <a:avLst/>
          </a:prstGeom>
          <a:noFill/>
          <a:ln/>
        </p:spPr>
        <p:txBody>
          <a:bodyPr wrap="square" lIns="0" tIns="0" rIns="0" bIns="0" rtlCol="0" anchor="ctr"/>
          <a:lstStyle/>
          <a:p>
            <a:pPr marL="0" indent="0">
              <a:buNone/>
            </a:pPr>
            <a:r>
              <a:rPr lang="en-US" sz="2700" b="1" dirty="0">
                <a:solidFill>
                  <a:srgbClr val="14333F"/>
                </a:solidFill>
                <a:latin typeface="Bookman Old Style" pitchFamily="34" charset="0"/>
                <a:ea typeface="Bookman Old Style" pitchFamily="34" charset="-122"/>
                <a:cs typeface="Bookman Old Style" pitchFamily="34" charset="-120"/>
              </a:rPr>
              <a:t>The five data quality dimensions</a:t>
            </a:r>
            <a:endParaRPr lang="en-US" sz="2700" dirty="0"/>
          </a:p>
        </p:txBody>
      </p:sp>
      <p:sp>
        <p:nvSpPr>
          <p:cNvPr id="4" name="Shape 2"/>
          <p:cNvSpPr/>
          <p:nvPr/>
        </p:nvSpPr>
        <p:spPr>
          <a:xfrm>
            <a:off x="548640" y="1499616"/>
            <a:ext cx="8046720" cy="585216"/>
          </a:xfrm>
          <a:prstGeom prst="roundRect">
            <a:avLst>
              <a:gd name="adj" fmla="val 10938"/>
            </a:avLst>
          </a:prstGeom>
          <a:solidFill>
            <a:srgbClr val="EEF6FA"/>
          </a:solidFill>
          <a:ln/>
          <a:effectLst>
            <a:outerShdw blurRad="50800" dist="12700" dir="5400000" algn="bl" rotWithShape="0">
              <a:srgbClr val="0A3D52">
                <a:alpha val="7000"/>
              </a:srgbClr>
            </a:outerShdw>
          </a:effectLst>
        </p:spPr>
      </p:sp>
      <p:sp>
        <p:nvSpPr>
          <p:cNvPr id="5" name="Shape 3"/>
          <p:cNvSpPr/>
          <p:nvPr/>
        </p:nvSpPr>
        <p:spPr>
          <a:xfrm>
            <a:off x="713232" y="1609344"/>
            <a:ext cx="384048" cy="384048"/>
          </a:xfrm>
          <a:prstGeom prst="ellipse">
            <a:avLst/>
          </a:prstGeom>
          <a:solidFill>
            <a:srgbClr val="1C7293"/>
          </a:solidFill>
          <a:ln/>
        </p:spPr>
      </p:sp>
      <p:pic>
        <p:nvPicPr>
          <p:cNvPr id="6" name="Image 0" descr="preencoded.png"/>
          <p:cNvPicPr>
            <a:picLocks noChangeAspect="1"/>
          </p:cNvPicPr>
          <p:nvPr/>
        </p:nvPicPr>
        <p:blipFill>
          <a:blip r:embed="rId3"/>
          <a:stretch>
            <a:fillRect/>
          </a:stretch>
        </p:blipFill>
        <p:spPr>
          <a:xfrm>
            <a:off x="800100" y="1696212"/>
            <a:ext cx="210312" cy="210312"/>
          </a:xfrm>
          <a:prstGeom prst="rect">
            <a:avLst/>
          </a:prstGeom>
        </p:spPr>
      </p:pic>
      <p:sp>
        <p:nvSpPr>
          <p:cNvPr id="7" name="Text 4"/>
          <p:cNvSpPr/>
          <p:nvPr/>
        </p:nvSpPr>
        <p:spPr>
          <a:xfrm>
            <a:off x="1280160" y="1499616"/>
            <a:ext cx="2103120" cy="585216"/>
          </a:xfrm>
          <a:prstGeom prst="rect">
            <a:avLst/>
          </a:prstGeom>
          <a:noFill/>
          <a:ln/>
        </p:spPr>
        <p:txBody>
          <a:bodyPr wrap="square" lIns="0" tIns="0" rIns="0" bIns="0" rtlCol="0" anchor="ctr"/>
          <a:lstStyle/>
          <a:p>
            <a:pPr marL="0" indent="0">
              <a:buNone/>
            </a:pPr>
            <a:r>
              <a:rPr lang="en-US" sz="1400" b="1" dirty="0">
                <a:solidFill>
                  <a:srgbClr val="14333F"/>
                </a:solidFill>
                <a:latin typeface="Calibri" pitchFamily="34" charset="0"/>
                <a:ea typeface="Calibri" pitchFamily="34" charset="-122"/>
                <a:cs typeface="Calibri" pitchFamily="34" charset="-120"/>
              </a:rPr>
              <a:t>Completeness</a:t>
            </a:r>
            <a:endParaRPr lang="en-US" sz="1400" dirty="0"/>
          </a:p>
        </p:txBody>
      </p:sp>
      <p:sp>
        <p:nvSpPr>
          <p:cNvPr id="8" name="Text 5"/>
          <p:cNvSpPr/>
          <p:nvPr/>
        </p:nvSpPr>
        <p:spPr>
          <a:xfrm>
            <a:off x="3383280" y="1499616"/>
            <a:ext cx="5029200" cy="585216"/>
          </a:xfrm>
          <a:prstGeom prst="rect">
            <a:avLst/>
          </a:prstGeom>
          <a:noFill/>
          <a:ln/>
        </p:spPr>
        <p:txBody>
          <a:bodyPr wrap="square" lIns="0" tIns="0" rIns="0" bIns="0" rtlCol="0" anchor="ctr"/>
          <a:lstStyle/>
          <a:p>
            <a:pPr marL="0" indent="0">
              <a:buNone/>
            </a:pPr>
            <a:r>
              <a:rPr lang="en-US" sz="1150" dirty="0">
                <a:solidFill>
                  <a:srgbClr val="5B7782"/>
                </a:solidFill>
                <a:latin typeface="Calibri" pitchFamily="34" charset="0"/>
                <a:ea typeface="Calibri" pitchFamily="34" charset="-122"/>
                <a:cs typeface="Calibri" pitchFamily="34" charset="-120"/>
              </a:rPr>
              <a:t>Are values present where they should be — no unexpected nulls?</a:t>
            </a:r>
            <a:endParaRPr lang="en-US" sz="1150" dirty="0"/>
          </a:p>
        </p:txBody>
      </p:sp>
      <p:sp>
        <p:nvSpPr>
          <p:cNvPr id="9" name="Shape 6"/>
          <p:cNvSpPr/>
          <p:nvPr/>
        </p:nvSpPr>
        <p:spPr>
          <a:xfrm>
            <a:off x="548640" y="2176272"/>
            <a:ext cx="8046720" cy="585216"/>
          </a:xfrm>
          <a:prstGeom prst="roundRect">
            <a:avLst>
              <a:gd name="adj" fmla="val 10938"/>
            </a:avLst>
          </a:prstGeom>
          <a:solidFill>
            <a:srgbClr val="EEF6FA"/>
          </a:solidFill>
          <a:ln/>
          <a:effectLst>
            <a:outerShdw blurRad="50800" dist="12700" dir="5400000" algn="bl" rotWithShape="0">
              <a:srgbClr val="0A3D52">
                <a:alpha val="7000"/>
              </a:srgbClr>
            </a:outerShdw>
          </a:effectLst>
        </p:spPr>
      </p:sp>
      <p:sp>
        <p:nvSpPr>
          <p:cNvPr id="10" name="Shape 7"/>
          <p:cNvSpPr/>
          <p:nvPr/>
        </p:nvSpPr>
        <p:spPr>
          <a:xfrm>
            <a:off x="713232" y="2286000"/>
            <a:ext cx="384048" cy="384048"/>
          </a:xfrm>
          <a:prstGeom prst="ellipse">
            <a:avLst/>
          </a:prstGeom>
          <a:solidFill>
            <a:srgbClr val="1C7293"/>
          </a:solidFill>
          <a:ln/>
        </p:spPr>
      </p:sp>
      <p:pic>
        <p:nvPicPr>
          <p:cNvPr id="11" name="Image 1" descr="preencoded.png"/>
          <p:cNvPicPr>
            <a:picLocks noChangeAspect="1"/>
          </p:cNvPicPr>
          <p:nvPr/>
        </p:nvPicPr>
        <p:blipFill>
          <a:blip r:embed="rId4"/>
          <a:stretch>
            <a:fillRect/>
          </a:stretch>
        </p:blipFill>
        <p:spPr>
          <a:xfrm>
            <a:off x="800100" y="2372868"/>
            <a:ext cx="210312" cy="210312"/>
          </a:xfrm>
          <a:prstGeom prst="rect">
            <a:avLst/>
          </a:prstGeom>
        </p:spPr>
      </p:pic>
      <p:sp>
        <p:nvSpPr>
          <p:cNvPr id="12" name="Text 8"/>
          <p:cNvSpPr/>
          <p:nvPr/>
        </p:nvSpPr>
        <p:spPr>
          <a:xfrm>
            <a:off x="1280160" y="2176272"/>
            <a:ext cx="2103120" cy="585216"/>
          </a:xfrm>
          <a:prstGeom prst="rect">
            <a:avLst/>
          </a:prstGeom>
          <a:noFill/>
          <a:ln/>
        </p:spPr>
        <p:txBody>
          <a:bodyPr wrap="square" lIns="0" tIns="0" rIns="0" bIns="0" rtlCol="0" anchor="ctr"/>
          <a:lstStyle/>
          <a:p>
            <a:pPr marL="0" indent="0">
              <a:buNone/>
            </a:pPr>
            <a:r>
              <a:rPr lang="en-US" sz="1400" b="1" dirty="0">
                <a:solidFill>
                  <a:srgbClr val="14333F"/>
                </a:solidFill>
                <a:latin typeface="Calibri" pitchFamily="34" charset="0"/>
                <a:ea typeface="Calibri" pitchFamily="34" charset="-122"/>
                <a:cs typeface="Calibri" pitchFamily="34" charset="-120"/>
              </a:rPr>
              <a:t>Accuracy</a:t>
            </a:r>
            <a:endParaRPr lang="en-US" sz="1400" dirty="0"/>
          </a:p>
        </p:txBody>
      </p:sp>
      <p:sp>
        <p:nvSpPr>
          <p:cNvPr id="13" name="Text 9"/>
          <p:cNvSpPr/>
          <p:nvPr/>
        </p:nvSpPr>
        <p:spPr>
          <a:xfrm>
            <a:off x="3383280" y="2176272"/>
            <a:ext cx="5029200" cy="585216"/>
          </a:xfrm>
          <a:prstGeom prst="rect">
            <a:avLst/>
          </a:prstGeom>
          <a:noFill/>
          <a:ln/>
        </p:spPr>
        <p:txBody>
          <a:bodyPr wrap="square" lIns="0" tIns="0" rIns="0" bIns="0" rtlCol="0" anchor="ctr"/>
          <a:lstStyle/>
          <a:p>
            <a:pPr marL="0" indent="0">
              <a:buNone/>
            </a:pPr>
            <a:r>
              <a:rPr lang="en-US" sz="1150" dirty="0">
                <a:solidFill>
                  <a:srgbClr val="5B7782"/>
                </a:solidFill>
                <a:latin typeface="Calibri" pitchFamily="34" charset="0"/>
                <a:ea typeface="Calibri" pitchFamily="34" charset="-122"/>
                <a:cs typeface="Calibri" pitchFamily="34" charset="-120"/>
              </a:rPr>
              <a:t>Do values reflect the real-world fact they are meant to record?</a:t>
            </a:r>
            <a:endParaRPr lang="en-US" sz="1150" dirty="0"/>
          </a:p>
        </p:txBody>
      </p:sp>
      <p:sp>
        <p:nvSpPr>
          <p:cNvPr id="14" name="Shape 10"/>
          <p:cNvSpPr/>
          <p:nvPr/>
        </p:nvSpPr>
        <p:spPr>
          <a:xfrm>
            <a:off x="548640" y="2852928"/>
            <a:ext cx="8046720" cy="585216"/>
          </a:xfrm>
          <a:prstGeom prst="roundRect">
            <a:avLst>
              <a:gd name="adj" fmla="val 10938"/>
            </a:avLst>
          </a:prstGeom>
          <a:solidFill>
            <a:srgbClr val="EEF6FA"/>
          </a:solidFill>
          <a:ln/>
          <a:effectLst>
            <a:outerShdw blurRad="50800" dist="12700" dir="5400000" algn="bl" rotWithShape="0">
              <a:srgbClr val="0A3D52">
                <a:alpha val="7000"/>
              </a:srgbClr>
            </a:outerShdw>
          </a:effectLst>
        </p:spPr>
      </p:sp>
      <p:sp>
        <p:nvSpPr>
          <p:cNvPr id="15" name="Shape 11"/>
          <p:cNvSpPr/>
          <p:nvPr/>
        </p:nvSpPr>
        <p:spPr>
          <a:xfrm>
            <a:off x="713232" y="2962656"/>
            <a:ext cx="384048" cy="384048"/>
          </a:xfrm>
          <a:prstGeom prst="ellipse">
            <a:avLst/>
          </a:prstGeom>
          <a:solidFill>
            <a:srgbClr val="1C7293"/>
          </a:solidFill>
          <a:ln/>
        </p:spPr>
      </p:sp>
      <p:pic>
        <p:nvPicPr>
          <p:cNvPr id="16" name="Image 2" descr="preencoded.png"/>
          <p:cNvPicPr>
            <a:picLocks noChangeAspect="1"/>
          </p:cNvPicPr>
          <p:nvPr/>
        </p:nvPicPr>
        <p:blipFill>
          <a:blip r:embed="rId5"/>
          <a:stretch>
            <a:fillRect/>
          </a:stretch>
        </p:blipFill>
        <p:spPr>
          <a:xfrm>
            <a:off x="800100" y="3049524"/>
            <a:ext cx="210312" cy="210312"/>
          </a:xfrm>
          <a:prstGeom prst="rect">
            <a:avLst/>
          </a:prstGeom>
        </p:spPr>
      </p:pic>
      <p:sp>
        <p:nvSpPr>
          <p:cNvPr id="17" name="Text 12"/>
          <p:cNvSpPr/>
          <p:nvPr/>
        </p:nvSpPr>
        <p:spPr>
          <a:xfrm>
            <a:off x="1280160" y="2852928"/>
            <a:ext cx="2103120" cy="585216"/>
          </a:xfrm>
          <a:prstGeom prst="rect">
            <a:avLst/>
          </a:prstGeom>
          <a:noFill/>
          <a:ln/>
        </p:spPr>
        <p:txBody>
          <a:bodyPr wrap="square" lIns="0" tIns="0" rIns="0" bIns="0" rtlCol="0" anchor="ctr"/>
          <a:lstStyle/>
          <a:p>
            <a:pPr marL="0" indent="0">
              <a:buNone/>
            </a:pPr>
            <a:r>
              <a:rPr lang="en-US" sz="1400" b="1" dirty="0">
                <a:solidFill>
                  <a:srgbClr val="14333F"/>
                </a:solidFill>
                <a:latin typeface="Calibri" pitchFamily="34" charset="0"/>
                <a:ea typeface="Calibri" pitchFamily="34" charset="-122"/>
                <a:cs typeface="Calibri" pitchFamily="34" charset="-120"/>
              </a:rPr>
              <a:t>Validity</a:t>
            </a:r>
            <a:endParaRPr lang="en-US" sz="1400" dirty="0"/>
          </a:p>
        </p:txBody>
      </p:sp>
      <p:sp>
        <p:nvSpPr>
          <p:cNvPr id="18" name="Text 13"/>
          <p:cNvSpPr/>
          <p:nvPr/>
        </p:nvSpPr>
        <p:spPr>
          <a:xfrm>
            <a:off x="3383280" y="2852928"/>
            <a:ext cx="5029200" cy="585216"/>
          </a:xfrm>
          <a:prstGeom prst="rect">
            <a:avLst/>
          </a:prstGeom>
          <a:noFill/>
          <a:ln/>
        </p:spPr>
        <p:txBody>
          <a:bodyPr wrap="square" lIns="0" tIns="0" rIns="0" bIns="0" rtlCol="0" anchor="ctr"/>
          <a:lstStyle/>
          <a:p>
            <a:pPr marL="0" indent="0">
              <a:buNone/>
            </a:pPr>
            <a:r>
              <a:rPr lang="en-US" sz="1150" dirty="0">
                <a:solidFill>
                  <a:srgbClr val="5B7782"/>
                </a:solidFill>
                <a:latin typeface="Calibri" pitchFamily="34" charset="0"/>
                <a:ea typeface="Calibri" pitchFamily="34" charset="-122"/>
                <a:cs typeface="Calibri" pitchFamily="34" charset="-120"/>
              </a:rPr>
              <a:t>Do values match the expected type, format, or range?</a:t>
            </a:r>
            <a:endParaRPr lang="en-US" sz="1150" dirty="0"/>
          </a:p>
        </p:txBody>
      </p:sp>
      <p:sp>
        <p:nvSpPr>
          <p:cNvPr id="19" name="Shape 14"/>
          <p:cNvSpPr/>
          <p:nvPr/>
        </p:nvSpPr>
        <p:spPr>
          <a:xfrm>
            <a:off x="548640" y="3529584"/>
            <a:ext cx="8046720" cy="585216"/>
          </a:xfrm>
          <a:prstGeom prst="roundRect">
            <a:avLst>
              <a:gd name="adj" fmla="val 10938"/>
            </a:avLst>
          </a:prstGeom>
          <a:solidFill>
            <a:srgbClr val="EEF6FA"/>
          </a:solidFill>
          <a:ln/>
          <a:effectLst>
            <a:outerShdw blurRad="50800" dist="12700" dir="5400000" algn="bl" rotWithShape="0">
              <a:srgbClr val="0A3D52">
                <a:alpha val="7000"/>
              </a:srgbClr>
            </a:outerShdw>
          </a:effectLst>
        </p:spPr>
      </p:sp>
      <p:sp>
        <p:nvSpPr>
          <p:cNvPr id="20" name="Shape 15"/>
          <p:cNvSpPr/>
          <p:nvPr/>
        </p:nvSpPr>
        <p:spPr>
          <a:xfrm>
            <a:off x="713232" y="3639312"/>
            <a:ext cx="384048" cy="384048"/>
          </a:xfrm>
          <a:prstGeom prst="ellipse">
            <a:avLst/>
          </a:prstGeom>
          <a:solidFill>
            <a:srgbClr val="1C7293"/>
          </a:solidFill>
          <a:ln/>
        </p:spPr>
      </p:sp>
      <p:pic>
        <p:nvPicPr>
          <p:cNvPr id="21" name="Image 3" descr="preencoded.png"/>
          <p:cNvPicPr>
            <a:picLocks noChangeAspect="1"/>
          </p:cNvPicPr>
          <p:nvPr/>
        </p:nvPicPr>
        <p:blipFill>
          <a:blip r:embed="rId6"/>
          <a:stretch>
            <a:fillRect/>
          </a:stretch>
        </p:blipFill>
        <p:spPr>
          <a:xfrm>
            <a:off x="800100" y="3726180"/>
            <a:ext cx="210312" cy="210312"/>
          </a:xfrm>
          <a:prstGeom prst="rect">
            <a:avLst/>
          </a:prstGeom>
        </p:spPr>
      </p:pic>
      <p:sp>
        <p:nvSpPr>
          <p:cNvPr id="22" name="Text 16"/>
          <p:cNvSpPr/>
          <p:nvPr/>
        </p:nvSpPr>
        <p:spPr>
          <a:xfrm>
            <a:off x="1280160" y="3529584"/>
            <a:ext cx="2103120" cy="585216"/>
          </a:xfrm>
          <a:prstGeom prst="rect">
            <a:avLst/>
          </a:prstGeom>
          <a:noFill/>
          <a:ln/>
        </p:spPr>
        <p:txBody>
          <a:bodyPr wrap="square" lIns="0" tIns="0" rIns="0" bIns="0" rtlCol="0" anchor="ctr"/>
          <a:lstStyle/>
          <a:p>
            <a:pPr marL="0" indent="0">
              <a:buNone/>
            </a:pPr>
            <a:r>
              <a:rPr lang="en-US" sz="1400" b="1" dirty="0">
                <a:solidFill>
                  <a:srgbClr val="14333F"/>
                </a:solidFill>
                <a:latin typeface="Calibri" pitchFamily="34" charset="0"/>
                <a:ea typeface="Calibri" pitchFamily="34" charset="-122"/>
                <a:cs typeface="Calibri" pitchFamily="34" charset="-120"/>
              </a:rPr>
              <a:t>Uniqueness</a:t>
            </a:r>
            <a:endParaRPr lang="en-US" sz="1400" dirty="0"/>
          </a:p>
        </p:txBody>
      </p:sp>
      <p:sp>
        <p:nvSpPr>
          <p:cNvPr id="23" name="Text 17"/>
          <p:cNvSpPr/>
          <p:nvPr/>
        </p:nvSpPr>
        <p:spPr>
          <a:xfrm>
            <a:off x="3383280" y="3529584"/>
            <a:ext cx="5029200" cy="585216"/>
          </a:xfrm>
          <a:prstGeom prst="rect">
            <a:avLst/>
          </a:prstGeom>
          <a:noFill/>
          <a:ln/>
        </p:spPr>
        <p:txBody>
          <a:bodyPr wrap="square" lIns="0" tIns="0" rIns="0" bIns="0" rtlCol="0" anchor="ctr"/>
          <a:lstStyle/>
          <a:p>
            <a:pPr marL="0" indent="0">
              <a:buNone/>
            </a:pPr>
            <a:r>
              <a:rPr lang="en-US" sz="1150" dirty="0">
                <a:solidFill>
                  <a:srgbClr val="5B7782"/>
                </a:solidFill>
                <a:latin typeface="Calibri" pitchFamily="34" charset="0"/>
                <a:ea typeface="Calibri" pitchFamily="34" charset="-122"/>
                <a:cs typeface="Calibri" pitchFamily="34" charset="-120"/>
              </a:rPr>
              <a:t>Are there unwanted duplicate records or keys?</a:t>
            </a:r>
            <a:endParaRPr lang="en-US" sz="1150" dirty="0"/>
          </a:p>
        </p:txBody>
      </p:sp>
      <p:sp>
        <p:nvSpPr>
          <p:cNvPr id="24" name="Shape 18"/>
          <p:cNvSpPr/>
          <p:nvPr/>
        </p:nvSpPr>
        <p:spPr>
          <a:xfrm>
            <a:off x="548640" y="4206240"/>
            <a:ext cx="8046720" cy="585216"/>
          </a:xfrm>
          <a:prstGeom prst="roundRect">
            <a:avLst>
              <a:gd name="adj" fmla="val 10938"/>
            </a:avLst>
          </a:prstGeom>
          <a:solidFill>
            <a:srgbClr val="EEF6FA"/>
          </a:solidFill>
          <a:ln/>
          <a:effectLst>
            <a:outerShdw blurRad="50800" dist="12700" dir="5400000" algn="bl" rotWithShape="0">
              <a:srgbClr val="0A3D52">
                <a:alpha val="7000"/>
              </a:srgbClr>
            </a:outerShdw>
          </a:effectLst>
        </p:spPr>
      </p:sp>
      <p:sp>
        <p:nvSpPr>
          <p:cNvPr id="25" name="Shape 19"/>
          <p:cNvSpPr/>
          <p:nvPr/>
        </p:nvSpPr>
        <p:spPr>
          <a:xfrm>
            <a:off x="713232" y="4315968"/>
            <a:ext cx="384048" cy="384048"/>
          </a:xfrm>
          <a:prstGeom prst="ellipse">
            <a:avLst/>
          </a:prstGeom>
          <a:solidFill>
            <a:srgbClr val="1C7293"/>
          </a:solidFill>
          <a:ln/>
        </p:spPr>
      </p:sp>
      <p:pic>
        <p:nvPicPr>
          <p:cNvPr id="26" name="Image 4" descr="preencoded.png"/>
          <p:cNvPicPr>
            <a:picLocks noChangeAspect="1"/>
          </p:cNvPicPr>
          <p:nvPr/>
        </p:nvPicPr>
        <p:blipFill>
          <a:blip r:embed="rId7"/>
          <a:stretch>
            <a:fillRect/>
          </a:stretch>
        </p:blipFill>
        <p:spPr>
          <a:xfrm>
            <a:off x="800100" y="4402836"/>
            <a:ext cx="210312" cy="210312"/>
          </a:xfrm>
          <a:prstGeom prst="rect">
            <a:avLst/>
          </a:prstGeom>
        </p:spPr>
      </p:pic>
      <p:sp>
        <p:nvSpPr>
          <p:cNvPr id="27" name="Text 20"/>
          <p:cNvSpPr/>
          <p:nvPr/>
        </p:nvSpPr>
        <p:spPr>
          <a:xfrm>
            <a:off x="1280160" y="4206240"/>
            <a:ext cx="2103120" cy="585216"/>
          </a:xfrm>
          <a:prstGeom prst="rect">
            <a:avLst/>
          </a:prstGeom>
          <a:noFill/>
          <a:ln/>
        </p:spPr>
        <p:txBody>
          <a:bodyPr wrap="square" lIns="0" tIns="0" rIns="0" bIns="0" rtlCol="0" anchor="ctr"/>
          <a:lstStyle/>
          <a:p>
            <a:pPr marL="0" indent="0">
              <a:buNone/>
            </a:pPr>
            <a:r>
              <a:rPr lang="en-US" sz="1400" b="1" dirty="0">
                <a:solidFill>
                  <a:srgbClr val="14333F"/>
                </a:solidFill>
                <a:latin typeface="Calibri" pitchFamily="34" charset="0"/>
                <a:ea typeface="Calibri" pitchFamily="34" charset="-122"/>
                <a:cs typeface="Calibri" pitchFamily="34" charset="-120"/>
              </a:rPr>
              <a:t>Consistency</a:t>
            </a:r>
            <a:endParaRPr lang="en-US" sz="1400" dirty="0"/>
          </a:p>
        </p:txBody>
      </p:sp>
      <p:sp>
        <p:nvSpPr>
          <p:cNvPr id="28" name="Text 21"/>
          <p:cNvSpPr/>
          <p:nvPr/>
        </p:nvSpPr>
        <p:spPr>
          <a:xfrm>
            <a:off x="3383280" y="4206240"/>
            <a:ext cx="5029200" cy="585216"/>
          </a:xfrm>
          <a:prstGeom prst="rect">
            <a:avLst/>
          </a:prstGeom>
          <a:noFill/>
          <a:ln/>
        </p:spPr>
        <p:txBody>
          <a:bodyPr wrap="square" lIns="0" tIns="0" rIns="0" bIns="0" rtlCol="0" anchor="ctr"/>
          <a:lstStyle/>
          <a:p>
            <a:pPr marL="0" indent="0">
              <a:buNone/>
            </a:pPr>
            <a:r>
              <a:rPr lang="en-US" sz="1150" dirty="0">
                <a:solidFill>
                  <a:srgbClr val="5B7782"/>
                </a:solidFill>
                <a:latin typeface="Calibri" pitchFamily="34" charset="0"/>
                <a:ea typeface="Calibri" pitchFamily="34" charset="-122"/>
                <a:cs typeface="Calibri" pitchFamily="34" charset="-120"/>
              </a:rPr>
              <a:t>Do related values agree across rows and tables?</a:t>
            </a:r>
            <a:endParaRPr lang="en-US" sz="1150" dirty="0"/>
          </a:p>
        </p:txBody>
      </p:sp>
      <p:sp>
        <p:nvSpPr>
          <p:cNvPr id="29" name="Text 22"/>
          <p:cNvSpPr/>
          <p:nvPr/>
        </p:nvSpPr>
        <p:spPr>
          <a:xfrm>
            <a:off x="548640" y="4828032"/>
            <a:ext cx="7315200" cy="274320"/>
          </a:xfrm>
          <a:prstGeom prst="rect">
            <a:avLst/>
          </a:prstGeom>
          <a:noFill/>
          <a:ln/>
        </p:spPr>
        <p:txBody>
          <a:bodyPr wrap="square" lIns="0" tIns="0" rIns="0" bIns="0" rtlCol="0" anchor="ctr"/>
          <a:lstStyle/>
          <a:p>
            <a:pPr marL="0" indent="0">
              <a:buNone/>
            </a:pPr>
            <a:r>
              <a:rPr lang="en-US" sz="950" dirty="0">
                <a:solidFill>
                  <a:srgbClr val="5B7782"/>
                </a:solidFill>
                <a:latin typeface="Calibri" pitchFamily="34" charset="0"/>
                <a:ea typeface="Calibri" pitchFamily="34" charset="-122"/>
                <a:cs typeface="Calibri" pitchFamily="34" charset="-120"/>
              </a:rPr>
              <a:t>Workshop 4 · The Data Quality metric needs the Pentaho Data Quality add-on</a:t>
            </a:r>
            <a:endParaRPr lang="en-US" sz="950" dirty="0"/>
          </a:p>
        </p:txBody>
      </p:sp>
      <p:sp>
        <p:nvSpPr>
          <p:cNvPr id="30" name="Text 23"/>
          <p:cNvSpPr/>
          <p:nvPr/>
        </p:nvSpPr>
        <p:spPr>
          <a:xfrm>
            <a:off x="8366760" y="4828032"/>
            <a:ext cx="320040" cy="274320"/>
          </a:xfrm>
          <a:prstGeom prst="rect">
            <a:avLst/>
          </a:prstGeom>
          <a:noFill/>
          <a:ln/>
        </p:spPr>
        <p:txBody>
          <a:bodyPr wrap="square" lIns="0" tIns="0" rIns="0" bIns="0" rtlCol="0" anchor="ctr"/>
          <a:lstStyle/>
          <a:p>
            <a:pPr marL="0" indent="0" algn="r">
              <a:buNone/>
            </a:pPr>
            <a:r>
              <a:rPr lang="en-US" sz="950" dirty="0">
                <a:solidFill>
                  <a:srgbClr val="5B7782"/>
                </a:solidFill>
                <a:latin typeface="Calibri" pitchFamily="34" charset="0"/>
                <a:ea typeface="Calibri" pitchFamily="34" charset="-122"/>
                <a:cs typeface="Calibri"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6766560" cy="292608"/>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BEFORE &amp; AFTER</a:t>
            </a:r>
            <a:endParaRPr lang="en-US" sz="1200" dirty="0"/>
          </a:p>
        </p:txBody>
      </p:sp>
      <p:sp>
        <p:nvSpPr>
          <p:cNvPr id="3" name="Text 1"/>
          <p:cNvSpPr/>
          <p:nvPr/>
        </p:nvSpPr>
        <p:spPr>
          <a:xfrm>
            <a:off x="548640" y="713232"/>
            <a:ext cx="7040880" cy="566928"/>
          </a:xfrm>
          <a:prstGeom prst="rect">
            <a:avLst/>
          </a:prstGeom>
          <a:noFill/>
          <a:ln/>
        </p:spPr>
        <p:txBody>
          <a:bodyPr wrap="square" lIns="0" tIns="0" rIns="0" bIns="0" rtlCol="0" anchor="ctr"/>
          <a:lstStyle/>
          <a:p>
            <a:pPr marL="0" indent="0">
              <a:buNone/>
            </a:pPr>
            <a:r>
              <a:rPr lang="en-US" sz="2700" b="1" dirty="0">
                <a:solidFill>
                  <a:srgbClr val="14333F"/>
                </a:solidFill>
                <a:latin typeface="Bookman Old Style" pitchFamily="34" charset="0"/>
                <a:ea typeface="Bookman Old Style" pitchFamily="34" charset="-122"/>
                <a:cs typeface="Bookman Old Style" pitchFamily="34" charset="-120"/>
              </a:rPr>
              <a:t>members, before and after profiling</a:t>
            </a:r>
            <a:endParaRPr lang="en-US" sz="2700" dirty="0"/>
          </a:p>
        </p:txBody>
      </p:sp>
      <p:sp>
        <p:nvSpPr>
          <p:cNvPr id="4" name="Text 2"/>
          <p:cNvSpPr/>
          <p:nvPr/>
        </p:nvSpPr>
        <p:spPr>
          <a:xfrm>
            <a:off x="548640" y="1389888"/>
            <a:ext cx="8046720" cy="457200"/>
          </a:xfrm>
          <a:prstGeom prst="rect">
            <a:avLst/>
          </a:prstGeom>
          <a:noFill/>
          <a:ln/>
        </p:spPr>
        <p:txBody>
          <a:bodyPr wrap="square" lIns="0" tIns="0" rIns="0" bIns="0" rtlCol="0" anchor="ctr"/>
          <a:lstStyle/>
          <a:p>
            <a:pPr marL="0" indent="0">
              <a:lnSpc>
                <a:spcPct val="104000"/>
              </a:lnSpc>
              <a:buNone/>
            </a:pPr>
            <a:r>
              <a:rPr lang="en-US" sz="1250" dirty="0">
                <a:solidFill>
                  <a:srgbClr val="5B7782"/>
                </a:solidFill>
                <a:latin typeface="Calibri" pitchFamily="34" charset="0"/>
                <a:ea typeface="Calibri" pitchFamily="34" charset="-122"/>
                <a:cs typeface="Calibri" pitchFamily="34" charset="-120"/>
              </a:rPr>
              <a:t>The same table tells a very different story once it has been profiled — keys, counts, and a real score appear.</a:t>
            </a:r>
            <a:endParaRPr lang="en-US" sz="12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938528"/>
          <a:ext cx="8046720" cy="2523744"/>
        </p:xfrm>
        <a:graphic>
          <a:graphicData uri="http://schemas.openxmlformats.org/drawingml/2006/table">
            <a:tbl>
              <a:tblPr/>
              <a:tblGrid>
                <a:gridCol w="192024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tblGrid>
              <a:tr h="420624">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Metric</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0A3D52"/>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Before profiling</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0A3D52"/>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After profiling</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0A3D52"/>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Where to see it</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0A3D52"/>
                    </a:solidFill>
                  </a:tcPr>
                </a:tc>
                <a:extLst>
                  <a:ext uri="{0D108BD9-81ED-4DB2-BD59-A6C34878D82A}">
                    <a16:rowId xmlns:a16="http://schemas.microsoft.com/office/drawing/2014/main" val="10000"/>
                  </a:ext>
                </a:extLst>
              </a:tr>
              <a:tr h="420624">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Row count</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Populated</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Summary → Statistics</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PK / FK</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Blank</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customer_id (PK)</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Details tab</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624">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Last profiled</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Date stamped</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Summary tab</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Trust Score</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0 · Untrusted</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Rolls up evidence</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Key Metrics</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0624">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Data Quality</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Not Computed</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Scored (with add-on)</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4333F"/>
                          </a:solidFill>
                          <a:latin typeface="Calibri" pitchFamily="34" charset="0"/>
                          <a:ea typeface="Calibri" pitchFamily="34" charset="-122"/>
                          <a:cs typeface="Calibri" pitchFamily="34" charset="-120"/>
                        </a:rPr>
                        <a:t>Key Metrics</a:t>
                      </a:r>
                      <a:endParaRPr lang="en-US" sz="1200" dirty="0">
                        <a:latin typeface="Calibri" charset="0"/>
                        <a:ea typeface="Calibri" charset="0"/>
                        <a:cs typeface="Calibri" charset="0"/>
                      </a:endParaRPr>
                    </a:p>
                  </a:txBody>
                  <a:tcPr anchor="ctr">
                    <a:lnL w="6350" cap="flat" cmpd="sng" algn="ctr">
                      <a:solidFill>
                        <a:srgbClr val="C9DEE8"/>
                      </a:solidFill>
                      <a:prstDash val="solid"/>
                      <a:round/>
                      <a:headEnd type="none" w="med" len="med"/>
                      <a:tailEnd type="none" w="med" len="med"/>
                    </a:lnL>
                    <a:lnR w="6350" cap="flat" cmpd="sng" algn="ctr">
                      <a:solidFill>
                        <a:srgbClr val="C9DEE8"/>
                      </a:solidFill>
                      <a:prstDash val="solid"/>
                      <a:round/>
                      <a:headEnd type="none" w="med" len="med"/>
                      <a:tailEnd type="none" w="med" len="med"/>
                    </a:lnR>
                    <a:lnT w="6350" cap="flat" cmpd="sng" algn="ctr">
                      <a:solidFill>
                        <a:srgbClr val="C9DEE8"/>
                      </a:solidFill>
                      <a:prstDash val="solid"/>
                      <a:round/>
                      <a:headEnd type="none" w="med" len="med"/>
                      <a:tailEnd type="none" w="med" len="med"/>
                    </a:lnT>
                    <a:lnB w="6350" cap="flat" cmpd="sng" algn="ctr">
                      <a:solidFill>
                        <a:srgbClr val="C9DE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Text 3"/>
          <p:cNvSpPr/>
          <p:nvPr/>
        </p:nvSpPr>
        <p:spPr>
          <a:xfrm>
            <a:off x="548640" y="4572000"/>
            <a:ext cx="8046720" cy="274320"/>
          </a:xfrm>
          <a:prstGeom prst="rect">
            <a:avLst/>
          </a:prstGeom>
          <a:noFill/>
          <a:ln/>
        </p:spPr>
        <p:txBody>
          <a:bodyPr wrap="square" lIns="0" tIns="0" rIns="0" bIns="0" rtlCol="0" anchor="ctr"/>
          <a:lstStyle/>
          <a:p>
            <a:pPr marL="0" indent="0">
              <a:buNone/>
            </a:pPr>
            <a:r>
              <a:rPr lang="en-US" sz="1050" i="1" dirty="0">
                <a:solidFill>
                  <a:srgbClr val="5B7782"/>
                </a:solidFill>
                <a:latin typeface="Calibri" pitchFamily="34" charset="0"/>
                <a:ea typeface="Calibri" pitchFamily="34" charset="-122"/>
                <a:cs typeface="Calibri" pitchFamily="34" charset="-120"/>
              </a:rPr>
              <a:t>Same table, now with evidence behind every metric.</a:t>
            </a:r>
            <a:endParaRPr lang="en-US" sz="1050" dirty="0"/>
          </a:p>
        </p:txBody>
      </p:sp>
      <p:sp>
        <p:nvSpPr>
          <p:cNvPr id="7" name="Text 4"/>
          <p:cNvSpPr/>
          <p:nvPr/>
        </p:nvSpPr>
        <p:spPr>
          <a:xfrm>
            <a:off x="548640" y="4828032"/>
            <a:ext cx="7315200" cy="274320"/>
          </a:xfrm>
          <a:prstGeom prst="rect">
            <a:avLst/>
          </a:prstGeom>
          <a:noFill/>
          <a:ln/>
        </p:spPr>
        <p:txBody>
          <a:bodyPr wrap="square" lIns="0" tIns="0" rIns="0" bIns="0" rtlCol="0" anchor="ctr"/>
          <a:lstStyle/>
          <a:p>
            <a:pPr marL="0" indent="0">
              <a:buNone/>
            </a:pPr>
            <a:r>
              <a:rPr lang="en-US" sz="950" dirty="0">
                <a:solidFill>
                  <a:srgbClr val="5B7782"/>
                </a:solidFill>
                <a:latin typeface="Calibri" pitchFamily="34" charset="0"/>
                <a:ea typeface="Calibri" pitchFamily="34" charset="-122"/>
                <a:cs typeface="Calibri" pitchFamily="34" charset="-120"/>
              </a:rPr>
              <a:t>Workshop 4 · members table, cscu_core</a:t>
            </a:r>
            <a:endParaRPr lang="en-US" sz="950" dirty="0"/>
          </a:p>
        </p:txBody>
      </p:sp>
      <p:sp>
        <p:nvSpPr>
          <p:cNvPr id="8" name="Text 5"/>
          <p:cNvSpPr/>
          <p:nvPr/>
        </p:nvSpPr>
        <p:spPr>
          <a:xfrm>
            <a:off x="8366760" y="4828032"/>
            <a:ext cx="320040" cy="274320"/>
          </a:xfrm>
          <a:prstGeom prst="rect">
            <a:avLst/>
          </a:prstGeom>
          <a:noFill/>
          <a:ln/>
        </p:spPr>
        <p:txBody>
          <a:bodyPr wrap="square" lIns="0" tIns="0" rIns="0" bIns="0" rtlCol="0" anchor="ctr"/>
          <a:lstStyle/>
          <a:p>
            <a:pPr marL="0" indent="0" algn="r">
              <a:buNone/>
            </a:pPr>
            <a:r>
              <a:rPr lang="en-US" sz="950" dirty="0">
                <a:solidFill>
                  <a:srgbClr val="5B7782"/>
                </a:solidFill>
                <a:latin typeface="Calibri" pitchFamily="34" charset="0"/>
                <a:ea typeface="Calibri" pitchFamily="34" charset="-122"/>
                <a:cs typeface="Calibri"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6766560" cy="292608"/>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UNSTRUCTURED DATA</a:t>
            </a:r>
            <a:endParaRPr lang="en-US" sz="1200" dirty="0"/>
          </a:p>
        </p:txBody>
      </p:sp>
      <p:sp>
        <p:nvSpPr>
          <p:cNvPr id="3" name="Text 1"/>
          <p:cNvSpPr/>
          <p:nvPr/>
        </p:nvSpPr>
        <p:spPr>
          <a:xfrm>
            <a:off x="548640" y="713232"/>
            <a:ext cx="7040880" cy="566928"/>
          </a:xfrm>
          <a:prstGeom prst="rect">
            <a:avLst/>
          </a:prstGeom>
          <a:noFill/>
          <a:ln/>
        </p:spPr>
        <p:txBody>
          <a:bodyPr wrap="square" lIns="0" tIns="0" rIns="0" bIns="0" rtlCol="0" anchor="ctr"/>
          <a:lstStyle/>
          <a:p>
            <a:pPr marL="0" indent="0">
              <a:buNone/>
            </a:pPr>
            <a:r>
              <a:rPr lang="en-US" sz="2700" b="1" dirty="0">
                <a:solidFill>
                  <a:srgbClr val="14333F"/>
                </a:solidFill>
                <a:latin typeface="Bookman Old Style" pitchFamily="34" charset="0"/>
                <a:ea typeface="Bookman Old Style" pitchFamily="34" charset="-122"/>
                <a:cs typeface="Bookman Old Style" pitchFamily="34" charset="-120"/>
              </a:rPr>
              <a:t>Documents take Data Discovery path</a:t>
            </a:r>
            <a:endParaRPr lang="en-US" sz="2700" dirty="0"/>
          </a:p>
        </p:txBody>
      </p:sp>
      <p:sp>
        <p:nvSpPr>
          <p:cNvPr id="4" name="Shape 2"/>
          <p:cNvSpPr/>
          <p:nvPr/>
        </p:nvSpPr>
        <p:spPr>
          <a:xfrm>
            <a:off x="548640" y="1517904"/>
            <a:ext cx="2587752" cy="3017520"/>
          </a:xfrm>
          <a:prstGeom prst="roundRect">
            <a:avLst>
              <a:gd name="adj" fmla="val 3180"/>
            </a:avLst>
          </a:prstGeom>
          <a:solidFill>
            <a:srgbClr val="EEF6FA"/>
          </a:solidFill>
          <a:ln/>
          <a:effectLst>
            <a:outerShdw blurRad="101600" dist="25400" dir="5400000" algn="bl" rotWithShape="0">
              <a:srgbClr val="0A3D52">
                <a:alpha val="12000"/>
              </a:srgbClr>
            </a:outerShdw>
          </a:effectLst>
        </p:spPr>
      </p:sp>
      <p:sp>
        <p:nvSpPr>
          <p:cNvPr id="5" name="Shape 3"/>
          <p:cNvSpPr/>
          <p:nvPr/>
        </p:nvSpPr>
        <p:spPr>
          <a:xfrm>
            <a:off x="804672" y="1792224"/>
            <a:ext cx="713232" cy="713232"/>
          </a:xfrm>
          <a:prstGeom prst="ellipse">
            <a:avLst/>
          </a:prstGeom>
          <a:solidFill>
            <a:srgbClr val="065A82"/>
          </a:solidFill>
          <a:ln/>
        </p:spPr>
      </p:sp>
      <p:pic>
        <p:nvPicPr>
          <p:cNvPr id="6" name="Image 0" descr="preencoded.png"/>
          <p:cNvPicPr>
            <a:picLocks noChangeAspect="1"/>
          </p:cNvPicPr>
          <p:nvPr/>
        </p:nvPicPr>
        <p:blipFill>
          <a:blip r:embed="rId2"/>
          <a:stretch>
            <a:fillRect/>
          </a:stretch>
        </p:blipFill>
        <p:spPr>
          <a:xfrm>
            <a:off x="996696" y="1984248"/>
            <a:ext cx="329184" cy="329184"/>
          </a:xfrm>
          <a:prstGeom prst="rect">
            <a:avLst/>
          </a:prstGeom>
        </p:spPr>
      </p:pic>
      <p:sp>
        <p:nvSpPr>
          <p:cNvPr id="7" name="Text 4"/>
          <p:cNvSpPr/>
          <p:nvPr/>
        </p:nvSpPr>
        <p:spPr>
          <a:xfrm>
            <a:off x="804672" y="2651760"/>
            <a:ext cx="2130552" cy="384048"/>
          </a:xfrm>
          <a:prstGeom prst="rect">
            <a:avLst/>
          </a:prstGeom>
          <a:noFill/>
          <a:ln/>
        </p:spPr>
        <p:txBody>
          <a:bodyPr wrap="square" lIns="0" tIns="0" rIns="0" bIns="0" rtlCol="0" anchor="ctr"/>
          <a:lstStyle/>
          <a:p>
            <a:pPr marL="0" indent="0">
              <a:buNone/>
            </a:pPr>
            <a:r>
              <a:rPr lang="en-US" sz="2000" b="1" dirty="0">
                <a:solidFill>
                  <a:srgbClr val="14333F"/>
                </a:solidFill>
                <a:latin typeface="Bookman Old Style" pitchFamily="34" charset="0"/>
                <a:ea typeface="Bookman Old Style" pitchFamily="34" charset="-122"/>
                <a:cs typeface="Bookman Old Style" pitchFamily="34" charset="-120"/>
              </a:rPr>
              <a:t>Metadata Ingest</a:t>
            </a:r>
            <a:endParaRPr lang="en-US" sz="2000" dirty="0"/>
          </a:p>
        </p:txBody>
      </p:sp>
      <p:sp>
        <p:nvSpPr>
          <p:cNvPr id="8" name="Text 5"/>
          <p:cNvSpPr/>
          <p:nvPr/>
        </p:nvSpPr>
        <p:spPr>
          <a:xfrm>
            <a:off x="804672" y="3035808"/>
            <a:ext cx="2130552" cy="292608"/>
          </a:xfrm>
          <a:prstGeom prst="rect">
            <a:avLst/>
          </a:prstGeom>
          <a:noFill/>
          <a:ln/>
        </p:spPr>
        <p:txBody>
          <a:bodyPr wrap="square" lIns="0" tIns="0" rIns="0" bIns="0" rtlCol="0" anchor="ctr"/>
          <a:lstStyle/>
          <a:p>
            <a:pPr marL="0" indent="0">
              <a:buNone/>
            </a:pPr>
            <a:r>
              <a:rPr lang="en-US" sz="1100" b="1" i="1" dirty="0">
                <a:solidFill>
                  <a:srgbClr val="065A82"/>
                </a:solidFill>
                <a:latin typeface="Calibri" pitchFamily="34" charset="0"/>
                <a:ea typeface="Calibri" pitchFamily="34" charset="-122"/>
                <a:cs typeface="Calibri" pitchFamily="34" charset="-120"/>
              </a:rPr>
              <a:t>Catalog the files</a:t>
            </a:r>
            <a:endParaRPr lang="en-US" sz="1100" dirty="0"/>
          </a:p>
        </p:txBody>
      </p:sp>
      <p:sp>
        <p:nvSpPr>
          <p:cNvPr id="9" name="Text 6"/>
          <p:cNvSpPr/>
          <p:nvPr/>
        </p:nvSpPr>
        <p:spPr>
          <a:xfrm>
            <a:off x="804672" y="3383280"/>
            <a:ext cx="2112264" cy="1005840"/>
          </a:xfrm>
          <a:prstGeom prst="rect">
            <a:avLst/>
          </a:prstGeom>
          <a:noFill/>
          <a:ln/>
        </p:spPr>
        <p:txBody>
          <a:bodyPr wrap="square" lIns="0" tIns="0" rIns="0" bIns="0" rtlCol="0" anchor="ctr"/>
          <a:lstStyle/>
          <a:p>
            <a:pPr marL="0" indent="0">
              <a:lnSpc>
                <a:spcPct val="105000"/>
              </a:lnSpc>
              <a:buNone/>
            </a:pPr>
            <a:r>
              <a:rPr lang="en-US" sz="1100" dirty="0">
                <a:solidFill>
                  <a:srgbClr val="5B7782"/>
                </a:solidFill>
                <a:latin typeface="Calibri" pitchFamily="34" charset="0"/>
                <a:ea typeface="Calibri" pitchFamily="34" charset="-122"/>
                <a:cs typeface="Calibri" pitchFamily="34" charset="-120"/>
              </a:rPr>
              <a:t>Scan the cscu-documents store so the EPA compliance PDFs are catalogued before discovery runs.</a:t>
            </a:r>
            <a:endParaRPr lang="en-US" sz="1100" dirty="0"/>
          </a:p>
        </p:txBody>
      </p:sp>
      <p:sp>
        <p:nvSpPr>
          <p:cNvPr id="10" name="Shape 7"/>
          <p:cNvSpPr/>
          <p:nvPr/>
        </p:nvSpPr>
        <p:spPr>
          <a:xfrm>
            <a:off x="3273552" y="1517904"/>
            <a:ext cx="2587752" cy="3017520"/>
          </a:xfrm>
          <a:prstGeom prst="roundRect">
            <a:avLst>
              <a:gd name="adj" fmla="val 3180"/>
            </a:avLst>
          </a:prstGeom>
          <a:solidFill>
            <a:srgbClr val="EEF6FA"/>
          </a:solidFill>
          <a:ln/>
          <a:effectLst>
            <a:outerShdw blurRad="101600" dist="25400" dir="5400000" algn="bl" rotWithShape="0">
              <a:srgbClr val="0A3D52">
                <a:alpha val="12000"/>
              </a:srgbClr>
            </a:outerShdw>
          </a:effectLst>
        </p:spPr>
      </p:sp>
      <p:sp>
        <p:nvSpPr>
          <p:cNvPr id="11" name="Shape 8"/>
          <p:cNvSpPr/>
          <p:nvPr/>
        </p:nvSpPr>
        <p:spPr>
          <a:xfrm>
            <a:off x="3529584" y="1792224"/>
            <a:ext cx="713232" cy="713232"/>
          </a:xfrm>
          <a:prstGeom prst="ellipse">
            <a:avLst/>
          </a:prstGeom>
          <a:solidFill>
            <a:srgbClr val="1C7293"/>
          </a:solidFill>
          <a:ln/>
        </p:spPr>
      </p:sp>
      <p:pic>
        <p:nvPicPr>
          <p:cNvPr id="12" name="Image 1" descr="preencoded.png"/>
          <p:cNvPicPr>
            <a:picLocks noChangeAspect="1"/>
          </p:cNvPicPr>
          <p:nvPr/>
        </p:nvPicPr>
        <p:blipFill>
          <a:blip r:embed="rId3"/>
          <a:stretch>
            <a:fillRect/>
          </a:stretch>
        </p:blipFill>
        <p:spPr>
          <a:xfrm>
            <a:off x="3721608" y="1984248"/>
            <a:ext cx="329184" cy="329184"/>
          </a:xfrm>
          <a:prstGeom prst="rect">
            <a:avLst/>
          </a:prstGeom>
        </p:spPr>
      </p:pic>
      <p:sp>
        <p:nvSpPr>
          <p:cNvPr id="13" name="Text 9"/>
          <p:cNvSpPr/>
          <p:nvPr/>
        </p:nvSpPr>
        <p:spPr>
          <a:xfrm>
            <a:off x="3529584" y="2651760"/>
            <a:ext cx="2130552" cy="384048"/>
          </a:xfrm>
          <a:prstGeom prst="rect">
            <a:avLst/>
          </a:prstGeom>
          <a:noFill/>
          <a:ln/>
        </p:spPr>
        <p:txBody>
          <a:bodyPr wrap="square" lIns="0" tIns="0" rIns="0" bIns="0" rtlCol="0" anchor="ctr"/>
          <a:lstStyle/>
          <a:p>
            <a:pPr marL="0" indent="0">
              <a:buNone/>
            </a:pPr>
            <a:r>
              <a:rPr lang="en-US" sz="2000" b="1" dirty="0">
                <a:solidFill>
                  <a:srgbClr val="14333F"/>
                </a:solidFill>
                <a:latin typeface="Bookman Old Style" pitchFamily="34" charset="0"/>
                <a:ea typeface="Bookman Old Style" pitchFamily="34" charset="-122"/>
                <a:cs typeface="Bookman Old Style" pitchFamily="34" charset="-120"/>
              </a:rPr>
              <a:t>Data Discovery</a:t>
            </a:r>
            <a:endParaRPr lang="en-US" sz="2000" dirty="0"/>
          </a:p>
        </p:txBody>
      </p:sp>
      <p:sp>
        <p:nvSpPr>
          <p:cNvPr id="14" name="Text 10"/>
          <p:cNvSpPr/>
          <p:nvPr/>
        </p:nvSpPr>
        <p:spPr>
          <a:xfrm>
            <a:off x="3529584" y="3035808"/>
            <a:ext cx="2130552" cy="292608"/>
          </a:xfrm>
          <a:prstGeom prst="rect">
            <a:avLst/>
          </a:prstGeom>
          <a:noFill/>
          <a:ln/>
        </p:spPr>
        <p:txBody>
          <a:bodyPr wrap="square" lIns="0" tIns="0" rIns="0" bIns="0" rtlCol="0" anchor="ctr"/>
          <a:lstStyle/>
          <a:p>
            <a:pPr marL="0" indent="0">
              <a:buNone/>
            </a:pPr>
            <a:r>
              <a:rPr lang="en-US" sz="1100" b="1" i="1" dirty="0">
                <a:solidFill>
                  <a:srgbClr val="1C7293"/>
                </a:solidFill>
                <a:latin typeface="Calibri" pitchFamily="34" charset="0"/>
                <a:ea typeface="Calibri" pitchFamily="34" charset="-122"/>
                <a:cs typeface="Calibri" pitchFamily="34" charset="-120"/>
              </a:rPr>
              <a:t>Configure three tabs</a:t>
            </a:r>
            <a:endParaRPr lang="en-US" sz="1100" dirty="0"/>
          </a:p>
        </p:txBody>
      </p:sp>
      <p:sp>
        <p:nvSpPr>
          <p:cNvPr id="15" name="Text 11"/>
          <p:cNvSpPr/>
          <p:nvPr/>
        </p:nvSpPr>
        <p:spPr>
          <a:xfrm>
            <a:off x="3529584" y="3383280"/>
            <a:ext cx="2112264" cy="1005840"/>
          </a:xfrm>
          <a:prstGeom prst="rect">
            <a:avLst/>
          </a:prstGeom>
          <a:noFill/>
          <a:ln/>
        </p:spPr>
        <p:txBody>
          <a:bodyPr wrap="square" lIns="0" tIns="0" rIns="0" bIns="0" rtlCol="0" anchor="ctr"/>
          <a:lstStyle/>
          <a:p>
            <a:pPr marL="0" indent="0">
              <a:lnSpc>
                <a:spcPct val="105000"/>
              </a:lnSpc>
              <a:buNone/>
            </a:pPr>
            <a:r>
              <a:rPr lang="en-US" sz="1100" dirty="0">
                <a:solidFill>
                  <a:srgbClr val="5B7782"/>
                </a:solidFill>
                <a:latin typeface="Calibri" pitchFamily="34" charset="0"/>
                <a:ea typeface="Calibri" pitchFamily="34" charset="-122"/>
                <a:cs typeface="Calibri" pitchFamily="34" charset="-120"/>
              </a:rPr>
              <a:t>On the Choose Process page, click the Data Discovery card. Set the Data Discovery, Document Processing, and Data Profiling tabs.</a:t>
            </a:r>
            <a:endParaRPr lang="en-US" sz="1100" dirty="0"/>
          </a:p>
        </p:txBody>
      </p:sp>
      <p:sp>
        <p:nvSpPr>
          <p:cNvPr id="16" name="Shape 12"/>
          <p:cNvSpPr/>
          <p:nvPr/>
        </p:nvSpPr>
        <p:spPr>
          <a:xfrm>
            <a:off x="5998464" y="1517904"/>
            <a:ext cx="2587752" cy="3017520"/>
          </a:xfrm>
          <a:prstGeom prst="roundRect">
            <a:avLst>
              <a:gd name="adj" fmla="val 3180"/>
            </a:avLst>
          </a:prstGeom>
          <a:solidFill>
            <a:srgbClr val="EEF6FA"/>
          </a:solidFill>
          <a:ln/>
          <a:effectLst>
            <a:outerShdw blurRad="101600" dist="25400" dir="5400000" algn="bl" rotWithShape="0">
              <a:srgbClr val="0A3D52">
                <a:alpha val="12000"/>
              </a:srgbClr>
            </a:outerShdw>
          </a:effectLst>
        </p:spPr>
      </p:sp>
      <p:sp>
        <p:nvSpPr>
          <p:cNvPr id="17" name="Shape 13"/>
          <p:cNvSpPr/>
          <p:nvPr/>
        </p:nvSpPr>
        <p:spPr>
          <a:xfrm>
            <a:off x="6254496" y="1792224"/>
            <a:ext cx="713232" cy="713232"/>
          </a:xfrm>
          <a:prstGeom prst="ellipse">
            <a:avLst/>
          </a:prstGeom>
          <a:solidFill>
            <a:srgbClr val="2EC4B6"/>
          </a:solidFill>
          <a:ln/>
        </p:spPr>
      </p:sp>
      <p:pic>
        <p:nvPicPr>
          <p:cNvPr id="18" name="Image 2" descr="preencoded.png"/>
          <p:cNvPicPr>
            <a:picLocks noChangeAspect="1"/>
          </p:cNvPicPr>
          <p:nvPr/>
        </p:nvPicPr>
        <p:blipFill>
          <a:blip r:embed="rId4"/>
          <a:stretch>
            <a:fillRect/>
          </a:stretch>
        </p:blipFill>
        <p:spPr>
          <a:xfrm>
            <a:off x="6446520" y="1984248"/>
            <a:ext cx="329184" cy="329184"/>
          </a:xfrm>
          <a:prstGeom prst="rect">
            <a:avLst/>
          </a:prstGeom>
        </p:spPr>
      </p:pic>
      <p:sp>
        <p:nvSpPr>
          <p:cNvPr id="19" name="Text 14"/>
          <p:cNvSpPr/>
          <p:nvPr/>
        </p:nvSpPr>
        <p:spPr>
          <a:xfrm>
            <a:off x="6254496" y="2651760"/>
            <a:ext cx="2130552" cy="384048"/>
          </a:xfrm>
          <a:prstGeom prst="rect">
            <a:avLst/>
          </a:prstGeom>
          <a:noFill/>
          <a:ln/>
        </p:spPr>
        <p:txBody>
          <a:bodyPr wrap="square" lIns="0" tIns="0" rIns="0" bIns="0" rtlCol="0" anchor="ctr"/>
          <a:lstStyle/>
          <a:p>
            <a:pPr marL="0" indent="0">
              <a:buNone/>
            </a:pPr>
            <a:r>
              <a:rPr lang="en-US" sz="2000" b="1" dirty="0">
                <a:solidFill>
                  <a:srgbClr val="14333F"/>
                </a:solidFill>
                <a:latin typeface="Bookman Old Style" pitchFamily="34" charset="0"/>
                <a:ea typeface="Bookman Old Style" pitchFamily="34" charset="-122"/>
                <a:cs typeface="Bookman Old Style" pitchFamily="34" charset="-120"/>
              </a:rPr>
              <a:t>Start Discovering</a:t>
            </a:r>
            <a:endParaRPr lang="en-US" sz="2000" dirty="0"/>
          </a:p>
        </p:txBody>
      </p:sp>
      <p:sp>
        <p:nvSpPr>
          <p:cNvPr id="20" name="Text 15"/>
          <p:cNvSpPr/>
          <p:nvPr/>
        </p:nvSpPr>
        <p:spPr>
          <a:xfrm>
            <a:off x="6254496" y="3035808"/>
            <a:ext cx="2130552" cy="292608"/>
          </a:xfrm>
          <a:prstGeom prst="rect">
            <a:avLst/>
          </a:prstGeom>
          <a:noFill/>
          <a:ln/>
        </p:spPr>
        <p:txBody>
          <a:bodyPr wrap="square" lIns="0" tIns="0" rIns="0" bIns="0" rtlCol="0" anchor="ctr"/>
          <a:lstStyle/>
          <a:p>
            <a:pPr marL="0" indent="0">
              <a:buNone/>
            </a:pPr>
            <a:r>
              <a:rPr lang="en-US" sz="1100" b="1" i="1" dirty="0">
                <a:solidFill>
                  <a:srgbClr val="2EC4B6"/>
                </a:solidFill>
                <a:latin typeface="Calibri" pitchFamily="34" charset="0"/>
                <a:ea typeface="Calibri" pitchFamily="34" charset="-122"/>
                <a:cs typeface="Calibri" pitchFamily="34" charset="-120"/>
              </a:rPr>
              <a:t>Extract and enrich</a:t>
            </a:r>
            <a:endParaRPr lang="en-US" sz="1100" dirty="0"/>
          </a:p>
        </p:txBody>
      </p:sp>
      <p:sp>
        <p:nvSpPr>
          <p:cNvPr id="21" name="Text 16"/>
          <p:cNvSpPr/>
          <p:nvPr/>
        </p:nvSpPr>
        <p:spPr>
          <a:xfrm>
            <a:off x="6254496" y="3383280"/>
            <a:ext cx="2112264" cy="1005840"/>
          </a:xfrm>
          <a:prstGeom prst="rect">
            <a:avLst/>
          </a:prstGeom>
          <a:noFill/>
          <a:ln/>
        </p:spPr>
        <p:txBody>
          <a:bodyPr wrap="square" lIns="0" tIns="0" rIns="0" bIns="0" rtlCol="0" anchor="ctr"/>
          <a:lstStyle/>
          <a:p>
            <a:pPr marL="0" indent="0">
              <a:lnSpc>
                <a:spcPct val="105000"/>
              </a:lnSpc>
              <a:buNone/>
            </a:pPr>
            <a:r>
              <a:rPr lang="en-US" sz="1100" dirty="0">
                <a:solidFill>
                  <a:srgbClr val="5B7782"/>
                </a:solidFill>
                <a:latin typeface="Calibri" pitchFamily="34" charset="0"/>
                <a:ea typeface="Calibri" pitchFamily="34" charset="-122"/>
                <a:cs typeface="Calibri" pitchFamily="34" charset="-120"/>
              </a:rPr>
              <a:t>Text, metadata, and duplicates are captured and AI labels added — then Data Identification can run on the documents.</a:t>
            </a:r>
            <a:endParaRPr lang="en-US" sz="1100" dirty="0"/>
          </a:p>
        </p:txBody>
      </p:sp>
      <p:sp>
        <p:nvSpPr>
          <p:cNvPr id="22" name="Text 17"/>
          <p:cNvSpPr/>
          <p:nvPr/>
        </p:nvSpPr>
        <p:spPr>
          <a:xfrm>
            <a:off x="548640" y="4828032"/>
            <a:ext cx="7315200" cy="274320"/>
          </a:xfrm>
          <a:prstGeom prst="rect">
            <a:avLst/>
          </a:prstGeom>
          <a:noFill/>
          <a:ln/>
        </p:spPr>
        <p:txBody>
          <a:bodyPr wrap="square" lIns="0" tIns="0" rIns="0" bIns="0" rtlCol="0" anchor="ctr"/>
          <a:lstStyle/>
          <a:p>
            <a:pPr marL="0" indent="0">
              <a:buNone/>
            </a:pPr>
            <a:r>
              <a:rPr lang="en-US" sz="950" dirty="0">
                <a:solidFill>
                  <a:srgbClr val="5B7782"/>
                </a:solidFill>
                <a:latin typeface="Calibri" pitchFamily="34" charset="0"/>
                <a:ea typeface="Calibri" pitchFamily="34" charset="-122"/>
                <a:cs typeface="Calibri" pitchFamily="34" charset="-120"/>
              </a:rPr>
              <a:t>Workshop 4 · Tables use Data Profiling; documents use Data Discovery</a:t>
            </a:r>
            <a:endParaRPr lang="en-US" sz="950" dirty="0"/>
          </a:p>
        </p:txBody>
      </p:sp>
      <p:sp>
        <p:nvSpPr>
          <p:cNvPr id="23" name="Text 18"/>
          <p:cNvSpPr/>
          <p:nvPr/>
        </p:nvSpPr>
        <p:spPr>
          <a:xfrm>
            <a:off x="8366760" y="4828032"/>
            <a:ext cx="320040" cy="274320"/>
          </a:xfrm>
          <a:prstGeom prst="rect">
            <a:avLst/>
          </a:prstGeom>
          <a:noFill/>
          <a:ln/>
        </p:spPr>
        <p:txBody>
          <a:bodyPr wrap="square" lIns="0" tIns="0" rIns="0" bIns="0" rtlCol="0" anchor="ctr"/>
          <a:lstStyle/>
          <a:p>
            <a:pPr marL="0" indent="0" algn="r">
              <a:buNone/>
            </a:pPr>
            <a:r>
              <a:rPr lang="en-US" sz="950" dirty="0">
                <a:solidFill>
                  <a:srgbClr val="5B7782"/>
                </a:solidFill>
                <a:latin typeface="Calibri" pitchFamily="34" charset="0"/>
                <a:ea typeface="Calibri" pitchFamily="34" charset="-122"/>
                <a:cs typeface="Calibri" pitchFamily="34" charset="-120"/>
              </a:rPr>
              <a:t>6</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6766560" cy="292608"/>
          </a:xfrm>
          <a:prstGeom prst="rect">
            <a:avLst/>
          </a:prstGeom>
          <a:noFill/>
          <a:ln/>
        </p:spPr>
        <p:txBody>
          <a:bodyPr wrap="square" lIns="0" tIns="0" rIns="0" bIns="0" rtlCol="0" anchor="ctr"/>
          <a:lstStyle/>
          <a:p>
            <a:pPr marL="0" indent="0">
              <a:buNone/>
            </a:pPr>
            <a:r>
              <a:rPr lang="en-US" sz="1200" b="1" kern="0" spc="200" dirty="0">
                <a:solidFill>
                  <a:srgbClr val="1C7293"/>
                </a:solidFill>
                <a:latin typeface="Calibri" pitchFamily="34" charset="0"/>
                <a:ea typeface="Calibri" pitchFamily="34" charset="-122"/>
                <a:cs typeface="Calibri" pitchFamily="34" charset="-120"/>
              </a:rPr>
              <a:t>DOCUMENT PROCESSING</a:t>
            </a:r>
            <a:endParaRPr lang="en-US" sz="1200" dirty="0"/>
          </a:p>
        </p:txBody>
      </p:sp>
      <p:sp>
        <p:nvSpPr>
          <p:cNvPr id="3" name="Text 1"/>
          <p:cNvSpPr/>
          <p:nvPr/>
        </p:nvSpPr>
        <p:spPr>
          <a:xfrm>
            <a:off x="548640" y="713232"/>
            <a:ext cx="7040880" cy="566928"/>
          </a:xfrm>
          <a:prstGeom prst="rect">
            <a:avLst/>
          </a:prstGeom>
          <a:noFill/>
          <a:ln/>
        </p:spPr>
        <p:txBody>
          <a:bodyPr wrap="square" lIns="0" tIns="0" rIns="0" bIns="0" rtlCol="0" anchor="ctr"/>
          <a:lstStyle/>
          <a:p>
            <a:pPr marL="0" indent="0">
              <a:buNone/>
            </a:pPr>
            <a:r>
              <a:rPr lang="en-US" sz="2700" b="1">
                <a:solidFill>
                  <a:srgbClr val="14333F"/>
                </a:solidFill>
                <a:latin typeface="Bookman Old Style" pitchFamily="34" charset="0"/>
                <a:ea typeface="Bookman Old Style" pitchFamily="34" charset="-122"/>
                <a:cs typeface="Bookman Old Style" pitchFamily="34" charset="-120"/>
              </a:rPr>
              <a:t xml:space="preserve">Document </a:t>
            </a:r>
            <a:r>
              <a:rPr lang="en-US" sz="2700" b="1" dirty="0">
                <a:solidFill>
                  <a:srgbClr val="14333F"/>
                </a:solidFill>
                <a:latin typeface="Bookman Old Style" pitchFamily="34" charset="0"/>
                <a:ea typeface="Bookman Old Style" pitchFamily="34" charset="-122"/>
                <a:cs typeface="Bookman Old Style" pitchFamily="34" charset="-120"/>
              </a:rPr>
              <a:t>Processing tab sets</a:t>
            </a:r>
            <a:endParaRPr lang="en-US" sz="2700" dirty="0"/>
          </a:p>
        </p:txBody>
      </p:sp>
      <p:sp>
        <p:nvSpPr>
          <p:cNvPr id="4" name="Shape 2"/>
          <p:cNvSpPr/>
          <p:nvPr/>
        </p:nvSpPr>
        <p:spPr>
          <a:xfrm>
            <a:off x="548640" y="1499616"/>
            <a:ext cx="8046720" cy="585216"/>
          </a:xfrm>
          <a:prstGeom prst="roundRect">
            <a:avLst>
              <a:gd name="adj" fmla="val 10938"/>
            </a:avLst>
          </a:prstGeom>
          <a:solidFill>
            <a:srgbClr val="EEF6FA"/>
          </a:solidFill>
          <a:ln/>
          <a:effectLst>
            <a:outerShdw blurRad="50800" dist="12700" dir="5400000" algn="bl" rotWithShape="0">
              <a:srgbClr val="0A3D52">
                <a:alpha val="7000"/>
              </a:srgbClr>
            </a:outerShdw>
          </a:effectLst>
        </p:spPr>
      </p:sp>
      <p:sp>
        <p:nvSpPr>
          <p:cNvPr id="5" name="Shape 3"/>
          <p:cNvSpPr/>
          <p:nvPr/>
        </p:nvSpPr>
        <p:spPr>
          <a:xfrm>
            <a:off x="713232" y="1609344"/>
            <a:ext cx="384048" cy="384048"/>
          </a:xfrm>
          <a:prstGeom prst="ellipse">
            <a:avLst/>
          </a:prstGeom>
          <a:solidFill>
            <a:srgbClr val="1C7293"/>
          </a:solidFill>
          <a:ln/>
        </p:spPr>
      </p:sp>
      <p:pic>
        <p:nvPicPr>
          <p:cNvPr id="6" name="Image 0" descr="preencoded.png"/>
          <p:cNvPicPr>
            <a:picLocks noChangeAspect="1"/>
          </p:cNvPicPr>
          <p:nvPr/>
        </p:nvPicPr>
        <p:blipFill>
          <a:blip r:embed="rId2"/>
          <a:stretch>
            <a:fillRect/>
          </a:stretch>
        </p:blipFill>
        <p:spPr>
          <a:xfrm>
            <a:off x="800100" y="1696212"/>
            <a:ext cx="210312" cy="210312"/>
          </a:xfrm>
          <a:prstGeom prst="rect">
            <a:avLst/>
          </a:prstGeom>
        </p:spPr>
      </p:pic>
      <p:sp>
        <p:nvSpPr>
          <p:cNvPr id="7" name="Text 4"/>
          <p:cNvSpPr/>
          <p:nvPr/>
        </p:nvSpPr>
        <p:spPr>
          <a:xfrm>
            <a:off x="1280160" y="1499616"/>
            <a:ext cx="2103120" cy="585216"/>
          </a:xfrm>
          <a:prstGeom prst="rect">
            <a:avLst/>
          </a:prstGeom>
          <a:noFill/>
          <a:ln/>
        </p:spPr>
        <p:txBody>
          <a:bodyPr wrap="square" lIns="0" tIns="0" rIns="0" bIns="0" rtlCol="0" anchor="ctr"/>
          <a:lstStyle/>
          <a:p>
            <a:pPr marL="0" indent="0">
              <a:buNone/>
            </a:pPr>
            <a:r>
              <a:rPr lang="en-US" sz="1400" b="1" dirty="0">
                <a:solidFill>
                  <a:srgbClr val="14333F"/>
                </a:solidFill>
                <a:latin typeface="Calibri" pitchFamily="34" charset="0"/>
                <a:ea typeface="Calibri" pitchFamily="34" charset="-122"/>
                <a:cs typeface="Calibri" pitchFamily="34" charset="-120"/>
              </a:rPr>
              <a:t>Machine Learning Options</a:t>
            </a:r>
            <a:endParaRPr lang="en-US" sz="1400" dirty="0"/>
          </a:p>
        </p:txBody>
      </p:sp>
      <p:sp>
        <p:nvSpPr>
          <p:cNvPr id="8" name="Text 5"/>
          <p:cNvSpPr/>
          <p:nvPr/>
        </p:nvSpPr>
        <p:spPr>
          <a:xfrm>
            <a:off x="3383280" y="1499616"/>
            <a:ext cx="5029200" cy="585216"/>
          </a:xfrm>
          <a:prstGeom prst="rect">
            <a:avLst/>
          </a:prstGeom>
          <a:noFill/>
          <a:ln/>
        </p:spPr>
        <p:txBody>
          <a:bodyPr wrap="square" lIns="0" tIns="0" rIns="0" bIns="0" rtlCol="0" anchor="ctr"/>
          <a:lstStyle/>
          <a:p>
            <a:pPr marL="0" indent="0">
              <a:buNone/>
            </a:pPr>
            <a:r>
              <a:rPr lang="en-US" sz="1150" dirty="0">
                <a:solidFill>
                  <a:srgbClr val="5B7782"/>
                </a:solidFill>
                <a:latin typeface="Calibri" pitchFamily="34" charset="0"/>
                <a:ea typeface="Calibri" pitchFamily="34" charset="-122"/>
                <a:cs typeface="Calibri" pitchFamily="34" charset="-120"/>
              </a:rPr>
              <a:t>Summarize Documents, Address Detection, and Data Classification — LLM features that add summaries and business terms.</a:t>
            </a:r>
            <a:endParaRPr lang="en-US" sz="1150" dirty="0"/>
          </a:p>
        </p:txBody>
      </p:sp>
      <p:sp>
        <p:nvSpPr>
          <p:cNvPr id="9" name="Shape 6"/>
          <p:cNvSpPr/>
          <p:nvPr/>
        </p:nvSpPr>
        <p:spPr>
          <a:xfrm>
            <a:off x="548640" y="2176272"/>
            <a:ext cx="8046720" cy="585216"/>
          </a:xfrm>
          <a:prstGeom prst="roundRect">
            <a:avLst>
              <a:gd name="adj" fmla="val 10938"/>
            </a:avLst>
          </a:prstGeom>
          <a:solidFill>
            <a:srgbClr val="EEF6FA"/>
          </a:solidFill>
          <a:ln/>
          <a:effectLst>
            <a:outerShdw blurRad="50800" dist="12700" dir="5400000" algn="bl" rotWithShape="0">
              <a:srgbClr val="0A3D52">
                <a:alpha val="7000"/>
              </a:srgbClr>
            </a:outerShdw>
          </a:effectLst>
        </p:spPr>
      </p:sp>
      <p:sp>
        <p:nvSpPr>
          <p:cNvPr id="10" name="Shape 7"/>
          <p:cNvSpPr/>
          <p:nvPr/>
        </p:nvSpPr>
        <p:spPr>
          <a:xfrm>
            <a:off x="713232" y="2286000"/>
            <a:ext cx="384048" cy="384048"/>
          </a:xfrm>
          <a:prstGeom prst="ellipse">
            <a:avLst/>
          </a:prstGeom>
          <a:solidFill>
            <a:srgbClr val="1C7293"/>
          </a:solidFill>
          <a:ln/>
        </p:spPr>
      </p:sp>
      <p:pic>
        <p:nvPicPr>
          <p:cNvPr id="11" name="Image 1" descr="preencoded.png"/>
          <p:cNvPicPr>
            <a:picLocks noChangeAspect="1"/>
          </p:cNvPicPr>
          <p:nvPr/>
        </p:nvPicPr>
        <p:blipFill>
          <a:blip r:embed="rId3"/>
          <a:stretch>
            <a:fillRect/>
          </a:stretch>
        </p:blipFill>
        <p:spPr>
          <a:xfrm>
            <a:off x="800100" y="2372868"/>
            <a:ext cx="210312" cy="210312"/>
          </a:xfrm>
          <a:prstGeom prst="rect">
            <a:avLst/>
          </a:prstGeom>
        </p:spPr>
      </p:pic>
      <p:sp>
        <p:nvSpPr>
          <p:cNvPr id="12" name="Text 8"/>
          <p:cNvSpPr/>
          <p:nvPr/>
        </p:nvSpPr>
        <p:spPr>
          <a:xfrm>
            <a:off x="1280160" y="2176272"/>
            <a:ext cx="2103120" cy="585216"/>
          </a:xfrm>
          <a:prstGeom prst="rect">
            <a:avLst/>
          </a:prstGeom>
          <a:noFill/>
          <a:ln/>
        </p:spPr>
        <p:txBody>
          <a:bodyPr wrap="square" lIns="0" tIns="0" rIns="0" bIns="0" rtlCol="0" anchor="ctr"/>
          <a:lstStyle/>
          <a:p>
            <a:pPr marL="0" indent="0">
              <a:buNone/>
            </a:pPr>
            <a:r>
              <a:rPr lang="en-US" sz="1400" b="1" dirty="0">
                <a:solidFill>
                  <a:srgbClr val="14333F"/>
                </a:solidFill>
                <a:latin typeface="Calibri" pitchFamily="34" charset="0"/>
                <a:ea typeface="Calibri" pitchFamily="34" charset="-122"/>
                <a:cs typeface="Calibri" pitchFamily="34" charset="-120"/>
              </a:rPr>
              <a:t>Document Metadata</a:t>
            </a:r>
            <a:endParaRPr lang="en-US" sz="1400" dirty="0"/>
          </a:p>
        </p:txBody>
      </p:sp>
      <p:sp>
        <p:nvSpPr>
          <p:cNvPr id="13" name="Text 9"/>
          <p:cNvSpPr/>
          <p:nvPr/>
        </p:nvSpPr>
        <p:spPr>
          <a:xfrm>
            <a:off x="3383280" y="2176272"/>
            <a:ext cx="5029200" cy="585216"/>
          </a:xfrm>
          <a:prstGeom prst="rect">
            <a:avLst/>
          </a:prstGeom>
          <a:noFill/>
          <a:ln/>
        </p:spPr>
        <p:txBody>
          <a:bodyPr wrap="square" lIns="0" tIns="0" rIns="0" bIns="0" rtlCol="0" anchor="ctr"/>
          <a:lstStyle/>
          <a:p>
            <a:pPr marL="0" indent="0">
              <a:buNone/>
            </a:pPr>
            <a:r>
              <a:rPr lang="en-US" sz="1150" dirty="0">
                <a:solidFill>
                  <a:srgbClr val="5B7782"/>
                </a:solidFill>
                <a:latin typeface="Calibri" pitchFamily="34" charset="0"/>
                <a:ea typeface="Calibri" pitchFamily="34" charset="-122"/>
                <a:cs typeface="Calibri" pitchFamily="34" charset="-120"/>
              </a:rPr>
              <a:t>Extract Document Properties pulls owner, page count, and paragraphs from PDF and Office files.</a:t>
            </a:r>
            <a:endParaRPr lang="en-US" sz="1150" dirty="0"/>
          </a:p>
        </p:txBody>
      </p:sp>
      <p:sp>
        <p:nvSpPr>
          <p:cNvPr id="14" name="Shape 10"/>
          <p:cNvSpPr/>
          <p:nvPr/>
        </p:nvSpPr>
        <p:spPr>
          <a:xfrm>
            <a:off x="548640" y="2852928"/>
            <a:ext cx="8046720" cy="585216"/>
          </a:xfrm>
          <a:prstGeom prst="roundRect">
            <a:avLst>
              <a:gd name="adj" fmla="val 10938"/>
            </a:avLst>
          </a:prstGeom>
          <a:solidFill>
            <a:srgbClr val="EEF6FA"/>
          </a:solidFill>
          <a:ln/>
          <a:effectLst>
            <a:outerShdw blurRad="50800" dist="12700" dir="5400000" algn="bl" rotWithShape="0">
              <a:srgbClr val="0A3D52">
                <a:alpha val="7000"/>
              </a:srgbClr>
            </a:outerShdw>
          </a:effectLst>
        </p:spPr>
      </p:sp>
      <p:sp>
        <p:nvSpPr>
          <p:cNvPr id="15" name="Shape 11"/>
          <p:cNvSpPr/>
          <p:nvPr/>
        </p:nvSpPr>
        <p:spPr>
          <a:xfrm>
            <a:off x="713232" y="2962656"/>
            <a:ext cx="384048" cy="384048"/>
          </a:xfrm>
          <a:prstGeom prst="ellipse">
            <a:avLst/>
          </a:prstGeom>
          <a:solidFill>
            <a:srgbClr val="1C7293"/>
          </a:solidFill>
          <a:ln/>
        </p:spPr>
      </p:sp>
      <p:pic>
        <p:nvPicPr>
          <p:cNvPr id="16" name="Image 2" descr="preencoded.png"/>
          <p:cNvPicPr>
            <a:picLocks noChangeAspect="1"/>
          </p:cNvPicPr>
          <p:nvPr/>
        </p:nvPicPr>
        <p:blipFill>
          <a:blip r:embed="rId4"/>
          <a:stretch>
            <a:fillRect/>
          </a:stretch>
        </p:blipFill>
        <p:spPr>
          <a:xfrm>
            <a:off x="800100" y="3049524"/>
            <a:ext cx="210312" cy="210312"/>
          </a:xfrm>
          <a:prstGeom prst="rect">
            <a:avLst/>
          </a:prstGeom>
        </p:spPr>
      </p:pic>
      <p:sp>
        <p:nvSpPr>
          <p:cNvPr id="17" name="Text 12"/>
          <p:cNvSpPr/>
          <p:nvPr/>
        </p:nvSpPr>
        <p:spPr>
          <a:xfrm>
            <a:off x="1280160" y="2852928"/>
            <a:ext cx="2103120" cy="585216"/>
          </a:xfrm>
          <a:prstGeom prst="rect">
            <a:avLst/>
          </a:prstGeom>
          <a:noFill/>
          <a:ln/>
        </p:spPr>
        <p:txBody>
          <a:bodyPr wrap="square" lIns="0" tIns="0" rIns="0" bIns="0" rtlCol="0" anchor="ctr"/>
          <a:lstStyle/>
          <a:p>
            <a:pPr marL="0" indent="0">
              <a:buNone/>
            </a:pPr>
            <a:r>
              <a:rPr lang="en-US" sz="1400" b="1" dirty="0">
                <a:solidFill>
                  <a:srgbClr val="14333F"/>
                </a:solidFill>
                <a:latin typeface="Calibri" pitchFamily="34" charset="0"/>
                <a:ea typeface="Calibri" pitchFamily="34" charset="-122"/>
                <a:cs typeface="Calibri" pitchFamily="34" charset="-120"/>
              </a:rPr>
              <a:t>Content Scan for String Detection</a:t>
            </a:r>
            <a:endParaRPr lang="en-US" sz="1400" dirty="0"/>
          </a:p>
        </p:txBody>
      </p:sp>
      <p:sp>
        <p:nvSpPr>
          <p:cNvPr id="18" name="Text 13"/>
          <p:cNvSpPr/>
          <p:nvPr/>
        </p:nvSpPr>
        <p:spPr>
          <a:xfrm>
            <a:off x="3383280" y="2852928"/>
            <a:ext cx="5029200" cy="585216"/>
          </a:xfrm>
          <a:prstGeom prst="rect">
            <a:avLst/>
          </a:prstGeom>
          <a:noFill/>
          <a:ln/>
        </p:spPr>
        <p:txBody>
          <a:bodyPr wrap="square" lIns="0" tIns="0" rIns="0" bIns="0" rtlCol="0" anchor="ctr"/>
          <a:lstStyle/>
          <a:p>
            <a:pPr marL="0" indent="0">
              <a:buNone/>
            </a:pPr>
            <a:r>
              <a:rPr lang="en-US" sz="1150" dirty="0">
                <a:solidFill>
                  <a:srgbClr val="5B7782"/>
                </a:solidFill>
                <a:latin typeface="Calibri" pitchFamily="34" charset="0"/>
                <a:ea typeface="Calibri" pitchFamily="34" charset="-122"/>
                <a:cs typeface="Calibri" pitchFamily="34" charset="-120"/>
              </a:rPr>
              <a:t>Detect that strings are present, or also count occurrences. Runs only when a dictionary or pattern is added.</a:t>
            </a:r>
            <a:endParaRPr lang="en-US" sz="1150" dirty="0"/>
          </a:p>
        </p:txBody>
      </p:sp>
      <p:sp>
        <p:nvSpPr>
          <p:cNvPr id="19" name="Shape 14"/>
          <p:cNvSpPr/>
          <p:nvPr/>
        </p:nvSpPr>
        <p:spPr>
          <a:xfrm>
            <a:off x="548640" y="3529584"/>
            <a:ext cx="8046720" cy="585216"/>
          </a:xfrm>
          <a:prstGeom prst="roundRect">
            <a:avLst>
              <a:gd name="adj" fmla="val 10938"/>
            </a:avLst>
          </a:prstGeom>
          <a:solidFill>
            <a:srgbClr val="EEF6FA"/>
          </a:solidFill>
          <a:ln/>
          <a:effectLst>
            <a:outerShdw blurRad="50800" dist="12700" dir="5400000" algn="bl" rotWithShape="0">
              <a:srgbClr val="0A3D52">
                <a:alpha val="7000"/>
              </a:srgbClr>
            </a:outerShdw>
          </a:effectLst>
        </p:spPr>
      </p:sp>
      <p:sp>
        <p:nvSpPr>
          <p:cNvPr id="20" name="Shape 15"/>
          <p:cNvSpPr/>
          <p:nvPr/>
        </p:nvSpPr>
        <p:spPr>
          <a:xfrm>
            <a:off x="713232" y="3639312"/>
            <a:ext cx="384048" cy="384048"/>
          </a:xfrm>
          <a:prstGeom prst="ellipse">
            <a:avLst/>
          </a:prstGeom>
          <a:solidFill>
            <a:srgbClr val="1C7293"/>
          </a:solidFill>
          <a:ln/>
        </p:spPr>
      </p:sp>
      <p:pic>
        <p:nvPicPr>
          <p:cNvPr id="21" name="Image 3" descr="preencoded.png"/>
          <p:cNvPicPr>
            <a:picLocks noChangeAspect="1"/>
          </p:cNvPicPr>
          <p:nvPr/>
        </p:nvPicPr>
        <p:blipFill>
          <a:blip r:embed="rId5"/>
          <a:stretch>
            <a:fillRect/>
          </a:stretch>
        </p:blipFill>
        <p:spPr>
          <a:xfrm>
            <a:off x="800100" y="3726180"/>
            <a:ext cx="210312" cy="210312"/>
          </a:xfrm>
          <a:prstGeom prst="rect">
            <a:avLst/>
          </a:prstGeom>
        </p:spPr>
      </p:pic>
      <p:sp>
        <p:nvSpPr>
          <p:cNvPr id="22" name="Text 16"/>
          <p:cNvSpPr/>
          <p:nvPr/>
        </p:nvSpPr>
        <p:spPr>
          <a:xfrm>
            <a:off x="1280160" y="3529584"/>
            <a:ext cx="2103120" cy="585216"/>
          </a:xfrm>
          <a:prstGeom prst="rect">
            <a:avLst/>
          </a:prstGeom>
          <a:noFill/>
          <a:ln/>
        </p:spPr>
        <p:txBody>
          <a:bodyPr wrap="square" lIns="0" tIns="0" rIns="0" bIns="0" rtlCol="0" anchor="ctr"/>
          <a:lstStyle/>
          <a:p>
            <a:pPr marL="0" indent="0">
              <a:buNone/>
            </a:pPr>
            <a:r>
              <a:rPr lang="en-US" sz="1400" b="1" dirty="0">
                <a:solidFill>
                  <a:srgbClr val="14333F"/>
                </a:solidFill>
                <a:latin typeface="Calibri" pitchFamily="34" charset="0"/>
                <a:ea typeface="Calibri" pitchFamily="34" charset="-122"/>
                <a:cs typeface="Calibri" pitchFamily="34" charset="-120"/>
              </a:rPr>
              <a:t>String Detection</a:t>
            </a:r>
            <a:endParaRPr lang="en-US" sz="1400" dirty="0"/>
          </a:p>
        </p:txBody>
      </p:sp>
      <p:sp>
        <p:nvSpPr>
          <p:cNvPr id="23" name="Text 17"/>
          <p:cNvSpPr/>
          <p:nvPr/>
        </p:nvSpPr>
        <p:spPr>
          <a:xfrm>
            <a:off x="3383280" y="3529584"/>
            <a:ext cx="5029200" cy="585216"/>
          </a:xfrm>
          <a:prstGeom prst="rect">
            <a:avLst/>
          </a:prstGeom>
          <a:noFill/>
          <a:ln/>
        </p:spPr>
        <p:txBody>
          <a:bodyPr wrap="square" lIns="0" tIns="0" rIns="0" bIns="0" rtlCol="0" anchor="ctr"/>
          <a:lstStyle/>
          <a:p>
            <a:pPr marL="0" indent="0">
              <a:buNone/>
            </a:pPr>
            <a:r>
              <a:rPr lang="en-US" sz="1150" dirty="0">
                <a:solidFill>
                  <a:srgbClr val="5B7782"/>
                </a:solidFill>
                <a:latin typeface="Calibri" pitchFamily="34" charset="0"/>
                <a:ea typeface="Calibri" pitchFamily="34" charset="-122"/>
                <a:cs typeface="Calibri" pitchFamily="34" charset="-120"/>
              </a:rPr>
              <a:t>Add Dictionaries and Patterns to scan the text for keywords and trigger their actions.</a:t>
            </a:r>
            <a:endParaRPr lang="en-US" sz="1150" dirty="0"/>
          </a:p>
        </p:txBody>
      </p:sp>
      <p:sp>
        <p:nvSpPr>
          <p:cNvPr id="24" name="Shape 18"/>
          <p:cNvSpPr/>
          <p:nvPr/>
        </p:nvSpPr>
        <p:spPr>
          <a:xfrm>
            <a:off x="548640" y="4206240"/>
            <a:ext cx="8046720" cy="585216"/>
          </a:xfrm>
          <a:prstGeom prst="roundRect">
            <a:avLst>
              <a:gd name="adj" fmla="val 10938"/>
            </a:avLst>
          </a:prstGeom>
          <a:solidFill>
            <a:srgbClr val="EEF6FA"/>
          </a:solidFill>
          <a:ln/>
          <a:effectLst>
            <a:outerShdw blurRad="50800" dist="12700" dir="5400000" algn="bl" rotWithShape="0">
              <a:srgbClr val="0A3D52">
                <a:alpha val="7000"/>
              </a:srgbClr>
            </a:outerShdw>
          </a:effectLst>
        </p:spPr>
      </p:sp>
      <p:sp>
        <p:nvSpPr>
          <p:cNvPr id="25" name="Shape 19"/>
          <p:cNvSpPr/>
          <p:nvPr/>
        </p:nvSpPr>
        <p:spPr>
          <a:xfrm>
            <a:off x="713232" y="4315968"/>
            <a:ext cx="384048" cy="384048"/>
          </a:xfrm>
          <a:prstGeom prst="ellipse">
            <a:avLst/>
          </a:prstGeom>
          <a:solidFill>
            <a:srgbClr val="1C7293"/>
          </a:solidFill>
          <a:ln/>
        </p:spPr>
      </p:sp>
      <p:pic>
        <p:nvPicPr>
          <p:cNvPr id="26" name="Image 4" descr="preencoded.png"/>
          <p:cNvPicPr>
            <a:picLocks noChangeAspect="1"/>
          </p:cNvPicPr>
          <p:nvPr/>
        </p:nvPicPr>
        <p:blipFill>
          <a:blip r:embed="rId6"/>
          <a:stretch>
            <a:fillRect/>
          </a:stretch>
        </p:blipFill>
        <p:spPr>
          <a:xfrm>
            <a:off x="800100" y="4402836"/>
            <a:ext cx="210312" cy="210312"/>
          </a:xfrm>
          <a:prstGeom prst="rect">
            <a:avLst/>
          </a:prstGeom>
        </p:spPr>
      </p:pic>
      <p:sp>
        <p:nvSpPr>
          <p:cNvPr id="27" name="Text 20"/>
          <p:cNvSpPr/>
          <p:nvPr/>
        </p:nvSpPr>
        <p:spPr>
          <a:xfrm>
            <a:off x="1280160" y="4206240"/>
            <a:ext cx="2103120" cy="585216"/>
          </a:xfrm>
          <a:prstGeom prst="rect">
            <a:avLst/>
          </a:prstGeom>
          <a:noFill/>
          <a:ln/>
        </p:spPr>
        <p:txBody>
          <a:bodyPr wrap="square" lIns="0" tIns="0" rIns="0" bIns="0" rtlCol="0" anchor="ctr"/>
          <a:lstStyle/>
          <a:p>
            <a:pPr marL="0" indent="0">
              <a:buNone/>
            </a:pPr>
            <a:r>
              <a:rPr lang="en-US" sz="1400" b="1" dirty="0">
                <a:solidFill>
                  <a:srgbClr val="14333F"/>
                </a:solidFill>
                <a:latin typeface="Calibri" pitchFamily="34" charset="0"/>
                <a:ea typeface="Calibri" pitchFamily="34" charset="-122"/>
                <a:cs typeface="Calibri" pitchFamily="34" charset="-120"/>
              </a:rPr>
              <a:t>Advanced Options</a:t>
            </a:r>
            <a:endParaRPr lang="en-US" sz="1400" dirty="0"/>
          </a:p>
        </p:txBody>
      </p:sp>
      <p:sp>
        <p:nvSpPr>
          <p:cNvPr id="28" name="Text 21"/>
          <p:cNvSpPr/>
          <p:nvPr/>
        </p:nvSpPr>
        <p:spPr>
          <a:xfrm>
            <a:off x="3383280" y="4206240"/>
            <a:ext cx="5029200" cy="585216"/>
          </a:xfrm>
          <a:prstGeom prst="rect">
            <a:avLst/>
          </a:prstGeom>
          <a:noFill/>
          <a:ln/>
        </p:spPr>
        <p:txBody>
          <a:bodyPr wrap="square" lIns="0" tIns="0" rIns="0" bIns="0" rtlCol="0" anchor="ctr"/>
          <a:lstStyle/>
          <a:p>
            <a:pPr marL="0" indent="0">
              <a:buNone/>
            </a:pPr>
            <a:r>
              <a:rPr lang="en-US" sz="1150" dirty="0">
                <a:solidFill>
                  <a:srgbClr val="5B7782"/>
                </a:solidFill>
                <a:latin typeface="Calibri" pitchFamily="34" charset="0"/>
                <a:ea typeface="Calibri" pitchFamily="34" charset="-122"/>
                <a:cs typeface="Calibri" pitchFamily="34" charset="-120"/>
              </a:rPr>
              <a:t>Include File Extensions, a max file size (e.g. 100 MB), and the File Processing and Persistence thread counts.</a:t>
            </a:r>
            <a:endParaRPr lang="en-US" sz="1150" dirty="0"/>
          </a:p>
        </p:txBody>
      </p:sp>
      <p:sp>
        <p:nvSpPr>
          <p:cNvPr id="29" name="Text 22"/>
          <p:cNvSpPr/>
          <p:nvPr/>
        </p:nvSpPr>
        <p:spPr>
          <a:xfrm>
            <a:off x="548640" y="4828032"/>
            <a:ext cx="7315200" cy="274320"/>
          </a:xfrm>
          <a:prstGeom prst="rect">
            <a:avLst/>
          </a:prstGeom>
          <a:noFill/>
          <a:ln/>
        </p:spPr>
        <p:txBody>
          <a:bodyPr wrap="square" lIns="0" tIns="0" rIns="0" bIns="0" rtlCol="0" anchor="ctr"/>
          <a:lstStyle/>
          <a:p>
            <a:pPr marL="0" indent="0">
              <a:buNone/>
            </a:pPr>
            <a:r>
              <a:rPr lang="en-US" sz="950" dirty="0">
                <a:solidFill>
                  <a:srgbClr val="5B7782"/>
                </a:solidFill>
                <a:latin typeface="Calibri" pitchFamily="34" charset="0"/>
                <a:ea typeface="Calibri" pitchFamily="34" charset="-122"/>
                <a:cs typeface="Calibri" pitchFamily="34" charset="-120"/>
              </a:rPr>
              <a:t>Workshop 4 · Keep the defaults for CSCU; duplicate detection is set on the Data Discovery tab</a:t>
            </a:r>
            <a:endParaRPr lang="en-US" sz="950" dirty="0"/>
          </a:p>
        </p:txBody>
      </p:sp>
      <p:sp>
        <p:nvSpPr>
          <p:cNvPr id="30" name="Text 23"/>
          <p:cNvSpPr/>
          <p:nvPr/>
        </p:nvSpPr>
        <p:spPr>
          <a:xfrm>
            <a:off x="8366760" y="4828032"/>
            <a:ext cx="320040" cy="274320"/>
          </a:xfrm>
          <a:prstGeom prst="rect">
            <a:avLst/>
          </a:prstGeom>
          <a:noFill/>
          <a:ln/>
        </p:spPr>
        <p:txBody>
          <a:bodyPr wrap="square" lIns="0" tIns="0" rIns="0" bIns="0" rtlCol="0" anchor="ctr"/>
          <a:lstStyle/>
          <a:p>
            <a:pPr marL="0" indent="0" algn="r">
              <a:buNone/>
            </a:pPr>
            <a:r>
              <a:rPr lang="en-US" sz="950" dirty="0">
                <a:solidFill>
                  <a:srgbClr val="5B7782"/>
                </a:solidFill>
                <a:latin typeface="Calibri" pitchFamily="34" charset="0"/>
                <a:ea typeface="Calibri" pitchFamily="34" charset="-122"/>
                <a:cs typeface="Calibri" pitchFamily="34" charset="-120"/>
              </a:rPr>
              <a:t>7</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0B1B2B"/>
        </a:solidFill>
        <a:effectLst/>
      </p:bgPr>
    </p:bg>
    <p:spTree>
      <p:nvGrpSpPr>
        <p:cNvPr id="1" name=""/>
        <p:cNvGrpSpPr/>
        <p:nvPr/>
      </p:nvGrpSpPr>
      <p:grpSpPr>
        <a:xfrm>
          <a:off x="0" y="0"/>
          <a:ext cx="0" cy="0"/>
          <a:chOff x="0" y="0"/>
          <a:chExt cx="0" cy="0"/>
        </a:xfrm>
      </p:grpSpPr>
      <p:sp>
        <p:nvSpPr>
          <p:cNvPr id="2" name="Shape 0"/>
          <p:cNvSpPr/>
          <p:nvPr/>
        </p:nvSpPr>
        <p:spPr>
          <a:xfrm>
            <a:off x="7498080" y="-1280160"/>
            <a:ext cx="3291840" cy="3291840"/>
          </a:xfrm>
          <a:prstGeom prst="ellipse">
            <a:avLst/>
          </a:prstGeom>
          <a:solidFill>
            <a:srgbClr val="0A3D52"/>
          </a:solidFill>
          <a:ln/>
        </p:spPr>
      </p:sp>
      <p:sp>
        <p:nvSpPr>
          <p:cNvPr id="3" name="Shape 1"/>
          <p:cNvSpPr/>
          <p:nvPr/>
        </p:nvSpPr>
        <p:spPr>
          <a:xfrm>
            <a:off x="548640" y="603504"/>
            <a:ext cx="841248" cy="841248"/>
          </a:xfrm>
          <a:prstGeom prst="ellipse">
            <a:avLst/>
          </a:prstGeom>
          <a:solidFill>
            <a:srgbClr val="1C7293"/>
          </a:solidFill>
          <a:ln/>
        </p:spPr>
      </p:sp>
      <p:pic>
        <p:nvPicPr>
          <p:cNvPr id="4" name="Image 0" descr="preencoded.png"/>
          <p:cNvPicPr>
            <a:picLocks noChangeAspect="1"/>
          </p:cNvPicPr>
          <p:nvPr/>
        </p:nvPicPr>
        <p:blipFill>
          <a:blip r:embed="rId3"/>
          <a:stretch>
            <a:fillRect/>
          </a:stretch>
        </p:blipFill>
        <p:spPr>
          <a:xfrm>
            <a:off x="722376" y="777240"/>
            <a:ext cx="493776" cy="493776"/>
          </a:xfrm>
          <a:prstGeom prst="rect">
            <a:avLst/>
          </a:prstGeom>
        </p:spPr>
      </p:pic>
      <p:sp>
        <p:nvSpPr>
          <p:cNvPr id="5" name="Text 2"/>
          <p:cNvSpPr/>
          <p:nvPr/>
        </p:nvSpPr>
        <p:spPr>
          <a:xfrm>
            <a:off x="1554480" y="713232"/>
            <a:ext cx="6400800" cy="457200"/>
          </a:xfrm>
          <a:prstGeom prst="rect">
            <a:avLst/>
          </a:prstGeom>
          <a:noFill/>
          <a:ln/>
        </p:spPr>
        <p:txBody>
          <a:bodyPr wrap="square" lIns="0" tIns="0" rIns="0" bIns="0" rtlCol="0" anchor="ctr"/>
          <a:lstStyle/>
          <a:p>
            <a:pPr marL="0" indent="0">
              <a:buNone/>
            </a:pPr>
            <a:r>
              <a:rPr lang="en-US" sz="1400" b="1" kern="0" spc="300" dirty="0">
                <a:solidFill>
                  <a:srgbClr val="2EC4B6"/>
                </a:solidFill>
                <a:latin typeface="Calibri" pitchFamily="34" charset="0"/>
                <a:ea typeface="Calibri" pitchFamily="34" charset="-122"/>
                <a:cs typeface="Calibri" pitchFamily="34" charset="-120"/>
              </a:rPr>
              <a:t>WHY IT MATTERS</a:t>
            </a:r>
            <a:endParaRPr lang="en-US" sz="1400" dirty="0"/>
          </a:p>
        </p:txBody>
      </p:sp>
      <p:sp>
        <p:nvSpPr>
          <p:cNvPr id="6" name="Text 3"/>
          <p:cNvSpPr/>
          <p:nvPr/>
        </p:nvSpPr>
        <p:spPr>
          <a:xfrm>
            <a:off x="548640" y="1517904"/>
            <a:ext cx="8046720" cy="1097280"/>
          </a:xfrm>
          <a:prstGeom prst="rect">
            <a:avLst/>
          </a:prstGeom>
          <a:noFill/>
          <a:ln/>
        </p:spPr>
        <p:txBody>
          <a:bodyPr wrap="square" lIns="0" tIns="0" rIns="0" bIns="0" rtlCol="0" anchor="ctr"/>
          <a:lstStyle/>
          <a:p>
            <a:pPr marL="0" indent="0">
              <a:lnSpc>
                <a:spcPct val="98000"/>
              </a:lnSpc>
              <a:buNone/>
            </a:pPr>
            <a:r>
              <a:rPr lang="en-US" sz="2800" b="1" dirty="0">
                <a:solidFill>
                  <a:srgbClr val="FFFFFF"/>
                </a:solidFill>
                <a:latin typeface="Bookman Old Style" pitchFamily="34" charset="0"/>
                <a:ea typeface="Bookman Old Style" pitchFamily="34" charset="-122"/>
                <a:cs typeface="Bookman Old Style" pitchFamily="34" charset="-120"/>
              </a:rPr>
              <a:t>Trust is measured,</a:t>
            </a:r>
            <a:endParaRPr lang="en-US" sz="2800" dirty="0"/>
          </a:p>
          <a:p>
            <a:pPr marL="0" indent="0">
              <a:lnSpc>
                <a:spcPct val="98000"/>
              </a:lnSpc>
              <a:buNone/>
            </a:pPr>
            <a:r>
              <a:rPr lang="en-US" sz="2800" b="1" dirty="0">
                <a:solidFill>
                  <a:srgbClr val="FFFFFF"/>
                </a:solidFill>
                <a:latin typeface="Bookman Old Style" pitchFamily="34" charset="0"/>
                <a:ea typeface="Bookman Old Style" pitchFamily="34" charset="-122"/>
                <a:cs typeface="Bookman Old Style" pitchFamily="34" charset="-120"/>
              </a:rPr>
              <a:t>not assumed</a:t>
            </a:r>
            <a:endParaRPr lang="en-US" sz="2800" dirty="0"/>
          </a:p>
        </p:txBody>
      </p:sp>
      <p:sp>
        <p:nvSpPr>
          <p:cNvPr id="7" name="Text 4"/>
          <p:cNvSpPr/>
          <p:nvPr/>
        </p:nvSpPr>
        <p:spPr>
          <a:xfrm>
            <a:off x="777240" y="2926080"/>
            <a:ext cx="2194560" cy="822960"/>
          </a:xfrm>
          <a:prstGeom prst="rect">
            <a:avLst/>
          </a:prstGeom>
          <a:noFill/>
          <a:ln/>
        </p:spPr>
        <p:txBody>
          <a:bodyPr wrap="square" lIns="0" tIns="0" rIns="0" bIns="0" rtlCol="0" anchor="ctr"/>
          <a:lstStyle/>
          <a:p>
            <a:pPr marL="0" indent="0" algn="ctr">
              <a:buNone/>
            </a:pPr>
            <a:r>
              <a:rPr lang="en-US" sz="4600" b="1" dirty="0">
                <a:solidFill>
                  <a:srgbClr val="2EC4B6"/>
                </a:solidFill>
                <a:latin typeface="Bookman Old Style" pitchFamily="34" charset="0"/>
                <a:ea typeface="Bookman Old Style" pitchFamily="34" charset="-122"/>
                <a:cs typeface="Bookman Old Style" pitchFamily="34" charset="-120"/>
              </a:rPr>
              <a:t>5</a:t>
            </a:r>
            <a:endParaRPr lang="en-US" sz="4600" dirty="0"/>
          </a:p>
        </p:txBody>
      </p:sp>
      <p:sp>
        <p:nvSpPr>
          <p:cNvPr id="8" name="Text 5"/>
          <p:cNvSpPr/>
          <p:nvPr/>
        </p:nvSpPr>
        <p:spPr>
          <a:xfrm>
            <a:off x="777240" y="3730752"/>
            <a:ext cx="2194560" cy="365760"/>
          </a:xfrm>
          <a:prstGeom prst="rect">
            <a:avLst/>
          </a:prstGeom>
          <a:noFill/>
          <a:ln/>
        </p:spPr>
        <p:txBody>
          <a:bodyPr wrap="square" lIns="0" tIns="0" rIns="0" bIns="0" rtlCol="0" anchor="ctr"/>
          <a:lstStyle/>
          <a:p>
            <a:pPr marL="0" indent="0" algn="ctr">
              <a:buNone/>
            </a:pPr>
            <a:r>
              <a:rPr lang="en-US" sz="1100" b="1" kern="0" spc="100" dirty="0">
                <a:solidFill>
                  <a:srgbClr val="DCEEF5"/>
                </a:solidFill>
                <a:latin typeface="Calibri" pitchFamily="34" charset="0"/>
                <a:ea typeface="Calibri" pitchFamily="34" charset="-122"/>
                <a:cs typeface="Calibri" pitchFamily="34" charset="-120"/>
              </a:rPr>
              <a:t>QUALITY DIMENSIONS</a:t>
            </a:r>
            <a:endParaRPr lang="en-US" sz="1100" dirty="0"/>
          </a:p>
        </p:txBody>
      </p:sp>
      <p:sp>
        <p:nvSpPr>
          <p:cNvPr id="9" name="Text 6"/>
          <p:cNvSpPr/>
          <p:nvPr/>
        </p:nvSpPr>
        <p:spPr>
          <a:xfrm>
            <a:off x="3337560" y="2926080"/>
            <a:ext cx="2194560" cy="822960"/>
          </a:xfrm>
          <a:prstGeom prst="rect">
            <a:avLst/>
          </a:prstGeom>
          <a:noFill/>
          <a:ln/>
        </p:spPr>
        <p:txBody>
          <a:bodyPr wrap="square" lIns="0" tIns="0" rIns="0" bIns="0" rtlCol="0" anchor="ctr"/>
          <a:lstStyle/>
          <a:p>
            <a:pPr marL="0" indent="0" algn="ctr">
              <a:buNone/>
            </a:pPr>
            <a:r>
              <a:rPr lang="en-US" sz="4600" b="1" dirty="0">
                <a:solidFill>
                  <a:srgbClr val="2EC4B6"/>
                </a:solidFill>
                <a:latin typeface="Bookman Old Style" pitchFamily="34" charset="0"/>
                <a:ea typeface="Bookman Old Style" pitchFamily="34" charset="-122"/>
                <a:cs typeface="Bookman Old Style" pitchFamily="34" charset="-120"/>
              </a:rPr>
              <a:t>4</a:t>
            </a:r>
            <a:endParaRPr lang="en-US" sz="4600" dirty="0"/>
          </a:p>
        </p:txBody>
      </p:sp>
      <p:sp>
        <p:nvSpPr>
          <p:cNvPr id="10" name="Text 7"/>
          <p:cNvSpPr/>
          <p:nvPr/>
        </p:nvSpPr>
        <p:spPr>
          <a:xfrm>
            <a:off x="3337560" y="3730752"/>
            <a:ext cx="2194560" cy="365760"/>
          </a:xfrm>
          <a:prstGeom prst="rect">
            <a:avLst/>
          </a:prstGeom>
          <a:noFill/>
          <a:ln/>
        </p:spPr>
        <p:txBody>
          <a:bodyPr wrap="square" lIns="0" tIns="0" rIns="0" bIns="0" rtlCol="0" anchor="ctr"/>
          <a:lstStyle/>
          <a:p>
            <a:pPr marL="0" indent="0" algn="ctr">
              <a:buNone/>
            </a:pPr>
            <a:r>
              <a:rPr lang="en-US" sz="1100" b="1" kern="0" spc="100" dirty="0">
                <a:solidFill>
                  <a:srgbClr val="DCEEF5"/>
                </a:solidFill>
                <a:latin typeface="Calibri" pitchFamily="34" charset="0"/>
                <a:ea typeface="Calibri" pitchFamily="34" charset="-122"/>
                <a:cs typeface="Calibri" pitchFamily="34" charset="-120"/>
              </a:rPr>
              <a:t>TRUST SCORE INPUTS</a:t>
            </a:r>
            <a:endParaRPr lang="en-US" sz="1100" dirty="0"/>
          </a:p>
        </p:txBody>
      </p:sp>
      <p:sp>
        <p:nvSpPr>
          <p:cNvPr id="11" name="Text 8"/>
          <p:cNvSpPr/>
          <p:nvPr/>
        </p:nvSpPr>
        <p:spPr>
          <a:xfrm>
            <a:off x="5897880" y="2926080"/>
            <a:ext cx="2194560" cy="822960"/>
          </a:xfrm>
          <a:prstGeom prst="rect">
            <a:avLst/>
          </a:prstGeom>
          <a:noFill/>
          <a:ln/>
        </p:spPr>
        <p:txBody>
          <a:bodyPr wrap="square" lIns="0" tIns="0" rIns="0" bIns="0" rtlCol="0" anchor="ctr"/>
          <a:lstStyle/>
          <a:p>
            <a:pPr marL="0" indent="0" algn="ctr">
              <a:buNone/>
            </a:pPr>
            <a:r>
              <a:rPr lang="en-US" sz="4600" b="1" dirty="0">
                <a:solidFill>
                  <a:srgbClr val="2EC4B6"/>
                </a:solidFill>
                <a:latin typeface="Bookman Old Style" pitchFamily="34" charset="0"/>
                <a:ea typeface="Bookman Old Style" pitchFamily="34" charset="-122"/>
                <a:cs typeface="Bookman Old Style" pitchFamily="34" charset="-120"/>
              </a:rPr>
              <a:t>1</a:t>
            </a:r>
            <a:endParaRPr lang="en-US" sz="4600" dirty="0"/>
          </a:p>
        </p:txBody>
      </p:sp>
      <p:sp>
        <p:nvSpPr>
          <p:cNvPr id="12" name="Text 9"/>
          <p:cNvSpPr/>
          <p:nvPr/>
        </p:nvSpPr>
        <p:spPr>
          <a:xfrm>
            <a:off x="5897880" y="3730752"/>
            <a:ext cx="2194560" cy="365760"/>
          </a:xfrm>
          <a:prstGeom prst="rect">
            <a:avLst/>
          </a:prstGeom>
          <a:noFill/>
          <a:ln/>
        </p:spPr>
        <p:txBody>
          <a:bodyPr wrap="square" lIns="0" tIns="0" rIns="0" bIns="0" rtlCol="0" anchor="ctr"/>
          <a:lstStyle/>
          <a:p>
            <a:pPr marL="0" indent="0" algn="ctr">
              <a:buNone/>
            </a:pPr>
            <a:r>
              <a:rPr lang="en-US" sz="1100" b="1" kern="0" spc="100" dirty="0">
                <a:solidFill>
                  <a:srgbClr val="DCEEF5"/>
                </a:solidFill>
                <a:latin typeface="Calibri" pitchFamily="34" charset="0"/>
                <a:ea typeface="Calibri" pitchFamily="34" charset="-122"/>
                <a:cs typeface="Calibri" pitchFamily="34" charset="-120"/>
              </a:rPr>
              <a:t>PASS, FULL PROFILE</a:t>
            </a:r>
            <a:endParaRPr lang="en-US" sz="1100" dirty="0"/>
          </a:p>
        </p:txBody>
      </p:sp>
      <p:sp>
        <p:nvSpPr>
          <p:cNvPr id="13" name="Text 10"/>
          <p:cNvSpPr/>
          <p:nvPr/>
        </p:nvSpPr>
        <p:spPr>
          <a:xfrm>
            <a:off x="548640" y="4626864"/>
            <a:ext cx="8046720" cy="365760"/>
          </a:xfrm>
          <a:prstGeom prst="rect">
            <a:avLst/>
          </a:prstGeom>
          <a:noFill/>
          <a:ln/>
        </p:spPr>
        <p:txBody>
          <a:bodyPr wrap="square" lIns="0" tIns="0" rIns="0" bIns="0" rtlCol="0" anchor="ctr"/>
          <a:lstStyle/>
          <a:p>
            <a:pPr marL="0" indent="0">
              <a:buNone/>
            </a:pPr>
            <a:r>
              <a:rPr lang="en-US" sz="1200" i="1" dirty="0">
                <a:solidFill>
                  <a:srgbClr val="5B7782"/>
                </a:solidFill>
                <a:latin typeface="Calibri" pitchFamily="34" charset="0"/>
                <a:ea typeface="Calibri" pitchFamily="34" charset="-122"/>
                <a:cs typeface="Calibri" pitchFamily="34" charset="-120"/>
              </a:rPr>
              <a:t>Next up — Workshop 5: Sensitive Data &amp; PII</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100" name="eyebrow"/>
          <p:cNvSpPr/>
          <p:nvPr/>
        </p:nvSpPr>
        <p:spPr>
          <a:xfrm>
            <a:off x="548640" y="356760"/>
            <a:ext cx="5200000" cy="250000"/>
          </a:xfrm>
          <a:prstGeom prst="rect">
            <a:avLst/>
          </a:prstGeom>
          <a:noFill/>
          <a:ln>
            <a:noFill/>
          </a:ln>
        </p:spPr>
        <p:txBody>
          <a:bodyPr wrap="square" lIns="0" tIns="0" rIns="0" bIns="0" anchor="t"/>
          <a:lstStyle/>
          <a:p>
            <a:pPr algn="l" marL="0" indent="0">
              <a:buNone/>
            </a:pPr>
            <a:r>
              <a:rPr lang="en-US" sz="1400" b="1" i="0" dirty="0">
                <a:solidFill>
                  <a:srgbClr val="1C7293"/>
                </a:solidFill>
                <a:latin typeface="Calibri"/>
              </a:rPr>
              <a:t>HOW IT SCORES</a:t>
            </a:r>
          </a:p>
        </p:txBody>
      </p:sp>
      <p:sp>
        <p:nvSpPr>
          <p:cNvPr id="101" name="title"/>
          <p:cNvSpPr/>
          <p:nvPr/>
        </p:nvSpPr>
        <p:spPr>
          <a:xfrm>
            <a:off x="548640" y="650000"/>
            <a:ext cx="8046720" cy="560000"/>
          </a:xfrm>
          <a:prstGeom prst="rect">
            <a:avLst/>
          </a:prstGeom>
          <a:noFill/>
          <a:ln>
            <a:noFill/>
          </a:ln>
        </p:spPr>
        <p:txBody>
          <a:bodyPr wrap="square" lIns="0" tIns="0" rIns="0" bIns="0" anchor="t"/>
          <a:lstStyle/>
          <a:p>
            <a:pPr algn="l" marL="0" indent="0">
              <a:buNone/>
            </a:pPr>
            <a:r>
              <a:rPr lang="en-US" sz="2700" b="1" i="0" dirty="0">
                <a:solidFill>
                  <a:srgbClr val="14333F"/>
                </a:solidFill>
                <a:latin typeface="Bookman Old Style"/>
              </a:rPr>
              <a:t>Trust Score is a sliding scale</a:t>
            </a:r>
          </a:p>
        </p:txBody>
      </p:sp>
      <p:sp>
        <p:nvSpPr>
          <p:cNvPr id="102" name="subtitle"/>
          <p:cNvSpPr/>
          <p:nvPr/>
        </p:nvSpPr>
        <p:spPr>
          <a:xfrm>
            <a:off x="548640" y="1290000"/>
            <a:ext cx="8046720" cy="430000"/>
          </a:xfrm>
          <a:prstGeom prst="rect">
            <a:avLst/>
          </a:prstGeom>
          <a:noFill/>
          <a:ln>
            <a:noFill/>
          </a:ln>
        </p:spPr>
        <p:txBody>
          <a:bodyPr wrap="square" lIns="0" tIns="0" rIns="0" bIns="0" anchor="t"/>
          <a:lstStyle/>
          <a:p>
            <a:pPr algn="l" marL="0" indent="0">
              <a:buNone/>
            </a:pPr>
            <a:r>
              <a:rPr lang="en-US" sz="1300" b="0" i="0" dirty="0">
                <a:solidFill>
                  <a:srgbClr val="5A6B72"/>
                </a:solidFill>
                <a:latin typeface="Calibri"/>
              </a:rPr>
              <a:t>Calculate Trust Score rolls up whatever inputs are present right now: each one in place raises the number, each one missing holds it down.</a:t>
            </a:r>
          </a:p>
        </p:txBody>
      </p:sp>
      <p:sp>
        <p:nvSpPr>
          <p:cNvPr id="103" name="markerbox"/>
          <p:cNvSpPr/>
          <p:nvPr/>
        </p:nvSpPr>
        <p:spPr>
          <a:xfrm>
            <a:off x="2869664" y="1760000"/>
            <a:ext cx="2600000" cy="360000"/>
          </a:xfrm>
          <a:prstGeom prst="roundRect">
            <a:avLst/>
          </a:prstGeom>
          <a:solidFill>
            <a:srgbClr val="14333F"/>
          </a:solidFill>
          <a:ln>
            <a:noFill/>
          </a:ln>
        </p:spPr>
        <p:txBody>
          <a:bodyPr wrap="square" lIns="0" tIns="0" rIns="0" bIns="0" anchor="ctr"/>
          <a:lstStyle/>
          <a:p>
            <a:pPr algn="ctr" marL="0" indent="0">
              <a:buNone/>
            </a:pPr>
            <a:r>
              <a:rPr lang="en-US" sz="1100" b="1" i="0" dirty="0">
                <a:solidFill>
                  <a:srgbClr val="FFFFFF"/>
                </a:solidFill>
                <a:latin typeface="Calibri"/>
              </a:rPr>
              <a:t>lineage + rating, no term = ~45</a:t>
            </a:r>
          </a:p>
        </p:txBody>
      </p:sp>
      <p:sp>
        <p:nvSpPr>
          <p:cNvPr id="104" name="pointer"/>
          <p:cNvSpPr/>
          <p:nvPr/>
        </p:nvSpPr>
        <p:spPr>
          <a:xfrm>
            <a:off x="4160664" y="2120000"/>
            <a:ext cx="18000" cy="165000"/>
          </a:xfrm>
          <a:prstGeom prst="rect">
            <a:avLst/>
          </a:prstGeom>
          <a:solidFill>
            <a:srgbClr val="14333F"/>
          </a:solidFill>
          <a:ln>
            <a:noFill/>
          </a:ln>
        </p:spPr>
      </p:sp>
      <p:sp>
        <p:nvSpPr>
          <p:cNvPr id="105" name="zero"/>
          <p:cNvSpPr/>
          <p:nvPr/>
        </p:nvSpPr>
        <p:spPr>
          <a:xfrm>
            <a:off x="548640" y="2040000"/>
            <a:ext cx="400000" cy="210000"/>
          </a:xfrm>
          <a:prstGeom prst="rect">
            <a:avLst/>
          </a:prstGeom>
          <a:noFill/>
          <a:ln>
            <a:noFill/>
          </a:ln>
        </p:spPr>
        <p:txBody>
          <a:bodyPr wrap="square" lIns="0" tIns="0" rIns="0" bIns="0" anchor="t"/>
          <a:lstStyle/>
          <a:p>
            <a:pPr algn="l" marL="0" indent="0">
              <a:buNone/>
            </a:pPr>
            <a:r>
              <a:rPr lang="en-US" sz="1000" b="0" i="0" dirty="0">
                <a:solidFill>
                  <a:srgbClr val="9AA7AD"/>
                </a:solidFill>
                <a:latin typeface="Calibri"/>
              </a:rPr>
              <a:t>0</a:t>
            </a:r>
          </a:p>
        </p:txBody>
      </p:sp>
      <p:sp>
        <p:nvSpPr>
          <p:cNvPr id="106" name="hundred"/>
          <p:cNvSpPr/>
          <p:nvPr/>
        </p:nvSpPr>
        <p:spPr>
          <a:xfrm>
            <a:off x="8195360" y="2040000"/>
            <a:ext cx="400000" cy="210000"/>
          </a:xfrm>
          <a:prstGeom prst="rect">
            <a:avLst/>
          </a:prstGeom>
          <a:noFill/>
          <a:ln>
            <a:noFill/>
          </a:ln>
        </p:spPr>
        <p:txBody>
          <a:bodyPr wrap="square" lIns="0" tIns="0" rIns="0" bIns="0" anchor="t"/>
          <a:lstStyle/>
          <a:p>
            <a:pPr algn="r" marL="0" indent="0">
              <a:buNone/>
            </a:pPr>
            <a:r>
              <a:rPr lang="en-US" sz="1000" b="0" i="0" dirty="0">
                <a:solidFill>
                  <a:srgbClr val="9AA7AD"/>
                </a:solidFill>
                <a:latin typeface="Calibri"/>
              </a:rPr>
              <a:t>100</a:t>
            </a:r>
          </a:p>
        </p:txBody>
      </p:sp>
      <p:sp>
        <p:nvSpPr>
          <p:cNvPr id="107" name="band"/>
          <p:cNvSpPr/>
          <p:nvPr/>
        </p:nvSpPr>
        <p:spPr>
          <a:xfrm>
            <a:off x="548640" y="2285000"/>
            <a:ext cx="8046720" cy="470000"/>
          </a:xfrm>
          <a:prstGeom prst="roundRect">
            <a:avLst/>
          </a:prstGeom>
          <a:gradFill rotWithShape="1">
            <a:gsLst>
              <a:gs pos="0">
                <a:srgbClr val="C0392B"/>
              </a:gs>
              <a:gs pos="34000">
                <a:srgbClr val="E08A3C"/>
              </a:gs>
              <a:gs pos="67000">
                <a:srgbClr val="1C7293"/>
              </a:gs>
              <a:gs pos="100000">
                <a:srgbClr val="2E7D5B"/>
              </a:gs>
            </a:gsLst>
            <a:lin ang="0" scaled="1"/>
          </a:gradFill>
          <a:ln>
            <a:noFill/>
          </a:ln>
        </p:spPr>
      </p:sp>
      <p:sp>
        <p:nvSpPr>
          <p:cNvPr id="108" name="zoneUntrusted"/>
          <p:cNvSpPr/>
          <p:nvPr/>
        </p:nvSpPr>
        <p:spPr>
          <a:xfrm>
            <a:off x="548640" y="2820000"/>
            <a:ext cx="2682240" cy="300000"/>
          </a:xfrm>
          <a:prstGeom prst="rect">
            <a:avLst/>
          </a:prstGeom>
          <a:noFill/>
          <a:ln>
            <a:noFill/>
          </a:ln>
        </p:spPr>
        <p:txBody>
          <a:bodyPr wrap="square" lIns="0" tIns="0" rIns="0" bIns="0" anchor="t"/>
          <a:lstStyle/>
          <a:p>
            <a:pPr algn="ctr" marL="0" indent="0">
              <a:buNone/>
            </a:pPr>
            <a:r>
              <a:rPr lang="en-US" sz="1200" b="1" i="0" dirty="0">
                <a:solidFill>
                  <a:srgbClr val="C0392B"/>
                </a:solidFill>
                <a:latin typeface="Calibri"/>
              </a:rPr>
              <a:t>Untrusted</a:t>
            </a:r>
          </a:p>
        </p:txBody>
      </p:sp>
      <p:sp>
        <p:nvSpPr>
          <p:cNvPr id="109" name="zoneTrusted"/>
          <p:cNvSpPr/>
          <p:nvPr/>
        </p:nvSpPr>
        <p:spPr>
          <a:xfrm>
            <a:off x="3230880" y="2820000"/>
            <a:ext cx="2682240" cy="300000"/>
          </a:xfrm>
          <a:prstGeom prst="rect">
            <a:avLst/>
          </a:prstGeom>
          <a:noFill/>
          <a:ln>
            <a:noFill/>
          </a:ln>
        </p:spPr>
        <p:txBody>
          <a:bodyPr wrap="square" lIns="0" tIns="0" rIns="0" bIns="0" anchor="t"/>
          <a:lstStyle/>
          <a:p>
            <a:pPr algn="ctr" marL="0" indent="0">
              <a:buNone/>
            </a:pPr>
            <a:r>
              <a:rPr lang="en-US" sz="1200" b="1" i="0" dirty="0">
                <a:solidFill>
                  <a:srgbClr val="1C7293"/>
                </a:solidFill>
                <a:latin typeface="Calibri"/>
              </a:rPr>
              <a:t>Trusted</a:t>
            </a:r>
          </a:p>
        </p:txBody>
      </p:sp>
      <p:sp>
        <p:nvSpPr>
          <p:cNvPr id="110" name="zoneHighly"/>
          <p:cNvSpPr/>
          <p:nvPr/>
        </p:nvSpPr>
        <p:spPr>
          <a:xfrm>
            <a:off x="5913120" y="2820000"/>
            <a:ext cx="2682240" cy="300000"/>
          </a:xfrm>
          <a:prstGeom prst="rect">
            <a:avLst/>
          </a:prstGeom>
          <a:noFill/>
          <a:ln>
            <a:noFill/>
          </a:ln>
        </p:spPr>
        <p:txBody>
          <a:bodyPr wrap="square" lIns="0" tIns="0" rIns="0" bIns="0" anchor="t"/>
          <a:lstStyle/>
          <a:p>
            <a:pPr algn="ctr" marL="0" indent="0">
              <a:buNone/>
            </a:pPr>
            <a:r>
              <a:rPr lang="en-US" sz="1200" b="1" i="0" dirty="0">
                <a:solidFill>
                  <a:srgbClr val="2E7D5B"/>
                </a:solidFill>
                <a:latin typeface="Calibri"/>
              </a:rPr>
              <a:t>Highly Trusted</a:t>
            </a:r>
          </a:p>
        </p:txBody>
      </p:sp>
      <p:sp>
        <p:nvSpPr>
          <p:cNvPr id="111" name="caption"/>
          <p:cNvSpPr/>
          <p:nvPr/>
        </p:nvSpPr>
        <p:spPr>
          <a:xfrm>
            <a:off x="548640" y="3330000"/>
            <a:ext cx="8046720" cy="640000"/>
          </a:xfrm>
          <a:prstGeom prst="rect">
            <a:avLst/>
          </a:prstGeom>
          <a:noFill/>
          <a:ln>
            <a:noFill/>
          </a:ln>
        </p:spPr>
        <p:txBody>
          <a:bodyPr wrap="square" lIns="0" tIns="0" rIns="0" bIns="0" anchor="t"/>
          <a:lstStyle/>
          <a:p>
            <a:pPr algn="l" marL="0" indent="0">
              <a:buNone/>
            </a:pPr>
            <a:r>
              <a:rPr lang="en-US" sz="1150" b="0" i="1" dirty="0">
                <a:solidFill>
                  <a:srgbClr val="5A6B72"/>
                </a:solidFill>
                <a:latin typeface="Calibri"/>
              </a:rPr>
              <a:t>Data Quality is the heaviest input, so the score stays low until it is computed (it needs the Pentaho Data Quality add-on). Pentaho does not publish the exact weights or thresholds, so treat the band as illustrative: the inputs are levers that move the score, not a fixed formula.</a:t>
            </a:r>
          </a:p>
        </p:txBody>
      </p:sp>
      <p:sp>
        <p:nvSpPr>
          <p:cNvPr id="112" name="footer"/>
          <p:cNvSpPr/>
          <p:nvPr/>
        </p:nvSpPr>
        <p:spPr>
          <a:xfrm>
            <a:off x="548640" y="4800000"/>
            <a:ext cx="7000000" cy="230000"/>
          </a:xfrm>
          <a:prstGeom prst="rect">
            <a:avLst/>
          </a:prstGeom>
          <a:noFill/>
          <a:ln>
            <a:noFill/>
          </a:ln>
        </p:spPr>
        <p:txBody>
          <a:bodyPr wrap="square" lIns="0" tIns="0" rIns="0" bIns="0" anchor="t"/>
          <a:lstStyle/>
          <a:p>
            <a:pPr algn="l" marL="0" indent="0">
              <a:buNone/>
            </a:pPr>
            <a:r>
              <a:rPr lang="en-US" sz="1000" b="0" i="0" dirty="0">
                <a:solidFill>
                  <a:srgbClr val="9AA7AD"/>
                </a:solidFill>
                <a:latin typeface="Calibri"/>
              </a:rPr>
              <a:t>Workshop 4 · The Trust Score climbs as inputs are added</a:t>
            </a:r>
          </a:p>
        </p:txBody>
      </p:sp>
      <p:sp>
        <p:nvSpPr>
          <p:cNvPr id="113" name="pagenum"/>
          <p:cNvSpPr/>
          <p:nvPr/>
        </p:nvSpPr>
        <p:spPr>
          <a:xfrm>
            <a:off x="8490000" y="4800000"/>
            <a:ext cx="300000" cy="230000"/>
          </a:xfrm>
          <a:prstGeom prst="rect">
            <a:avLst/>
          </a:prstGeom>
          <a:noFill/>
          <a:ln>
            <a:noFill/>
          </a:ln>
        </p:spPr>
        <p:txBody>
          <a:bodyPr wrap="square" lIns="0" tIns="0" rIns="0" bIns="0" anchor="t"/>
          <a:lstStyle/>
          <a:p>
            <a:pPr algn="r" marL="0" indent="0">
              <a:buNone/>
            </a:pPr>
            <a:r>
              <a:rPr lang="en-US" sz="1000" b="0" i="0" dirty="0">
                <a:solidFill>
                  <a:srgbClr val="9AA7AD"/>
                </a:solidFill>
                <a:latin typeface="Calibri"/>
              </a:rPr>
              <a:t>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111</TotalTime>
  <Words>922</Words>
  <Application>Microsoft Office PowerPoint</Application>
  <PresentationFormat>On-screen Show (16:9)</PresentationFormat>
  <Paragraphs>109</Paragraphs>
  <Slides>7</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Bookman Old Style</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Workshop 2: Explore Data Structure &amp; Metadata</dc:title>
  <dc:subject>PptxGenJS Presentation</dc:subject>
  <dc:creator>Copper State Credit Union - PDC BA Course</dc:creator>
  <cp:lastModifiedBy>James O'Reilly</cp:lastModifiedBy>
  <cp:revision>2</cp:revision>
  <dcterms:created xsi:type="dcterms:W3CDTF">2026-06-10T17:22:06Z</dcterms:created>
  <dcterms:modified xsi:type="dcterms:W3CDTF">2026-06-17T12:15:34Z</dcterms:modified>
</cp:coreProperties>
</file>