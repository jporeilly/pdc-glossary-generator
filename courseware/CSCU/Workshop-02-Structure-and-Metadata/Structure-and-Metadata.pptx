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members table as you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2 · 30 MINUTES  ·  PDC · METADATA &amp; 3 LAYERS</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Exploring Data Structure</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&amp; Metadata</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Read the three layers of metadata PDC captures about the CSCU schema — technical, business, and operational — and learn to navigate every tab.</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11.0.0  ·  Focus table: members  ·  cscu_core schema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Three layers of metadata</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1"/>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Technical</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indent="0" marL="0">
              <a:buNone/>
            </a:pPr>
            <a:r>
              <a:rPr lang="en-US" sz="1100" b="1" i="1" dirty="0">
                <a:solidFill>
                  <a:srgbClr val="065A82"/>
                </a:solidFill>
                <a:latin typeface="Calibri" pitchFamily="34" charset="0"/>
                <a:ea typeface="Calibri" pitchFamily="34" charset="-122"/>
                <a:cs typeface="Calibri" pitchFamily="34" charset="-120"/>
              </a:rPr>
              <a:t>What the database knows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Column names, data types, sizes, nullability — plus primary &amp; foreign keys, which PDC surfaces from the source’s declared constraints once related tables are profiled. Example: customer_id is an Integer (10).</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2"/>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Business</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indent="0" marL="0">
              <a:buNone/>
            </a:pPr>
            <a:r>
              <a:rPr lang="en-US" sz="1100" b="1" i="1" dirty="0">
                <a:solidFill>
                  <a:srgbClr val="1C7293"/>
                </a:solidFill>
                <a:latin typeface="Calibri" pitchFamily="34" charset="0"/>
                <a:ea typeface="Calibri" pitchFamily="34" charset="-122"/>
                <a:cs typeface="Calibri" pitchFamily="34" charset="-120"/>
              </a:rPr>
              <a:t>What humans need to know</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Description &amp; Remarks, linked Business Terms, and Sensitivity. Domain, Classification &amp; Business Steward live on the Glossary term you attach. Example: link a Member PII term to customer_name.</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sx="100000" sy="100000" kx="0" ky="0" algn="bl" rotWithShape="0" blurRad="101600" dist="25400" dir="540000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3"/>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indent="0" marL="0">
              <a:buNone/>
            </a:pPr>
            <a:r>
              <a:rPr lang="en-US" sz="2000" b="1" dirty="0">
                <a:solidFill>
                  <a:srgbClr val="14333F"/>
                </a:solidFill>
                <a:latin typeface="Bookman Old Style" pitchFamily="34" charset="0"/>
                <a:ea typeface="Bookman Old Style" pitchFamily="34" charset="-122"/>
                <a:cs typeface="Bookman Old Style" pitchFamily="34" charset="-120"/>
              </a:rPr>
              <a:t>Operational</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indent="0" marL="0">
              <a:buNone/>
            </a:pPr>
            <a:r>
              <a:rPr lang="en-US" sz="1100" b="1" i="1" dirty="0">
                <a:solidFill>
                  <a:srgbClr val="2EC4B6"/>
                </a:solidFill>
                <a:latin typeface="Calibri" pitchFamily="34" charset="0"/>
                <a:ea typeface="Calibri" pitchFamily="34" charset="-122"/>
                <a:cs typeface="Calibri" pitchFamily="34" charset="-120"/>
              </a:rPr>
              <a:t>How the data behaves</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indent="0" marL="0">
              <a:lnSpc>
                <a:spcPct val="105000"/>
              </a:lnSpc>
              <a:buNone/>
            </a:pPr>
            <a:r>
              <a:rPr lang="en-US" sz="1100" dirty="0">
                <a:solidFill>
                  <a:srgbClr val="5B7782"/>
                </a:solidFill>
                <a:latin typeface="Calibri" pitchFamily="34" charset="0"/>
                <a:ea typeface="Calibri" pitchFamily="34" charset="-122"/>
                <a:cs typeface="Calibri" pitchFamily="34" charset="-120"/>
              </a:rPr>
              <a:t>Quality scores, freshness, lineage, compliance status — computed for the whole table, not per column. The Trust Score here is a sliding scale that fills in as inputs arrive. Example: a quality score appears after Workshop 4 profiling.</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Every tab you open maps to one of these layers</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NAVIGATING AN ASSET</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The tabs on the members table</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Summary</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Description, Key Metrics (Data Quality, Lineage, Sensitivity, Trust Score), Business Terms, Properties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Details</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Every column with its data type, size, nullability, tags, business terms &amp; sensitivity</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3"/>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Custom Properties</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Org-specific properties — cost center, retention policy, and the like</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Glossary</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Linked business terms — where Domain, Classification, Business Steward &amp; Owner live</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sx="100000" sy="100000" kx="0" ky="0" algn="bl" rotWithShape="0" blurRad="50800" dist="12700" dir="540000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5"/>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More</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indent="0" marL="0">
              <a:buNone/>
            </a:pPr>
            <a:r>
              <a:rPr lang="en-US" sz="1150" dirty="0">
                <a:solidFill>
                  <a:srgbClr val="5B7782"/>
                </a:solidFill>
                <a:latin typeface="Calibri" pitchFamily="34" charset="0"/>
                <a:ea typeface="Calibri" pitchFamily="34" charset="-122"/>
                <a:cs typeface="Calibri" pitchFamily="34" charset="-120"/>
              </a:rPr>
              <a:t>Overflow menu — additional views for this asset</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You'll visit each tab in order</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WORKED EXAMPLE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Reading the members columns</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A few columns tell three stories at once — note how technical type, business meaning, and sensitivity all live together.</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914400"/>
        </p:xfrm>
        <a:graphic>
          <a:graphicData uri="http://schemas.openxmlformats.org/drawingml/2006/table">
            <a:tbl>
              <a:tblPr/>
              <a:tblGrid>
                <a:gridCol w="1920240"/>
                <a:gridCol w="1371600"/>
                <a:gridCol w="3200400"/>
                <a:gridCol w="1554480"/>
              </a:tblGrid>
              <a:tr h="420624">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Business meaning</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Sensitivity</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customer_id</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Integer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Unique member identifier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customer_name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Account holder name</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PII</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Contact email address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PII</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account_number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CSCU billing account</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Confidential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r h="420624">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service_area_system</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VARCHAR</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Which of 8 water systems</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4333F"/>
                          </a:solidFill>
                          <a:latin typeface="Calibri" pitchFamily="34" charset="0"/>
                          <a:ea typeface="Calibri" pitchFamily="34" charset="-122"/>
                          <a:cs typeface="Calibri" pitchFamily="34" charset="-120"/>
                        </a:rPr>
                        <a:t>Internal</a:t>
                      </a:r>
                      <a:endParaRPr lang="en-US" sz="1200" dirty="0">
                        <a:latin typeface="Calibri" charset="0"/>
                        <a:ea typeface="Calibri" charset="0"/>
                        <a:cs typeface="Calibri" charset="0"/>
                      </a:endParaRPr>
                    </a:p>
                  </a:txBody>
                  <a:tcPr marL="91440" marR="91440" marT="45720" marB="45720"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indent="0" marL="0">
              <a:buNone/>
            </a:pPr>
            <a:r>
              <a:rPr lang="en-US" sz="1050" i="1" dirty="0">
                <a:solidFill>
                  <a:srgbClr val="5B7782"/>
                </a:solidFill>
                <a:latin typeface="Calibri" pitchFamily="34" charset="0"/>
                <a:ea typeface="Calibri" pitchFamily="34" charset="-122"/>
                <a:cs typeface="Calibri" pitchFamily="34" charset="-120"/>
              </a:rPr>
              <a:t>Keys (PK/FK) surface once related tables are profiled in Workshop 4; Sensitivity is set via the glossary and Data Identification. Trust Score is a table-level metric — there is no per-column trust score.</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indent="0" marL="0">
              <a:buNone/>
            </a:pPr>
            <a:r>
              <a:rPr lang="en-US" sz="950" dirty="0">
                <a:solidFill>
                  <a:srgbClr val="5B7782"/>
                </a:solidFill>
                <a:latin typeface="Calibri" pitchFamily="34" charset="0"/>
                <a:ea typeface="Calibri" pitchFamily="34" charset="-122"/>
                <a:cs typeface="Calibri" pitchFamily="34" charset="-120"/>
              </a:rPr>
              <a:t>Workshop 2 · members table</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WHY A BA CARES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Metadata is how you trust data</a:t>
            </a:r>
            <a:endParaRPr lang="en-US" sz="2800" dirty="0"/>
          </a:p>
          <a:p>
            <a:pPr indent="0" marL="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you didn't create</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6</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TABLES TO READ</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3</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METADATA LAYERS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algn="ctr" indent="0" marL="0">
              <a:buNone/>
            </a:pPr>
            <a:r>
              <a:rPr lang="en-US" sz="4600" b="1" dirty="0">
                <a:solidFill>
                  <a:srgbClr val="2EC4B6"/>
                </a:solidFill>
                <a:latin typeface="Bookman Old Style" pitchFamily="34" charset="0"/>
                <a:ea typeface="Bookman Old Style" pitchFamily="34" charset="-122"/>
                <a:cs typeface="Bookman Old Style" pitchFamily="34" charset="-120"/>
              </a:rPr>
              <a:t>5</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algn="ctr" indent="0" marL="0">
              <a:buNone/>
            </a:pPr>
            <a:r>
              <a:rPr lang="en-US" sz="1100" b="1" spc="100" kern="0" dirty="0">
                <a:solidFill>
                  <a:srgbClr val="DCEEF5"/>
                </a:solidFill>
                <a:latin typeface="Calibri" pitchFamily="34" charset="0"/>
                <a:ea typeface="Calibri" pitchFamily="34" charset="-122"/>
                <a:cs typeface="Calibri" pitchFamily="34" charset="-120"/>
              </a:rPr>
              <a:t>TABS PER ASSET</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Next up — Workshop 3: Build the Business Glossary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Copper State Credit Union - PDC BA Course</dc:creator>
  <cp:lastModifiedBy>Copper State Credit Union - PDC BA Course</cp:lastModifiedBy>
  <cp:revision>1</cp:revision>
  <dcterms:created xsi:type="dcterms:W3CDTF">2026-06-10T17:22:06Z</dcterms:created>
  <dcterms:modified xsi:type="dcterms:W3CDTF">2026-06-10T17:22:06Z</dcterms:modified>
</cp:coreProperties>
</file>