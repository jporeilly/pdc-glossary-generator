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803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11.0.0   ·   TECHNICAL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02920" y="2788920"/>
            <a:ext cx="2926080" cy="0"/>
          </a:xfrm>
          <a:prstGeom prst="line">
            <a:avLst/>
          </a:prstGeom>
          <a:noFill/>
          <a:ln w="31750">
            <a:solidFill>
              <a:srgbClr val="127C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71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Dictionaries and Data Patterns turn profiling results into governance — the engine behind PII detection, sensitivity, and the Galaxy View.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 + Patterns</a:t>
            </a:r>
            <a:r>
              <a:rPr lang="en-US" sz="1400" dirty="0">
                <a:solidFill>
                  <a:srgbClr val="5C8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r>
              <a:rPr lang="en-US" sz="1400" dirty="0">
                <a:solidFill>
                  <a:srgbClr val="5C8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&amp; Business Terms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methods, one goal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scans already-profiled data and classifies each column two complementary ways, then tags it automatically.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BY CONTENT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85292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 column's actual values against predefined lists of known terms — codes, SKUs, vocabularies.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Patterns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65192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BY SHAPE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65192" y="285292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each value to a format signature and match the shape — emails, SSNs, account and part codes, dates.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+ Pattern = a Policy</a:t>
            </a:r>
            <a:r>
              <a:rPr lang="en-US" sz="12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on a match, apply Tags &amp; Business Terms.   Runs on profiled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 ·  Technical Deep-Dive  ·  PDC 11.0.0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 — DATA DICTIONARIES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dictionary matches on content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scans the actual column values and classifies the column by what it contains, not just its name — so it catches data a name never reveals.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System-defined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dictionaries ship with PDC — ISO country codes, currencies, standard classifications.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8745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User-defined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your business context — authored for CSCU in Module 02.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27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matching rule (built-in Marital_Status, in plain language)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45643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 </a:t>
            </a:r>
            <a:r>
              <a:rPr lang="en-US" sz="11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similarity × 0.9 + metadata-hint × 0.1</a:t>
            </a: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when  </a:t>
            </a:r>
            <a:r>
              <a:rPr lang="en-US" sz="11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≥ 0.7  AND  cardinality ≥ 3</a:t>
            </a: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match  </a:t>
            </a: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the column PII and Sensitive: Marital Status.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 ·  Technical Deep-Dive  ·  PDC 11.0.0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 — DATA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pattern matches on shape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value is reduced to a position signature — a character-by-character substitution. It is dimensional reduction for text.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8138160" cy="1463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lower-case letter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whitespace (space, tab)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upper-case letter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  - / | ! $ % ^ &amp; 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 0–9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/ control character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24612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3467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an CSCU account number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7124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3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CSCU-CG-001001</a:t>
            </a:r>
            <a:r>
              <a:rPr lang="en-US" sz="16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r>
              <a:rPr lang="en-US" sz="1600" b="1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AAA-AA-nnnnnn</a:t>
            </a:r>
            <a:r>
              <a:rPr lang="en-US" sz="11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3 letters · community code · 6 digits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 ·  Technical Deep-Dive  ·  PDC 11.0.0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 — ONE MECHANISM, THREE JOBS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signature to governance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 tallies recurring patterns and tracks the highest and lowest character at each position — revealing fixed prefixes (the CSCU- prefix) and proposing tighter RegEx. The top ~20 patterns feed three jobs.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20665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auto-built regular expression for the format.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816352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8163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779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column's profilePattern is compared, with confidence, to a predefined pattern — on a match, it tags.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529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checks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3493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outside the accepted pattern surface as the outliers a DQ rule flags.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 ·  Technical Deep-Dive  ·  PDC 11.0.0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 + Patterns = a Policy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 ships many policies, spanning whole sectors. You select the methods relevant to your data and run them as one job.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529840" cy="713232"/>
          </a:xfrm>
          <a:prstGeom prst="roundRect">
            <a:avLst>
              <a:gd name="adj" fmla="val 102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07080" y="1920240"/>
            <a:ext cx="2529840" cy="713232"/>
          </a:xfrm>
          <a:prstGeom prst="roundRect">
            <a:avLst>
              <a:gd name="adj" fmla="val 102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7080" y="1920240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11240" y="1920240"/>
            <a:ext cx="2529840" cy="713232"/>
          </a:xfrm>
          <a:prstGeom prst="roundRect">
            <a:avLst>
              <a:gd name="adj" fmla="val 102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11240" y="1920240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2529840" cy="713232"/>
          </a:xfrm>
          <a:prstGeom prst="roundRect">
            <a:avLst>
              <a:gd name="adj" fmla="val 102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88920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Enforcement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07080" y="2788920"/>
            <a:ext cx="2529840" cy="713232"/>
          </a:xfrm>
          <a:prstGeom prst="roundRect">
            <a:avLst>
              <a:gd name="adj" fmla="val 102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7080" y="2788920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PCI-DSS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11240" y="2788920"/>
            <a:ext cx="2529840" cy="713232"/>
          </a:xfrm>
          <a:prstGeom prst="roundRect">
            <a:avLst>
              <a:gd name="adj" fmla="val 10256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1240" y="2788920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</a:t>
            </a:r>
            <a:r>
              <a:rPr lang="en-US" sz="11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the one you'll run in a moment.  After a run, the </a:t>
            </a:r>
            <a:r>
              <a:rPr lang="en-US" sz="115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 View</a:t>
            </a:r>
            <a:r>
              <a:rPr lang="en-US" sz="11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maps sensitive data across the catalog at a glance.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 ·  Technical Deep-Dive  ·  PDC 11.0.0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DATA IDENTIFICATION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444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Data Identification tile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51960" y="14264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→ Process on a profiled table, then the Data Identification card.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221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Methods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51960" y="22037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dictionaries and patterns that fit — together they form the policy.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999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&amp; track in Workers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51960" y="29809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runs asynchronously; watch its progress on the Workers page.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776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results in Data Canvas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51960" y="37581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columns are now tagged (PII &amp; Sensitive) — ready for search and governance.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must run first — identification reads the profiled values.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 ·  Technical Deep-Dive  ·  PDC 11.0.0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CSCU policy: built-in Data Privacy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build — run the built-in Data Privacy policy on the CSCU members table and read what it applies.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841248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matches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Tags applied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members.email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pattern + name hint “email”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· Sensitive · term Email Address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members.service_zip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ZIP  nnnnn / nnnnn-nnnn + name hint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· Location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27C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730752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82219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 table tag  </a:t>
            </a:r>
            <a:r>
              <a:rPr lang="en-US" sz="11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Contains_Personal_Data</a:t>
            </a: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 members; Sensitivity reflects the highest matched column. Profiled values in, governed tags out — and those tags are exactly what a business rule reads next.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5" name="Text 6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 ·  Technical Deep-Dive  ·  PDC 11.0.0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TAGS TO BUSINESS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governance starts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column is recognised, a business rule can act on it. CSCU's flagship example lives in the members table.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138160" cy="1691640"/>
          </a:xfrm>
          <a:prstGeom prst="roundRect">
            <a:avLst>
              <a:gd name="adj" fmla="val 4324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93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CSCU-Marketing-OptOut-Compliance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carries a consent flag </a:t>
            </a:r>
            <a:r>
              <a:rPr lang="en-US" sz="120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opted_out_marketing</a:t>
            </a:r>
            <a:r>
              <a:rPr lang="en-US" sz="12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TRUE = opted out, must not be contacted. Identification has already tagged </a:t>
            </a:r>
            <a:r>
              <a:rPr lang="en-US" sz="120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members.email</a:t>
            </a:r>
            <a:r>
              <a:rPr lang="en-US" sz="12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PII. The rule joins the two: </a:t>
            </a:r>
            <a:r>
              <a:rPr lang="en-US" sz="12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marketing email to any member whose opt-out flag is TRUE.</a:t>
            </a:r>
            <a:r>
              <a:rPr lang="en-US" sz="12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Several opted-out members still hold a valid email — exactly the violation it must catch.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 →  identification (the tags)  →  business rules  →  Trust Score</a:t>
            </a:r>
            <a:r>
              <a:rPr lang="en-US" sz="11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This deep-dive covers the first two; the opt-out rule is the BA Workshop's flagship.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Identification  ·  Technical Deep-Dive  ·  PDC 11.0.0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6276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lenses, one governed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423160"/>
            <a:ext cx="2743200" cy="0"/>
          </a:xfrm>
          <a:prstGeom prst="line">
            <a:avLst/>
          </a:prstGeom>
          <a:noFill/>
          <a:ln w="31750">
            <a:solidFill>
              <a:srgbClr val="127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688336"/>
            <a:ext cx="109728" cy="10972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06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 match content  </a:t>
            </a:r>
            <a:r>
              <a:rPr lang="en-US" sz="125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known values, via a weighted confidence score and a cardinality test.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145536"/>
            <a:ext cx="109728" cy="10972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63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match shape  </a:t>
            </a:r>
            <a:r>
              <a:rPr lang="en-US" sz="125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per-position signature that also generates RegEx and finds DQ outliers.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602736"/>
            <a:ext cx="109728" cy="10972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20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combine both  </a:t>
            </a:r>
            <a:r>
              <a:rPr lang="en-US" sz="125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selected methods, run as one job, on already-profiled data.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059936"/>
            <a:ext cx="109728" cy="10972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77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governance  </a:t>
            </a:r>
            <a:r>
              <a:rPr lang="en-US" sz="125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Tags &amp; Business Terms feeding Sensitivity, search, Galaxy View — and the business rules that act on them.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 Module 02 — Build Your Own CSCU Dictionary &amp; Pattern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1029</Words>
  <Application>Microsoft Office PowerPoint</Application>
  <PresentationFormat>On-screen Show (16:9)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Identification — Technical Deep-Dive</dc:title>
  <dc:subject>PptxGenJS Presentation</dc:subject>
  <dc:creator>Pentaho Academy</dc:creator>
  <cp:lastModifiedBy>James O'Reilly</cp:lastModifiedBy>
  <cp:revision>2</cp:revision>
  <dcterms:created xsi:type="dcterms:W3CDTF">2026-06-22T22:30:58Z</dcterms:created>
  <dcterms:modified xsi:type="dcterms:W3CDTF">2026-06-22T22:34:25Z</dcterms:modified>
</cp:coreProperties>
</file>