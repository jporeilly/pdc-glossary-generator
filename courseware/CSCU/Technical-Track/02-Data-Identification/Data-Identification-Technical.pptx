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60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7803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F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PENTAHO DATA CATALOG 10.2.11   ·   TECHNICAL DEEP-DIVE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02920" y="2788920"/>
            <a:ext cx="2926080" cy="0"/>
          </a:xfrm>
          <a:prstGeom prst="line">
            <a:avLst/>
          </a:prstGeom>
          <a:noFill/>
          <a:ln w="31750">
            <a:solidFill>
              <a:srgbClr val="127C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718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7DE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Dictionaries and Data Patterns turn profiling results into governance — the engine behind PII detection, sensitivity, and the Galaxy View.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Dictionaries + Patterns</a:t>
            </a:r>
            <a:r>
              <a:rPr lang="en-US" sz="1400" dirty="0">
                <a:solidFill>
                  <a:srgbClr val="5C81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r>
              <a:rPr lang="en-US" sz="1400" dirty="0">
                <a:solidFill>
                  <a:srgbClr val="5C81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&amp; Business Terms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methods, one goal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scans already-profiled data and classifies each column two complementary ways, then tags it automatically.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  <a:effectLst>
            <a:outerShdw blurRad="88900" dist="38100" dir="5400000" algn="bl" rotWithShape="0">
              <a:srgbClr val="7895A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Dictionaries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BY CONTENT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852928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 column's actual values against predefined lists of known terms — codes, SKUs, vocabularies.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920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  <a:effectLst>
            <a:outerShdw blurRad="88900" dist="38100" dir="5400000" algn="bl" rotWithShape="0">
              <a:srgbClr val="7895A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65192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Patterns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65192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BY SHAPE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65192" y="2852928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each value to a format signature and match the shape — emails, SSNs, account and part codes, dates.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+ Pattern = a Policy</a:t>
            </a:r>
            <a:r>
              <a:rPr lang="en-US" sz="12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on a match, apply Tags &amp; Business Terms.   Runs on profiled data.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1 — DATA DICTIONARIES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dictionary matches on content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scans the actual column values and classifies the column by what it contains, not just its name — so it catches data a name never reveals.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System-defined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dictionaries ship with PDC — ISO country codes, currencies, standard classifications.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8745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User-defined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your business context — authored for AWC in Module 02.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017520"/>
            <a:ext cx="8138160" cy="1325880"/>
          </a:xfrm>
          <a:prstGeom prst="roundRect">
            <a:avLst>
              <a:gd name="adj" fmla="val 5517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27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matching rule (built-in Marital_Status, in plain language)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456432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 </a:t>
            </a:r>
            <a:r>
              <a:rPr lang="en-US" sz="1150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similarity × 0.9 + metadata-hint × 0.1</a:t>
            </a: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when  </a:t>
            </a:r>
            <a:r>
              <a:rPr lang="en-US" sz="1150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 ≥ 0.7  AND  cardinality ≥ 3</a:t>
            </a: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match  </a:t>
            </a:r>
            <a:r>
              <a:rPr lang="en-US" sz="115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the column PII and Sensitive: Marital Status.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— DATA 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pattern matches on shape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value is reduced to a position signature — a character-by-character substitution. It is dimensional reduction for text.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138160" cy="14630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Symbol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Symbol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lower-case letter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whitespace (space, tab)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upper-case letter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symbol  - / | ! $ % ^ &amp; *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 0–9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/ control character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4612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  <a:effectLst>
            <a:outerShdw blurRad="88900" dist="38100" dir="5400000" algn="bl" rotWithShape="0">
              <a:srgbClr val="7895A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33467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— an AWC account number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71246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30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AWC-CG-001001</a:t>
            </a:r>
            <a:r>
              <a:rPr lang="en-US" sz="16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    </a:t>
            </a:r>
            <a:r>
              <a:rPr lang="en-US" sz="1600" b="1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AAA-AA-nnnnnn</a:t>
            </a:r>
            <a:r>
              <a:rPr lang="en-US" sz="11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3 letters · community code · 6 digits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— ONE MECHANISM, THREE JOBS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signature to governance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PDC tallies recurring patterns and tracks the highest and lowest character at each position — revealing fixed prefixes (the AWC- prefix) and proposing tighter RegEx. The top ~20 patterns feed three jobs.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384048" cy="38404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103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generation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11880" y="20665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auto-built regular expression for the format.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816352"/>
            <a:ext cx="384048" cy="38404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8163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2779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column's profilePattern is compared, with confidence, to a predefined pattern — on a match, it tags.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529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checks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11880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outside the accepted pattern surface as the outliers a DQ rule flags.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Dictionaries + Patterns = a Policy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PDC ships many policies, spanning whole sectors. You select the methods relevant to your data and run them as one job.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07080" y="192024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07080" y="192024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11240" y="192024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11240" y="192024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78892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78892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Enforcement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07080" y="278892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F3F8F9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07080" y="278892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PCI-DSS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11240" y="2788920"/>
            <a:ext cx="2529840" cy="713232"/>
          </a:xfrm>
          <a:prstGeom prst="roundRect">
            <a:avLst>
              <a:gd name="adj" fmla="val 10256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11240" y="2788920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</a:t>
            </a:r>
            <a:r>
              <a:rPr lang="en-US" sz="11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the one you'll run in a moment.  After a run, the </a:t>
            </a:r>
            <a:r>
              <a:rPr lang="en-US" sz="115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View</a:t>
            </a:r>
            <a:r>
              <a:rPr lang="en-US" sz="11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maps sensitive data across the catalog at a glance.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DATA IDENTIFICATION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job, end to end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4447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Data Identification tile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251960" y="14264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→ Process on a profiled table, then the Data Identification card.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2219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Methods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51960" y="22037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dictionaries and patterns that fit — together they form the policy.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01752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999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&amp; track in Workers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251960" y="298094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runs asynchronously; watch its progress on the Workers page.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7764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results in Data Canvas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51960" y="37581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columns are now tagged (PII &amp; Sensitive) — ready for search and governance.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Profiling must run first — identification reads the profiled values.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IN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AWC policy: built-in Data Privacy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build — run the built-in Data Privacy policy on the AWC customers table and read what it applies.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8412480" cy="16459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matches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Tags applied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customers.email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pattern + name hint “email”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· Sensitive · term Email Address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customers.service_zip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ZIP  nnnnn / nnnnn-nnnn + name hint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30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PII · Location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27C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E0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730752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822192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 table tag  </a:t>
            </a:r>
            <a:r>
              <a:rPr lang="en-US" sz="1150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Contains_Personal_Data</a:t>
            </a:r>
            <a:r>
              <a:rPr lang="en-US" sz="115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customers; Sensitivity reflects the highest matched column. Profiled values in, governed tags out — and those tags are exactly what a business rule reads next.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5" name="Text 6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27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TAGS TO BUSINESS 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governance starts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a column is recognised, a business rule can act on it. AWC's flagship example lives in the customers table.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8138160" cy="1691640"/>
          </a:xfrm>
          <a:prstGeom prst="roundRect">
            <a:avLst>
              <a:gd name="adj" fmla="val 4324"/>
            </a:avLst>
          </a:prstGeom>
          <a:solidFill>
            <a:srgbClr val="EAF3F4"/>
          </a:solidFill>
          <a:ln w="9525">
            <a:solidFill>
              <a:srgbClr val="D2E0E2"/>
            </a:solidFill>
            <a:prstDash val="solid"/>
          </a:ln>
          <a:effectLst>
            <a:outerShdw blurRad="88900" dist="38100" dir="5400000" algn="bl" rotWithShape="0">
              <a:srgbClr val="7895A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933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8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AWC-Marketing-OptOut-Compliance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carries a consent flag </a:t>
            </a:r>
            <a:r>
              <a:rPr lang="en-US" sz="1200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opted_out_marketing</a:t>
            </a:r>
            <a:r>
              <a:rPr lang="en-US" sz="12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TRUE = opted out, must not be contacted. Identification has already tagged </a:t>
            </a:r>
            <a:r>
              <a:rPr lang="en-US" sz="1200" dirty="0">
                <a:solidFill>
                  <a:srgbClr val="0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customers.email</a:t>
            </a:r>
            <a:r>
              <a:rPr lang="en-US" sz="12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PII. The rule joins the two: </a:t>
            </a:r>
            <a:r>
              <a:rPr lang="en-US" sz="1200" b="1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marketing email to any customer whose opt-out flag is TRUE.</a:t>
            </a:r>
            <a:r>
              <a:rPr lang="en-US" sz="1200" dirty="0">
                <a:solidFill>
                  <a:srgbClr val="1F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Several opted-out customers still hold a valid email — exactly the violation it must catch.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profiling  →  identification (the tags)  →  business rules  →  Trust Score</a:t>
            </a:r>
            <a:r>
              <a:rPr lang="en-US" sz="11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This deep-dive covers the first two; the opt-out rule is the BA Workshop's flagship.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4828032"/>
            <a:ext cx="8138160" cy="0"/>
          </a:xfrm>
          <a:prstGeom prst="line">
            <a:avLst/>
          </a:prstGeom>
          <a:noFill/>
          <a:ln w="9525">
            <a:solidFill>
              <a:srgbClr val="D2E0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864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Identification  ·  Technical Deep-Dive  ·  PDC 10.2.11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138160" y="486460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B74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F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162763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lenses, one governed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423160"/>
            <a:ext cx="2743200" cy="0"/>
          </a:xfrm>
          <a:prstGeom prst="line">
            <a:avLst/>
          </a:prstGeom>
          <a:noFill/>
          <a:ln w="31750">
            <a:solidFill>
              <a:srgbClr val="127C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688336"/>
            <a:ext cx="109728" cy="10972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6060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Dictionaries match content  </a:t>
            </a:r>
            <a:r>
              <a:rPr lang="en-US" sz="1250" dirty="0">
                <a:solidFill>
                  <a:srgbClr val="B9D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known values, via a weighted confidence score and a cardinality test.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145536"/>
            <a:ext cx="109728" cy="10972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632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match shape  </a:t>
            </a:r>
            <a:r>
              <a:rPr lang="en-US" sz="1250" dirty="0">
                <a:solidFill>
                  <a:srgbClr val="B9D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per-position signature that also generates RegEx and finds DQ outliers.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602736"/>
            <a:ext cx="109728" cy="10972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20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 combine both  </a:t>
            </a:r>
            <a:r>
              <a:rPr lang="en-US" sz="1250" dirty="0">
                <a:solidFill>
                  <a:srgbClr val="B9D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selected methods, run as one job, on already-profiled data.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059936"/>
            <a:ext cx="109728" cy="109728"/>
          </a:xfrm>
          <a:prstGeom prst="ellipse">
            <a:avLst/>
          </a:prstGeom>
          <a:solidFill>
            <a:srgbClr val="127C8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776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 governance  </a:t>
            </a:r>
            <a:r>
              <a:rPr lang="en-US" sz="1250" dirty="0">
                <a:solidFill>
                  <a:srgbClr val="B9D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Tags &amp; Business Terms feeding Sensitivity, search, Galaxy View — and the business rules that act on them.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F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 Module 02 — Build Your Own AWC Dictionary &amp; Pattern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1029</Words>
  <Application>Microsoft Office PowerPoint</Application>
  <PresentationFormat>On-screen Show (16:9)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Identification — Technical Deep-Dive</dc:title>
  <dc:subject>PptxGenJS Presentation</dc:subject>
  <dc:creator>Pentaho Academy</dc:creator>
  <cp:lastModifiedBy>James O'Reilly</cp:lastModifiedBy>
  <cp:revision>2</cp:revision>
  <dcterms:created xsi:type="dcterms:W3CDTF">2026-06-22T22:30:58Z</dcterms:created>
  <dcterms:modified xsi:type="dcterms:W3CDTF">2026-06-22T22:34:25Z</dcterms:modified>
</cp:coreProperties>
</file>