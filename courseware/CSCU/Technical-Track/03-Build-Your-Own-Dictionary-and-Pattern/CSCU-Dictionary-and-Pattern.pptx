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4" d="100"/>
          <a:sy n="144" d="100"/>
        </p:scale>
        <p:origin x="60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5067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PENTAHO DATA CATALOG 11.0.0   ·   TECHNICAL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7830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CSCU Dictionary &amp; Pattern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" y="2788920"/>
            <a:ext cx="2926080" cy="0"/>
          </a:xfrm>
          <a:prstGeom prst="line">
            <a:avLst/>
          </a:prstGeom>
          <a:noFill/>
          <a:ln w="31750">
            <a:solidFill>
              <a:srgbClr val="127C8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9718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C7DE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and import the Copper State Credit Union method library, then run it as escalating Data Identification policies — across the operations database and the document store.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dictionaries</a:t>
            </a:r>
            <a:r>
              <a:rPr lang="en-US" sz="1300" dirty="0">
                <a:solidFill>
                  <a:srgbClr val="5C8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patterns</a:t>
            </a:r>
            <a:r>
              <a:rPr lang="en-US" sz="1300" dirty="0">
                <a:solidFill>
                  <a:srgbClr val="5C81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r>
              <a:rPr lang="en-US" sz="1300" dirty="0">
                <a:solidFill>
                  <a:srgbClr val="9FC2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Steward / Storage Admin   ·   ~60 min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YOU'LL BUILD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methods, one CSCU library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01 taught the engine. Here you author the methods CSCU needs, import the full set, and run it. Three upload routes get them in: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590800" cy="1920240"/>
          </a:xfrm>
          <a:prstGeom prst="roundRect">
            <a:avLst>
              <a:gd name="adj" fmla="val 3810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  <a:effectLst>
            <a:outerShdw blurRad="88900" dist="38100" dir="5400000" algn="bl" rotWithShape="0">
              <a:srgbClr val="7895A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94560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Dictionary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213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one-column CSV of values, loaded into a new dictionary. The simplest route.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76600" y="1965960"/>
            <a:ext cx="2590800" cy="1920240"/>
          </a:xfrm>
          <a:prstGeom prst="roundRect">
            <a:avLst>
              <a:gd name="adj" fmla="val 3810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  <a:effectLst>
            <a:outerShdw blurRad="88900" dist="38100" dir="5400000" algn="bl" rotWithShape="0">
              <a:srgbClr val="7895A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05200" y="2194560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2" name="Text 10"/>
          <p:cNvSpPr/>
          <p:nvPr/>
        </p:nvSpPr>
        <p:spPr>
          <a:xfrm>
            <a:off x="350520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008120" y="21945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Dictionaries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05200" y="2743200"/>
            <a:ext cx="213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ZIP of CSV value-lists + JSON rules — the whole dictionary library at once.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50280" y="1965960"/>
            <a:ext cx="2590800" cy="1920240"/>
          </a:xfrm>
          <a:prstGeom prst="roundRect">
            <a:avLst>
              <a:gd name="adj" fmla="val 3810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  <a:effectLst>
            <a:outerShdw blurRad="88900" dist="38100" dir="5400000" algn="bl" rotWithShape="0">
              <a:srgbClr val="7895A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8880" y="2194560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7" name="Text 15"/>
          <p:cNvSpPr/>
          <p:nvPr/>
        </p:nvSpPr>
        <p:spPr>
          <a:xfrm>
            <a:off x="6278880" y="21945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781800" y="2194560"/>
            <a:ext cx="167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Patterns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278880" y="2743200"/>
            <a:ext cx="213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JSON file (or ZIP of JSON) — one pattern, or all five together.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method maps to a real column or document in the dataset.  </a:t>
            </a:r>
            <a:r>
              <a:rPr lang="en-US" sz="1150" i="1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appendix in the lab guide is the full index.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CSCU Dictionary &amp; Pattern  ·  PDC 11.0.0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LIBRARY AT A GLANCE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categories across the CSCU estate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CSCU_Status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04088" y="17373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· Payment · Workflow state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834640" y="14630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dicts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37160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0328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CSCU_Reference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10328" y="173736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 / asset / system lists + every ID format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040880" y="146304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dicts · 5 patterns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24028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CSCU_Location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04088" y="26060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Arizona counties &amp; service geography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34640" y="23317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dict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224028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0328" y="23317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CSCU_Operations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10328" y="26060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Alerts · severity · criticality · pipe &amp; asset condition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40880" y="233172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dicts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108960"/>
            <a:ext cx="3931920" cy="749808"/>
          </a:xfrm>
          <a:prstGeom prst="roundRect">
            <a:avLst>
              <a:gd name="adj" fmla="val 9756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" y="32004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CSCU_Compliance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4088" y="3474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status · quality · regulated contaminants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834640" y="3200400"/>
            <a:ext cx="1417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dicts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methods total — 18 dictionaries (match by content) and 5 patterns (match by shape).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CSCU Dictionary &amp; Pattern  ·  PDC 11.0.0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BUILD A DICTIONARY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CSCU Asset Type, by upload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65760" cy="36576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417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920240" y="13990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 → Add Dictionary. Name it, set Category CSCU_Reference.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984248"/>
            <a:ext cx="365760" cy="36576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842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9842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1920240" y="19659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awc_asset_type.csv (11 values); confidence 0.8.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551176"/>
            <a:ext cx="365760" cy="36576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5511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551176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920240" y="25328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Column-name regex (?i)asset_?type at 0.9; pane weight 0.2.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118104"/>
            <a:ext cx="365760" cy="365760"/>
          </a:xfrm>
          <a:prstGeom prst="ellipse">
            <a:avLst/>
          </a:prstGeom>
          <a:solidFill>
            <a:srgbClr val="0B5563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31181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118104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920240" y="30998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 Confidence ≥ 0.6 OR Metadata ≥ 0.7, AND Cardinality ≥ 3. Tag: Asset Type.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371600"/>
            <a:ext cx="2377440" cy="2331720"/>
          </a:xfrm>
          <a:prstGeom prst="roundRect">
            <a:avLst>
              <a:gd name="adj" fmla="val 3137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  <a:effectLst>
            <a:outerShdw blurRad="88900" dist="38100" dir="5400000" algn="bl" rotWithShape="0">
              <a:srgbClr val="7895A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151790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import the rest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18288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re-key the other 17.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46520" y="2194560"/>
            <a:ext cx="2057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Dictionaries → Import
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CSCU-Dictionaries.zip</a:t>
            </a:r>
            <a:endParaRPr lang="en-US" sz="11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Continue → Workers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dictionary matches on content — what the column contains, not its name.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CSCU Dictionary &amp; Pattern  ·  PDC 11.0.0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INCREASING COMPLEXITY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kinds of dictionary you loaded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517904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" y="1517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Simplest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37160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value list — Account Status, Payment Status, Severity. No name hint.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67512" y="2295144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2295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214884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Hints + a term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29000" y="214884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System Names adds a column-name hint and the Water System business term.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2926080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7512" y="3072384"/>
            <a:ext cx="384048" cy="384048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" y="3072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234440" y="292608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Compliance-driving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429000" y="292608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 Status via Select Column (extract from a profiled column); export as ZIP to reuse.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703320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67512" y="3849624"/>
            <a:ext cx="384048" cy="384048"/>
          </a:xfrm>
          <a:prstGeom prst="ellipse">
            <a:avLst/>
          </a:prstGeom>
          <a:solidFill>
            <a:srgbClr val="C98A2B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" y="3849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34440" y="3703320"/>
            <a:ext cx="21945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a list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29000" y="3703320"/>
            <a:ext cx="50292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Drinking Water Contaminants (46 terms) — the case no shape can express, and it fires on documents too.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CSCU Dictionary &amp; Pattern  ·  PDC 11.0.0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— BUILD A PATTERN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CSCU Account Number, by shape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weighted panes that must sum to 1.0: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78308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Column-Name Regex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063240" y="1783080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0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(?i)(account|acct)_?(no|num|number|id)?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98080" y="178308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0.3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44144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Patterns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63240" y="2441448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0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AAA-AA-nnnnnn · AAA-AAA-nnnnnn · AAA-AAAA-nnnnnn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0" y="2441448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0.4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099816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09981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Regex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63240" y="3099816"/>
            <a:ext cx="457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30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^CSCU-[A-Z]{2,4}-\d{6}$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498080" y="3099816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 0.3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069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a match:  </a:t>
            </a:r>
            <a:r>
              <a:rPr lang="en-US" sz="11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Account Number, Sensitive · Table Tag Contains_Customer_Identifiers · term Member Account.  Example  </a:t>
            </a:r>
            <a:r>
              <a:rPr lang="en-US" sz="1100" dirty="0">
                <a:solidFill>
                  <a:srgbClr val="0B55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CSCU-CG-001001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CSCU Dictionary &amp; Pattern  ·  PDC 11.0.0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— IMPORT THE REST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ID formats across CSCU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595360" cy="27432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Pattern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 / source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Format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Example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Number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members.account_number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^CSCU-[A-Z]{2,4}-\d{6}$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CSCU-CG-001001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Meter 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transactions.meter_id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^MTR-\d{6}$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MTR-001001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asset_inventory.asset_id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^AST-\d{4}$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AST-0001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 Segment 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pipe_network_segments.segment_id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^SEG-\d{5}$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SEG-00001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Equipment Tag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inspection documents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^(PS|T|BS|PRV|LS)-\d{2,3}$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PS-012 · T-03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 and meter both end in six digits — the anchored regex keeps them exclusive (qualify and disqualify).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CSCU Dictionary &amp; Pattern  ·  PDC 11.0.0</a:t>
            </a:r>
            <a:endParaRPr lang="en-US" sz="800" dirty="0"/>
          </a:p>
        </p:txBody>
      </p:sp>
      <p:sp>
        <p:nvSpPr>
          <p:cNvPr id="4" name="Text 5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 — COMBINE &amp; RUN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escalating policies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206502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Policy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— warm-up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members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Status + Account Number + built-in Email, US ZIP, US Phone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 — operations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branches, transactions, kyc_reviews, suspicious_activity, asset_inventory, pipe segments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System Names, Meter ID, Compliance, Quality, Contaminants, Asset Type/ID, Pipe Material, Segment ID …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B556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 — full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 cscu_core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every custom method + built-ins as one job — then onto cscu-documents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Actions → Process → Data Identification → Select Methods → Start → read in Data Canvas.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CSCU Dictionary &amp; Pattern  ·  PDC 11.0.0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C — WHAT YOU SHOULD SEE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 your policy tags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17320"/>
          <a:ext cx="8138160" cy="2700528"/>
        </p:xfrm>
        <a:graphic>
          <a:graphicData uri="http://schemas.openxmlformats.org/drawingml/2006/table">
            <a:tbl>
              <a:tblPr/>
              <a:tblGrid>
                <a:gridCol w="3383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Column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Method → 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members.account_number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Number pattern → Account Number, Sensitive + term Member Account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members.account_status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Status dictionary → Account Status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transactions.meter_id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Meter ID pattern → Meter ID + term Meter 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kyc_reviews.compliance_status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Compliance Status dictionary → Compliance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asset_inventory.asset_id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Asset ID pattern → Asset ID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pipe_network_segments.material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Pipe Material dictionary → Pipe Material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CSCU Dictionary &amp; Pattern  ·  PDC 11.0.0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 — UNSTRUCTURED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same methods, on cscu-documents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aren't column-profiled — run Data Discovery, then Document Processing: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65760" cy="365760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0584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String Detection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063240" y="1682496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Reuse dictionaries + patterns (Contaminants, System Names, Account Number, Equipment Tag). Presence, or presence + count.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304288"/>
            <a:ext cx="365760" cy="365760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304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2860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63240" y="2249424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files containing US postal addresses with a business term you choose.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871216"/>
            <a:ext cx="365760" cy="365760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28712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28529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Classification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63240" y="2816352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terms for the document classes; ML assigns them by meaning — no exact string needed.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3611880"/>
            <a:ext cx="8138160" cy="868680"/>
          </a:xfrm>
          <a:prstGeom prst="roundRect">
            <a:avLst>
              <a:gd name="adj" fmla="val 8421"/>
            </a:avLst>
          </a:prstGeom>
          <a:solidFill>
            <a:srgbClr val="EAF3F4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94176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change that matters:  </a:t>
            </a:r>
            <a:r>
              <a:rPr lang="en-US" sz="105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documents, String Detection ignores the dictionary's rule — it's a pure presence/count match, then applies the method's actions to the file. A column-derived dictionary won't work here; use CSV dictionaries.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CSCU Dictionary &amp; Pattern  ·  PDC 11.0.0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D — WHAT YOU SHOULD SEE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sample documents resolve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8138160" cy="256032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Document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Identified as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5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epa_compliance_*.pdf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Contaminants present (Turbidity, Lead, Copper…) + System Name present → Water Quality Compliance Report · Compliance / Confidential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inspection_*.docx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Equipment Tag present (PS-012, T-03) + System Name present → Field Inspection Report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556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any doc quoting an account</a:t>
                      </a:r>
                      <a:endParaRPr lang="en-US" sz="10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F303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Account Number via String Detection → presence (and count) of member identifiers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E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contaminants dictionary from Part A is the one that earns its keep here.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CSCU Dictionary &amp; Pattern  ·  PDC 11.0.0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27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things that bite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/ discover first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566160" y="1371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method only matches data it can see.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01168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once, then curate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66160" y="20116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Re-running a policy re-asserts method tags — don't loop over the app's API overrides.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65176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51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are an array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26517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PATCH replaces the whole set — read-merge-write. Sensitivity is scalar.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29184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3F8F9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918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 sum to 1.0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329184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Column-Name + Content Patterns + Content Regex on every pattern.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931920"/>
            <a:ext cx="81381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9525">
            <a:solidFill>
              <a:srgbClr val="D2E0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931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from an Export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566160" y="39319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F303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 one method, Export it, mirror that exact ZIP/JSON. Validated on load.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4828032"/>
            <a:ext cx="8138160" cy="0"/>
          </a:xfrm>
          <a:prstGeom prst="line">
            <a:avLst/>
          </a:prstGeom>
          <a:noFill/>
          <a:ln w="9525">
            <a:solidFill>
              <a:srgbClr val="D2E0E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86460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Your Own CSCU Dictionary &amp; Pattern  ·  PDC 11.0.0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138160" y="486460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5B74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280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7F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627632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built the engine's inputs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2423160"/>
            <a:ext cx="2743200" cy="0"/>
          </a:xfrm>
          <a:prstGeom prst="line">
            <a:avLst/>
          </a:prstGeom>
          <a:noFill/>
          <a:ln w="31750">
            <a:solidFill>
              <a:srgbClr val="127C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2743200"/>
            <a:ext cx="118872" cy="118872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6517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dictionaries + 5 patterns  </a:t>
            </a:r>
            <a:r>
              <a:rPr lang="en-US" sz="1300" dirty="0">
                <a:solidFill>
                  <a:srgbClr val="B9D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controlled vocabulary and ID format in the CSCU dataset, authored or imported.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310128"/>
            <a:ext cx="118872" cy="118872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32186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as escalating policies  </a:t>
            </a:r>
            <a:r>
              <a:rPr lang="en-US" sz="1300" dirty="0">
                <a:solidFill>
                  <a:srgbClr val="B9D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on the operations database, then carried onto the document store.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877056"/>
            <a:ext cx="118872" cy="118872"/>
          </a:xfrm>
          <a:prstGeom prst="ellipse">
            <a:avLst/>
          </a:prstGeom>
          <a:solidFill>
            <a:srgbClr val="127C8A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785616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are the handoff  </a:t>
            </a:r>
            <a:r>
              <a:rPr lang="en-US" sz="1300" dirty="0">
                <a:solidFill>
                  <a:srgbClr val="B9D4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the Glossary Generator app rides on them over the API; the steward curates.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4526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FBF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 03 — Glossary Generator 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1447</Words>
  <Application>Microsoft Office PowerPoint</Application>
  <PresentationFormat>On-screen Show (16:9)</PresentationFormat>
  <Paragraphs>217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Your Own CSCU Dictionary &amp; Pattern</dc:title>
  <dc:subject>PptxGenJS Presentation</dc:subject>
  <dc:creator>Pentaho Academy</dc:creator>
  <cp:lastModifiedBy>James O'Reilly</cp:lastModifiedBy>
  <cp:revision>2</cp:revision>
  <dcterms:created xsi:type="dcterms:W3CDTF">2026-06-22T22:24:30Z</dcterms:created>
  <dcterms:modified xsi:type="dcterms:W3CDTF">2026-06-22T22:34:37Z</dcterms:modified>
</cp:coreProperties>
</file>