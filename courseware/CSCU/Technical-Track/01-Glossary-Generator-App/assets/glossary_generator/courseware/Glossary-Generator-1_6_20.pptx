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9" r:id="rId4"/>
    <p:sldId id="260" r:id="rId5"/>
    <p:sldId id="275" r:id="rId6"/>
    <p:sldId id="276" r:id="rId7"/>
    <p:sldId id="258" r:id="rId8"/>
    <p:sldId id="259" r:id="rId9"/>
    <p:sldId id="280" r:id="rId10"/>
    <p:sldId id="273" r:id="rId11"/>
    <p:sldId id="274" r:id="rId12"/>
    <p:sldId id="261" r:id="rId13"/>
    <p:sldId id="263" r:id="rId14"/>
    <p:sldId id="264" r:id="rId15"/>
    <p:sldId id="265" r:id="rId16"/>
    <p:sldId id="277" r:id="rId17"/>
    <p:sldId id="266" r:id="rId18"/>
    <p:sldId id="278" r:id="rId19"/>
    <p:sldId id="267" r:id="rId20"/>
    <p:sldId id="268" r:id="rId21"/>
    <p:sldId id="271" r:id="rId22"/>
    <p:sldId id="272" r:id="rId23"/>
    <p:sldId id="269" r:id="rId24"/>
    <p:sldId id="270" r:id="rId25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1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technical-track session. It is NOT a twelfth product workshop — it teaches the public API by driving the AWC Glossary Suggester. Assumes the audience already built the glossary and ran profiling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the product-vs-custom line. If learners can't tell which is which, they'll think these are PDC features. The endpoints underneath ARE the product; the app just wraps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crucial column is the last one — where each step runs. Two are local, one is UI-only (import), the rest are API. Point at row 4 and tee up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sequencing turns redundancy into a payoff: 'you've done this in the UI; here's the automation and exactly which calls it makes.'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in the session. Apply-first is impossible — a term has no id until it's imported.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'Get admin token' button decodes the JWT and shows whether the account carries an admin role, plus the expiry countdown.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Resolve depends on the glossary existing. This is the practical face of the golden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governance gate, and it runs before Apply writes anything. The old behaviour linked every scanned column - one term per column - which is exactly the over-mapping the manual workshop warns against. Now the app maps selectively: CDEs, PII, and evidence-backed columns (a comment, a key, a profiling hit) go through; low-confidence, name-only columns and conceptual terms like Trust Score are held back. Make the payoff concrete - volume does nothing for the Trust Score, whose glossary-term input is binary, and over-linking pollutes lineage and search. Then point to the two controls: a per-row Map = Yes/No always wins, and the policy dropdown (Selective / Strict / Map everything) tunes the gate - with a mapped-vs-held-back count so the steward sees exactly what was withheld.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C0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Emphasise the merge: the PATCH contract full-replaces arrays, so the client sends the merged superset. Dry-run is the safety rail — mandatory on a new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v3 jobs catalog settles the earlier ambiguity: CALCULATE_TRUST_SCORE is first-class, alongside METADATA_INGEST, DATA_PROFILE, DATA_DISCOVERY and PII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agreement validates the app's heuristics. Columns PDC hasn't profiled show 'not in PDC' — run a DATA_PROFILE job and compare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.png"/><Relationship Id="rId8" Type="http://schemas.openxmlformats.org/officeDocument/2006/relationships/image" Target="../media/image13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120640" cy="512064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C435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554480"/>
            <a:ext cx="822960" cy="82296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776679"/>
            <a:ext cx="378562" cy="378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 ·  COMPANION APP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17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business glossary for Pentaho Data Catalog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CDD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sources · review &amp; refine · assign stewardship · export import-ready JSONL  ·  AWC  ·  PDC 10.2.11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custom companion app — one screen, four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75688"/>
            <a:ext cx="640080" cy="640080"/>
          </a:xfrm>
          <a:prstGeom prst="ellipse">
            <a:avLst/>
          </a:prstGeom>
          <a:solidFill>
            <a:srgbClr val="E4F4E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2248510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Arizona Water Glossary Generator — a reference implementation built for this course.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walks the whole glossary workflow on one screen: connect, review, govern, apply.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profiles your sources locally and calls real PDC endpoints for you.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F7E6D4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942" y="2248510"/>
            <a:ext cx="294437" cy="2944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94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is NOT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5120" y="292608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Data Catalog UI feature — “Apply to PDC” and “dry-run” are app features, not product menus.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magic — scanning is local; every PDC write is an HTTP call you could make yourself.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is the product; the app is the on-ramp.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 · INSTALL &amp; CONNECT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it up on your own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app against your PDC instance — Docker or local — then point it at your catalog.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it running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Docker compose, or ./run.sh locally; check /health.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for AWC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Set GLOSSARY_COMPANY + the water_utility domain pack.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Glossary → Data Elements; enter base URL + version.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Admin or Business Steward; held in memory only.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setup, in brief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 (Docker)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or local:  ./run.sh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it’s up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http://&lt;host&gt;:5000/health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→ REVIEW → GOVERN → RESOLVE &amp; APPLY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21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&amp; scan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35040" y="21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Connections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30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9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9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9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Glossary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0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85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84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80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 &amp; generate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80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· Govern → PDC UI · Import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50000"/>
            <a:ext cx="11064240" cy="438912"/>
          </a:xfrm>
          <a:prstGeom prst="roundRect">
            <a:avLst>
              <a:gd name="adj" fmla="val 10417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709436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695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1872" y="46500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&amp; apply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6500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 public API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FITS · PDC PROCESSING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3880" y="1005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PDC’s data scan first, the app second, Trust Score last —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nothing overwrites your governance.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PDC’s data scan — first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ingest — schema, keys.  Data Profiling — stats + intermediate data (bitsets, HLL, patterns, DQ); feeds FK detection &amp; data flow.  Identification + PII — pattern / dictionary tags + sensitivity.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— over the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terms + term↔column links.  Stewardship (steward / owner / custodian).  Sensitivity, CDE, verified-lineage, rating, a quality score.  Then Calculate Trust Score.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→ Profile → Identify → Import glossary → Resolve → Apply → Trust Score (last).  The app merges on top; Trust Score needs quality + classification, so it runs last.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 PROCESSING SPINE · STRUCTURED ‖ UNSTRUCTURED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and unstructured share one spine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01" name="Spine 301"/>
          <p:cNvSpPr/>
          <p:nvPr/>
        </p:nvSpPr>
        <p:spPr>
          <a:xfrm>
            <a:off x="400000" y="2740000"/>
            <a:ext cx="13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Connect</a:t>
            </a:r>
          </a:p>
        </p:txBody>
      </p:sp>
      <p:sp>
        <p:nvSpPr>
          <p:cNvPr id="302" name="Spine 302"/>
          <p:cNvSpPr/>
          <p:nvPr/>
        </p:nvSpPr>
        <p:spPr>
          <a:xfrm>
            <a:off x="17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3" name="Spine 303"/>
          <p:cNvSpPr/>
          <p:nvPr/>
        </p:nvSpPr>
        <p:spPr>
          <a:xfrm>
            <a:off x="2030000" y="2740000"/>
            <a:ext cx="15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Arial"/>
                <a:cs typeface="Arial"/>
              </a:rPr>
              <a:t>Metadata Ingest</a:t>
            </a:r>
          </a:p>
        </p:txBody>
      </p:sp>
      <p:sp>
        <p:nvSpPr>
          <p:cNvPr id="304" name="Spine 304"/>
          <p:cNvSpPr/>
          <p:nvPr/>
        </p:nvSpPr>
        <p:spPr>
          <a:xfrm>
            <a:off x="355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5" name="Spine 305"/>
          <p:cNvSpPr/>
          <p:nvPr/>
        </p:nvSpPr>
        <p:spPr>
          <a:xfrm>
            <a:off x="3840000" y="2320000"/>
            <a:ext cx="2080000" cy="1660000"/>
          </a:xfrm>
          <a:prstGeom prst="roundRect">
            <a:avLst>
              <a:gd name="adj" fmla="val 18000"/>
            </a:avLst>
          </a:prstGeom>
          <a:solidFill>
            <a:srgbClr val="EEF6FA"/>
          </a:solidFill>
          <a:ln w="19050">
            <a:solidFill>
              <a:srgbClr val="1C7293"/>
            </a:solidFill>
          </a:ln>
        </p:spPr>
        <p:txBody>
          <a:bodyPr wrap="square" lIns="36576" tIns="18288" rIns="36576" bIns="18288" rtlCol="0" anchor="ctr"/>
          <a:lstStyle/>
          <a:p>
            <a:pPr algn="l"/>
            <a:r>
              <a:rPr lang="en-US" sz="1000" b="1" dirty="0">
                <a:solidFill>
                  <a:srgbClr val="1C7293"/>
                </a:solidFill>
                <a:latin typeface="Arial"/>
                <a:cs typeface="Arial"/>
              </a:rPr>
              <a:t>SCAN — same step, two lanes</a:t>
            </a:r>
          </a:p>
          <a:p>
            <a:pPr algn="l">
              <a:spcBef>
                <a:spcPts val="4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Structured · DB → Data Profiling</a:t>
            </a:r>
          </a:p>
          <a:p>
            <a:pPr algn="l">
              <a:spcBef>
                <a:spcPts val="200"/>
              </a:spcBef>
            </a:pPr>
            <a:r>
              <a:rPr lang="en-US" sz="1050" b="0" dirty="0">
                <a:solidFill>
                  <a:srgbClr val="0A3D52"/>
                </a:solidFill>
                <a:latin typeface="Arial"/>
                <a:cs typeface="Arial"/>
              </a:rPr>
              <a:t>Unstructured · docs → Data Discovery</a:t>
            </a:r>
          </a:p>
        </p:txBody>
      </p:sp>
      <p:sp>
        <p:nvSpPr>
          <p:cNvPr id="306" name="Spine 306"/>
          <p:cNvSpPr/>
          <p:nvPr/>
        </p:nvSpPr>
        <p:spPr>
          <a:xfrm>
            <a:off x="5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7" name="Spine 307"/>
          <p:cNvSpPr/>
          <p:nvPr/>
        </p:nvSpPr>
        <p:spPr>
          <a:xfrm>
            <a:off x="6230000" y="2740000"/>
            <a:ext cx="182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Data Identification + PII</a:t>
            </a:r>
          </a:p>
        </p:txBody>
      </p:sp>
      <p:sp>
        <p:nvSpPr>
          <p:cNvPr id="308" name="Spine 308"/>
          <p:cNvSpPr/>
          <p:nvPr/>
        </p:nvSpPr>
        <p:spPr>
          <a:xfrm>
            <a:off x="807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9" name="Spine 309"/>
          <p:cNvSpPr/>
          <p:nvPr/>
        </p:nvSpPr>
        <p:spPr>
          <a:xfrm>
            <a:off x="8360000" y="2740000"/>
            <a:ext cx="1560000" cy="820000"/>
          </a:xfrm>
          <a:prstGeom prst="roundRect">
            <a:avLst>
              <a:gd name="adj" fmla="val 18000"/>
            </a:avLst>
          </a:prstGeom>
          <a:solidFill>
            <a:srgbClr val="1C7293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Govern — glossary + app</a:t>
            </a:r>
          </a:p>
        </p:txBody>
      </p:sp>
      <p:sp>
        <p:nvSpPr>
          <p:cNvPr id="310" name="Spine 310"/>
          <p:cNvSpPr/>
          <p:nvPr/>
        </p:nvSpPr>
        <p:spPr>
          <a:xfrm>
            <a:off x="9945000" y="2920000"/>
            <a:ext cx="26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800" b="1" dirty="0">
                <a:solidFill>
                  <a:srgbClr val="0A3D52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11" name="Spine 311"/>
          <p:cNvSpPr/>
          <p:nvPr/>
        </p:nvSpPr>
        <p:spPr>
          <a:xfrm>
            <a:off x="10230000" y="2740000"/>
            <a:ext cx="1600000" cy="820000"/>
          </a:xfrm>
          <a:prstGeom prst="roundRect">
            <a:avLst>
              <a:gd name="adj" fmla="val 18000"/>
            </a:avLst>
          </a:prstGeom>
          <a:solidFill>
            <a:srgbClr val="0A3D52"/>
          </a:solidFill>
        </p:spPr>
        <p:txBody>
          <a:bodyPr wrap="square" lIns="36576" tIns="18288" rIns="36576" bIns="18288" rtlCol="0" anchor="ctr"/>
          <a:lstStyle/>
          <a:p>
            <a:pPr algn="ctr"/>
            <a:r>
              <a:rPr lang="en-US" sz="1080" b="1" dirty="0">
                <a:solidFill>
                  <a:srgbClr val="FFFFFF"/>
                </a:solidFill>
                <a:latin typeface="Arial"/>
                <a:cs typeface="Arial"/>
              </a:rPr>
              <a:t>Calculate Trust Score</a:t>
            </a:r>
          </a:p>
          <a:p>
            <a:pPr algn="ctr"/>
            <a:r>
              <a:rPr lang="en-US" sz="900" b="0" dirty="0">
                <a:solidFill>
                  <a:srgbClr val="ABD3E0"/>
                </a:solidFill>
                <a:latin typeface="Arial"/>
                <a:cs typeface="Arial"/>
              </a:rPr>
              <a:t>(last)</a:t>
            </a:r>
          </a:p>
        </p:txBody>
      </p:sp>
      <p:sp>
        <p:nvSpPr>
          <p:cNvPr id="360" name="Spine caption"/>
          <p:cNvSpPr/>
          <p:nvPr/>
        </p:nvSpPr>
        <p:spPr>
          <a:xfrm>
            <a:off x="430000" y="4470000"/>
            <a:ext cx="11330000" cy="10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/>
            <a:r>
              <a:rPr lang="en-US" sz="1150" b="0" dirty="0">
                <a:solidFill>
                  <a:srgbClr val="0A3D52"/>
                </a:solidFill>
                <a:latin typeface="Arial"/>
                <a:cs typeface="Arial"/>
              </a:rPr>
              <a:t>Both lanes share Metadata Ingest and Data Identification — they differ only at the scan step. The Generator app lives in Govern, after Identification (its Workshop 5 slot); Calculate Trust Score runs last.</a:t>
            </a:r>
          </a:p>
          <a:p>
            <a:pPr algn="l">
              <a:spcBef>
                <a:spcPts val="600"/>
              </a:spcBef>
            </a:pPr>
            <a:r>
              <a:rPr lang="en-US" sz="1050" b="0" dirty="0">
                <a:solidFill>
                  <a:srgbClr val="5B7886"/>
                </a:solidFill>
                <a:latin typeface="Arial"/>
                <a:cs typeface="Arial"/>
              </a:rPr>
              <a:t>At AWC: awc_operations (database) takes the Profiling lane; awc-documents (object store) takes the Discovery lane.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are pulled from PDC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34954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261101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Bulk-load into PDC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CSV registers many sources — each row creates the source and runs its ingest; an existing one shows EXISTS, so re-runs are safe.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1834954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261101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Harvest from PDC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glossary from what PDC already cataloged — DB columns and object-store files. No re-created connection, no DB password.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1834954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051246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261101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01136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Add to app connections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514286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the app’s own connections from the same CSV, with a reachability remap (az-water-postgres → localhost:5433).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SCAN &amp; DISCOVER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scan turns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92767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term per column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876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becomes a candidate term — you prune, not hunt for gaps.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8056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659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663" y="2292767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&amp; purpose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068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locally from names, comments and keys at scan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412480" y="18288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68512" y="21396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583" y="2292767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72600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&amp; PII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7260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HIGH / MED / LOW and PII categories from names and samples.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743" y="4121567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&amp; keys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0876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PK/FK and infers Critical Data Elements for the steward to confirm.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8056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3659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663" y="4121567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44068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profiles distribution, uniqueness and patterns — evidence, not name guesses.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412480" y="3657600"/>
            <a:ext cx="3657600" cy="1508760"/>
          </a:xfrm>
          <a:prstGeom prst="roundRect">
            <a:avLst>
              <a:gd name="adj" fmla="val 5455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668512" y="3968496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1583" y="4121567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7260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+ unstructured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72600" y="43159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to glossary merges a database and a document store into one glossary.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scan reads sources directly, then hands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06868"/>
            <a:ext cx="3429000" cy="3096651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lane · SQL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information_schema.columns — cols, types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pg_catalog — primary &amp; foreign keys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pg_description — comments → definitions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 — distribution, uniqueness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389120" y="2206868"/>
            <a:ext cx="349758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 · S3 API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list_objects_v2 — walk bucket → folders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get_bucket_tagging / get_object_tagging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head_object — x-amz-meta-* owner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get_object — preview &amp; data quality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366760" y="2206868"/>
            <a:ext cx="3429000" cy="3096652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· no API calls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— one term, all its columns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Auto-disambiguate — unique by table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High+Med conf — table terms kept</a:t>
            </a:r>
            <a:br/>
            <a:r>
              <a:rPr lang="en-US" sz="10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Apply writes the businessTerms superset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· REVIEW &amp; PRUNE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5895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51525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prune the terms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column is already a candidate term — so you prune and refine, never hunt for gaps.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inline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definition, purpose, sensitivity, tags — your edit always wins.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noise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filter, then Keep High+Med confidence to drop weak guesses.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existing work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open a glossary export, or enhance a scan against one.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LLM enrich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one optional call here; all else is local.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confidence is set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ladder: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High    a DB comment or a key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Medium  name + type inference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Low     templated from the name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 it: add column comments,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enhance against a glossary.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export as Draft — proposals until a Business Steward approves them.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· GOVERN &amp; GENERATE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stewardship, generate JSONL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who owns each term, bake it in, and export an import-ready glossary for PDC.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roster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add people manually, or fetch live from Keycloak.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stewardship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steward, owner, custodian, status, rating, reviewed — global or per category.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to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people resolve to PDC accounts by UUID (per-instance).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&amp; import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Generate JSONL here, then PDC Business Glossary →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 is whole-glossary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JSONL (one line each):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glossary · category · term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steward / owner UUIDs baked in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replaces the whole glossary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reuse _ids to update in place,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create duplicates.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UUIDs are per-instance — fetch the roster from the target Keycloak.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0117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402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never creates your glossary.</a:t>
            </a:r>
            <a:endParaRPr lang="en-US" sz="3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updates entities that already exist.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77724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“create term” endpoint. You </a:t>
            </a:r>
            <a:r>
              <a:rPr lang="en-US" sz="1600" b="1" dirty="0">
                <a:solidFill>
                  <a:srgbClr val="9F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US" sz="16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glossary through the UI (JSON Lines or CSV); only then can the API attach those terms to columns.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(UI)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632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(API)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5074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263640" y="5074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0E4A62"/>
          </a:solidFill>
          <a:ln w="12700">
            <a:solidFill>
              <a:srgbClr val="1C6A8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3640" y="5074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(API)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THE API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endpoint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&amp; path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066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3500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3500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06640" y="23500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the bearer token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712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8712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/search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06640" y="287121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term → its id + glossary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3924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3924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06640" y="33924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column by name / fqdn / parent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13632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9136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391363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/entities/{id}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06640" y="39136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businessTerms + features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4688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/entities/filter/profiling-info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40664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PDC's profiling stats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56048"/>
            <a:ext cx="11064240" cy="457200"/>
          </a:xfrm>
          <a:prstGeom prst="rect">
            <a:avLst/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" y="49560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49560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/jobs/execute/calculate-trust-score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/jobs/execute/data-discovery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06640" y="49560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· profile files &amp; folders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477256"/>
            <a:ext cx="11064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5477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468880" y="547725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/jobs/{id}/status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406640" y="54772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a running job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044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the bearer token except auth.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AUTHENTICATE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2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token and confirm who you are before writing anything.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PDC panel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under Glossary → Data Elements.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base URL, version,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and password.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Get admin token.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fills the token field and shows role + expiry.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the admin badge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and that the expiry covers your run.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-sk -X POST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https://&lt;host&gt;/api/public/v2/auth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username=&lt;user&gt; -d password=&lt;pwd&gt;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client_id=pdc-client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-d grant_type=password \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jq -r .data.accessToken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RESOLVE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39609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32181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term IDs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term names into the per-instance ids PDC needs — which is why the glossary must be imported first.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 already imported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 PDC.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Resolve &amp; stamp IDs.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The app searches each term.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stamps id + glossaryId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into the Data Elements JSON.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Unresolved names are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usually a missed import.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/api/public/v2/search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"searchTerm": "Customer Name",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"searchFacets":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"type": ["term"]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 carries _id (term id) and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rootId (= glossaryId)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→ Resolve → Apply. A term has no id until it exists.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WHICH TERMS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by business value, not volume — link the right columns, hold back the rest.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975" y="263301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automatically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Data Elements, PII columns, and terms with real evidence behind them — a DDL comment, a key, or a profiling hit (High or Medium confidence).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2628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15" y="263301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back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9204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terms templated from a column name alone, and conceptual terms (Trust Score, Tag) with no physical column. No link is a valid outcome.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503920" y="2011680"/>
            <a:ext cx="3657600" cy="3291840"/>
          </a:xfrm>
          <a:prstGeom prst="roundRect">
            <a:avLst>
              <a:gd name="adj" fmla="val 2778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15400" y="2423160"/>
            <a:ext cx="777240" cy="77724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255" y="2633015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869680" y="38862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per-row Map = Yes/No always wins. Tune the policy: Selective (default), Strict (CDE · PII · High), or Map everything (legacy).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APPLY  ·  THE CENTERPIECE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3946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12" y="932920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PDC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1964588"/>
            <a:ext cx="231343" cy="231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column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136392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3410712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93592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9380" y="196458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87952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current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998464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272784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452" y="1964588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50024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860536" y="164592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9134856" y="1645920"/>
            <a:ext cx="2606040" cy="868680"/>
          </a:xfrm>
          <a:prstGeom prst="roundRect">
            <a:avLst>
              <a:gd name="adj" fmla="val 9474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317736" y="1828800"/>
            <a:ext cx="502920" cy="502920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524" y="1964588"/>
            <a:ext cx="231343" cy="23134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912096" y="16459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superset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the merged superset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48640" y="3035808"/>
            <a:ext cx="5852160" cy="2743200"/>
          </a:xfrm>
          <a:prstGeom prst="roundRect">
            <a:avLst>
              <a:gd name="adj" fmla="val 2333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713232" y="3154680"/>
            <a:ext cx="5522976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/api/public/v2/entities/&lt;id&gt;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"attributes":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"businessTerms": [ {existing},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"id":..., "glossaryId":...,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"name":"Customer Name" }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"features": { "sensitivity":"HIGH",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"isCriticalDataElement": 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"isLineageVerified": true }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valid term keys: id, glossaryId, name,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sourceName, sourceType, confidenceScore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86A7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extra keys (e.g. glossary) -&gt; 400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583680" y="3035808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FBF4EC"/>
          </a:solidFill>
          <a:ln w="12700">
            <a:solidFill>
              <a:srgbClr val="EAD3B6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12280" y="32461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0413" y="3394253"/>
            <a:ext cx="252374" cy="25237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43800" y="3200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5B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Arrays full-replace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543800" y="35661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businessTerms is an array, so sending just the new term would drop the rest. The app reads current, unions, and sends the superset.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583680" y="4526280"/>
            <a:ext cx="5029200" cy="1252728"/>
          </a:xfrm>
          <a:prstGeom prst="roundRect">
            <a:avLst>
              <a:gd name="adj" fmla="val 6569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12280" y="473659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3" y="4884725"/>
            <a:ext cx="252374" cy="25237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543800" y="46817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first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7543800" y="5029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every PATCH (id + body) before a single write. Then untick dry-run; each column reports applied / not-found / error.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spc="150">
                <a:solidFill>
                  <a:srgbClr val="1C7293"/>
                </a:solidFill>
                <a:latin typeface="Arial"/>
              </a:rPr>
              <a:t>STEP 4 · TRUST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0A3D52"/>
                </a:solidFill>
                <a:latin typeface="Arial"/>
              </a:rPr>
              <a:t>Where Trust Score lives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64240" cy="502920"/>
          </a:xfrm>
          <a:prstGeom prst="rect">
            <a:avLst/>
          </a:prstGeom>
          <a:solidFill>
            <a:srgbClr val="0A3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AFC9CF"/>
                </a:solidFill>
                <a:latin typeface="Arial"/>
              </a:rPr>
              <a:t>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Table = File</a:t>
            </a:r>
            <a:r>
              <a:rPr sz="1400" b="0">
                <a:solidFill>
                  <a:srgbClr val="5C8189"/>
                </a:solidFill>
                <a:latin typeface="Arial"/>
              </a:rPr>
              <a:t>        ·        </a:t>
            </a:r>
            <a:r>
              <a:rPr sz="1400" b="0">
                <a:solidFill>
                  <a:srgbClr val="AFC9CF"/>
                </a:solidFill>
                <a:latin typeface="Arial"/>
              </a:rPr>
              <a:t>Not scored:  </a:t>
            </a:r>
            <a:r>
              <a:rPr sz="1400" b="1">
                <a:solidFill>
                  <a:srgbClr val="7FD4DE"/>
                </a:solidFill>
                <a:latin typeface="Arial"/>
              </a:rPr>
              <a:t>Column =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rolls each column’s mean qualityScore + rating up to here, then runs Calculate Trust Score. The Steward links the table-level term by 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00984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EEF6FA"/>
          </a:solidFill>
          <a:ln w="12700">
            <a:solidFill>
              <a:srgbClr val="CF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00984" y="2395728"/>
            <a:ext cx="109728" cy="30175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1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028090"/>
                </a:solidFill>
                <a:latin typeface="Arial"/>
              </a:rPr>
              <a:t>SCORED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applies rating, DQ and term directly to the file; Calculate Trust Score runs here too.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7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53327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The app writes qualityScore + rating here from the scan — inputs to the table score, not a score itself.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05672" y="2395728"/>
            <a:ext cx="2615184" cy="3017520"/>
          </a:xfrm>
          <a:prstGeom prst="roundRect">
            <a:avLst>
              <a:gd name="adj" fmla="val 5000"/>
            </a:avLst>
          </a:prstGeom>
          <a:solidFill>
            <a:srgbClr val="F6FBFD"/>
          </a:solidFill>
          <a:ln w="12700">
            <a:solidFill>
              <a:srgbClr val="E2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05672" y="2395728"/>
            <a:ext cx="109728" cy="3017520"/>
          </a:xfrm>
          <a:prstGeom prst="rect">
            <a:avLst/>
          </a:prstGeom>
          <a:solidFill>
            <a:srgbClr val="5A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651760"/>
            <a:ext cx="2157984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1">
                <a:solidFill>
                  <a:srgbClr val="0A3D52"/>
                </a:solidFill>
                <a:latin typeface="Arial"/>
              </a:rPr>
              <a:t>Folder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145536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spc="120">
                <a:solidFill>
                  <a:srgbClr val="5A6B73"/>
                </a:solidFill>
                <a:latin typeface="Arial"/>
              </a:rPr>
              <a:t>NOT SCORED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602736"/>
            <a:ext cx="2066543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12333F"/>
                </a:solidFill>
                <a:latin typeface="Arial"/>
              </a:rPr>
              <a:t>Skipped — a folder is a container, never a Trust Score target.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5A6B73"/>
                </a:solidFill>
                <a:latin typeface="Arial"/>
              </a:rPr>
              <a:t>The app’s Apply mirrors this exactly: </a:t>
            </a:r>
            <a:r>
              <a:rPr sz="1250" b="0">
                <a:solidFill>
                  <a:srgbClr val="5A6B73"/>
                </a:solidFill>
                <a:latin typeface="Arial"/>
              </a:rPr>
              <a:t>write columns → roll up to tables (Steward links the table term) → apply files directly → skip folders.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>
                <a:solidFill>
                  <a:srgbClr val="5A6B73"/>
                </a:solidFill>
                <a:latin typeface="Arial"/>
              </a:rPr>
              <a:t>Arizona Water Glossary Generator  ·  PDC 10.2.11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>
                <a:solidFill>
                  <a:srgbClr val="5A6B7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TRUST SCORE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92952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Trust Score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PDC to compute Trust Score for the TABLES behind the columns you touched — it’s a table / file rollup, never a per-column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inputs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linked term + verified lineage + rating + data quality.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C wrote them per column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(Data Quality + Rating); PDC averages those up to the table.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job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scoped to the TABLE ids — not the columns.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/jobs/{id}/status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until COMPLETED.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331720"/>
          </a:xfrm>
          <a:prstGeom prst="roundRect">
            <a:avLst>
              <a:gd name="adj" fmla="val 2745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jobs/execute/calculate-trust-score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"&lt;table id&gt;", ... ]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-&gt; { data:{ _id, workerName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/jobs/&lt;id&gt;/status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{ "status":"COMPLETED" }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55080" y="4956048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5029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Remember:  </a:t>
            </a:r>
            <a:r>
              <a:rPr lang="en-US" sz="11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 is a table / file rollup. Columns feed it (Data Quality + Rating) but never carry their own score.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COMPARE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71655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27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PDC profiling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 PDC's own profiling numbers next to the app's discovery, column by column.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PDC connection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 the discovery panel.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Compare with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cell shows app / PDC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completeness, distinct, uniqueness.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usually mean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different sample, or not yet profiled.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/api/public/v2/entities/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filter/profiling-info?sampleLimit=20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"filters": {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"parentIds":["&lt;table id&gt;"],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"types":["COLUMN"]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stats: cardinality, density,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uniqueness, nulls, min/max/avg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 · PROFILE DOCS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0312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3" y="932884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documents in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PDC profile the object-store files you applied to, so SKIPPED documents gain a Data Quality score.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Step 4 — Profile docs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after a non-dry-run apply.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Run Data Discovery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app resolves folders to ids, submits job.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 status or watch Workers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profiling runs on a Remote Worker.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Lab E to compare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each file’s new PDC Data Quality.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/api/public/v3/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jobs/execute/data-discovery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"scope":[ ids ],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"configs":{ "buildSamples":true,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"withProfile":true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files: Data Discovery (this job)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7FA8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DB columns: PDC Data Profiling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INPUT · INSTEAD OF STEP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45236"/>
            <a:ext cx="713232" cy="713232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12" y="937808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Harvest from PDC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 </a:t>
            </a:r>
            <a:r>
              <a:rPr lang="en-US" sz="14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what PDC already cataloged and loads it directly — no scan, no Discover, no profiling. Prefer Connect (Step 1) for those options.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the sources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entities/filter finds the schemas &amp; stores PDC scanned.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username + password, or paste a bearer token.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source &amp; Harvest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columns (database) or files (object store) become terms.</a:t>
            </a:r>
            <a:endParaRPr lang="en-US" sz="1350" dirty="0"/>
          </a:p>
          <a:p>
            <a:pPr marL="0" indent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35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Already-governed flagged</a:t>
            </a:r>
            <a:r>
              <a:rPr lang="en-US" sz="1350" dirty="0">
                <a:solidFill>
                  <a:srgbClr val="123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items PDC governs show an “in PDC” badge.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55080" y="219456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call underneath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2487168"/>
            <a:ext cx="5257800" cy="2834640"/>
          </a:xfrm>
          <a:prstGeom prst="roundRect">
            <a:avLst>
              <a:gd name="adj" fmla="val 2258"/>
            </a:avLst>
          </a:prstGeom>
          <a:solidFill>
            <a:srgbClr val="0B2530"/>
          </a:solidFill>
          <a:ln w="12700">
            <a:solidFill>
              <a:srgbClr val="0B2530"/>
            </a:solidFill>
            <a:prstDash val="solid"/>
          </a:ln>
          <a:effectLst>
            <a:outerShdw blurRad="114300" dist="38100" dir="5400000" algn="bl" rotWithShape="0">
              <a:srgbClr val="0A3D52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19672" y="2606040"/>
            <a:ext cx="492861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filters:{ types:["SCHEMA"] } }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schemas / sources to pick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/entities/filter    Bearer &lt;token&gt;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types: COLUMN (db) | FILE (store)</a:t>
            </a:r>
            <a:endParaRPr lang="en-US" sz="11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CFE8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column or file metadata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POINT IT AT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&amp; best practices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43" y="2265335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are Draft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 until a Business Steward approves them — review before importing.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02552" y="211226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623" y="2265335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02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Whole-glossary import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52360" y="236829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replaces the glossary; reuse _ids to update in place, not duplicate.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43" y="3774095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is a signal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= a DB comment or key; Low = templated from the name. Raise it, don’t trust it.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46520" y="329184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702552" y="362102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5623" y="3774095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35112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 is the steward’s call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52360" y="387705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Auto-inferred from keys, sensitivity and critical terms — always human-confirmed.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743" y="5282855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before writes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arrays full-replace; always preview on a new instance first.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46520" y="4800600"/>
            <a:ext cx="5532120" cy="1234440"/>
          </a:xfrm>
          <a:prstGeom prst="roundRect">
            <a:avLst>
              <a:gd name="adj" fmla="val 5926"/>
            </a:avLst>
          </a:prstGeom>
          <a:solidFill>
            <a:srgbClr val="F6FBFD"/>
          </a:solidFill>
          <a:ln w="12700">
            <a:solidFill>
              <a:srgbClr val="CFE3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702552" y="5129784"/>
            <a:ext cx="566928" cy="566928"/>
          </a:xfrm>
          <a:prstGeom prst="ellipse">
            <a:avLst/>
          </a:prstGeom>
          <a:solidFill>
            <a:srgbClr val="EEF6FA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623" y="5282855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52360" y="5020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52360" y="538581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Steward role suffices; re-auth on 401; never store the token.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D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2194560"/>
            <a:ext cx="5486400" cy="5486400"/>
          </a:xfrm>
          <a:prstGeom prst="ellipse">
            <a:avLst/>
          </a:prstGeom>
          <a:solidFill>
            <a:srgbClr val="0E4A6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463040"/>
            <a:ext cx="868680" cy="868680"/>
          </a:xfrm>
          <a:prstGeom prst="ellipse">
            <a:avLst/>
          </a:prstGeom>
          <a:solidFill>
            <a:srgbClr val="0E4A62"/>
          </a:solidFill>
          <a:ln w="12700">
            <a:solidFill>
              <a:srgbClr val="CFE3E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504" y="1697584"/>
            <a:ext cx="399593" cy="3995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CONNECT TO GOVERNED DATA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one screen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D6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 →  review  →  govern  →  resolve &amp; apply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and govern locally; import once in the UI; resolve &amp; apply over the PDC API.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Water Glossary Generator  ·  PDC 10.2.11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14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C4B6"/>
                </a:solidFill>
                <a:latin typeface="Calibri"/>
              </a:rPr>
              <a:t>ARCHITECTURE REFERENCE  ·  1.6.x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How the registry, drift, and</a:t>
            </a:r>
          </a:p>
          <a:p>
            <a:pPr algn="l"/>
            <a:r>
              <a:rPr sz="3800" b="1">
                <a:solidFill>
                  <a:srgbClr val="B8CED3"/>
                </a:solidFill>
                <a:latin typeface="Cambria"/>
              </a:rPr>
              <a:t>enrichment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B8CED3"/>
                </a:solidFill>
                <a:latin typeface="Calibri"/>
              </a:rPr>
              <a:t>Generic to any industry · the utility vocabulary is one example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THE SINGLE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One registry entry, three governed outputs</a:t>
            </a:r>
          </a:p>
        </p:txBody>
      </p:sp>
      <p:pic>
        <p:nvPicPr>
          <p:cNvPr id="4" name="Picture 3" descr="registry-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275" y="1417320"/>
            <a:ext cx="792714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Term, method tags, and description all generated from one entry — they cannot drift apart.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LOOP &amp;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The lifecycle — and why drift is post-reconcile</a:t>
            </a:r>
          </a:p>
        </p:txBody>
      </p:sp>
      <p:pic>
        <p:nvPicPr>
          <p:cNvPr id="4" name="Picture 3" descr="lifecycle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747" y="1417320"/>
            <a:ext cx="871220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Drift is only assessable after minted term ids are reconciled back into the (persisted) registry.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SAFE LLM ENRICHMENT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Descriptions: prose from the model, links from a verified map</a:t>
            </a:r>
          </a:p>
        </p:txBody>
      </p:sp>
      <p:pic>
        <p:nvPicPr>
          <p:cNvPr id="4" name="Picture 3" descr="llm-safety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The model writes prose only; compliance links come from a curated, human-verified map — never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7293"/>
                </a:solidFill>
                <a:latin typeface="Calibri"/>
              </a:rPr>
              <a:t>GENERIC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4333F"/>
                </a:solidFill>
                <a:latin typeface="Cambria"/>
              </a:rPr>
              <a:t>A layered registry — core, industry overlay, persisted state</a:t>
            </a:r>
          </a:p>
        </p:txBody>
      </p:sp>
      <p:pic>
        <p:nvPicPr>
          <p:cNvPr id="4" name="Picture 3" descr="layered-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7" y="1417320"/>
            <a:ext cx="8961120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B73"/>
                </a:solidFill>
                <a:latin typeface="Calibri"/>
              </a:rPr>
              <a:t>Generic PII/PCI/PHI core stays authoritative; industry vocabulary loads from a swappable pack.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B73"/>
                </a:solidFill>
                <a:latin typeface="Calibri"/>
              </a:rPr>
              <a:t>Glossary Generator  ·  PDC 10.2.11  ·  1.6.1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A3D5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WATER COMPANY · PDC 10.2.11 COURSEWARE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Generator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1.6.4 → 1.6.11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" y="5120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C2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vocabulary — from scan, to glossary, to Data Identification policy.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1.6.20, one direction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286000" y="173736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duplicate-cluster review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35915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1.6.6–7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86000" y="235915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loader: create → metadata ingest → poll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29809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286000" y="2980944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saved connections to a loader CSV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02736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0273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286000" y="3602736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controlled tags · table terms locked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224528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22452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224528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per-company tag dictionary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846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· guard-rails · registry embed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468112"/>
            <a:ext cx="1088136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468112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1.6.12–19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286000" y="5468112"/>
            <a:ext cx="9052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pulled from PDC · object stores fixed · non-destructive enrich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BULK-LOAD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many sources from one CSV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CSV row
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create the data source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trigger a metadata ingest scoped to it</a:t>
            </a:r>
            <a:endParaRPr lang="en-US" sz="1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poll the job to completion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existing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connections you built by hand into a loader-ready CSV — credentials included, reloads straight 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DF3E6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ingest footgun — fixed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468880"/>
            <a:ext cx="48463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source uses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(config body + resourceId).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metadata/re-ingest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refresh job wants entity UUIDs, so a new id returns: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46520" y="4754880"/>
            <a:ext cx="4800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754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423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/scope/0 must match format "uuid"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TAGGING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say what a term 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0136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Number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 · sensitive · identifier · customer · maskable · CDE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 Level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water-quality · compliance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6583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99592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 · contact · privacy · customer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52360" y="1783080"/>
            <a:ext cx="4069080" cy="3337560"/>
          </a:xfrm>
          <a:prstGeom prst="roundRect">
            <a:avLst>
              <a:gd name="adj" fmla="val 246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0" y="2011680"/>
            <a:ext cx="1188720" cy="365760"/>
          </a:xfrm>
          <a:prstGeom prst="rect">
            <a:avLst/>
          </a:prstGeom>
          <a:solidFill>
            <a:srgbClr val="2EC4B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3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5146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terms are locked
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 term that feeds a table's Trust Score is badged and its keep box is disabled — it can't be dropped at low confidence or by any bulk action.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4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an LLM-suggested name renames every instance of that term, so duplicates stay mergeable.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&amp; TAG DICTIONARY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layers, governed and gated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baseline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terms + tags with common sensitivity. Built-in. Protected — can't be removed.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965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to this deployment. Seeded from the domain, grown from scans, steward-owned.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186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35608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scanned items are pending until a steward approves — only then do they govern.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53128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4453128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0056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Guard-rails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53128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can't be deleted, rule tags must exist, sensitivity validated — edits can't silently drift.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7576" y="438912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8037576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04504" y="437083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lift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37576" y="48920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tag's / term's floor raises a term's sensitivity — never lowers it.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HAND-OFF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artifact for the Policy Generator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terms, tags, sensitivity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041648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53712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14333F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82312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82312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D5E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term + the governed vocabulary embedded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955280" y="1920240"/>
            <a:ext cx="502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467344" y="1920240"/>
            <a:ext cx="3383280" cy="2103120"/>
          </a:xfrm>
          <a:prstGeom prst="roundRect">
            <a:avLst>
              <a:gd name="adj" fmla="val 391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95944" y="21488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Generator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95944" y="26517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Identification methods, tags held to the same allow-list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2F7F9"/>
          </a:solidFill>
          <a:ln w="12700">
            <a:solidFill>
              <a:srgbClr val="D7E0E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43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“Ready for the Policy Generator”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after Generate, the Govern page shows glossary saved, JSONL generated, and Registry written: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registries/registry.&lt;id&gt;.json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2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Term ids fill in after import + Resolve Term IDs.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FROM THE TERM, MATCH THE TAGS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Term-first or tag-first?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 — for a reason worth stating.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 is the canonical anchor: it has an identity, links to the glossary, and carries a fixed governed tag set. Tags are attributes of the term.
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D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authoring term-first — one method per concept, emitting that concept's tags — guarantees consistency. Tag-first gives the same methods only because the registry already binds tags to terms, and it has no anchor to merge against.
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consistency isn't a competing goal — it's a consequence of term-anchored authoring against one governed vocabulary.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3600</Words>
  <Application>Microsoft Office PowerPoint</Application>
  <PresentationFormat>Widescreen</PresentationFormat>
  <Paragraphs>403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the Glossary Workflow with the PDC Public API</dc:title>
  <dc:subject>PptxGenJS Presentation</dc:subject>
  <dc:creator>Pentaho Education</dc:creator>
  <cp:lastModifiedBy>James O'Reilly</cp:lastModifiedBy>
  <cp:revision>4</cp:revision>
  <dcterms:created xsi:type="dcterms:W3CDTF">2026-06-19T11:21:05Z</dcterms:created>
  <dcterms:modified xsi:type="dcterms:W3CDTF">2026-07-02T19:48:00Z</dcterms:modified>
</cp:coreProperties>
</file>