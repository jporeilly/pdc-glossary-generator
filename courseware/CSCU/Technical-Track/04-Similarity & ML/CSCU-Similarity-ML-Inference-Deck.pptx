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0E7C8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3108960" cy="310896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pic>
        <p:nvPicPr>
          <p:cNvPr id="4" name="Image 0" descr="ic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ACADEMY · TECHNICAL TRACK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Similarity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ML Inference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66928" y="3703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AI engine behind glossary suggestions in Pentaho Data Catalog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State Credit Union scenario</a:t>
            </a:r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11.0.0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MOTIVATING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this pane empty?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CSCU catalog, switch to Glossary → Suggested, and … nothing.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like a missing-LLM problem. Usually it isn’t.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Suggested pane only fills once two things are true — the similarity job has run, and the AI/ML layer it relies on is wired up. This workshop makes both true.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74920" y="1508760"/>
            <a:ext cx="3611880" cy="3154680"/>
          </a:xfrm>
          <a:prstGeom prst="roundRect">
            <a:avLst>
              <a:gd name="adj" fmla="val 1739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0" y="1691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 ›  Suggested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2057400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67528" y="2075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Threshold  0.5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2606040"/>
            <a:ext cx="3154680" cy="384048"/>
          </a:xfrm>
          <a:prstGeom prst="rect">
            <a:avLst/>
          </a:prstGeom>
          <a:solidFill>
            <a:srgbClr val="E4EEEE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26151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Name</a:t>
            </a:r>
            <a:pPr indent="0" marL="0">
              <a:buNone/>
            </a:pPr>
            <a:r>
              <a:rPr lang="en-US" sz="9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Score      Status</a:t>
            </a:r>
            <a:endParaRPr lang="en-US" sz="950" dirty="0"/>
          </a:p>
        </p:txBody>
      </p:sp>
      <p:pic>
        <p:nvPicPr>
          <p:cNvPr id="12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9108" y="3246120"/>
            <a:ext cx="603504" cy="6035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0" y="3931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to display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halves, one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86200" cy="224028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713232" cy="71323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c_sl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391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755648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C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26334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Similarity Score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3035808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how it runs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tuning suggestions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workflow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554480"/>
            <a:ext cx="3886200" cy="224028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847088"/>
            <a:ext cx="713232" cy="7132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_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203911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755648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C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5001768" y="26334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ML Inference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001768" y="3035808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services &amp; profiles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inference configuration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then troubleshoot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end: you can run the similarity engine, govern its suggestions, and stand up the inference backend that powers them.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743200"/>
            <a:ext cx="3657600" cy="365760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1188720"/>
            <a:ext cx="3108960" cy="310896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pic>
        <p:nvPicPr>
          <p:cNvPr id="4" name="Image 0" descr="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Similarity Score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66928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your stewards work with every day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Machine-learning metadata matching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3108960"/>
          </a:xfrm>
          <a:prstGeom prst="roundRect">
            <a:avLst>
              <a:gd name="adj" fmla="val 2059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5" name="Image 0" descr="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uses machine learning to find and suggest similar tables, columns, and business terms across the whole data landscape — scoring matches on metadata structure and meaning, not just name overlap.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754880" y="1600200"/>
            <a:ext cx="566928" cy="566928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9" name="Image 1" descr="ic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554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not literal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18562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compare meaning, so SSN and tax_id can match even with different names.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54880" y="2660904"/>
            <a:ext cx="566928" cy="566928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3" name="Image 2" descr="ic_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79806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261518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job, not live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440680" y="29169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appear only after the similarity process is run — they are not generated on tab open.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54880" y="3721608"/>
            <a:ext cx="566928" cy="566928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7" name="Image 3" descr="ic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85876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6758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payoff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term tagging, less redundancy, and a Trust Score input in one motion.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Management to suggestions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2130552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317296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→ Metadata Similarity → Configure Similarity</a:t>
            </a:r>
            <a:endParaRPr lang="en-US" sz="1050" dirty="0"/>
          </a:p>
        </p:txBody>
      </p:sp>
      <p:pic>
        <p:nvPicPr>
          <p:cNvPr id="9" name="Image 0" descr="ic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331720"/>
            <a:ext cx="109728" cy="1097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240280" y="187452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24912" y="2130552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9"/>
          <p:cNvSpPr/>
          <p:nvPr/>
        </p:nvSpPr>
        <p:spPr>
          <a:xfrm>
            <a:off x="2724912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331720" y="28346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59152" y="317296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databases; optionally pick one or more terms</a:t>
            </a:r>
            <a:endParaRPr lang="en-US" sz="1050" dirty="0"/>
          </a:p>
        </p:txBody>
      </p:sp>
      <p:pic>
        <p:nvPicPr>
          <p:cNvPr id="15" name="Image 1" descr="ic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331720"/>
            <a:ext cx="109728" cy="1097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931920" y="187452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16552" y="2130552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4"/>
          <p:cNvSpPr/>
          <p:nvPr/>
        </p:nvSpPr>
        <p:spPr>
          <a:xfrm>
            <a:off x="4416552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4023360" y="28346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050792" y="317296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the run — the Misc Jobs Worker takes over</a:t>
            </a:r>
            <a:endParaRPr lang="en-US" sz="1050" dirty="0"/>
          </a:p>
        </p:txBody>
      </p:sp>
      <p:pic>
        <p:nvPicPr>
          <p:cNvPr id="21" name="Image 2" descr="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260" y="2331720"/>
            <a:ext cx="109728" cy="10972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623560" y="187452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08192" y="2130552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19"/>
          <p:cNvSpPr/>
          <p:nvPr/>
        </p:nvSpPr>
        <p:spPr>
          <a:xfrm>
            <a:off x="6108192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5715000" y="28346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742432" y="317296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on the Workers page until complete</a:t>
            </a:r>
            <a:endParaRPr lang="en-US" sz="1050" dirty="0"/>
          </a:p>
        </p:txBody>
      </p:sp>
      <p:pic>
        <p:nvPicPr>
          <p:cNvPr id="27" name="Image 3" descr="ic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2331720"/>
            <a:ext cx="109728" cy="10972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315200" y="187452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0A2E36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99832" y="2130552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4"/>
          <p:cNvSpPr/>
          <p:nvPr/>
        </p:nvSpPr>
        <p:spPr>
          <a:xfrm>
            <a:off x="7799832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7406640" y="28346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7434072" y="317296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surface on the asset’s Suggested pane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548640" y="43708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is the prerequisite everything else depends on — no run, no suggestions, regardless of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SUGGESTIONS APPEAR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surfaces, one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c_colum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889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31729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Glossary tab → Suggested pane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" y="36576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 term here auto-assigns it to the column.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4408" y="1600200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7016" y="1892808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0848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7016" y="27889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/ File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57016" y="31729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 Items tab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57016" y="36576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updates the item’s status in place.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80176" y="1600200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72784" y="1892808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ic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08483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72784" y="27889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Term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272784" y="31729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Elements tab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72784" y="36576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columns that match — approve to assign.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THRESHOLD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slider filters — it does not generate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DDEB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2011680" cy="20116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2432304" y="1673352"/>
            <a:ext cx="420624" cy="420624"/>
          </a:xfrm>
          <a:prstGeom prst="ellipse">
            <a:avLst/>
          </a:prstGeom>
          <a:solidFill>
            <a:srgbClr val="0A2E3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2121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score  </a:t>
            </a:r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more, looser matches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score  </a:t>
            </a:r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fewer, closer matches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shows only items scoring above the threshold (default 0.5). Click Submit to re-filter.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78308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14" name="Image 0" descr="ic_sl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057400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52160" y="20848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mental model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166360" y="27889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filters an already-computed result set. Drop it to 0.2 and you still see nothing if the job never ran. Tune the score to read results — not to create them.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Approve, reject — and one trap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1600200"/>
          </a:xfrm>
          <a:prstGeom prst="roundRect">
            <a:avLst>
              <a:gd name="adj" fmla="val 4000"/>
            </a:avLst>
          </a:prstGeom>
          <a:solidFill>
            <a:srgbClr val="EAF6F6"/>
          </a:solidFill>
          <a:ln w="12700">
            <a:solidFill>
              <a:srgbClr val="B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5" name="Image 0" descr="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470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column’s Suggested pane, approval assigns the term to the column — it then appears under Elements.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600200"/>
            <a:ext cx="3931920" cy="1600200"/>
          </a:xfrm>
          <a:prstGeom prst="roundRect">
            <a:avLst>
              <a:gd name="adj" fmla="val 4000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9" name="Image 1" descr="ic_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47088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37760" y="24688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suggestion from the list and from this asset’s pending matches.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6364"/>
            </a:avLst>
          </a:prstGeom>
          <a:solidFill>
            <a:srgbClr val="FBEDE6"/>
          </a:solidFill>
          <a:ln/>
        </p:spPr>
      </p:sp>
      <p:pic>
        <p:nvPicPr>
          <p:cNvPr id="13" name="Image 2" descr="ic_ti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7588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584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is sticky.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item is excluded from future similarity suggestions for that asset — so reject deliberately, not to clear clutter.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 feed the Trust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Trust Score weighs four inputs. Approving a similarity suggestion flips one of them from absent to present.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E2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0723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accuracy, validity, uniqueness, consistency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9464" y="219456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34056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E2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52344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Ratings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52344" y="30723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input from data consumers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90288" y="219456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E2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73168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Lineage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73168" y="30723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or unverified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11112" y="219456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0A2E36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75704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93992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Term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93992" y="30723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or not — set by the suggestion you approve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CSCU example:  </a:t>
            </a:r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term for </a:t>
            </a:r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</a:t>
            </a:r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that column’s table earns the glossary-term credit on its next score run.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743200"/>
            <a:ext cx="3657600" cy="365760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1188720"/>
            <a:ext cx="3108960" cy="310896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pic>
        <p:nvPicPr>
          <p:cNvPr id="4" name="Image 0" descr="ic_c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ML Inference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66928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room behind suggestions and the chatbot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AI/ML layer,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1920240"/>
          </a:xfrm>
          <a:prstGeom prst="roundRect">
            <a:avLst>
              <a:gd name="adj" fmla="val 3333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c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ml-gateway-service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8986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ML requests to the configured inference backend.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1600200"/>
            <a:ext cx="2542032" cy="1920240"/>
          </a:xfrm>
          <a:prstGeom prst="roundRect">
            <a:avLst>
              <a:gd name="adj" fmla="val 3333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187452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ic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0299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56032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psc-ml-models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38728" y="28986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ML model metadata and the similarity workload.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0176" y="1600200"/>
            <a:ext cx="2542032" cy="1920240"/>
          </a:xfrm>
          <a:prstGeom prst="roundRect">
            <a:avLst>
              <a:gd name="adj" fmla="val 3333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87452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ic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02996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56032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pdc-chatbot-backend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54496" y="28986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same layer — set it up once, two features benefit.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0A2E36"/>
          </a:solidFill>
          <a:ln/>
        </p:spPr>
      </p:sp>
      <p:pic>
        <p:nvPicPr>
          <p:cNvPr id="20" name="Image 3" descr="ic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9776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85876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one: profiles.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COMPOSE_PROFILES must include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ml-models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ai-ml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these services never deploy.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switches that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542032" cy="224028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_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574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15184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ML_LLM_MODEL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identifier your backend serves.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50215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</a:t>
            </a:r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(empty)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64408" y="1627632"/>
            <a:ext cx="2542032" cy="224028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8728" y="1901952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_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0574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615184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ML_LLM_API_KEY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538728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for the inference service.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38728" y="350215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</a:t>
            </a:r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(empty)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80176" y="1627632"/>
            <a:ext cx="2542032" cy="224028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54496" y="1901952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2" descr="ic_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05740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36208" y="2615184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ML_LLM_INFERENCE_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254496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 PDC calls for inference.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54496" y="350215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</a:t>
            </a:r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(empty)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Backend-agnostic:  </a:t>
            </a:r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these at whatever OpenAI-compatible endpoint you run — a local model server or a hosted API. PDC doesn’t care which, only that the three values resolve.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ML 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5" name="Image 0" descr="ic_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103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420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312724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ML_CUSTOM_TOKENS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 per ML operation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9464" y="18288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0A2E36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10" name="Image 1" descr="ic_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96" y="21031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52344" y="25420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8000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2752344" y="312724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ML_TOKEN_WINDOW_SIZE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752344" y="352044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size for the model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90288" y="18288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15" name="Image 2" descr="ic_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031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73168" y="25420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4773168" y="312724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MAX_FILE_SIZE_FOR_ML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773168" y="352044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file sent for ML processing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611112" y="18288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0A2E36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20" name="Image 3" descr="ic_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21031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93992" y="25420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6000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6793992" y="312724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ML_BENTO_TIME_OUT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793992" y="352044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timeout before a run gives up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are sensible to start; revisit tokens, window, and timeout once you know your model and document sizes.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TROUBLESHOOT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the empty pane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chain top to bottom — the first failure is your culprit.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6654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up?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258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ml-models + ai-ml active in COMPOSE_PROFILES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06654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2258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ML_LLM_* values populated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93522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reachable?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1272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host can reach the inference URL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93522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9240" y="2834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run?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1272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completed on the Workers page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sane?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39959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score to widen the result set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80390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49240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rejected?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9959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rejects are permanently excluded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377440"/>
            <a:ext cx="3657600" cy="365760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280160"/>
            <a:ext cx="3108960" cy="310896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4" name="Image 0" descr="ic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463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RECAP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CSCU lab, end to end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260604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ml-models + ai-ml profiles and the ML_LLM_* inference values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metadata similarity across cscu_core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customer_name → Glossary → Suggested and tune the threshold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strong match to assign the term and lift the Trust Score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B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Academy · Technical Track · PDC 11.0.0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PDC Metadata Similarity &amp; ML Inference</dc:title>
  <dc:subject>PptxGenJS Presentation</dc:subject>
  <dc:creator>Pentaho Academy</dc:creator>
  <cp:lastModifiedBy>Pentaho Academy</cp:lastModifiedBy>
  <cp:revision>1</cp:revision>
  <dcterms:created xsi:type="dcterms:W3CDTF">2026-06-23T10:10:52Z</dcterms:created>
  <dcterms:modified xsi:type="dcterms:W3CDTF">2026-06-23T10:10:52Z</dcterms:modified>
</cp:coreProperties>
</file>