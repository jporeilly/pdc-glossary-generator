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pic>
        <p:nvPicPr>
          <p:cNvPr id="4" name="Image 0" descr="ic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6868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ACADEMY · TECHNICAL TRACK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Similarity</a:t>
            </a:r>
            <a:endParaRPr lang="en-US" sz="4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ML Inference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66928" y="37033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AI engine behind glossary suggestions in Pentaho Data Catalog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 Water Company scenario</a:t>
            </a:r>
            <a:pPr indent="0" marL="0"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250" b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10.2.11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MOTIVATING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pane empty?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open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AWC catalog, switch to Glossary → Suggested, and … nothing.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like a missing-LLM problem. Usually it isn’t.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Suggested pane only fills once two things are true — the similarity job has run, and the AI/ML layer it relies on is wired up. This workshop makes both true.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74920" y="1508760"/>
            <a:ext cx="3611880" cy="3154680"/>
          </a:xfrm>
          <a:prstGeom prst="roundRect">
            <a:avLst>
              <a:gd name="adj" fmla="val 1739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0" y="1691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 ›  Suggested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2057400"/>
            <a:ext cx="14173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67528" y="2075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Threshold  0.5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0" y="2606040"/>
            <a:ext cx="3154680" cy="384048"/>
          </a:xfrm>
          <a:prstGeom prst="rect">
            <a:avLst/>
          </a:prstGeom>
          <a:solidFill>
            <a:srgbClr val="E4EEEE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Name</a:t>
            </a:r>
            <a:pPr indent="0" marL="0">
              <a:buNone/>
            </a:pPr>
            <a:r>
              <a:rPr lang="en-US" sz="950" b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Score      Status</a:t>
            </a:r>
            <a:endParaRPr lang="en-US" sz="950" dirty="0"/>
          </a:p>
        </p:txBody>
      </p:sp>
      <p:pic>
        <p:nvPicPr>
          <p:cNvPr id="12" name="Image 0" descr="ic_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9108" y="3246120"/>
            <a:ext cx="603504" cy="60350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03520" y="3931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to display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BUILD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halves, one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713232" cy="713232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_sl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0391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755648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C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26334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Similarity Score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3035808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it runs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tuning suggestions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workflow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554480"/>
            <a:ext cx="3886200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83480" y="1847088"/>
            <a:ext cx="713232" cy="713232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_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203911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1755648"/>
            <a:ext cx="960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CED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4600" dirty="0"/>
          </a:p>
        </p:txBody>
      </p:sp>
      <p:sp>
        <p:nvSpPr>
          <p:cNvPr id="14" name="Text 10"/>
          <p:cNvSpPr/>
          <p:nvPr/>
        </p:nvSpPr>
        <p:spPr>
          <a:xfrm>
            <a:off x="5001768" y="263347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ML Inference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001768" y="3035808"/>
            <a:ext cx="33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services &amp; profiles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inference configuration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then troubleshoot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end: you can run the similarity engine, govern its suggestions, and stand up the inference backend that powers them.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118872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pic>
        <p:nvPicPr>
          <p:cNvPr id="4" name="Image 0" descr="ic_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Similarity Score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your stewards work with every day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Machine-learning metadata matching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3108960"/>
          </a:xfrm>
          <a:prstGeom prst="roundRect">
            <a:avLst>
              <a:gd name="adj" fmla="val 2059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5" name="Image 0" descr="ic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3337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uses machine learning to find and suggest similar tables, columns, and business terms across the whole data landscape — scoring matches on metadata structure and meaning, not just name overlap.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754880" y="1600200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9" name="Image 1" descr="ic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73736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5544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not literal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440680" y="1856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compare meaning, so SSN and tax_id can match even with different names.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754880" y="2660904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3" name="Image 2" descr="ic_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79806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0680" y="261518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batch job, not live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440680" y="291693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appear only after the similarity process is run — they are not generated on tab open.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754880" y="3721608"/>
            <a:ext cx="566928" cy="566928"/>
          </a:xfrm>
          <a:prstGeom prst="ellipse">
            <a:avLst/>
          </a:prstGeom>
          <a:solidFill>
            <a:srgbClr val="EAF6F6"/>
          </a:solidFill>
          <a:ln/>
        </p:spPr>
      </p:sp>
      <p:pic>
        <p:nvPicPr>
          <p:cNvPr id="17" name="Image 3" descr="ic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85876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36758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payoff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440680" y="3977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term tagging, less redundancy, and a Trust Score input in one motion.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PROCESS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Management to suggestions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→ Metadata Similarity → Configure Similarity</a:t>
            </a:r>
            <a:endParaRPr lang="en-US" sz="1050" dirty="0"/>
          </a:p>
        </p:txBody>
      </p:sp>
      <p:pic>
        <p:nvPicPr>
          <p:cNvPr id="9" name="Image 0" descr="ic_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2331720"/>
            <a:ext cx="109728" cy="1097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24028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2491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9"/>
          <p:cNvSpPr/>
          <p:nvPr/>
        </p:nvSpPr>
        <p:spPr>
          <a:xfrm>
            <a:off x="272491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233172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35915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databases; optionally pick one or more terms</a:t>
            </a:r>
            <a:endParaRPr lang="en-US" sz="1050" dirty="0"/>
          </a:p>
        </p:txBody>
      </p:sp>
      <p:pic>
        <p:nvPicPr>
          <p:cNvPr id="15" name="Image 1" descr="ic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7620" y="2331720"/>
            <a:ext cx="109728" cy="1097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93192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1655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4"/>
          <p:cNvSpPr/>
          <p:nvPr/>
        </p:nvSpPr>
        <p:spPr>
          <a:xfrm>
            <a:off x="441655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402336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05079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 off the run — the Misc Jobs Worker takes over</a:t>
            </a:r>
            <a:endParaRPr lang="en-US" sz="1050" dirty="0"/>
          </a:p>
        </p:txBody>
      </p:sp>
      <p:pic>
        <p:nvPicPr>
          <p:cNvPr id="21" name="Image 2" descr="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260" y="2331720"/>
            <a:ext cx="109728" cy="10972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62356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08192" y="2130552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19"/>
          <p:cNvSpPr/>
          <p:nvPr/>
        </p:nvSpPr>
        <p:spPr>
          <a:xfrm>
            <a:off x="610819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571500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574243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on the Workers page until complete</a:t>
            </a:r>
            <a:endParaRPr lang="en-US" sz="1050" dirty="0"/>
          </a:p>
        </p:txBody>
      </p:sp>
      <p:pic>
        <p:nvPicPr>
          <p:cNvPr id="27" name="Image 3" descr="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2331720"/>
            <a:ext cx="109728" cy="10972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15200" y="187452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99832" y="2130552"/>
            <a:ext cx="603504" cy="6035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4"/>
          <p:cNvSpPr/>
          <p:nvPr/>
        </p:nvSpPr>
        <p:spPr>
          <a:xfrm>
            <a:off x="7799832" y="2130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2E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5"/>
          <p:cNvSpPr/>
          <p:nvPr/>
        </p:nvSpPr>
        <p:spPr>
          <a:xfrm>
            <a:off x="7406640" y="283464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434072" y="3172968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surface on the asset’s Suggested pane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548640" y="4370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is the prerequisite everything else depends on — no run, no suggestions, regardless of threshold.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SUGGESTIONS APPEAR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surfaces, one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731520" cy="7315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_colum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0848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889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1248" y="31729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 tab → Suggested pane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1248" y="36576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 term here auto-assigns it to the column.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160020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7016" y="1892808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0848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7016" y="27889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/ File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557016" y="31729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 Items tab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57016" y="36576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updates the item’s status in place.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80176" y="1600200"/>
            <a:ext cx="2542032" cy="2834640"/>
          </a:xfrm>
          <a:prstGeom prst="roundRect">
            <a:avLst>
              <a:gd name="adj" fmla="val 2518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72784" y="1892808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ic_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084832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2784" y="278892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Term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72784" y="317296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Elements tab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72784" y="365760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columns that match — approve to assign.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THRESHOLD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slider filters — it does not generate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DDEB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2011680" cy="20116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2432304" y="1673352"/>
            <a:ext cx="420624" cy="420624"/>
          </a:xfrm>
          <a:prstGeom prst="ellipse">
            <a:avLst/>
          </a:prstGeom>
          <a:solidFill>
            <a:srgbClr val="0A2E3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2121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E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score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more, looser matches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score  </a:t>
            </a:r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fewer, closer matches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4290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shows only items scoring above the threshold (default 0.5). Click Submit to re-filter.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783080"/>
            <a:ext cx="3703320" cy="2377440"/>
          </a:xfrm>
          <a:prstGeom prst="roundRect">
            <a:avLst>
              <a:gd name="adj" fmla="val 3077"/>
            </a:avLst>
          </a:prstGeom>
          <a:solidFill>
            <a:srgbClr val="0A2E36"/>
          </a:solidFill>
          <a:ln/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14" name="Image 0" descr="ic_sl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05740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852160" y="20848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mental model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166360" y="278892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filters an already-computed result set. Drop it to 0.2 and you still see nothing if the job never ran. Tune the score to read results — not to create them.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Approve, reject — and one trap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1600200"/>
          </a:xfrm>
          <a:prstGeom prst="roundRect">
            <a:avLst>
              <a:gd name="adj" fmla="val 4000"/>
            </a:avLst>
          </a:prstGeom>
          <a:solidFill>
            <a:srgbClr val="EAF6F6"/>
          </a:solidFill>
          <a:ln w="12700">
            <a:solidFill>
              <a:srgbClr val="BFE0DE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5" name="Image 0" descr="ic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470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column’s Suggested pane, approval assigns the term to the column — it then appears under Elements.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600200"/>
            <a:ext cx="3931920" cy="16002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9" name="Image 1" descr="ic_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47088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2356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37760" y="246888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suggestion from the list and from this asset’s pending matches.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429000"/>
            <a:ext cx="8046720" cy="1005840"/>
          </a:xfrm>
          <a:prstGeom prst="roundRect">
            <a:avLst>
              <a:gd name="adj" fmla="val 6364"/>
            </a:avLst>
          </a:prstGeom>
          <a:solidFill>
            <a:srgbClr val="FBEDE6"/>
          </a:solidFill>
          <a:ln/>
        </p:spPr>
      </p:sp>
      <p:pic>
        <p:nvPicPr>
          <p:cNvPr id="13" name="Image 2" descr="ic_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7588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584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is sticky.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item is excluded from future similarity suggestions for that asset — so reject deliberately, not to clear clutter.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Suggestions feed the Trust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Trust Score weighs four inputs. Approving a similarity suggestion flips one of them from absent to present.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E2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accuracy, validity, uniqueness, consistency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464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34056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E2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52344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Ratings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52344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 star input from data consumers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90288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BE2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73168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Lineage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73168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or unverified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11112" y="219456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75704" y="23042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93992" y="276148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 Term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93992" y="3072384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or not — set by the suggestion you approve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AWC example:  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term for </a:t>
            </a:r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that column’s table earns the glossary-term credit on its next score run.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74320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1188720"/>
            <a:ext cx="3108960" cy="3108960"/>
          </a:xfrm>
          <a:prstGeom prst="ellipse">
            <a:avLst/>
          </a:prstGeom>
          <a:solidFill>
            <a:srgbClr val="00A896">
              <a:alpha val="16000"/>
            </a:srgbClr>
          </a:solidFill>
          <a:ln/>
        </p:spPr>
      </p:sp>
      <p:pic>
        <p:nvPicPr>
          <p:cNvPr id="4" name="Image 0" descr="ic_c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2468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ML Inference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66928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room behind suggestions and the chatbot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AI/ML layer,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ic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299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ml-gateway-service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28986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ML requests to the configured inference backend.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160020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38728" y="18745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ic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0299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5603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psc-ml-models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38728" y="28986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ML model metadata and the similarity workload.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0176" y="1600200"/>
            <a:ext cx="2542032" cy="192024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87452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ic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02996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54496" y="256032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pdc-chatbot-backend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54496" y="28986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same layer — set it up once, two features benefit.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8046720" cy="868680"/>
          </a:xfrm>
          <a:prstGeom prst="roundRect">
            <a:avLst>
              <a:gd name="adj" fmla="val 7368"/>
            </a:avLst>
          </a:prstGeom>
          <a:solidFill>
            <a:srgbClr val="0A2E36"/>
          </a:solidFill>
          <a:ln/>
        </p:spPr>
      </p:sp>
      <p:pic>
        <p:nvPicPr>
          <p:cNvPr id="20" name="Image 3" descr="ic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776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85876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one: profiles.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COMPOSE_PROFILES must include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ml-models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ai-ml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these services never deploy.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switches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2542032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ic_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57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15184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ML_LLM_MODEL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identifier your backend serves.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</a:t>
            </a:r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64408" y="1627632"/>
            <a:ext cx="2542032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190195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ic_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057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615184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ML_LLM_API_KEY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38728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for the inference service.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38728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</a:t>
            </a:r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0176" y="1627632"/>
            <a:ext cx="2542032" cy="224028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54496" y="190195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2" descr="ic_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05740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36208" y="2615184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ML_LLM_INFERENCE_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BASE_URL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254496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PDC calls for inference.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54496" y="350215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 </a:t>
            </a:r>
            <a:pPr indent="0" marL="0">
              <a:buNone/>
            </a:pPr>
            <a:r>
              <a:rPr lang="en-US" sz="1050" b="1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(empty)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Backend-agnostic:  </a:t>
            </a:r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these at whatever OpenAI-compatible endpoint you run — a local model server or a hosted API. PDC doesn’t care which, only that the three values resolve.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ML 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5" name="Image 0" descr="ic_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1031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ML_CUSTOM_TOKENS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 per ML operation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9464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10" name="Image 1" descr="ic_gau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5496" y="2103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52344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8000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2752344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ML_TOKEN_WINDOW_SIZE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752344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size for the model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90288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15" name="Image 2" descr="ic_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03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73168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MB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4773168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625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MAX_FILE_SIZE_FOR_ML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773168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file sent for ML processing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611112" y="1828800"/>
            <a:ext cx="1874520" cy="2103120"/>
          </a:xfrm>
          <a:prstGeom prst="roundRect">
            <a:avLst>
              <a:gd name="adj" fmla="val 3902"/>
            </a:avLst>
          </a:prstGeom>
          <a:solidFill>
            <a:srgbClr val="0A2E36"/>
          </a:solidFill>
          <a:ln w="12700">
            <a:solidFill>
              <a:srgbClr val="D5E6E6"/>
            </a:solidFill>
            <a:prstDash val="solid"/>
          </a:ln>
          <a:effectLst>
            <a:outerShdw sx="100000" sy="100000" kx="0" ky="0" algn="bl" rotWithShape="0" blurRad="114300" dist="38100" dir="5400000">
              <a:srgbClr val="0A2E36">
                <a:alpha val="13000"/>
              </a:srgbClr>
            </a:outerShdw>
          </a:effectLst>
        </p:spPr>
      </p:sp>
      <p:pic>
        <p:nvPicPr>
          <p:cNvPr id="20" name="Image 3" descr="ic_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21031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93992" y="254203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6000</a:t>
            </a:r>
            <a:endParaRPr lang="en-US" sz="3000" dirty="0"/>
          </a:p>
        </p:txBody>
      </p:sp>
      <p:sp>
        <p:nvSpPr>
          <p:cNvPr id="22" name="Text 16"/>
          <p:cNvSpPr/>
          <p:nvPr/>
        </p:nvSpPr>
        <p:spPr>
          <a:xfrm>
            <a:off x="6793992" y="3127248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ML_BENTO_TIME_OUT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793992" y="352044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timeout before a run gives up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are sensible to start; revisit tokens, window, and timeout once you know your model and document sizes.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TROUBLESHOOT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empty pane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chain top to bottom — the first failure is your culprit.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6654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up?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258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ml-models + ai-ml active in COMPOSE_PROFILES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87452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206654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2585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ML_LLM_* values populated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93522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reachable?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1272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host can reach the inference URL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93522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2935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9240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run?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1272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completed on the Workers page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sane?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3995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score to widen the result set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3931920" cy="749808"/>
          </a:xfrm>
          <a:prstGeom prst="roundRect">
            <a:avLst>
              <a:gd name="adj" fmla="val 7317"/>
            </a:avLst>
          </a:prstGeom>
          <a:solidFill>
            <a:srgbClr val="F4FAFA"/>
          </a:solidFill>
          <a:ln w="12700">
            <a:solidFill>
              <a:srgbClr val="D5E6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80390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49240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rejected?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959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rejects are permanently excluded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2377440"/>
            <a:ext cx="3657600" cy="365760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280160"/>
            <a:ext cx="3108960" cy="310896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4" name="Image 0" descr="ic_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RECAP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AWC lab, end to end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66928" y="2606040"/>
            <a:ext cx="7223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ml-models + ai-ml profiles and the ML_LLM_* inference values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metadata similarity across awc_operations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customer_name → Glossary → Suggested and tune the threshold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strong match to assign the term and lift the Trust Score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B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 Academy · Technical Track · PDC 10.2.11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PDC Metadata Similarity &amp; ML Inference</dc:title>
  <dc:subject>PptxGenJS Presentation</dc:subject>
  <dc:creator>Pentaho Academy</dc:creator>
  <cp:lastModifiedBy>Pentaho Academy</cp:lastModifiedBy>
  <cp:revision>1</cp:revision>
  <dcterms:created xsi:type="dcterms:W3CDTF">2026-06-23T10:10:52Z</dcterms:created>
  <dcterms:modified xsi:type="dcterms:W3CDTF">2026-06-23T10:10:52Z</dcterms:modified>
</cp:coreProperties>
</file>