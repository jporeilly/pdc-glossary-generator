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dictionary and pattern in PDC is read the same way — a sample floor, a weighted confidence score, a condition (the gate), and an action. Teach this four-part template once and students can read any method's Rules tab. The next two slides pour two real built-in methods into this same template so the fields line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matches column values against a known list. Confidence here is 0.9 x similarity + 0.1 x metadataScore, so the actual values dominate (90%) and the column-name hint adds only 10%. It fires only when confidence &gt;= 0.7 AND the column has &gt;= 3 distinct values — the cardinality guard stops it labelling a 1-2 value flag as marital status. On a match it applies the tags PII and Sensitive: Marital Status, and those categories are what drive the column's Sensitivity rating in Data Canvas. minSamples 200 means it needs ~200 sampled values before it will judge the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matches the shape of the values via regex, plus column-name hints. Confidence here is 0.6 x regexScore + 0.4 x metadataScore. The gate is OR, not AND: it fires if overall confidence &gt;= 0.5 OR the regex score alone &gt;= 0.75 — so unmistakable email values classify even when the column name gives no clue. Aliases like email* (0.9) and E-MAIL (1.0) feed the name-hint. It tags PII, eMail and Non-sensitive, each at confidence 100. Teaching point: the built-in calls email Non-sensitive — an org treating email as personal data under GDPR would override that with a custom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four-part anatomy, two recognisers. DICTIONARIES suit closed value sets — states, statuses, codes — lead on value similarity (0.9), and here gate with AND. PATTERNS suit formatted strings — email, phone, IP — lead on regex (0.6), and here gate with OR so strong content alone is enough. The rule of thumb: pick the method type to match HOW the data type is recognisable — by its list of allowed values, or by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 dictionaries and patterns are a generic starting point: they classify only what they already recognise, and everything specific to your organisation is invisible to them by design. The eight gaps to talk through:
1. GENERIC VOCABULARIES. A dictionary matches values against a word list, and the shipped lists are universal (US states, country codes, common names). They don't know CSCU service cities, meter types, rate-plan codes or alert severities — those columns stay UNKNOWN. This is exactly why the workshop ships the CSCU Service Cities dictionary.
2. GENERIC FORMATS. Built-in patterns know email, SSN, generic phone — not an CSCU account-number format or a regional postal/phone convention. And you can't edit the shipped pattern: default patterns are read-only, so you clone to a custom one.
3. NAME-HINT ASSUMES CONVENTIONAL NAMES. Part of the confidence comes from a column-name regex (it looks for 'email', 'firstname'). Real schemas use svc_addr, cust_acct, mtr_no — which score little on that signal, so a real address column can miss purely because of how it's named.
4. GENERIC SENSITIVITY TAXONOMY. Built-in categories are PII / Sensitive / Non-sensitive. Your scheme may be Public/Internal/Confidential/Restricted or GDPR/HIPAA-specific. The email pattern tags Non-sensitive — a GDPR-driven org would call that wrong and override it.
5. FIXED THRESHOLDS. The weights, the 0.7 gate, the cardinality floor, the 200-sample minimum are tuned for general data and are read-only in the built-ins. Tuning them to your data means recreating them as custom methods.
6. STATISTICAL GATES CAUSE SILENT MISSES. Needing ~200 samples and a cardinality floor means small tables and low-cardinality code columns (severity, status) fall through, and integer keys match nothing — precisely why suspicious_activity looked emptier than members. It's declining to guess, not failing.
7. PROBABILISTIC — FALSE POSITIVES AND NEGATIVES. Generic methods both miss your data and over-fire (a 9-digit ID matching an SSN shape, mis-tagged PII). A steward review pass is mandatory, and fixing systematic errors means custom methods, not endless manual re-tagging.
8. LOOKS-LIKE IS NOT MEANS. Identification classifies the shape of data, not its business meaning. It can't know service_area_system is a critical data element or map a column to your glossary — unless you build custom methods, which can also Assign Business Term and Assign Table Tags.
BOTTOM LINE: built-ins give the universal wins on day one (email, SSN, states) — real value — but they can only recognise what's universal. The mature workflow is: run built-ins first, measure the gap (UNKNOWN columns and mis-tags), then encode what's company-specific as custom dictionaries and patterns, and tune thresholds as you go. Built-ins are the floor, not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should tags from the glossary and from Data Identification be the same? Two senses:
SAME LABELS — YES. A tag like PII must be one label, spelled and cased one way, wherever it is applied — by a dictionary, a pattern, a metadata rule, or a steward on a glossary term. If identification writes PII and the glossary side uses pii or PII_Data, they are three different tags and filters/search fracture: an auditor filtering reg-hipaa silently misses half the estate.
SAME PURPOSE — NO. Data Identification tags are machine-applied, content-derived classification — WHAT THE DATA IS (PII, eMail, Sensitive). The glossary carries authoritative business MEANING through business TERMS, not tags. Academy guidance is blunt: don't make a tag for every term; terms are the governed dictionary, tags are lightweight discovery labels.
CUSTOM METHODS — THE KEY CATCH. When you build a custom dictionary or pattern, its Assign Tags action is a FREE-TEXT field — you type the tag and nothing checks it against an existing list. So PDC does NOT enforce consistency; PII, pii and PII_Data will all coexist as separate tags. Consistency is a governance discipline: maintain one controlled tag list and reuse the EXACT labels across dictionaries, patterns, the glossary, and the Glossary Generator's Suggested_Tags.
THE ALIGNMENT MECHANISM. A dictionary or pattern can, in one match, Assign Tags AND Assign Business Term (and Assign Table Tags). So instead of the glossary and identification each inventing tags, the identification method drops the controlled tag and links the governed term together — single source, no drift. Where a method should tie to the glossary's meaning, use Assign Business Term rather than inventing a look-alike tag.
NAMESPACE NUANCE: a dictionary/pattern CATEGORY is not the same as a Business Glossary CATEGORY, and neither is a TAG. Three separate namespaces — method category, glossary category, and the one shared tag vocabulary that rides across both.
CSCU ACTION: define the CSCU tag taxonomy once (e.g. PII, Sensitive, reg-gdpr, service-data, operational); have the Glossary Generator suggest only from that list; and have every custom dictionary/pattern apply the same exact labels. Then a column tagged PII by the email pattern and a term tagged PII in the glossary are genuinely the same tag, filterable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HOW A METHOD DECIDES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Anatomy of an identification rule</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Every dictionary and pattern carries the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same four-part rule</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 read it once and you can read them all.</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Enough sampled values to judge — typically 200 — before it evaluates.</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weighted formula</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Signals blended into one 0–1 score. The weights decide what matters most.</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THE GATE</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thresholds (AND / OR)</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What must pass before the rule acts. AND = all; OR = any one is enough.</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applyTags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Tags + categories that set the Sensitivity rating and can seed a business term.</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PENTAHO DATA CATALOG 11.0.0   ·   DICTIONARIES + PATTERNS = POLICIES   ·   COPPER STATE CREDIT UNION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DICTIONARY · MATCHES VALUES AGAINST A KNOWN LIST</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Dictionary rule — Marital_Status</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A dictionary scores mostly on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how closely the column’s values match its list</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then gates with AND.</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 200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Needs ~200 sampled values before it will evaluate the column.</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C7293"/>
                </a:solidFill>
                <a:latin typeface="Calibri" pitchFamily="34" charset="0"/>
                <a:ea typeface="Calibri" pitchFamily="34" charset="-122"/>
                <a:cs typeface="Calibri" pitchFamily="34" charset="-120"/>
              </a:rPr>
              <a:t>0.9 × similarity  +  0.1 × metadataScore</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Value match dominates (90%); the column-name hint adds only 10%.</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AND</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confidence ≥ 0.7   AND   cardinality ≥ 3</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Both must hold. The ≥ 3 distinct-values guard blocks false matches on flags.</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 — APPLY TAGS</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PII  ·  Sensitive: Marital Status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Those categories are what drive the column’s Sensitivity rating.</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TYPE: DICTIONARY   ·   CATEGORIES: PII, SENSITIVE   ·   VIEW → DATA OPERATIONS → DATA IDENTIFICATION METHODS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PATTERN · MATCHES SHAPE VIA REGEX + NAME HINTS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Pattern rule — eMail</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A pattern scores on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regex over the values plus column-name hints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and here gates with OR.</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 200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Same floor as a dictionary — ~200 sampled values before it evaluates.</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C7293"/>
                </a:solidFill>
                <a:latin typeface="Calibri" pitchFamily="34" charset="0"/>
                <a:ea typeface="Calibri" pitchFamily="34" charset="-122"/>
                <a:cs typeface="Calibri" pitchFamily="34" charset="-120"/>
              </a:rPr>
              <a:t>0.6 × regexScore  +  0.4 × metadataScore</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Regex on the values leads (60%); the column-name hint counts for 40%.</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confidence ≥ 0.5   OR   regexScore ≥ 0.75</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Either passes. A strong value-match alone is enough, even with no name hint.</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 — APPLY TAGS</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PII (100)  ·  eMail (100)  ·  Non-sensitive (100)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PII yet Non-sensitive — why an email column may not read HIGH like an SSN.</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TYPE: DATAPATTERN   ·   ALIASES: (?i)email* → 0.9,  E-MAIL → 1.0   ·   REGEX MATCHES THE ADDRESS FORMAT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SAME ANATOMY · TWO WAYS TO RECOGNISE A TYPE</a:t>
            </a:r>
            <a:endParaRPr lang="en-US" sz="1200" dirty="0"/>
          </a:p>
        </p:txBody>
      </p:sp>
      <p:sp>
        <p:nvSpPr>
          <p:cNvPr id="3" name="Text 1"/>
          <p:cNvSpPr/>
          <p:nvPr/>
        </p:nvSpPr>
        <p:spPr>
          <a:xfrm>
            <a:off x="457200" y="640080"/>
            <a:ext cx="8229600" cy="731520"/>
          </a:xfrm>
          <a:prstGeom prst="rect">
            <a:avLst/>
          </a:prstGeom>
          <a:noFill/>
          <a:ln/>
        </p:spPr>
        <p:txBody>
          <a:bodyPr wrap="square" lIns="0" tIns="0" rIns="0" bIns="0" rtlCol="0" anchor="ctr"/>
          <a:lstStyle/>
          <a:p>
            <a:pPr indent="0" marL="0">
              <a:buNone/>
            </a:pPr>
            <a:r>
              <a:rPr lang="en-US" sz="3300" b="1" dirty="0">
                <a:solidFill>
                  <a:srgbClr val="FFFFFF"/>
                </a:solidFill>
                <a:latin typeface="Bookman Old Style" pitchFamily="34" charset="0"/>
                <a:ea typeface="Bookman Old Style" pitchFamily="34" charset="-122"/>
                <a:cs typeface="Bookman Old Style" pitchFamily="34" charset="-120"/>
              </a:rPr>
              <a:t>Dictionary vs Pattern</a:t>
            </a:r>
            <a:endParaRPr lang="en-US" sz="3300" dirty="0"/>
          </a:p>
        </p:txBody>
      </p:sp>
      <p:sp>
        <p:nvSpPr>
          <p:cNvPr id="4" name="Shape 2"/>
          <p:cNvSpPr/>
          <p:nvPr/>
        </p:nvSpPr>
        <p:spPr>
          <a:xfrm>
            <a:off x="457200" y="1600200"/>
            <a:ext cx="3931920" cy="2880360"/>
          </a:xfrm>
          <a:prstGeom prst="roundRect">
            <a:avLst>
              <a:gd name="adj" fmla="val 3175"/>
            </a:avLst>
          </a:prstGeom>
          <a:solidFill>
            <a:srgbClr val="1B4450"/>
          </a:solidFill>
          <a:ln w="12700">
            <a:solidFill>
              <a:srgbClr val="1C7293"/>
            </a:solidFill>
            <a:prstDash val="solid"/>
          </a:ln>
        </p:spPr>
      </p:sp>
      <p:sp>
        <p:nvSpPr>
          <p:cNvPr id="5" name="Shape 3"/>
          <p:cNvSpPr/>
          <p:nvPr/>
        </p:nvSpPr>
        <p:spPr>
          <a:xfrm>
            <a:off x="713232" y="1856232"/>
            <a:ext cx="566928" cy="566928"/>
          </a:xfrm>
          <a:prstGeom prst="ellipse">
            <a:avLst/>
          </a:prstGeom>
          <a:solidFill>
            <a:srgbClr val="1C7293"/>
          </a:solidFill>
          <a:ln/>
        </p:spPr>
      </p:sp>
      <p:sp>
        <p:nvSpPr>
          <p:cNvPr id="6" name="Text 4"/>
          <p:cNvSpPr/>
          <p:nvPr/>
        </p:nvSpPr>
        <p:spPr>
          <a:xfrm>
            <a:off x="713232" y="1856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Bookman Old Style" pitchFamily="34" charset="0"/>
                <a:ea typeface="Bookman Old Style" pitchFamily="34" charset="-122"/>
                <a:cs typeface="Bookman Old Style" pitchFamily="34" charset="-120"/>
              </a:rPr>
              <a:t>D</a:t>
            </a:r>
            <a:endParaRPr lang="en-US" sz="2200" dirty="0"/>
          </a:p>
        </p:txBody>
      </p:sp>
      <p:sp>
        <p:nvSpPr>
          <p:cNvPr id="7" name="Text 5"/>
          <p:cNvSpPr/>
          <p:nvPr/>
        </p:nvSpPr>
        <p:spPr>
          <a:xfrm>
            <a:off x="1417320" y="1911096"/>
            <a:ext cx="2377440" cy="45720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DICTIONARY</a:t>
            </a:r>
            <a:endParaRPr lang="en-US" sz="1500" dirty="0"/>
          </a:p>
        </p:txBody>
      </p:sp>
      <p:sp>
        <p:nvSpPr>
          <p:cNvPr id="8" name="Shape 6"/>
          <p:cNvSpPr/>
          <p:nvPr/>
        </p:nvSpPr>
        <p:spPr>
          <a:xfrm>
            <a:off x="4754880" y="1600200"/>
            <a:ext cx="3931920" cy="2880360"/>
          </a:xfrm>
          <a:prstGeom prst="roundRect">
            <a:avLst>
              <a:gd name="adj" fmla="val 3175"/>
            </a:avLst>
          </a:prstGeom>
          <a:solidFill>
            <a:srgbClr val="12403F"/>
          </a:solidFill>
          <a:ln w="12700">
            <a:solidFill>
              <a:srgbClr val="2EC4B6"/>
            </a:solidFill>
            <a:prstDash val="solid"/>
          </a:ln>
        </p:spPr>
      </p:sp>
      <p:sp>
        <p:nvSpPr>
          <p:cNvPr id="9" name="Shape 7"/>
          <p:cNvSpPr/>
          <p:nvPr/>
        </p:nvSpPr>
        <p:spPr>
          <a:xfrm>
            <a:off x="5010912" y="1856232"/>
            <a:ext cx="566928" cy="566928"/>
          </a:xfrm>
          <a:prstGeom prst="ellipse">
            <a:avLst/>
          </a:prstGeom>
          <a:solidFill>
            <a:srgbClr val="2EC4B6"/>
          </a:solidFill>
          <a:ln/>
        </p:spPr>
      </p:sp>
      <p:sp>
        <p:nvSpPr>
          <p:cNvPr id="10" name="Text 8"/>
          <p:cNvSpPr/>
          <p:nvPr/>
        </p:nvSpPr>
        <p:spPr>
          <a:xfrm>
            <a:off x="5010912" y="1856232"/>
            <a:ext cx="566928" cy="566928"/>
          </a:xfrm>
          <a:prstGeom prst="rect">
            <a:avLst/>
          </a:prstGeom>
          <a:noFill/>
          <a:ln/>
        </p:spPr>
        <p:txBody>
          <a:bodyPr wrap="square" lIns="0" tIns="0" rIns="0" bIns="0" rtlCol="0" anchor="ctr"/>
          <a:lstStyle/>
          <a:p>
            <a:pPr algn="ctr" indent="0" marL="0">
              <a:buNone/>
            </a:pPr>
            <a:r>
              <a:rPr lang="en-US" sz="2200" b="1" dirty="0">
                <a:solidFill>
                  <a:srgbClr val="14333F"/>
                </a:solidFill>
                <a:latin typeface="Bookman Old Style" pitchFamily="34" charset="0"/>
                <a:ea typeface="Bookman Old Style" pitchFamily="34" charset="-122"/>
                <a:cs typeface="Bookman Old Style" pitchFamily="34" charset="-120"/>
              </a:rPr>
              <a:t>P</a:t>
            </a:r>
            <a:endParaRPr lang="en-US" sz="2200" dirty="0"/>
          </a:p>
        </p:txBody>
      </p:sp>
      <p:sp>
        <p:nvSpPr>
          <p:cNvPr id="11" name="Text 9"/>
          <p:cNvSpPr/>
          <p:nvPr/>
        </p:nvSpPr>
        <p:spPr>
          <a:xfrm>
            <a:off x="5715000" y="1911096"/>
            <a:ext cx="2377440" cy="45720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PATTERN</a:t>
            </a:r>
            <a:endParaRPr lang="en-US" sz="1500" dirty="0"/>
          </a:p>
        </p:txBody>
      </p:sp>
      <p:sp>
        <p:nvSpPr>
          <p:cNvPr id="12" name="Text 10"/>
          <p:cNvSpPr/>
          <p:nvPr/>
        </p:nvSpPr>
        <p:spPr>
          <a:xfrm>
            <a:off x="777240" y="2624328"/>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MATCHES ON</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values against a known list</a:t>
            </a:r>
            <a:endParaRPr lang="en-US" sz="900" dirty="0"/>
          </a:p>
        </p:txBody>
      </p:sp>
      <p:sp>
        <p:nvSpPr>
          <p:cNvPr id="13" name="Text 11"/>
          <p:cNvSpPr/>
          <p:nvPr/>
        </p:nvSpPr>
        <p:spPr>
          <a:xfrm>
            <a:off x="777240" y="3099816"/>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LEADING SIGNAL</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similarity (0.9)</a:t>
            </a:r>
            <a:endParaRPr lang="en-US" sz="900" dirty="0"/>
          </a:p>
        </p:txBody>
      </p:sp>
      <p:sp>
        <p:nvSpPr>
          <p:cNvPr id="14" name="Text 12"/>
          <p:cNvSpPr/>
          <p:nvPr/>
        </p:nvSpPr>
        <p:spPr>
          <a:xfrm>
            <a:off x="777240" y="3575304"/>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GATE HERE</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AND  —  confidence + cardinality</a:t>
            </a:r>
            <a:endParaRPr lang="en-US" sz="900" dirty="0"/>
          </a:p>
        </p:txBody>
      </p:sp>
      <p:sp>
        <p:nvSpPr>
          <p:cNvPr id="15" name="Text 13"/>
          <p:cNvSpPr/>
          <p:nvPr/>
        </p:nvSpPr>
        <p:spPr>
          <a:xfrm>
            <a:off x="777240" y="4050792"/>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BEST FOR</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closed sets: states, statuses, codes</a:t>
            </a:r>
            <a:endParaRPr lang="en-US" sz="900" dirty="0"/>
          </a:p>
        </p:txBody>
      </p:sp>
      <p:sp>
        <p:nvSpPr>
          <p:cNvPr id="16" name="Text 14"/>
          <p:cNvSpPr/>
          <p:nvPr/>
        </p:nvSpPr>
        <p:spPr>
          <a:xfrm>
            <a:off x="5074920" y="2624328"/>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MATCHES ON</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regex + column-name hints</a:t>
            </a:r>
            <a:endParaRPr lang="en-US" sz="900" dirty="0"/>
          </a:p>
        </p:txBody>
      </p:sp>
      <p:sp>
        <p:nvSpPr>
          <p:cNvPr id="17" name="Text 15"/>
          <p:cNvSpPr/>
          <p:nvPr/>
        </p:nvSpPr>
        <p:spPr>
          <a:xfrm>
            <a:off x="5074920" y="3099816"/>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LEADING SIGNAL</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regexScore (0.6)</a:t>
            </a:r>
            <a:endParaRPr lang="en-US" sz="900" dirty="0"/>
          </a:p>
        </p:txBody>
      </p:sp>
      <p:sp>
        <p:nvSpPr>
          <p:cNvPr id="18" name="Text 16"/>
          <p:cNvSpPr/>
          <p:nvPr/>
        </p:nvSpPr>
        <p:spPr>
          <a:xfrm>
            <a:off x="5074920" y="3575304"/>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GATE HERE</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OR  —  confidence or regex alone</a:t>
            </a:r>
            <a:endParaRPr lang="en-US" sz="900" dirty="0"/>
          </a:p>
        </p:txBody>
      </p:sp>
      <p:sp>
        <p:nvSpPr>
          <p:cNvPr id="19" name="Text 17"/>
          <p:cNvSpPr/>
          <p:nvPr/>
        </p:nvSpPr>
        <p:spPr>
          <a:xfrm>
            <a:off x="5074920" y="4050792"/>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BEST FOR</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formatted strings: email, phone, IP</a:t>
            </a:r>
            <a:endParaRPr lang="en-US" sz="900" dirty="0"/>
          </a:p>
        </p:txBody>
      </p:sp>
      <p:sp>
        <p:nvSpPr>
          <p:cNvPr id="20" name="Text 18"/>
          <p:cNvSpPr/>
          <p:nvPr/>
        </p:nvSpPr>
        <p:spPr>
          <a:xfrm>
            <a:off x="457200" y="4681728"/>
            <a:ext cx="8229600" cy="365760"/>
          </a:xfrm>
          <a:prstGeom prst="rect">
            <a:avLst/>
          </a:prstGeom>
          <a:noFill/>
          <a:ln/>
        </p:spPr>
        <p:txBody>
          <a:bodyPr wrap="square" lIns="0" tIns="0" rIns="0" bIns="0" rtlCol="0" anchor="ctr"/>
          <a:lstStyle/>
          <a:p>
            <a:pPr algn="ctr" indent="0" marL="0">
              <a:buNone/>
            </a:pPr>
            <a:r>
              <a:rPr lang="en-US" sz="1100" i="1" dirty="0">
                <a:solidFill>
                  <a:srgbClr val="C9DEE8"/>
                </a:solidFill>
                <a:latin typeface="Calibri" pitchFamily="34" charset="0"/>
                <a:ea typeface="Calibri" pitchFamily="34" charset="-122"/>
                <a:cs typeface="Calibri" pitchFamily="34" charset="-120"/>
              </a:rPr>
              <a:t>Same rule shape — sample floor, weighted confidence, condition, tag action — tuned to the two ways you recognise a data type.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BUILT-IN METHODS HAVE LIMITS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Why built-in methods aren’t enough</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Built-ins recognise the universal. Everything that makes your data </a:t>
            </a:r>
            <a:pPr indent="0" marL="0">
              <a:lnSpc>
                <a:spcPct val="105000"/>
              </a:lnSpc>
              <a:buNone/>
            </a:pPr>
            <a:r>
              <a:rPr lang="en-US" sz="1350" b="1" i="1" dirty="0">
                <a:solidFill>
                  <a:srgbClr val="14333F"/>
                </a:solidFill>
                <a:latin typeface="Calibri" pitchFamily="34" charset="0"/>
                <a:ea typeface="Calibri" pitchFamily="34" charset="-122"/>
                <a:cs typeface="Calibri" pitchFamily="34" charset="-120"/>
              </a:rPr>
              <a:t>yours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is invisible to them by design.</a:t>
            </a:r>
            <a:endParaRPr lang="en-US" sz="1350" dirty="0"/>
          </a:p>
        </p:txBody>
      </p:sp>
      <p:sp>
        <p:nvSpPr>
          <p:cNvPr id="5" name="Shape 3"/>
          <p:cNvSpPr/>
          <p:nvPr/>
        </p:nvSpPr>
        <p:spPr>
          <a:xfrm>
            <a:off x="457200" y="1755648"/>
            <a:ext cx="3931920" cy="2542032"/>
          </a:xfrm>
          <a:prstGeom prst="roundRect">
            <a:avLst>
              <a:gd name="adj" fmla="val 3237"/>
            </a:avLst>
          </a:prstGeom>
          <a:solidFill>
            <a:srgbClr val="EEF6FA"/>
          </a:solidFill>
          <a:ln w="12700">
            <a:solidFill>
              <a:srgbClr val="DCEEF5"/>
            </a:solidFill>
            <a:prstDash val="solid"/>
          </a:ln>
          <a:effectLst>
            <a:outerShdw sx="100000" sy="100000" kx="0" ky="0" algn="bl" rotWithShape="0" blurRad="88900" dist="38100" dir="5400000">
              <a:srgbClr val="9FB6C2">
                <a:alpha val="25000"/>
              </a:srgbClr>
            </a:outerShdw>
          </a:effectLst>
        </p:spPr>
      </p:sp>
      <p:sp>
        <p:nvSpPr>
          <p:cNvPr id="6" name="Shape 4"/>
          <p:cNvSpPr/>
          <p:nvPr/>
        </p:nvSpPr>
        <p:spPr>
          <a:xfrm>
            <a:off x="713232" y="2011680"/>
            <a:ext cx="402336" cy="402336"/>
          </a:xfrm>
          <a:prstGeom prst="ellipse">
            <a:avLst/>
          </a:prstGeom>
          <a:solidFill>
            <a:srgbClr val="1C7293"/>
          </a:solidFill>
          <a:ln/>
        </p:spPr>
      </p:sp>
      <p:sp>
        <p:nvSpPr>
          <p:cNvPr id="7" name="Text 5"/>
          <p:cNvSpPr/>
          <p:nvPr/>
        </p:nvSpPr>
        <p:spPr>
          <a:xfrm>
            <a:off x="713232" y="2011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1243584" y="1975104"/>
            <a:ext cx="2926080" cy="502920"/>
          </a:xfrm>
          <a:prstGeom prst="rect">
            <a:avLst/>
          </a:prstGeom>
          <a:noFill/>
          <a:ln/>
        </p:spPr>
        <p:txBody>
          <a:bodyPr wrap="square" lIns="0" tIns="0" rIns="0" bIns="0" rtlCol="0" anchor="t"/>
          <a:lstStyle/>
          <a:p>
            <a:pPr indent="0" marL="0">
              <a:buNone/>
            </a:pPr>
            <a:r>
              <a:rPr lang="en-US" sz="1300" b="1" spc="150" kern="0" dirty="0">
                <a:solidFill>
                  <a:srgbClr val="1C7293"/>
                </a:solidFill>
                <a:latin typeface="Calibri" pitchFamily="34" charset="0"/>
                <a:ea typeface="Calibri" pitchFamily="34" charset="-122"/>
                <a:cs typeface="Calibri" pitchFamily="34" charset="-120"/>
              </a:rPr>
              <a:t>BUILT-INS RECOGNISE</a:t>
            </a:r>
            <a:endParaRPr lang="en-US" sz="1300" dirty="0"/>
          </a:p>
          <a:p>
            <a:pPr indent="0" marL="0">
              <a:buNone/>
            </a:pPr>
            <a:r>
              <a:rPr lang="en-US" sz="1050" i="1" dirty="0">
                <a:solidFill>
                  <a:srgbClr val="5B7782"/>
                </a:solidFill>
                <a:latin typeface="Calibri" pitchFamily="34" charset="0"/>
                <a:ea typeface="Calibri" pitchFamily="34" charset="-122"/>
                <a:cs typeface="Calibri" pitchFamily="34" charset="-120"/>
              </a:rPr>
              <a:t>the universal wins</a:t>
            </a:r>
            <a:endParaRPr lang="en-US" sz="1300" dirty="0"/>
          </a:p>
        </p:txBody>
      </p:sp>
      <p:sp>
        <p:nvSpPr>
          <p:cNvPr id="9" name="Text 7"/>
          <p:cNvSpPr/>
          <p:nvPr/>
        </p:nvSpPr>
        <p:spPr>
          <a:xfrm>
            <a:off x="777240" y="2651760"/>
            <a:ext cx="3383280" cy="155448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Email, SSN, generic phone shapes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US states &amp; country codes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Common first names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Well-known, standard formats</a:t>
            </a:r>
            <a:endParaRPr lang="en-US" sz="1250" dirty="0"/>
          </a:p>
        </p:txBody>
      </p:sp>
      <p:sp>
        <p:nvSpPr>
          <p:cNvPr id="10" name="Shape 8"/>
          <p:cNvSpPr/>
          <p:nvPr/>
        </p:nvSpPr>
        <p:spPr>
          <a:xfrm>
            <a:off x="4754880" y="1755648"/>
            <a:ext cx="3931920" cy="2542032"/>
          </a:xfrm>
          <a:prstGeom prst="roundRect">
            <a:avLst>
              <a:gd name="adj" fmla="val 3237"/>
            </a:avLst>
          </a:prstGeom>
          <a:solidFill>
            <a:srgbClr val="E9F7F3"/>
          </a:solidFill>
          <a:ln w="12700">
            <a:solidFill>
              <a:srgbClr val="C6E9E1"/>
            </a:solidFill>
            <a:prstDash val="solid"/>
          </a:ln>
          <a:effectLst>
            <a:outerShdw sx="100000" sy="100000" kx="0" ky="0" algn="bl" rotWithShape="0" blurRad="88900" dist="38100" dir="5400000">
              <a:srgbClr val="9FB6C2">
                <a:alpha val="25000"/>
              </a:srgbClr>
            </a:outerShdw>
          </a:effectLst>
        </p:spPr>
      </p:sp>
      <p:sp>
        <p:nvSpPr>
          <p:cNvPr id="11" name="Shape 9"/>
          <p:cNvSpPr/>
          <p:nvPr/>
        </p:nvSpPr>
        <p:spPr>
          <a:xfrm>
            <a:off x="5010912" y="2011680"/>
            <a:ext cx="402336" cy="402336"/>
          </a:xfrm>
          <a:prstGeom prst="ellipse">
            <a:avLst/>
          </a:prstGeom>
          <a:solidFill>
            <a:srgbClr val="2EC4B6"/>
          </a:solidFill>
          <a:ln/>
        </p:spPr>
      </p:sp>
      <p:sp>
        <p:nvSpPr>
          <p:cNvPr id="12" name="Text 10"/>
          <p:cNvSpPr/>
          <p:nvPr/>
        </p:nvSpPr>
        <p:spPr>
          <a:xfrm>
            <a:off x="5010912" y="2011680"/>
            <a:ext cx="402336" cy="402336"/>
          </a:xfrm>
          <a:prstGeom prst="rect">
            <a:avLst/>
          </a:prstGeom>
          <a:noFill/>
          <a:ln/>
        </p:spPr>
        <p:txBody>
          <a:bodyPr wrap="square" lIns="0" tIns="0" rIns="0" bIns="0" rtlCol="0" anchor="ctr"/>
          <a:lstStyle/>
          <a:p>
            <a:pPr algn="ctr" indent="0" marL="0">
              <a:buNone/>
            </a:pPr>
            <a:r>
              <a:rPr lang="en-US" sz="1500" b="1" dirty="0">
                <a:solidFill>
                  <a:srgbClr val="14333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5541264" y="1975104"/>
            <a:ext cx="2926080" cy="502920"/>
          </a:xfrm>
          <a:prstGeom prst="rect">
            <a:avLst/>
          </a:prstGeom>
          <a:noFill/>
          <a:ln/>
        </p:spPr>
        <p:txBody>
          <a:bodyPr wrap="square" lIns="0" tIns="0" rIns="0" bIns="0" rtlCol="0" anchor="t"/>
          <a:lstStyle/>
          <a:p>
            <a:pPr indent="0" marL="0">
              <a:buNone/>
            </a:pPr>
            <a:r>
              <a:rPr lang="en-US" sz="1300" b="1" spc="150" kern="0" dirty="0">
                <a:solidFill>
                  <a:srgbClr val="157F73"/>
                </a:solidFill>
                <a:latin typeface="Calibri" pitchFamily="34" charset="0"/>
                <a:ea typeface="Calibri" pitchFamily="34" charset="-122"/>
                <a:cs typeface="Calibri" pitchFamily="34" charset="-120"/>
              </a:rPr>
              <a:t>BUILT-INS CAN’T SEE</a:t>
            </a:r>
            <a:endParaRPr lang="en-US" sz="1300" dirty="0"/>
          </a:p>
          <a:p>
            <a:pPr indent="0" marL="0">
              <a:buNone/>
            </a:pPr>
            <a:r>
              <a:rPr lang="en-US" sz="1050" i="1" dirty="0">
                <a:solidFill>
                  <a:srgbClr val="5B7782"/>
                </a:solidFill>
                <a:latin typeface="Calibri" pitchFamily="34" charset="0"/>
                <a:ea typeface="Calibri" pitchFamily="34" charset="-122"/>
                <a:cs typeface="Calibri" pitchFamily="34" charset="-120"/>
              </a:rPr>
              <a:t>what’s yours</a:t>
            </a:r>
            <a:endParaRPr lang="en-US" sz="1300" dirty="0"/>
          </a:p>
        </p:txBody>
      </p:sp>
      <p:sp>
        <p:nvSpPr>
          <p:cNvPr id="14" name="Text 12"/>
          <p:cNvSpPr/>
          <p:nvPr/>
        </p:nvSpPr>
        <p:spPr>
          <a:xfrm>
            <a:off x="5074920" y="2651760"/>
            <a:ext cx="3383280" cy="155448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Service cities, meter types, rate codes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Account-number &amp; regional formats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Status / severity / code enums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Your column naming &amp; sensitivity scheme</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Business meaning: CDEs, glossary links</a:t>
            </a:r>
            <a:endParaRPr lang="en-US" sz="1250" dirty="0"/>
          </a:p>
        </p:txBody>
      </p:sp>
      <p:sp>
        <p:nvSpPr>
          <p:cNvPr id="15" name="Shape 13"/>
          <p:cNvSpPr/>
          <p:nvPr/>
        </p:nvSpPr>
        <p:spPr>
          <a:xfrm>
            <a:off x="457200" y="4443984"/>
            <a:ext cx="8229600" cy="566928"/>
          </a:xfrm>
          <a:prstGeom prst="roundRect">
            <a:avLst>
              <a:gd name="adj" fmla="val 16129"/>
            </a:avLst>
          </a:prstGeom>
          <a:solidFill>
            <a:srgbClr val="14333F"/>
          </a:solidFill>
          <a:ln/>
        </p:spPr>
      </p:sp>
      <p:sp>
        <p:nvSpPr>
          <p:cNvPr id="16" name="Text 14"/>
          <p:cNvSpPr/>
          <p:nvPr/>
        </p:nvSpPr>
        <p:spPr>
          <a:xfrm>
            <a:off x="640080" y="4443984"/>
            <a:ext cx="7863840" cy="566928"/>
          </a:xfrm>
          <a:prstGeom prst="rect">
            <a:avLst/>
          </a:prstGeom>
          <a:noFill/>
          <a:ln/>
        </p:spPr>
        <p:txBody>
          <a:bodyPr wrap="square" lIns="0" tIns="0" rIns="0" bIns="0" rtlCol="0" anchor="ctr"/>
          <a:lstStyle/>
          <a:p>
            <a:pPr algn="ctr" indent="0" marL="0">
              <a:buNone/>
            </a:pPr>
            <a:r>
              <a:rPr lang="en-US" sz="1250" b="1" dirty="0">
                <a:solidFill>
                  <a:srgbClr val="2EC4B6"/>
                </a:solidFill>
                <a:latin typeface="Calibri" pitchFamily="34" charset="0"/>
                <a:ea typeface="Calibri" pitchFamily="34" charset="-122"/>
                <a:cs typeface="Calibri" pitchFamily="34" charset="-120"/>
              </a:rPr>
              <a:t>The workflow:  </a:t>
            </a:r>
            <a:pPr algn="ctr" indent="0" marL="0">
              <a:buNone/>
            </a:pPr>
            <a:r>
              <a:rPr lang="en-US" sz="1250" dirty="0">
                <a:solidFill>
                  <a:srgbClr val="FFFFFF"/>
                </a:solidFill>
                <a:latin typeface="Calibri" pitchFamily="34" charset="0"/>
                <a:ea typeface="Calibri" pitchFamily="34" charset="-122"/>
                <a:cs typeface="Calibri" pitchFamily="34" charset="-120"/>
              </a:rPr>
              <a:t>run built-ins  →  measure the gap (UNKNOWN + mis-tags)  →  add custom dictionaries &amp; patterns  →  tune thresholds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GLOSSARY · KEEP LABELS CONSISTENT</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Tags vs Terms — one vocabulary</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Tags say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what the data is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the business term says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what it means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Different jobs — one shared tag vocabulary.</a:t>
            </a:r>
            <a:endParaRPr lang="en-US" sz="1350" dirty="0"/>
          </a:p>
        </p:txBody>
      </p:sp>
      <p:sp>
        <p:nvSpPr>
          <p:cNvPr id="5" name="Shape 3"/>
          <p:cNvSpPr/>
          <p:nvPr/>
        </p:nvSpPr>
        <p:spPr>
          <a:xfrm>
            <a:off x="457200" y="1783080"/>
            <a:ext cx="3931920" cy="2286000"/>
          </a:xfrm>
          <a:prstGeom prst="roundRect">
            <a:avLst>
              <a:gd name="adj" fmla="val 3600"/>
            </a:avLst>
          </a:prstGeom>
          <a:solidFill>
            <a:srgbClr val="EEF6FA"/>
          </a:solidFill>
          <a:ln w="12700">
            <a:solidFill>
              <a:srgbClr val="DCEEF5"/>
            </a:solidFill>
            <a:prstDash val="solid"/>
          </a:ln>
          <a:effectLst>
            <a:outerShdw sx="100000" sy="100000" kx="0" ky="0" algn="bl" rotWithShape="0" blurRad="88900" dist="38100" dir="5400000">
              <a:srgbClr val="9FB6C2">
                <a:alpha val="25000"/>
              </a:srgbClr>
            </a:outerShdw>
          </a:effectLst>
        </p:spPr>
      </p:sp>
      <p:sp>
        <p:nvSpPr>
          <p:cNvPr id="6" name="Shape 4"/>
          <p:cNvSpPr/>
          <p:nvPr/>
        </p:nvSpPr>
        <p:spPr>
          <a:xfrm>
            <a:off x="713232" y="2020824"/>
            <a:ext cx="457200" cy="457200"/>
          </a:xfrm>
          <a:prstGeom prst="ellipse">
            <a:avLst/>
          </a:prstGeom>
          <a:solidFill>
            <a:srgbClr val="1C7293"/>
          </a:solidFill>
          <a:ln/>
        </p:spPr>
      </p:sp>
      <p:sp>
        <p:nvSpPr>
          <p:cNvPr id="7" name="Text 5"/>
          <p:cNvSpPr/>
          <p:nvPr/>
        </p:nvSpPr>
        <p:spPr>
          <a:xfrm>
            <a:off x="713232" y="20208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2002536"/>
            <a:ext cx="2743200" cy="502920"/>
          </a:xfrm>
          <a:prstGeom prst="rect">
            <a:avLst/>
          </a:prstGeom>
          <a:noFill/>
          <a:ln/>
        </p:spPr>
        <p:txBody>
          <a:bodyPr wrap="square" lIns="0" tIns="0" rIns="0" bIns="0" rtlCol="0" anchor="t"/>
          <a:lstStyle/>
          <a:p>
            <a:pPr indent="0" marL="0">
              <a:buNone/>
            </a:pPr>
            <a:r>
              <a:rPr lang="en-US" sz="1400" b="1" spc="200" kern="0" dirty="0">
                <a:solidFill>
                  <a:srgbClr val="1C7293"/>
                </a:solidFill>
                <a:latin typeface="Calibri" pitchFamily="34" charset="0"/>
                <a:ea typeface="Calibri" pitchFamily="34" charset="-122"/>
                <a:cs typeface="Calibri" pitchFamily="34" charset="-120"/>
              </a:rPr>
              <a:t>TAGS</a:t>
            </a:r>
            <a:endParaRPr lang="en-US" sz="1400" dirty="0"/>
          </a:p>
          <a:p>
            <a:pPr indent="0" marL="0">
              <a:buNone/>
            </a:pPr>
            <a:r>
              <a:rPr lang="en-US" sz="1050" i="1" dirty="0">
                <a:solidFill>
                  <a:srgbClr val="5B7782"/>
                </a:solidFill>
                <a:latin typeface="Calibri" pitchFamily="34" charset="0"/>
                <a:ea typeface="Calibri" pitchFamily="34" charset="-122"/>
                <a:cs typeface="Calibri" pitchFamily="34" charset="-120"/>
              </a:rPr>
              <a:t>what the data IS</a:t>
            </a:r>
            <a:endParaRPr lang="en-US" sz="1400" dirty="0"/>
          </a:p>
        </p:txBody>
      </p:sp>
      <p:sp>
        <p:nvSpPr>
          <p:cNvPr id="9" name="Text 7"/>
          <p:cNvSpPr/>
          <p:nvPr/>
        </p:nvSpPr>
        <p:spPr>
          <a:xfrm>
            <a:off x="777240" y="2715768"/>
            <a:ext cx="3291840" cy="1188720"/>
          </a:xfrm>
          <a:prstGeom prst="rect">
            <a:avLst/>
          </a:prstGeom>
          <a:noFill/>
          <a:ln/>
        </p:spPr>
        <p:txBody>
          <a:bodyPr wrap="square" lIns="0" tIns="0" rIns="0" bIns="0" rtlCol="0" anchor="t"/>
          <a:lstStyle/>
          <a:p>
            <a:pPr indent="0" marL="0">
              <a:lnSpc>
                <a:spcPct val="120000"/>
              </a:lnSpc>
              <a:buNone/>
            </a:pPr>
            <a:r>
              <a:rPr lang="en-US" sz="1350" b="1" dirty="0">
                <a:solidFill>
                  <a:srgbClr val="14333F"/>
                </a:solidFill>
                <a:latin typeface="Calibri" pitchFamily="34" charset="0"/>
                <a:ea typeface="Calibri" pitchFamily="34" charset="-122"/>
                <a:cs typeface="Calibri" pitchFamily="34" charset="-120"/>
              </a:rPr>
              <a:t>PII   ·   eMail   ·   Sensitive   ·   reg-gdpr</a:t>
            </a:r>
            <a:endParaRPr lang="en-US" sz="1350" dirty="0"/>
          </a:p>
          <a:p>
            <a:pPr indent="0" marL="0">
              <a:lnSpc>
                <a:spcPct val="120000"/>
              </a:lnSpc>
              <a:buNone/>
            </a:pPr>
            <a:r>
              <a:rPr lang="en-US" sz="1100" dirty="0">
                <a:solidFill>
                  <a:srgbClr val="51636D"/>
                </a:solidFill>
                <a:latin typeface="Calibri" pitchFamily="34" charset="0"/>
                <a:ea typeface="Calibri" pitchFamily="34" charset="-122"/>
                <a:cs typeface="Calibri" pitchFamily="34" charset="-120"/>
              </a:rPr>
              <a:t>Lightweight labels for filter &amp; discovery.</a:t>
            </a:r>
            <a:endParaRPr lang="en-US" sz="1350" dirty="0"/>
          </a:p>
          <a:p>
            <a:pPr indent="0" marL="0">
              <a:lnSpc>
                <a:spcPct val="120000"/>
              </a:lnSpc>
              <a:buNone/>
            </a:pPr>
            <a:r>
              <a:rPr lang="en-US" sz="1100" dirty="0">
                <a:solidFill>
                  <a:srgbClr val="51636D"/>
                </a:solidFill>
                <a:latin typeface="Calibri" pitchFamily="34" charset="0"/>
                <a:ea typeface="Calibri" pitchFamily="34" charset="-122"/>
                <a:cs typeface="Calibri" pitchFamily="34" charset="-120"/>
              </a:rPr>
              <a:t>Applied by Data Identification &amp; custom methods.</a:t>
            </a:r>
            <a:endParaRPr lang="en-US" sz="1350" dirty="0"/>
          </a:p>
        </p:txBody>
      </p:sp>
      <p:sp>
        <p:nvSpPr>
          <p:cNvPr id="10" name="Shape 8"/>
          <p:cNvSpPr/>
          <p:nvPr/>
        </p:nvSpPr>
        <p:spPr>
          <a:xfrm>
            <a:off x="4754880" y="1783080"/>
            <a:ext cx="3931920" cy="2286000"/>
          </a:xfrm>
          <a:prstGeom prst="roundRect">
            <a:avLst>
              <a:gd name="adj" fmla="val 3600"/>
            </a:avLst>
          </a:prstGeom>
          <a:solidFill>
            <a:srgbClr val="E9F7F3"/>
          </a:solidFill>
          <a:ln w="12700">
            <a:solidFill>
              <a:srgbClr val="C6E9E1"/>
            </a:solidFill>
            <a:prstDash val="solid"/>
          </a:ln>
          <a:effectLst>
            <a:outerShdw sx="100000" sy="100000" kx="0" ky="0" algn="bl" rotWithShape="0" blurRad="88900" dist="38100" dir="5400000">
              <a:srgbClr val="9FB6C2">
                <a:alpha val="25000"/>
              </a:srgbClr>
            </a:outerShdw>
          </a:effectLst>
        </p:spPr>
      </p:sp>
      <p:sp>
        <p:nvSpPr>
          <p:cNvPr id="11" name="Shape 9"/>
          <p:cNvSpPr/>
          <p:nvPr/>
        </p:nvSpPr>
        <p:spPr>
          <a:xfrm>
            <a:off x="5010912" y="2020824"/>
            <a:ext cx="457200" cy="457200"/>
          </a:xfrm>
          <a:prstGeom prst="ellipse">
            <a:avLst/>
          </a:prstGeom>
          <a:solidFill>
            <a:srgbClr val="2EC4B6"/>
          </a:solidFill>
          <a:ln/>
        </p:spPr>
      </p:sp>
      <p:sp>
        <p:nvSpPr>
          <p:cNvPr id="12" name="Text 10"/>
          <p:cNvSpPr/>
          <p:nvPr/>
        </p:nvSpPr>
        <p:spPr>
          <a:xfrm>
            <a:off x="5010912" y="2020824"/>
            <a:ext cx="457200" cy="457200"/>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B</a:t>
            </a:r>
            <a:endParaRPr lang="en-US" sz="1700" dirty="0"/>
          </a:p>
        </p:txBody>
      </p:sp>
      <p:sp>
        <p:nvSpPr>
          <p:cNvPr id="13" name="Text 11"/>
          <p:cNvSpPr/>
          <p:nvPr/>
        </p:nvSpPr>
        <p:spPr>
          <a:xfrm>
            <a:off x="5596128" y="2002536"/>
            <a:ext cx="2834640" cy="502920"/>
          </a:xfrm>
          <a:prstGeom prst="rect">
            <a:avLst/>
          </a:prstGeom>
          <a:noFill/>
          <a:ln/>
        </p:spPr>
        <p:txBody>
          <a:bodyPr wrap="square" lIns="0" tIns="0" rIns="0" bIns="0" rtlCol="0" anchor="t"/>
          <a:lstStyle/>
          <a:p>
            <a:pPr indent="0" marL="0">
              <a:buNone/>
            </a:pPr>
            <a:r>
              <a:rPr lang="en-US" sz="1400" b="1" spc="150" kern="0" dirty="0">
                <a:solidFill>
                  <a:srgbClr val="157F73"/>
                </a:solidFill>
                <a:latin typeface="Calibri" pitchFamily="34" charset="0"/>
                <a:ea typeface="Calibri" pitchFamily="34" charset="-122"/>
                <a:cs typeface="Calibri" pitchFamily="34" charset="-120"/>
              </a:rPr>
              <a:t>BUSINESS TERM</a:t>
            </a:r>
            <a:endParaRPr lang="en-US" sz="1400" dirty="0"/>
          </a:p>
          <a:p>
            <a:pPr indent="0" marL="0">
              <a:buNone/>
            </a:pPr>
            <a:r>
              <a:rPr lang="en-US" sz="1050" i="1" dirty="0">
                <a:solidFill>
                  <a:srgbClr val="5B7782"/>
                </a:solidFill>
                <a:latin typeface="Calibri" pitchFamily="34" charset="0"/>
                <a:ea typeface="Calibri" pitchFamily="34" charset="-122"/>
                <a:cs typeface="Calibri" pitchFamily="34" charset="-120"/>
              </a:rPr>
              <a:t>what the data MEANS</a:t>
            </a:r>
            <a:endParaRPr lang="en-US" sz="1400" dirty="0"/>
          </a:p>
        </p:txBody>
      </p:sp>
      <p:sp>
        <p:nvSpPr>
          <p:cNvPr id="14" name="Shape 12"/>
          <p:cNvSpPr/>
          <p:nvPr/>
        </p:nvSpPr>
        <p:spPr>
          <a:xfrm>
            <a:off x="5074920" y="2715768"/>
            <a:ext cx="2926080" cy="384048"/>
          </a:xfrm>
          <a:prstGeom prst="roundRect">
            <a:avLst>
              <a:gd name="adj" fmla="val 50000"/>
            </a:avLst>
          </a:prstGeom>
          <a:solidFill>
            <a:srgbClr val="FFFFFF"/>
          </a:solidFill>
          <a:ln w="12700">
            <a:solidFill>
              <a:srgbClr val="157F73"/>
            </a:solidFill>
            <a:prstDash val="solid"/>
          </a:ln>
        </p:spPr>
      </p:sp>
      <p:sp>
        <p:nvSpPr>
          <p:cNvPr id="15" name="Text 13"/>
          <p:cNvSpPr/>
          <p:nvPr/>
        </p:nvSpPr>
        <p:spPr>
          <a:xfrm>
            <a:off x="5074920" y="2715768"/>
            <a:ext cx="2926080" cy="384048"/>
          </a:xfrm>
          <a:prstGeom prst="rect">
            <a:avLst/>
          </a:prstGeom>
          <a:noFill/>
          <a:ln/>
        </p:spPr>
        <p:txBody>
          <a:bodyPr wrap="square" lIns="0" tIns="0" rIns="0" bIns="0" rtlCol="0" anchor="ctr"/>
          <a:lstStyle/>
          <a:p>
            <a:pPr algn="ctr" indent="0" marL="0">
              <a:buNone/>
            </a:pPr>
            <a:r>
              <a:rPr lang="en-US" sz="1200" b="1" dirty="0">
                <a:solidFill>
                  <a:srgbClr val="12615A"/>
                </a:solidFill>
                <a:latin typeface="Calibri" pitchFamily="34" charset="0"/>
                <a:ea typeface="Calibri" pitchFamily="34" charset="-122"/>
                <a:cs typeface="Calibri" pitchFamily="34" charset="-120"/>
              </a:rPr>
              <a:t>Email Address (Member)</a:t>
            </a:r>
            <a:endParaRPr lang="en-US" sz="1200" dirty="0"/>
          </a:p>
        </p:txBody>
      </p:sp>
      <p:sp>
        <p:nvSpPr>
          <p:cNvPr id="16" name="Text 14"/>
          <p:cNvSpPr/>
          <p:nvPr/>
        </p:nvSpPr>
        <p:spPr>
          <a:xfrm>
            <a:off x="5074920" y="3264408"/>
            <a:ext cx="3291840" cy="685800"/>
          </a:xfrm>
          <a:prstGeom prst="rect">
            <a:avLst/>
          </a:prstGeom>
          <a:noFill/>
          <a:ln/>
        </p:spPr>
        <p:txBody>
          <a:bodyPr wrap="square" lIns="0" tIns="0" rIns="0" bIns="0" rtlCol="0" anchor="t"/>
          <a:lstStyle/>
          <a:p>
            <a:pPr indent="0" marL="0">
              <a:lnSpc>
                <a:spcPct val="120000"/>
              </a:lnSpc>
              <a:buNone/>
            </a:pPr>
            <a:r>
              <a:rPr lang="en-US" sz="1100" dirty="0">
                <a:solidFill>
                  <a:srgbClr val="2B4A46"/>
                </a:solidFill>
                <a:latin typeface="Calibri" pitchFamily="34" charset="0"/>
                <a:ea typeface="Calibri" pitchFamily="34" charset="-122"/>
                <a:cs typeface="Calibri" pitchFamily="34" charset="-120"/>
              </a:rPr>
              <a:t>Formal, governed, owned meaning.</a:t>
            </a:r>
            <a:endParaRPr lang="en-US" sz="1100" dirty="0"/>
          </a:p>
          <a:p>
            <a:pPr indent="0" marL="0">
              <a:lnSpc>
                <a:spcPct val="120000"/>
              </a:lnSpc>
              <a:buNone/>
            </a:pPr>
            <a:r>
              <a:rPr lang="en-US" sz="1100" dirty="0">
                <a:solidFill>
                  <a:srgbClr val="2B4A46"/>
                </a:solidFill>
                <a:latin typeface="Calibri" pitchFamily="34" charset="0"/>
                <a:ea typeface="Calibri" pitchFamily="34" charset="-122"/>
                <a:cs typeface="Calibri" pitchFamily="34" charset="-120"/>
              </a:rPr>
              <a:t>From the Business Glossary.</a:t>
            </a:r>
            <a:endParaRPr lang="en-US" sz="1100" dirty="0"/>
          </a:p>
        </p:txBody>
      </p:sp>
      <p:sp>
        <p:nvSpPr>
          <p:cNvPr id="17" name="Shape 15"/>
          <p:cNvSpPr/>
          <p:nvPr/>
        </p:nvSpPr>
        <p:spPr>
          <a:xfrm>
            <a:off x="457200" y="4370832"/>
            <a:ext cx="8229600" cy="566928"/>
          </a:xfrm>
          <a:prstGeom prst="roundRect">
            <a:avLst>
              <a:gd name="adj" fmla="val 16129"/>
            </a:avLst>
          </a:prstGeom>
          <a:solidFill>
            <a:srgbClr val="14333F"/>
          </a:solidFill>
          <a:ln/>
        </p:spPr>
      </p:sp>
      <p:sp>
        <p:nvSpPr>
          <p:cNvPr id="18" name="Text 16"/>
          <p:cNvSpPr/>
          <p:nvPr/>
        </p:nvSpPr>
        <p:spPr>
          <a:xfrm>
            <a:off x="640080" y="4370832"/>
            <a:ext cx="7863840" cy="566928"/>
          </a:xfrm>
          <a:prstGeom prst="rect">
            <a:avLst/>
          </a:prstGeom>
          <a:noFill/>
          <a:ln/>
        </p:spPr>
        <p:txBody>
          <a:bodyPr wrap="square" lIns="0" tIns="0" rIns="0" bIns="0" rtlCol="0" anchor="ctr"/>
          <a:lstStyle/>
          <a:p>
            <a:pPr algn="ctr" indent="0" marL="0">
              <a:buNone/>
            </a:pPr>
            <a:r>
              <a:rPr lang="en-US" sz="1250" b="1" dirty="0">
                <a:solidFill>
                  <a:srgbClr val="2EC4B6"/>
                </a:solidFill>
                <a:latin typeface="Calibri" pitchFamily="34" charset="0"/>
                <a:ea typeface="Calibri" pitchFamily="34" charset="-122"/>
                <a:cs typeface="Calibri" pitchFamily="34" charset="-120"/>
              </a:rPr>
              <a:t>Same label everywhere:  </a:t>
            </a:r>
            <a:pPr algn="ctr" indent="0" marL="0">
              <a:buNone/>
            </a:pPr>
            <a:r>
              <a:rPr lang="en-US" sz="1250" dirty="0">
                <a:solidFill>
                  <a:srgbClr val="FFFFFF"/>
                </a:solidFill>
                <a:latin typeface="Calibri" pitchFamily="34" charset="0"/>
                <a:ea typeface="Calibri" pitchFamily="34" charset="-122"/>
                <a:cs typeface="Calibri" pitchFamily="34" charset="-120"/>
              </a:rPr>
              <a:t>reuse the exact tag — </a:t>
            </a:r>
            <a:pPr algn="ctr" indent="0" marL="0">
              <a:buNone/>
            </a:pPr>
            <a:r>
              <a:rPr lang="en-US" sz="1250" b="1" dirty="0">
                <a:solidFill>
                  <a:srgbClr val="FFFFFF"/>
                </a:solidFill>
                <a:latin typeface="Calibri" pitchFamily="34" charset="0"/>
                <a:ea typeface="Calibri" pitchFamily="34" charset="-122"/>
                <a:cs typeface="Calibri" pitchFamily="34" charset="-120"/>
              </a:rPr>
              <a:t>PII</a:t>
            </a:r>
            <a:pPr algn="ctr" indent="0" marL="0">
              <a:buNone/>
            </a:pPr>
            <a:r>
              <a:rPr lang="en-US" sz="1250" dirty="0">
                <a:solidFill>
                  <a:srgbClr val="9FB6C2"/>
                </a:solidFill>
                <a:latin typeface="Calibri" pitchFamily="34" charset="0"/>
                <a:ea typeface="Calibri" pitchFamily="34" charset="-122"/>
                <a:cs typeface="Calibri" pitchFamily="34" charset="-120"/>
              </a:rPr>
              <a:t>, not </a:t>
            </a:r>
            <a:pPr algn="ctr" indent="0" marL="0">
              <a:buNone/>
            </a:pPr>
            <a:r>
              <a:rPr lang="en-US" sz="1250" i="1" dirty="0">
                <a:solidFill>
                  <a:srgbClr val="9FB6C2"/>
                </a:solidFill>
                <a:latin typeface="Calibri" pitchFamily="34" charset="0"/>
                <a:ea typeface="Calibri" pitchFamily="34" charset="-122"/>
                <a:cs typeface="Calibri" pitchFamily="34" charset="-120"/>
              </a:rPr>
              <a:t>pii</a:t>
            </a:r>
            <a:pPr algn="ctr" indent="0" marL="0">
              <a:buNone/>
            </a:pPr>
            <a:r>
              <a:rPr lang="en-US" sz="1250" dirty="0">
                <a:solidFill>
                  <a:srgbClr val="9FB6C2"/>
                </a:solidFill>
                <a:latin typeface="Calibri" pitchFamily="34" charset="0"/>
                <a:ea typeface="Calibri" pitchFamily="34" charset="-122"/>
                <a:cs typeface="Calibri" pitchFamily="34" charset="-120"/>
              </a:rPr>
              <a:t> or </a:t>
            </a:r>
            <a:pPr algn="ctr" indent="0" marL="0">
              <a:buNone/>
            </a:pPr>
            <a:r>
              <a:rPr lang="en-US" sz="1250" i="1" dirty="0">
                <a:solidFill>
                  <a:srgbClr val="9FB6C2"/>
                </a:solidFill>
                <a:latin typeface="Calibri" pitchFamily="34" charset="0"/>
                <a:ea typeface="Calibri" pitchFamily="34" charset="-122"/>
                <a:cs typeface="Calibri" pitchFamily="34" charset="-120"/>
              </a:rPr>
              <a:t>PII_Data</a:t>
            </a:r>
            <a:pPr algn="ctr" indent="0" marL="0">
              <a:buNone/>
            </a:pPr>
            <a:r>
              <a:rPr lang="en-US" sz="1250" dirty="0">
                <a:solidFill>
                  <a:srgbClr val="FFFFFF"/>
                </a:solidFill>
                <a:latin typeface="Calibri" pitchFamily="34" charset="0"/>
                <a:ea typeface="Calibri" pitchFamily="34" charset="-122"/>
                <a:cs typeface="Calibri" pitchFamily="34" charset="-120"/>
              </a:rPr>
              <a:t>  — or search &amp; filters fracture.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Identification Rules — Dictionary &amp; Pattern</dc:title>
  <dc:subject>PptxGenJS Presentation</dc:subject>
  <dc:creator>CSCU Courseware</dc:creator>
  <cp:lastModifiedBy>CSCU Courseware</cp:lastModifiedBy>
  <cp:revision>1</cp:revision>
  <dcterms:created xsi:type="dcterms:W3CDTF">2026-07-01T09:07:07Z</dcterms:created>
  <dcterms:modified xsi:type="dcterms:W3CDTF">2026-07-01T09:07:07Z</dcterms:modified>
</cp:coreProperties>
</file>