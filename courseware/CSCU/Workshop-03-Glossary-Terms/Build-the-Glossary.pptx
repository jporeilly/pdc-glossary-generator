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63" r:id="rId5"/>
    <p:sldId id="259" r:id="rId6"/>
    <p:sldId id="261" r:id="rId7"/>
    <p:sldId id="267" r:id="rId18"/>
    <p:sldId id="266" r:id="rId17"/>
    <p:sldId id="265" r:id="rId8"/>
    <p:sldId id="262" r:id="rId9"/>
    <p:sldId id="264" r:id="rId10"/>
    <p:sldId id="260"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4" d="100"/>
          <a:sy n="144" d="100"/>
        </p:scale>
        <p:origin x="60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7.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2799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Workshop 2. The skill here is reading metadata fluently - the core literacy of a catalog-aware analyst. Frame it: they didn't create this data, so how do they learn to trust and understand it? Through the three layers of metadata PDC captures.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idea of the whole workshop - the three layers. Technical is what the database knows: types, keys, sizes. Business is what humans need: definitions, owner, domain. Operational is how the data behaves: quality, freshness, lineage. Give the opted_out_marketing example - technically a boolean, but its business meaning is a GDPR consent flag. Same column, three layers.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asset tabs. Every tab they open maps to one of those three layers. Summary gives business and operational at a glance; Data Elements is the technical layer column by column; Related previews lineage; Custom Properties and Comments add organisational context. Tell them to navigate these on the members table as you talk.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worked example. These six columns each tell all three stories at once. Linger on the sensitivity column - PII and Confidential. This is the bridge to Workshop 4, where these flags become the basis for compliance. Have them find one column whose business meaning isn't obvious from its name.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them down before the 57-link task on the next slide. The instinct is to link everything - resist it; volume doesn't lift the Trust Score, and it pollutes governance. Frame the decision in two moves: pick what to map by what the business actually reasons about, then prioritize how hard you govern it by risk - CDEs and PII first, reporting and KPI columns next, the long tail last. Make the CDE point concrete: flag a column like account_number as a Critical Data Element, then term it, classify it, and verify its lineage. Close by reminding them concepts like Trust Score and Tag are meant to stay unmapped - they name ideas, not columns.</a:t>
            </a:r>
          </a:p>
        </p:txBody>
      </p:sp>
      <p:sp>
        <p:nvSpPr>
          <p:cNvPr id="4" name="Slide Number Placeholder 3"/>
          <p:cNvSpPr>
            <a:spLocks noGrp="1"/>
          </p:cNvSpPr>
          <p:nvPr>
            <p:ph type="sldNum" sz="quarter" idx="10"/>
          </p:nvPr>
        </p:nvSpPr>
        <p:spPr/>
        <p:txBody>
          <a:bodyPr/>
          <a:lstStyle/>
          <a:p>
            <a:fld id="{F7021451-1387-4CA6-816F-3879F97B5CBE}" type="slidenum">
              <a:rPr lang="en-US"/>
              <a:t>7</a:t>
            </a:fld>
            <a:endParaRPr lang="en-US"/>
          </a:p>
        </p:txBody>
      </p:sp>
    </p:spTree>
    <p:extLst>
      <p:ext uri="{BB962C8B-B14F-4D97-AF65-F5344CB8AC3E}">
        <p14:creationId xmlns:p14="http://schemas.microsoft.com/office/powerpoint/2010/main" val="10240869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They've just linked the catalog by hand - now show the assist. Those Suggested Columns come from the Similarity Score: PDC's 0-to-1 confidence that a term fits a column, scored on meaning rather than names. Give the CSCU example - it can propose Water System for system_name even when the names differ. Stress the asymmetry: Approve assigns the term instantly, but Reject is permanent and drops the match from future runs, so it's a judgement call, not a clean-up. Land the handoff: producing and tuning these suggestions - and fixing an empty Suggested pane - is the Technical track's job, not the steward's.</a:t>
            </a:r>
          </a:p>
        </p:txBody>
      </p:sp>
      <p:sp>
        <p:nvSpPr>
          <p:cNvPr id="4" name="Slide Number Placeholder 3"/>
          <p:cNvSpPr>
            <a:spLocks noGrp="1"/>
          </p:cNvSpPr>
          <p:nvPr>
            <p:ph type="sldNum" sz="quarter" idx="10"/>
          </p:nvPr>
        </p:nvSpPr>
        <p:spPr/>
        <p:txBody>
          <a:bodyPr/>
          <a:lstStyle/>
          <a:p>
            <a:fld id="{F7021451-1387-4CA6-816F-3879F97B5CBD}" type="slidenum">
              <a:rPr lang="en-US"/>
              <a:t>9</a:t>
            </a:fld>
            <a:endParaRPr lang="en-US"/>
          </a:p>
        </p:txBody>
      </p:sp>
    </p:spTree>
    <p:extLst>
      <p:ext uri="{BB962C8B-B14F-4D97-AF65-F5344CB8AC3E}">
        <p14:creationId xmlns:p14="http://schemas.microsoft.com/office/powerpoint/2010/main" val="10240869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why a BA cares: metadata is how you trust data you didn't create. Use the stats to recap - 6 tables, 3 layers, 5 tabs. Then the discussion: the 'can I email everyone?' question, whose answer is a single column, opted_out_marketing. Transition to profiling in Workshop 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6949440" y="-1463040"/>
            <a:ext cx="3840480" cy="3840480"/>
          </a:xfrm>
          <a:prstGeom prst="ellipse">
            <a:avLst/>
          </a:prstGeom>
          <a:solidFill>
            <a:srgbClr val="0A3D52"/>
          </a:solidFill>
          <a:ln/>
        </p:spPr>
      </p:sp>
      <p:sp>
        <p:nvSpPr>
          <p:cNvPr id="3" name="Shape 1"/>
          <p:cNvSpPr/>
          <p:nvPr/>
        </p:nvSpPr>
        <p:spPr>
          <a:xfrm>
            <a:off x="8138160" y="2651760"/>
            <a:ext cx="2377440" cy="2377440"/>
          </a:xfrm>
          <a:prstGeom prst="ellipse">
            <a:avLst/>
          </a:prstGeom>
          <a:solidFill>
            <a:srgbClr val="065A82">
              <a:alpha val="45000"/>
            </a:srgbClr>
          </a:solidFill>
          <a:ln/>
        </p:spPr>
        <p:txBody>
          <a:bodyPr/>
          <a:p/>
        </p:txBody>
      </p:sp>
      <p:sp>
        <p:nvSpPr>
          <p:cNvPr id="4" name="Shape 2"/>
          <p:cNvSpPr/>
          <p:nvPr/>
        </p:nvSpPr>
        <p:spPr>
          <a:xfrm>
            <a:off x="548640" y="566928"/>
            <a:ext cx="841248" cy="841248"/>
          </a:xfrm>
          <a:prstGeom prst="ellipse">
            <a:avLst/>
          </a:prstGeom>
          <a:solidFill>
            <a:srgbClr val="1C7293"/>
          </a:solidFill>
          <a:ln/>
        </p:spPr>
      </p:sp>
      <p:pic>
        <p:nvPicPr>
          <p:cNvPr id="5" name="Image 0" descr="preencoded.png"/>
          <p:cNvPicPr>
            <a:picLocks noChangeAspect="1"/>
          </p:cNvPicPr>
          <p:nvPr/>
        </p:nvPicPr>
        <p:blipFill>
          <a:blip r:embed="rId3"/>
          <a:stretch>
            <a:fillRect/>
          </a:stretch>
        </p:blipFill>
        <p:spPr>
          <a:xfrm>
            <a:off x="722376" y="740664"/>
            <a:ext cx="493776" cy="493776"/>
          </a:xfrm>
          <a:prstGeom prst="rect">
            <a:avLst/>
          </a:prstGeom>
        </p:spPr>
      </p:pic>
      <p:sp>
        <p:nvSpPr>
          <p:cNvPr id="6" name="Text 3"/>
          <p:cNvSpPr/>
          <p:nvPr/>
        </p:nvSpPr>
        <p:spPr>
          <a:xfrm>
            <a:off x="1554480" y="676656"/>
            <a:ext cx="6858000" cy="457200"/>
          </a:xfrm>
          <a:prstGeom prst="rect">
            <a:avLst/>
          </a:prstGeom>
          <a:noFill/>
          <a:ln/>
        </p:spPr>
        <p:txBody>
          <a:bodyPr wrap="square" lIns="0" tIns="0" rIns="0" bIns="0" rtlCol="0" anchor="ctr"/>
          <a:lstStyle/>
          <a:p>
            <a:pPr marL="0" indent="0">
              <a:buNone/>
            </a:pPr>
            <a:r>
              <a:rPr lang="en-US" sz="1400" b="1" kern="0" spc="300" dirty="0">
                <a:solidFill>
                  <a:srgbClr val="2EC4B6"/>
                </a:solidFill>
                <a:latin typeface="Calibri" pitchFamily="34" charset="0"/>
                <a:ea typeface="Calibri" pitchFamily="34" charset="-122"/>
                <a:cs typeface="Calibri" pitchFamily="34" charset="-120"/>
              </a:rPr>
              <a:t>WORKSHOP 3 · 45 MINUTES  ·  PDC · BUSINESS GLOSSARY</a:t>
            </a:r>
            <a:endParaRPr lang="en-US" sz="1400" dirty="0"/>
          </a:p>
        </p:txBody>
      </p:sp>
      <p:sp>
        <p:nvSpPr>
          <p:cNvPr id="7" name="Text 4"/>
          <p:cNvSpPr/>
          <p:nvPr/>
        </p:nvSpPr>
        <p:spPr>
          <a:xfrm>
            <a:off x="548640" y="1737360"/>
            <a:ext cx="8138160" cy="1737360"/>
          </a:xfrm>
          <a:prstGeom prst="rect">
            <a:avLst/>
          </a:prstGeom>
          <a:noFill/>
          <a:ln/>
        </p:spPr>
        <p:txBody>
          <a:bodyPr wrap="square" lIns="0" tIns="0" rIns="0" bIns="0" rtlCol="0" anchor="ctr"/>
          <a:lstStyle/>
          <a:p>
            <a:pPr marL="0" indent="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Build the Business</a:t>
            </a:r>
            <a:endParaRPr lang="en-US" sz="4000" dirty="0"/>
          </a:p>
          <a:p>
            <a:pPr marL="0" indent="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Glossary</a:t>
            </a:r>
            <a:endParaRPr lang="en-US" sz="4000" dirty="0"/>
          </a:p>
        </p:txBody>
      </p:sp>
      <p:sp>
        <p:nvSpPr>
          <p:cNvPr id="8" name="Text 5"/>
          <p:cNvSpPr/>
          <p:nvPr/>
        </p:nvSpPr>
        <p:spPr>
          <a:xfrm>
            <a:off x="566928" y="3520440"/>
            <a:ext cx="7863840" cy="914400"/>
          </a:xfrm>
          <a:prstGeom prst="rect">
            <a:avLst/>
          </a:prstGeom>
          <a:noFill/>
          <a:ln/>
        </p:spPr>
        <p:txBody>
          <a:bodyPr wrap="square" lIns="0" tIns="0" rIns="0" bIns="0" rtlCol="0" anchor="ctr"/>
          <a:lstStyle/>
          <a:p>
            <a:pPr marL="0" indent="0">
              <a:lnSpc>
                <a:spcPct val="105000"/>
              </a:lnSpc>
              <a:buNone/>
            </a:pPr>
            <a:r>
              <a:rPr lang="en-US" sz="1800" dirty="0">
                <a:solidFill>
                  <a:srgbClr val="DCEEF5"/>
                </a:solidFill>
                <a:latin typeface="Calibri" pitchFamily="34" charset="0"/>
                <a:ea typeface="Calibri" pitchFamily="34" charset="-122"/>
                <a:cs typeface="Calibri" pitchFamily="34" charset="-120"/>
              </a:rPr>
              <a:t>Build CSCU’s business vocabulary — glossary, categories, and terms — then link it to the catalog so meaning, ownership, and sensitivity live where analysts can find them.</a:t>
            </a:r>
            <a:endParaRPr lang="en-US" sz="1800" dirty="0"/>
          </a:p>
        </p:txBody>
      </p:sp>
      <p:sp>
        <p:nvSpPr>
          <p:cNvPr id="9" name="Text 6"/>
          <p:cNvSpPr/>
          <p:nvPr/>
        </p:nvSpPr>
        <p:spPr>
          <a:xfrm>
            <a:off x="566928" y="4626864"/>
            <a:ext cx="8046720" cy="365760"/>
          </a:xfrm>
          <a:prstGeom prst="rect">
            <a:avLst/>
          </a:prstGeom>
          <a:noFill/>
          <a:ln/>
        </p:spPr>
        <p:txBody>
          <a:bodyPr wrap="square" lIns="0" tIns="0" rIns="0" bIns="0" rtlCol="0" anchor="ctr"/>
          <a:lstStyle/>
          <a:p>
            <a:pPr marL="0" indent="0">
              <a:buNone/>
            </a:pPr>
            <a:r>
              <a:rPr lang="en-US" sz="1200" dirty="0">
                <a:solidFill>
                  <a:srgbClr val="5B7782"/>
                </a:solidFill>
                <a:latin typeface="Calibri" pitchFamily="34" charset="0"/>
                <a:ea typeface="Calibri" pitchFamily="34" charset="-122"/>
                <a:cs typeface="Calibri" pitchFamily="34" charset="-120"/>
              </a:rPr>
              <a:t>Pentaho Data Catalog 11.0.0  ·  Glossary → Category → Term  ·  CopperState_Core_Banking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THE HIERARCHY</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Glossary → Category → Term</a:t>
            </a:r>
            <a:endParaRPr lang="en-US" sz="2700" dirty="0"/>
          </a:p>
        </p:txBody>
      </p:sp>
      <p:sp>
        <p:nvSpPr>
          <p:cNvPr id="4" name="Shape 2"/>
          <p:cNvSpPr/>
          <p:nvPr/>
        </p:nvSpPr>
        <p:spPr>
          <a:xfrm>
            <a:off x="548640"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5" name="Shape 3"/>
          <p:cNvSpPr/>
          <p:nvPr/>
        </p:nvSpPr>
        <p:spPr>
          <a:xfrm>
            <a:off x="804672" y="1792224"/>
            <a:ext cx="713232" cy="713232"/>
          </a:xfrm>
          <a:prstGeom prst="ellipse">
            <a:avLst/>
          </a:prstGeom>
          <a:solidFill>
            <a:srgbClr val="065A82"/>
          </a:solidFill>
          <a:ln/>
        </p:spPr>
      </p:sp>
      <p:pic>
        <p:nvPicPr>
          <p:cNvPr id="6" name="Image 0" descr="preencoded.png"/>
          <p:cNvPicPr>
            <a:picLocks noChangeAspect="1"/>
          </p:cNvPicPr>
          <p:nvPr/>
        </p:nvPicPr>
        <p:blipFill>
          <a:blip r:embed="rId3"/>
          <a:stretch>
            <a:fillRect/>
          </a:stretch>
        </p:blipFill>
        <p:spPr>
          <a:xfrm>
            <a:off x="996696" y="1984248"/>
            <a:ext cx="329184" cy="329184"/>
          </a:xfrm>
          <a:prstGeom prst="rect">
            <a:avLst/>
          </a:prstGeom>
        </p:spPr>
      </p:pic>
      <p:sp>
        <p:nvSpPr>
          <p:cNvPr id="7" name="Text 4"/>
          <p:cNvSpPr/>
          <p:nvPr/>
        </p:nvSpPr>
        <p:spPr>
          <a:xfrm>
            <a:off x="804672"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Glossary</a:t>
            </a:r>
            <a:endParaRPr lang="en-US" sz="2000" dirty="0"/>
          </a:p>
        </p:txBody>
      </p:sp>
      <p:sp>
        <p:nvSpPr>
          <p:cNvPr id="8" name="Text 5"/>
          <p:cNvSpPr/>
          <p:nvPr/>
        </p:nvSpPr>
        <p:spPr>
          <a:xfrm>
            <a:off x="804672" y="3035808"/>
            <a:ext cx="2130552" cy="292608"/>
          </a:xfrm>
          <a:prstGeom prst="rect">
            <a:avLst/>
          </a:prstGeom>
          <a:noFill/>
          <a:ln/>
        </p:spPr>
        <p:txBody>
          <a:bodyPr wrap="square" lIns="0" tIns="0" rIns="0" bIns="0" rtlCol="0" anchor="ctr"/>
          <a:lstStyle/>
          <a:p>
            <a:pPr marL="0" indent="0">
              <a:buNone/>
            </a:pPr>
            <a:r>
              <a:rPr lang="en-US" sz="1100" b="1" i="1" dirty="0">
                <a:solidFill>
                  <a:srgbClr val="065A82"/>
                </a:solidFill>
                <a:latin typeface="Calibri" pitchFamily="34" charset="0"/>
                <a:ea typeface="Calibri" pitchFamily="34" charset="-122"/>
                <a:cs typeface="Calibri" pitchFamily="34" charset="-120"/>
              </a:rPr>
              <a:t>The container</a:t>
            </a:r>
            <a:endParaRPr lang="en-US" sz="1100" dirty="0"/>
          </a:p>
        </p:txBody>
      </p:sp>
      <p:sp>
        <p:nvSpPr>
          <p:cNvPr id="9" name="Text 6"/>
          <p:cNvSpPr/>
          <p:nvPr/>
        </p:nvSpPr>
        <p:spPr>
          <a:xfrm>
            <a:off x="804672"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The top-level home for a body of business language. Example: Copper State.</a:t>
            </a:r>
            <a:endParaRPr lang="en-US" sz="1100" dirty="0"/>
          </a:p>
        </p:txBody>
      </p:sp>
      <p:sp>
        <p:nvSpPr>
          <p:cNvPr id="10" name="Shape 7"/>
          <p:cNvSpPr/>
          <p:nvPr/>
        </p:nvSpPr>
        <p:spPr>
          <a:xfrm>
            <a:off x="3273552"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11" name="Shape 8"/>
          <p:cNvSpPr/>
          <p:nvPr/>
        </p:nvSpPr>
        <p:spPr>
          <a:xfrm>
            <a:off x="3529584" y="1792224"/>
            <a:ext cx="713232" cy="713232"/>
          </a:xfrm>
          <a:prstGeom prst="ellipse">
            <a:avLst/>
          </a:prstGeom>
          <a:solidFill>
            <a:srgbClr val="1C7293"/>
          </a:solidFill>
          <a:ln/>
        </p:spPr>
      </p:sp>
      <p:pic>
        <p:nvPicPr>
          <p:cNvPr id="12" name="Image 1" descr="preencoded.png"/>
          <p:cNvPicPr>
            <a:picLocks noChangeAspect="1"/>
          </p:cNvPicPr>
          <p:nvPr/>
        </p:nvPicPr>
        <p:blipFill>
          <a:blip r:embed="rId4"/>
          <a:stretch>
            <a:fillRect/>
          </a:stretch>
        </p:blipFill>
        <p:spPr>
          <a:xfrm>
            <a:off x="3721608" y="1984248"/>
            <a:ext cx="329184" cy="329184"/>
          </a:xfrm>
          <a:prstGeom prst="rect">
            <a:avLst/>
          </a:prstGeom>
        </p:spPr>
      </p:pic>
      <p:sp>
        <p:nvSpPr>
          <p:cNvPr id="13" name="Text 9"/>
          <p:cNvSpPr/>
          <p:nvPr/>
        </p:nvSpPr>
        <p:spPr>
          <a:xfrm>
            <a:off x="3529584"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Category</a:t>
            </a:r>
            <a:endParaRPr lang="en-US" sz="2000" dirty="0"/>
          </a:p>
        </p:txBody>
      </p:sp>
      <p:sp>
        <p:nvSpPr>
          <p:cNvPr id="14" name="Text 10"/>
          <p:cNvSpPr/>
          <p:nvPr/>
        </p:nvSpPr>
        <p:spPr>
          <a:xfrm>
            <a:off x="3529584" y="3035808"/>
            <a:ext cx="2130552" cy="292608"/>
          </a:xfrm>
          <a:prstGeom prst="rect">
            <a:avLst/>
          </a:prstGeom>
          <a:noFill/>
          <a:ln/>
        </p:spPr>
        <p:txBody>
          <a:bodyPr wrap="square" lIns="0" tIns="0" rIns="0" bIns="0" rtlCol="0" anchor="ctr"/>
          <a:lstStyle/>
          <a:p>
            <a:pPr marL="0" indent="0">
              <a:buNone/>
            </a:pPr>
            <a:r>
              <a:rPr lang="en-US" sz="1100" b="1" i="1" dirty="0">
                <a:solidFill>
                  <a:srgbClr val="1C7293"/>
                </a:solidFill>
                <a:latin typeface="Calibri" pitchFamily="34" charset="0"/>
                <a:ea typeface="Calibri" pitchFamily="34" charset="-122"/>
                <a:cs typeface="Calibri" pitchFamily="34" charset="-120"/>
              </a:rPr>
              <a:t>The grouping</a:t>
            </a:r>
            <a:endParaRPr lang="en-US" sz="1100" dirty="0"/>
          </a:p>
        </p:txBody>
      </p:sp>
      <p:sp>
        <p:nvSpPr>
          <p:cNvPr id="15" name="Text 11"/>
          <p:cNvSpPr/>
          <p:nvPr/>
        </p:nvSpPr>
        <p:spPr>
          <a:xfrm>
            <a:off x="3529584"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Related terms grouped together. Example: Member, Water Quality.</a:t>
            </a:r>
            <a:endParaRPr lang="en-US" sz="1100" dirty="0"/>
          </a:p>
        </p:txBody>
      </p:sp>
      <p:sp>
        <p:nvSpPr>
          <p:cNvPr id="16" name="Shape 12"/>
          <p:cNvSpPr/>
          <p:nvPr/>
        </p:nvSpPr>
        <p:spPr>
          <a:xfrm>
            <a:off x="5998464"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17" name="Shape 13"/>
          <p:cNvSpPr/>
          <p:nvPr/>
        </p:nvSpPr>
        <p:spPr>
          <a:xfrm>
            <a:off x="6254496" y="1792224"/>
            <a:ext cx="713232" cy="713232"/>
          </a:xfrm>
          <a:prstGeom prst="ellipse">
            <a:avLst/>
          </a:prstGeom>
          <a:solidFill>
            <a:srgbClr val="2EC4B6"/>
          </a:solidFill>
          <a:ln/>
        </p:spPr>
      </p:sp>
      <p:pic>
        <p:nvPicPr>
          <p:cNvPr id="18" name="Image 2" descr="preencoded.png"/>
          <p:cNvPicPr>
            <a:picLocks noChangeAspect="1"/>
          </p:cNvPicPr>
          <p:nvPr/>
        </p:nvPicPr>
        <p:blipFill>
          <a:blip r:embed="rId5"/>
          <a:stretch>
            <a:fillRect/>
          </a:stretch>
        </p:blipFill>
        <p:spPr>
          <a:xfrm>
            <a:off x="6446520" y="1984248"/>
            <a:ext cx="329184" cy="329184"/>
          </a:xfrm>
          <a:prstGeom prst="rect">
            <a:avLst/>
          </a:prstGeom>
        </p:spPr>
      </p:pic>
      <p:sp>
        <p:nvSpPr>
          <p:cNvPr id="19" name="Text 14"/>
          <p:cNvSpPr/>
          <p:nvPr/>
        </p:nvSpPr>
        <p:spPr>
          <a:xfrm>
            <a:off x="6254496"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Term</a:t>
            </a:r>
            <a:endParaRPr lang="en-US" sz="2000" dirty="0"/>
          </a:p>
        </p:txBody>
      </p:sp>
      <p:sp>
        <p:nvSpPr>
          <p:cNvPr id="20" name="Text 15"/>
          <p:cNvSpPr/>
          <p:nvPr/>
        </p:nvSpPr>
        <p:spPr>
          <a:xfrm>
            <a:off x="6254496" y="3035808"/>
            <a:ext cx="2130552" cy="292608"/>
          </a:xfrm>
          <a:prstGeom prst="rect">
            <a:avLst/>
          </a:prstGeom>
          <a:noFill/>
          <a:ln/>
        </p:spPr>
        <p:txBody>
          <a:bodyPr wrap="square" lIns="0" tIns="0" rIns="0" bIns="0" rtlCol="0" anchor="ctr"/>
          <a:lstStyle/>
          <a:p>
            <a:pPr marL="0" indent="0">
              <a:buNone/>
            </a:pPr>
            <a:r>
              <a:rPr lang="en-US" sz="1100" b="1" i="1" dirty="0">
                <a:solidFill>
                  <a:srgbClr val="2EC4B6"/>
                </a:solidFill>
                <a:latin typeface="Calibri" pitchFamily="34" charset="0"/>
                <a:ea typeface="Calibri" pitchFamily="34" charset="-122"/>
                <a:cs typeface="Calibri" pitchFamily="34" charset="-120"/>
              </a:rPr>
              <a:t>The governed concept</a:t>
            </a:r>
            <a:endParaRPr lang="en-US" sz="1100" dirty="0"/>
          </a:p>
        </p:txBody>
      </p:sp>
      <p:sp>
        <p:nvSpPr>
          <p:cNvPr id="21" name="Text 16"/>
          <p:cNvSpPr/>
          <p:nvPr/>
        </p:nvSpPr>
        <p:spPr>
          <a:xfrm>
            <a:off x="6254496"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A single governed concept with a definition and properties. Example: Member Name, EPA Compliance Status.</a:t>
            </a:r>
            <a:endParaRPr lang="en-US" sz="1100" dirty="0"/>
          </a:p>
        </p:txBody>
      </p:sp>
      <p:sp>
        <p:nvSpPr>
          <p:cNvPr id="22" name="Text 17"/>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3 · Tags are separate — quick labels that complement terms</a:t>
            </a:r>
            <a:endParaRPr lang="en-US" sz="950" dirty="0"/>
          </a:p>
        </p:txBody>
      </p:sp>
      <p:sp>
        <p:nvSpPr>
          <p:cNvPr id="23" name="Text 18"/>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WHERE GOVERNANCE LIVES</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The properties that govern a term</a:t>
            </a:r>
            <a:endParaRPr lang="en-US" sz="2700" dirty="0"/>
          </a:p>
        </p:txBody>
      </p:sp>
      <p:sp>
        <p:nvSpPr>
          <p:cNvPr id="4" name="Shape 2"/>
          <p:cNvSpPr/>
          <p:nvPr/>
        </p:nvSpPr>
        <p:spPr>
          <a:xfrm>
            <a:off x="548640" y="1499616"/>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5" name="Shape 3"/>
          <p:cNvSpPr/>
          <p:nvPr/>
        </p:nvSpPr>
        <p:spPr>
          <a:xfrm>
            <a:off x="713232" y="1609344"/>
            <a:ext cx="384048" cy="384048"/>
          </a:xfrm>
          <a:prstGeom prst="ellipse">
            <a:avLst/>
          </a:prstGeom>
          <a:solidFill>
            <a:srgbClr val="1C7293"/>
          </a:solidFill>
          <a:ln/>
        </p:spPr>
      </p:sp>
      <p:pic>
        <p:nvPicPr>
          <p:cNvPr id="6" name="Image 0" descr="preencoded.png"/>
          <p:cNvPicPr>
            <a:picLocks noChangeAspect="1"/>
          </p:cNvPicPr>
          <p:nvPr/>
        </p:nvPicPr>
        <p:blipFill>
          <a:blip r:embed="rId3"/>
          <a:stretch>
            <a:fillRect/>
          </a:stretch>
        </p:blipFill>
        <p:spPr>
          <a:xfrm>
            <a:off x="800100" y="1696212"/>
            <a:ext cx="210312" cy="210312"/>
          </a:xfrm>
          <a:prstGeom prst="rect">
            <a:avLst/>
          </a:prstGeom>
        </p:spPr>
      </p:pic>
      <p:sp>
        <p:nvSpPr>
          <p:cNvPr id="7" name="Text 4"/>
          <p:cNvSpPr/>
          <p:nvPr/>
        </p:nvSpPr>
        <p:spPr>
          <a:xfrm>
            <a:off x="1280160" y="1499616"/>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Sensitivity</a:t>
            </a:r>
            <a:endParaRPr lang="en-US" sz="1400" dirty="0"/>
          </a:p>
        </p:txBody>
      </p:sp>
      <p:sp>
        <p:nvSpPr>
          <p:cNvPr id="8" name="Text 5"/>
          <p:cNvSpPr/>
          <p:nvPr/>
        </p:nvSpPr>
        <p:spPr>
          <a:xfrm>
            <a:off x="3383280" y="1499616"/>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Unknown, Low, Medium, or High — the term’s confidentiality level. Always shown, defaults to Unknown.</a:t>
            </a:r>
            <a:endParaRPr lang="en-US" sz="1150" dirty="0"/>
          </a:p>
        </p:txBody>
      </p:sp>
      <p:sp>
        <p:nvSpPr>
          <p:cNvPr id="9" name="Shape 6"/>
          <p:cNvSpPr/>
          <p:nvPr/>
        </p:nvSpPr>
        <p:spPr>
          <a:xfrm>
            <a:off x="548640" y="2176272"/>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0" name="Shape 7"/>
          <p:cNvSpPr/>
          <p:nvPr/>
        </p:nvSpPr>
        <p:spPr>
          <a:xfrm>
            <a:off x="713232" y="2286000"/>
            <a:ext cx="384048" cy="384048"/>
          </a:xfrm>
          <a:prstGeom prst="ellipse">
            <a:avLst/>
          </a:prstGeom>
          <a:solidFill>
            <a:srgbClr val="1C7293"/>
          </a:solidFill>
          <a:ln/>
        </p:spPr>
      </p:sp>
      <p:pic>
        <p:nvPicPr>
          <p:cNvPr id="11" name="Image 1" descr="preencoded.png"/>
          <p:cNvPicPr>
            <a:picLocks noChangeAspect="1"/>
          </p:cNvPicPr>
          <p:nvPr/>
        </p:nvPicPr>
        <p:blipFill>
          <a:blip r:embed="rId4"/>
          <a:stretch>
            <a:fillRect/>
          </a:stretch>
        </p:blipFill>
        <p:spPr>
          <a:xfrm>
            <a:off x="800100" y="2372868"/>
            <a:ext cx="210312" cy="210312"/>
          </a:xfrm>
          <a:prstGeom prst="rect">
            <a:avLst/>
          </a:prstGeom>
        </p:spPr>
      </p:pic>
      <p:sp>
        <p:nvSpPr>
          <p:cNvPr id="12" name="Text 8"/>
          <p:cNvSpPr/>
          <p:nvPr/>
        </p:nvSpPr>
        <p:spPr>
          <a:xfrm>
            <a:off x="1280160" y="2176272"/>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Domain</a:t>
            </a:r>
            <a:endParaRPr lang="en-US" sz="1400" dirty="0"/>
          </a:p>
        </p:txBody>
      </p:sp>
      <p:sp>
        <p:nvSpPr>
          <p:cNvPr id="13" name="Text 9"/>
          <p:cNvSpPr/>
          <p:nvPr/>
        </p:nvSpPr>
        <p:spPr>
          <a:xfrm>
            <a:off x="3383280" y="2176272"/>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The industry domain, picked from PDC’s built-in list — for CSCU, Utilities. Always shown.</a:t>
            </a:r>
            <a:endParaRPr lang="en-US" sz="1150" dirty="0"/>
          </a:p>
        </p:txBody>
      </p:sp>
      <p:sp>
        <p:nvSpPr>
          <p:cNvPr id="14" name="Shape 10"/>
          <p:cNvSpPr/>
          <p:nvPr/>
        </p:nvSpPr>
        <p:spPr>
          <a:xfrm>
            <a:off x="548640" y="2852928"/>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5" name="Shape 11"/>
          <p:cNvSpPr/>
          <p:nvPr/>
        </p:nvSpPr>
        <p:spPr>
          <a:xfrm>
            <a:off x="713232" y="2962656"/>
            <a:ext cx="384048" cy="384048"/>
          </a:xfrm>
          <a:prstGeom prst="ellipse">
            <a:avLst/>
          </a:prstGeom>
          <a:solidFill>
            <a:srgbClr val="1C7293"/>
          </a:solidFill>
          <a:ln/>
        </p:spPr>
      </p:sp>
      <p:pic>
        <p:nvPicPr>
          <p:cNvPr id="16" name="Image 2" descr="preencoded.png"/>
          <p:cNvPicPr>
            <a:picLocks noChangeAspect="1"/>
          </p:cNvPicPr>
          <p:nvPr/>
        </p:nvPicPr>
        <p:blipFill>
          <a:blip r:embed="rId5"/>
          <a:stretch>
            <a:fillRect/>
          </a:stretch>
        </p:blipFill>
        <p:spPr>
          <a:xfrm>
            <a:off x="800100" y="3049524"/>
            <a:ext cx="210312" cy="210312"/>
          </a:xfrm>
          <a:prstGeom prst="rect">
            <a:avLst/>
          </a:prstGeom>
        </p:spPr>
      </p:pic>
      <p:sp>
        <p:nvSpPr>
          <p:cNvPr id="17" name="Text 12"/>
          <p:cNvSpPr/>
          <p:nvPr/>
        </p:nvSpPr>
        <p:spPr>
          <a:xfrm>
            <a:off x="1280160" y="2852928"/>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Classification</a:t>
            </a:r>
            <a:endParaRPr lang="en-US" sz="1400" dirty="0"/>
          </a:p>
        </p:txBody>
      </p:sp>
      <p:sp>
        <p:nvSpPr>
          <p:cNvPr id="18" name="Text 13"/>
          <p:cNvSpPr/>
          <p:nvPr/>
        </p:nvSpPr>
        <p:spPr>
          <a:xfrm>
            <a:off x="3383280" y="2852928"/>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Public, Private, or Company Confidential.</a:t>
            </a:r>
            <a:endParaRPr lang="en-US" sz="1150" dirty="0"/>
          </a:p>
        </p:txBody>
      </p:sp>
      <p:sp>
        <p:nvSpPr>
          <p:cNvPr id="19" name="Shape 14"/>
          <p:cNvSpPr/>
          <p:nvPr/>
        </p:nvSpPr>
        <p:spPr>
          <a:xfrm>
            <a:off x="548640" y="3529584"/>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0" name="Shape 15"/>
          <p:cNvSpPr/>
          <p:nvPr/>
        </p:nvSpPr>
        <p:spPr>
          <a:xfrm>
            <a:off x="713232" y="3639312"/>
            <a:ext cx="384048" cy="384048"/>
          </a:xfrm>
          <a:prstGeom prst="ellipse">
            <a:avLst/>
          </a:prstGeom>
          <a:solidFill>
            <a:srgbClr val="1C7293"/>
          </a:solidFill>
          <a:ln/>
        </p:spPr>
      </p:sp>
      <p:pic>
        <p:nvPicPr>
          <p:cNvPr id="21" name="Image 3" descr="preencoded.png"/>
          <p:cNvPicPr>
            <a:picLocks noChangeAspect="1"/>
          </p:cNvPicPr>
          <p:nvPr/>
        </p:nvPicPr>
        <p:blipFill>
          <a:blip r:embed="rId6"/>
          <a:stretch>
            <a:fillRect/>
          </a:stretch>
        </p:blipFill>
        <p:spPr>
          <a:xfrm>
            <a:off x="800100" y="3726180"/>
            <a:ext cx="210312" cy="210312"/>
          </a:xfrm>
          <a:prstGeom prst="rect">
            <a:avLst/>
          </a:prstGeom>
        </p:spPr>
      </p:pic>
      <p:sp>
        <p:nvSpPr>
          <p:cNvPr id="22" name="Text 16"/>
          <p:cNvSpPr/>
          <p:nvPr/>
        </p:nvSpPr>
        <p:spPr>
          <a:xfrm>
            <a:off x="1280160" y="3529584"/>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Business Steward</a:t>
            </a:r>
            <a:endParaRPr lang="en-US" sz="1400" dirty="0"/>
          </a:p>
        </p:txBody>
      </p:sp>
      <p:sp>
        <p:nvSpPr>
          <p:cNvPr id="23" name="Text 17"/>
          <p:cNvSpPr/>
          <p:nvPr/>
        </p:nvSpPr>
        <p:spPr>
          <a:xfrm>
            <a:off x="3383280" y="3529584"/>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The role accountable for changes to the term.</a:t>
            </a:r>
            <a:endParaRPr lang="en-US" sz="1150" dirty="0"/>
          </a:p>
        </p:txBody>
      </p:sp>
      <p:sp>
        <p:nvSpPr>
          <p:cNvPr id="24" name="Shape 18"/>
          <p:cNvSpPr/>
          <p:nvPr/>
        </p:nvSpPr>
        <p:spPr>
          <a:xfrm>
            <a:off x="548640" y="4206240"/>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5" name="Shape 19"/>
          <p:cNvSpPr/>
          <p:nvPr/>
        </p:nvSpPr>
        <p:spPr>
          <a:xfrm>
            <a:off x="713232" y="4315968"/>
            <a:ext cx="384048" cy="384048"/>
          </a:xfrm>
          <a:prstGeom prst="ellipse">
            <a:avLst/>
          </a:prstGeom>
          <a:solidFill>
            <a:srgbClr val="1C7293"/>
          </a:solidFill>
          <a:ln/>
        </p:spPr>
      </p:sp>
      <p:pic>
        <p:nvPicPr>
          <p:cNvPr id="26" name="Image 4" descr="preencoded.png"/>
          <p:cNvPicPr>
            <a:picLocks noChangeAspect="1"/>
          </p:cNvPicPr>
          <p:nvPr/>
        </p:nvPicPr>
        <p:blipFill>
          <a:blip r:embed="rId7"/>
          <a:stretch>
            <a:fillRect/>
          </a:stretch>
        </p:blipFill>
        <p:spPr>
          <a:xfrm>
            <a:off x="800100" y="4402836"/>
            <a:ext cx="210312" cy="210312"/>
          </a:xfrm>
          <a:prstGeom prst="rect">
            <a:avLst/>
          </a:prstGeom>
        </p:spPr>
      </p:pic>
      <p:sp>
        <p:nvSpPr>
          <p:cNvPr id="27" name="Text 20"/>
          <p:cNvSpPr/>
          <p:nvPr/>
        </p:nvSpPr>
        <p:spPr>
          <a:xfrm>
            <a:off x="1280160" y="4206240"/>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Owner</a:t>
            </a:r>
            <a:endParaRPr lang="en-US" sz="1400" dirty="0"/>
          </a:p>
        </p:txBody>
      </p:sp>
      <p:sp>
        <p:nvSpPr>
          <p:cNvPr id="28" name="Text 21"/>
          <p:cNvSpPr/>
          <p:nvPr/>
        </p:nvSpPr>
        <p:spPr>
          <a:xfrm>
            <a:off x="3383280" y="4206240"/>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The role responsible for maintaining the term.</a:t>
            </a:r>
            <a:endParaRPr lang="en-US" sz="1150" dirty="0"/>
          </a:p>
        </p:txBody>
      </p:sp>
      <p:sp>
        <p:nvSpPr>
          <p:cNvPr id="29" name="Text 22"/>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3 · Each term also carries Tags and admin-defined Custom Properties — set on its Summary page, then link it to your data</a:t>
            </a:r>
            <a:endParaRPr lang="en-US" sz="950" dirty="0"/>
          </a:p>
        </p:txBody>
      </p:sp>
      <p:sp>
        <p:nvSpPr>
          <p:cNvPr id="30" name="Text 23"/>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SENSITIVITY</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How sensitive is the data behind the term?</a:t>
            </a:r>
            <a:endParaRPr lang="en-US" sz="2700" dirty="0"/>
          </a:p>
        </p:txBody>
      </p:sp>
      <p:sp>
        <p:nvSpPr>
          <p:cNvPr id="4" name="Shape 2"/>
          <p:cNvSpPr/>
          <p:nvPr/>
        </p:nvSpPr>
        <p:spPr>
          <a:xfrm>
            <a:off x="548640" y="1499616"/>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5" name="Shape 3"/>
          <p:cNvSpPr/>
          <p:nvPr/>
        </p:nvSpPr>
        <p:spPr>
          <a:xfrm>
            <a:off x="713232" y="1609344"/>
            <a:ext cx="384048" cy="384048"/>
          </a:xfrm>
          <a:prstGeom prst="ellipse">
            <a:avLst/>
          </a:prstGeom>
          <a:solidFill>
            <a:srgbClr val="1C7293"/>
          </a:solidFill>
          <a:ln/>
        </p:spPr>
      </p:sp>
      <p:pic>
        <p:nvPicPr>
          <p:cNvPr id="6" name="Image 0" descr="preencoded.png"/>
          <p:cNvPicPr>
            <a:picLocks noChangeAspect="1"/>
          </p:cNvPicPr>
          <p:nvPr/>
        </p:nvPicPr>
        <p:blipFill>
          <a:blip r:embed="rId2"/>
          <a:stretch>
            <a:fillRect/>
          </a:stretch>
        </p:blipFill>
        <p:spPr>
          <a:xfrm>
            <a:off x="800100" y="1696212"/>
            <a:ext cx="210312" cy="210312"/>
          </a:xfrm>
          <a:prstGeom prst="rect">
            <a:avLst/>
          </a:prstGeom>
        </p:spPr>
      </p:pic>
      <p:sp>
        <p:nvSpPr>
          <p:cNvPr id="7" name="Text 4"/>
          <p:cNvSpPr/>
          <p:nvPr/>
        </p:nvSpPr>
        <p:spPr>
          <a:xfrm>
            <a:off x="1280160" y="1499616"/>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What it is</a:t>
            </a:r>
            <a:endParaRPr lang="en-US" sz="1400" dirty="0"/>
          </a:p>
        </p:txBody>
      </p:sp>
      <p:sp>
        <p:nvSpPr>
          <p:cNvPr id="8" name="Text 5"/>
          <p:cNvSpPr/>
          <p:nvPr/>
        </p:nvSpPr>
        <p:spPr>
          <a:xfrm>
            <a:off x="3383280" y="1499616"/>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A governance flag for how much of a liability the data is if exposed — shown on every term, and a Key Metric on the data. Levels: Unknown, Low, Medium, High.</a:t>
            </a:r>
            <a:endParaRPr lang="en-US" sz="1150" dirty="0"/>
          </a:p>
        </p:txBody>
      </p:sp>
      <p:sp>
        <p:nvSpPr>
          <p:cNvPr id="9" name="Shape 6"/>
          <p:cNvSpPr/>
          <p:nvPr/>
        </p:nvSpPr>
        <p:spPr>
          <a:xfrm>
            <a:off x="548640" y="2176272"/>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0" name="Shape 7"/>
          <p:cNvSpPr/>
          <p:nvPr/>
        </p:nvSpPr>
        <p:spPr>
          <a:xfrm>
            <a:off x="713232" y="2286000"/>
            <a:ext cx="384048" cy="384048"/>
          </a:xfrm>
          <a:prstGeom prst="ellipse">
            <a:avLst/>
          </a:prstGeom>
          <a:solidFill>
            <a:srgbClr val="1C7293"/>
          </a:solidFill>
          <a:ln/>
        </p:spPr>
      </p:sp>
      <p:pic>
        <p:nvPicPr>
          <p:cNvPr id="11" name="Image 1" descr="preencoded.png"/>
          <p:cNvPicPr>
            <a:picLocks noChangeAspect="1"/>
          </p:cNvPicPr>
          <p:nvPr/>
        </p:nvPicPr>
        <p:blipFill>
          <a:blip r:embed="rId3"/>
          <a:stretch>
            <a:fillRect/>
          </a:stretch>
        </p:blipFill>
        <p:spPr>
          <a:xfrm>
            <a:off x="800100" y="2372868"/>
            <a:ext cx="210312" cy="210312"/>
          </a:xfrm>
          <a:prstGeom prst="rect">
            <a:avLst/>
          </a:prstGeom>
        </p:spPr>
      </p:pic>
      <p:sp>
        <p:nvSpPr>
          <p:cNvPr id="12" name="Text 8"/>
          <p:cNvSpPr/>
          <p:nvPr/>
        </p:nvSpPr>
        <p:spPr>
          <a:xfrm>
            <a:off x="1280160" y="2176272"/>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High</a:t>
            </a:r>
            <a:endParaRPr lang="en-US" sz="1400" dirty="0"/>
          </a:p>
        </p:txBody>
      </p:sp>
      <p:sp>
        <p:nvSpPr>
          <p:cNvPr id="13" name="Text 9"/>
          <p:cNvSpPr/>
          <p:nvPr/>
        </p:nvSpPr>
        <p:spPr>
          <a:xfrm>
            <a:off x="3383280" y="2176272"/>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Direct identifiers, financial, or contact data — e.g. Member Name, Member Account Number, Service Address.</a:t>
            </a:r>
            <a:endParaRPr lang="en-US" sz="1150" dirty="0"/>
          </a:p>
        </p:txBody>
      </p:sp>
      <p:sp>
        <p:nvSpPr>
          <p:cNvPr id="14" name="Shape 10"/>
          <p:cNvSpPr/>
          <p:nvPr/>
        </p:nvSpPr>
        <p:spPr>
          <a:xfrm>
            <a:off x="548640" y="2852928"/>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5" name="Shape 11"/>
          <p:cNvSpPr/>
          <p:nvPr/>
        </p:nvSpPr>
        <p:spPr>
          <a:xfrm>
            <a:off x="713232" y="2962656"/>
            <a:ext cx="384048" cy="384048"/>
          </a:xfrm>
          <a:prstGeom prst="ellipse">
            <a:avLst/>
          </a:prstGeom>
          <a:solidFill>
            <a:srgbClr val="1C7293"/>
          </a:solidFill>
          <a:ln/>
        </p:spPr>
      </p:sp>
      <p:pic>
        <p:nvPicPr>
          <p:cNvPr id="16" name="Image 2" descr="preencoded.png"/>
          <p:cNvPicPr>
            <a:picLocks noChangeAspect="1"/>
          </p:cNvPicPr>
          <p:nvPr/>
        </p:nvPicPr>
        <p:blipFill>
          <a:blip r:embed="rId4"/>
          <a:stretch>
            <a:fillRect/>
          </a:stretch>
        </p:blipFill>
        <p:spPr>
          <a:xfrm>
            <a:off x="800100" y="3049524"/>
            <a:ext cx="210312" cy="210312"/>
          </a:xfrm>
          <a:prstGeom prst="rect">
            <a:avLst/>
          </a:prstGeom>
        </p:spPr>
      </p:pic>
      <p:sp>
        <p:nvSpPr>
          <p:cNvPr id="17" name="Text 12"/>
          <p:cNvSpPr/>
          <p:nvPr/>
        </p:nvSpPr>
        <p:spPr>
          <a:xfrm>
            <a:off x="1280160" y="2852928"/>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Medium</a:t>
            </a:r>
            <a:endParaRPr lang="en-US" sz="1400" dirty="0"/>
          </a:p>
        </p:txBody>
      </p:sp>
      <p:sp>
        <p:nvSpPr>
          <p:cNvPr id="18" name="Text 13"/>
          <p:cNvSpPr/>
          <p:nvPr/>
        </p:nvSpPr>
        <p:spPr>
          <a:xfrm>
            <a:off x="3383280" y="2852928"/>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Regulated or health-related readings — e.g. Lead Level, EPA Compliance Status.</a:t>
            </a:r>
            <a:endParaRPr lang="en-US" sz="1150" dirty="0"/>
          </a:p>
        </p:txBody>
      </p:sp>
      <p:sp>
        <p:nvSpPr>
          <p:cNvPr id="19" name="Shape 14"/>
          <p:cNvSpPr/>
          <p:nvPr/>
        </p:nvSpPr>
        <p:spPr>
          <a:xfrm>
            <a:off x="548640" y="3529584"/>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0" name="Shape 15"/>
          <p:cNvSpPr/>
          <p:nvPr/>
        </p:nvSpPr>
        <p:spPr>
          <a:xfrm>
            <a:off x="713232" y="3639312"/>
            <a:ext cx="384048" cy="384048"/>
          </a:xfrm>
          <a:prstGeom prst="ellipse">
            <a:avLst/>
          </a:prstGeom>
          <a:solidFill>
            <a:srgbClr val="1C7293"/>
          </a:solidFill>
          <a:ln/>
        </p:spPr>
      </p:sp>
      <p:pic>
        <p:nvPicPr>
          <p:cNvPr id="21" name="Image 3" descr="preencoded.png"/>
          <p:cNvPicPr>
            <a:picLocks noChangeAspect="1"/>
          </p:cNvPicPr>
          <p:nvPr/>
        </p:nvPicPr>
        <p:blipFill>
          <a:blip r:embed="rId5"/>
          <a:stretch>
            <a:fillRect/>
          </a:stretch>
        </p:blipFill>
        <p:spPr>
          <a:xfrm>
            <a:off x="800100" y="3726180"/>
            <a:ext cx="210312" cy="210312"/>
          </a:xfrm>
          <a:prstGeom prst="rect">
            <a:avLst/>
          </a:prstGeom>
        </p:spPr>
      </p:pic>
      <p:sp>
        <p:nvSpPr>
          <p:cNvPr id="22" name="Text 16"/>
          <p:cNvSpPr/>
          <p:nvPr/>
        </p:nvSpPr>
        <p:spPr>
          <a:xfrm>
            <a:off x="1280160" y="3529584"/>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Low</a:t>
            </a:r>
            <a:endParaRPr lang="en-US" sz="1400" dirty="0"/>
          </a:p>
        </p:txBody>
      </p:sp>
      <p:sp>
        <p:nvSpPr>
          <p:cNvPr id="23" name="Text 17"/>
          <p:cNvSpPr/>
          <p:nvPr/>
        </p:nvSpPr>
        <p:spPr>
          <a:xfrm>
            <a:off x="3383280" y="3529584"/>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Public or reference data — e.g. Water System, Rate Tier, Trust Score.</a:t>
            </a:r>
            <a:endParaRPr lang="en-US" sz="1150" dirty="0"/>
          </a:p>
        </p:txBody>
      </p:sp>
      <p:sp>
        <p:nvSpPr>
          <p:cNvPr id="24" name="Shape 18"/>
          <p:cNvSpPr/>
          <p:nvPr/>
        </p:nvSpPr>
        <p:spPr>
          <a:xfrm>
            <a:off x="548640" y="4206240"/>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5" name="Shape 19"/>
          <p:cNvSpPr/>
          <p:nvPr/>
        </p:nvSpPr>
        <p:spPr>
          <a:xfrm>
            <a:off x="713232" y="4315968"/>
            <a:ext cx="384048" cy="384048"/>
          </a:xfrm>
          <a:prstGeom prst="ellipse">
            <a:avLst/>
          </a:prstGeom>
          <a:solidFill>
            <a:srgbClr val="1C7293"/>
          </a:solidFill>
          <a:ln/>
        </p:spPr>
      </p:sp>
      <p:pic>
        <p:nvPicPr>
          <p:cNvPr id="26" name="Image 4" descr="preencoded.png"/>
          <p:cNvPicPr>
            <a:picLocks noChangeAspect="1"/>
          </p:cNvPicPr>
          <p:nvPr/>
        </p:nvPicPr>
        <p:blipFill>
          <a:blip r:embed="rId6"/>
          <a:stretch>
            <a:fillRect/>
          </a:stretch>
        </p:blipFill>
        <p:spPr>
          <a:xfrm>
            <a:off x="800100" y="4402836"/>
            <a:ext cx="210312" cy="210312"/>
          </a:xfrm>
          <a:prstGeom prst="rect">
            <a:avLst/>
          </a:prstGeom>
        </p:spPr>
      </p:pic>
      <p:sp>
        <p:nvSpPr>
          <p:cNvPr id="27" name="Text 20"/>
          <p:cNvSpPr/>
          <p:nvPr/>
        </p:nvSpPr>
        <p:spPr>
          <a:xfrm>
            <a:off x="1280160" y="4206240"/>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How to set it</a:t>
            </a:r>
            <a:endParaRPr lang="en-US" sz="1400" dirty="0"/>
          </a:p>
        </p:txBody>
      </p:sp>
      <p:sp>
        <p:nvSpPr>
          <p:cNvPr id="28" name="Text 21"/>
          <p:cNvSpPr/>
          <p:nvPr/>
        </p:nvSpPr>
        <p:spPr>
          <a:xfrm>
            <a:off x="3383280" y="4206240"/>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Set it on the term, or on the asset’s Key Metrics; Data Identification’s PII tagging guides the level. Defaults to Unknown.</a:t>
            </a:r>
            <a:endParaRPr lang="en-US" sz="1150" dirty="0"/>
          </a:p>
        </p:txBody>
      </p:sp>
      <p:sp>
        <p:nvSpPr>
          <p:cNvPr id="29" name="Text 22"/>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3 · Set Low / Medium / High by the harm if the data were exposed; it defaults to Unknown</a:t>
            </a:r>
            <a:endParaRPr lang="en-US" sz="950" dirty="0"/>
          </a:p>
        </p:txBody>
      </p:sp>
      <p:sp>
        <p:nvSpPr>
          <p:cNvPr id="30" name="Text 23"/>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WORKED EXAMPLE</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The CSCU glossary, in brief</a:t>
            </a:r>
            <a:endParaRPr lang="en-US" sz="2700" dirty="0"/>
          </a:p>
        </p:txBody>
      </p:sp>
      <p:sp>
        <p:nvSpPr>
          <p:cNvPr id="4" name="Text 2"/>
          <p:cNvSpPr/>
          <p:nvPr/>
        </p:nvSpPr>
        <p:spPr>
          <a:xfrm>
            <a:off x="548640" y="1389888"/>
            <a:ext cx="8046720" cy="457200"/>
          </a:xfrm>
          <a:prstGeom prst="rect">
            <a:avLst/>
          </a:prstGeom>
          <a:noFill/>
          <a:ln/>
        </p:spPr>
        <p:txBody>
          <a:bodyPr wrap="square" lIns="0" tIns="0" rIns="0" bIns="0" rtlCol="0" anchor="ctr"/>
          <a:lstStyle/>
          <a:p>
            <a:pPr marL="0" indent="0">
              <a:lnSpc>
                <a:spcPct val="104000"/>
              </a:lnSpc>
              <a:buNone/>
            </a:pPr>
            <a:r>
              <a:rPr lang="en-US" sz="1250" dirty="0">
                <a:solidFill>
                  <a:srgbClr val="5B7782"/>
                </a:solidFill>
                <a:latin typeface="Calibri" pitchFamily="34" charset="0"/>
                <a:ea typeface="Calibri" pitchFamily="34" charset="-122"/>
                <a:cs typeface="Calibri" pitchFamily="34" charset="-120"/>
              </a:rPr>
              <a:t>A handful of governed terms covers CSCU’s core data — each with a home category, a sensitivity, and a classification.</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938528"/>
          <a:ext cx="8046720" cy="914400"/>
        </p:xfrm>
        <a:graphic>
          <a:graphicData uri="http://schemas.openxmlformats.org/drawingml/2006/table">
            <a:tbl>
              <a:tblPr/>
              <a:tblGrid>
                <a:gridCol w="19202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420624">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Term</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Category</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Sensitivity</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Classification</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extLst>
                  <a:ext uri="{0D108BD9-81ED-4DB2-BD59-A6C34878D82A}">
                    <a16:rowId xmlns:a16="http://schemas.microsoft.com/office/drawing/2014/main" val="10000"/>
                  </a:ext>
                </a:extLst>
              </a:tr>
              <a:tr h="420624">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Member Name</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Member</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Private</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Member Account Number</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Billing &amp; Rates</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Company Confidential</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Water System</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Water System</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Public</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Lead Level</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Water Quality</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Company Confidential</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Trust Score</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Governance</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Public</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548640" y="4572000"/>
            <a:ext cx="8046720" cy="274320"/>
          </a:xfrm>
          <a:prstGeom prst="rect">
            <a:avLst/>
          </a:prstGeom>
          <a:noFill/>
          <a:ln/>
        </p:spPr>
        <p:txBody>
          <a:bodyPr wrap="square" lIns="0" tIns="0" rIns="0" bIns="0" rtlCol="0" anchor="ctr"/>
          <a:lstStyle/>
          <a:p>
            <a:pPr marL="0" indent="0">
              <a:buNone/>
            </a:pPr>
            <a:r>
              <a:rPr lang="en-US" sz="1050" i="1" dirty="0">
                <a:solidFill>
                  <a:srgbClr val="5B7782"/>
                </a:solidFill>
                <a:latin typeface="Calibri" pitchFamily="34" charset="0"/>
                <a:ea typeface="Calibri" pitchFamily="34" charset="-122"/>
                <a:cs typeface="Calibri" pitchFamily="34" charset="-120"/>
              </a:rPr>
              <a:t>Each term has a home category, a sensitivity, and a classification — set once, then linked to every matching column.</a:t>
            </a:r>
            <a:endParaRPr lang="en-US" sz="1050" dirty="0"/>
          </a:p>
        </p:txBody>
      </p:sp>
      <p:sp>
        <p:nvSpPr>
          <p:cNvPr id="7" name="Text 4"/>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3 · Copper State glossary</a:t>
            </a:r>
            <a:endParaRPr lang="en-US" sz="950" dirty="0"/>
          </a:p>
        </p:txBody>
      </p:sp>
      <p:sp>
        <p:nvSpPr>
          <p:cNvPr id="8" name="Text 5"/>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FROM TERM TO COLUMN</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Link a term to its columns</a:t>
            </a:r>
            <a:endParaRPr lang="en-US" sz="2700" dirty="0"/>
          </a:p>
        </p:txBody>
      </p:sp>
      <p:sp>
        <p:nvSpPr>
          <p:cNvPr id="4" name="Shape 2"/>
          <p:cNvSpPr/>
          <p:nvPr/>
        </p:nvSpPr>
        <p:spPr>
          <a:xfrm>
            <a:off x="548640" y="1499616"/>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5" name="Shape 3"/>
          <p:cNvSpPr/>
          <p:nvPr/>
        </p:nvSpPr>
        <p:spPr>
          <a:xfrm>
            <a:off x="713232" y="1609344"/>
            <a:ext cx="384048" cy="384048"/>
          </a:xfrm>
          <a:prstGeom prst="ellipse">
            <a:avLst/>
          </a:prstGeom>
          <a:solidFill>
            <a:srgbClr val="1C7293"/>
          </a:solidFill>
          <a:ln/>
        </p:spPr>
      </p:sp>
      <p:pic>
        <p:nvPicPr>
          <p:cNvPr id="6" name="Image 0" descr="preencoded.png"/>
          <p:cNvPicPr>
            <a:picLocks noChangeAspect="1"/>
          </p:cNvPicPr>
          <p:nvPr/>
        </p:nvPicPr>
        <p:blipFill>
          <a:blip r:embed="rId2"/>
          <a:stretch>
            <a:fillRect/>
          </a:stretch>
        </p:blipFill>
        <p:spPr>
          <a:xfrm>
            <a:off x="800100" y="1696212"/>
            <a:ext cx="210312" cy="210312"/>
          </a:xfrm>
          <a:prstGeom prst="rect">
            <a:avLst/>
          </a:prstGeom>
        </p:spPr>
      </p:pic>
      <p:sp>
        <p:nvSpPr>
          <p:cNvPr id="7" name="Text 4"/>
          <p:cNvSpPr/>
          <p:nvPr/>
        </p:nvSpPr>
        <p:spPr>
          <a:xfrm>
            <a:off x="1280160" y="1499616"/>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Open the term</a:t>
            </a:r>
            <a:endParaRPr lang="en-US" sz="1400" dirty="0"/>
          </a:p>
        </p:txBody>
      </p:sp>
      <p:sp>
        <p:nvSpPr>
          <p:cNvPr id="8" name="Text 5"/>
          <p:cNvSpPr/>
          <p:nvPr/>
        </p:nvSpPr>
        <p:spPr>
          <a:xfrm>
            <a:off x="3383280" y="1499616"/>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In Glossary, open a term — for example Member Name, under the Member category.</a:t>
            </a:r>
            <a:endParaRPr lang="en-US" sz="1150" dirty="0"/>
          </a:p>
        </p:txBody>
      </p:sp>
      <p:sp>
        <p:nvSpPr>
          <p:cNvPr id="9" name="Shape 6"/>
          <p:cNvSpPr/>
          <p:nvPr/>
        </p:nvSpPr>
        <p:spPr>
          <a:xfrm>
            <a:off x="548640" y="2176272"/>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0" name="Shape 7"/>
          <p:cNvSpPr/>
          <p:nvPr/>
        </p:nvSpPr>
        <p:spPr>
          <a:xfrm>
            <a:off x="713232" y="2286000"/>
            <a:ext cx="384048" cy="384048"/>
          </a:xfrm>
          <a:prstGeom prst="ellipse">
            <a:avLst/>
          </a:prstGeom>
          <a:solidFill>
            <a:srgbClr val="1C7293"/>
          </a:solidFill>
          <a:ln/>
        </p:spPr>
      </p:sp>
      <p:pic>
        <p:nvPicPr>
          <p:cNvPr id="11" name="Image 1" descr="preencoded.png"/>
          <p:cNvPicPr>
            <a:picLocks noChangeAspect="1"/>
          </p:cNvPicPr>
          <p:nvPr/>
        </p:nvPicPr>
        <p:blipFill>
          <a:blip r:embed="rId3"/>
          <a:stretch>
            <a:fillRect/>
          </a:stretch>
        </p:blipFill>
        <p:spPr>
          <a:xfrm>
            <a:off x="800100" y="2372868"/>
            <a:ext cx="210312" cy="210312"/>
          </a:xfrm>
          <a:prstGeom prst="rect">
            <a:avLst/>
          </a:prstGeom>
        </p:spPr>
      </p:pic>
      <p:sp>
        <p:nvSpPr>
          <p:cNvPr id="12" name="Text 8"/>
          <p:cNvSpPr/>
          <p:nvPr/>
        </p:nvSpPr>
        <p:spPr>
          <a:xfrm>
            <a:off x="1280160" y="2176272"/>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Data Elements tab</a:t>
            </a:r>
            <a:endParaRPr lang="en-US" sz="1400" dirty="0"/>
          </a:p>
        </p:txBody>
      </p:sp>
      <p:sp>
        <p:nvSpPr>
          <p:cNvPr id="13" name="Text 9"/>
          <p:cNvSpPr/>
          <p:nvPr/>
        </p:nvSpPr>
        <p:spPr>
          <a:xfrm>
            <a:off x="3383280" y="2176272"/>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On the term, open the Data Elements tab — with its Elements and Suggested Columns views.</a:t>
            </a:r>
            <a:endParaRPr lang="en-US" sz="1150" dirty="0"/>
          </a:p>
        </p:txBody>
      </p:sp>
      <p:sp>
        <p:nvSpPr>
          <p:cNvPr id="14" name="Shape 10"/>
          <p:cNvSpPr/>
          <p:nvPr/>
        </p:nvSpPr>
        <p:spPr>
          <a:xfrm>
            <a:off x="548640" y="2852928"/>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5" name="Shape 11"/>
          <p:cNvSpPr/>
          <p:nvPr/>
        </p:nvSpPr>
        <p:spPr>
          <a:xfrm>
            <a:off x="713232" y="2962656"/>
            <a:ext cx="384048" cy="384048"/>
          </a:xfrm>
          <a:prstGeom prst="ellipse">
            <a:avLst/>
          </a:prstGeom>
          <a:solidFill>
            <a:srgbClr val="1C7293"/>
          </a:solidFill>
          <a:ln/>
        </p:spPr>
      </p:sp>
      <p:pic>
        <p:nvPicPr>
          <p:cNvPr id="16" name="Image 2" descr="preencoded.png"/>
          <p:cNvPicPr>
            <a:picLocks noChangeAspect="1"/>
          </p:cNvPicPr>
          <p:nvPr/>
        </p:nvPicPr>
        <p:blipFill>
          <a:blip r:embed="rId4"/>
          <a:stretch>
            <a:fillRect/>
          </a:stretch>
        </p:blipFill>
        <p:spPr>
          <a:xfrm>
            <a:off x="800100" y="3049524"/>
            <a:ext cx="210312" cy="210312"/>
          </a:xfrm>
          <a:prstGeom prst="rect">
            <a:avLst/>
          </a:prstGeom>
        </p:spPr>
      </p:pic>
      <p:sp>
        <p:nvSpPr>
          <p:cNvPr id="17" name="Text 12"/>
          <p:cNvSpPr/>
          <p:nvPr/>
        </p:nvSpPr>
        <p:spPr>
          <a:xfrm>
            <a:off x="1280160" y="2852928"/>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Add Data Element</a:t>
            </a:r>
            <a:endParaRPr lang="en-US" sz="1400" dirty="0"/>
          </a:p>
        </p:txBody>
      </p:sp>
      <p:sp>
        <p:nvSpPr>
          <p:cNvPr id="18" name="Text 13"/>
          <p:cNvSpPr/>
          <p:nvPr/>
        </p:nvSpPr>
        <p:spPr>
          <a:xfrm>
            <a:off x="3383280" y="2852928"/>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Click + Add Data Element and pick the column — or Approve a Suggested Column. Link the same term to matching columns in other tables and views; Water System links to four. All inherit its meaning.</a:t>
            </a:r>
            <a:endParaRPr lang="en-US" sz="1150" dirty="0"/>
          </a:p>
        </p:txBody>
      </p:sp>
      <p:sp>
        <p:nvSpPr>
          <p:cNvPr id="19" name="Shape 14"/>
          <p:cNvSpPr/>
          <p:nvPr/>
        </p:nvSpPr>
        <p:spPr>
          <a:xfrm>
            <a:off x="548640" y="3529584"/>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0" name="Shape 15"/>
          <p:cNvSpPr/>
          <p:nvPr/>
        </p:nvSpPr>
        <p:spPr>
          <a:xfrm>
            <a:off x="713232" y="3639312"/>
            <a:ext cx="384048" cy="384048"/>
          </a:xfrm>
          <a:prstGeom prst="ellipse">
            <a:avLst/>
          </a:prstGeom>
          <a:solidFill>
            <a:srgbClr val="1C7293"/>
          </a:solidFill>
          <a:ln/>
        </p:spPr>
      </p:sp>
      <p:pic>
        <p:nvPicPr>
          <p:cNvPr id="21" name="Image 3" descr="preencoded.png"/>
          <p:cNvPicPr>
            <a:picLocks noChangeAspect="1"/>
          </p:cNvPicPr>
          <p:nvPr/>
        </p:nvPicPr>
        <p:blipFill>
          <a:blip r:embed="rId5"/>
          <a:stretch>
            <a:fillRect/>
          </a:stretch>
        </p:blipFill>
        <p:spPr>
          <a:xfrm>
            <a:off x="800100" y="3726180"/>
            <a:ext cx="210312" cy="210312"/>
          </a:xfrm>
          <a:prstGeom prst="rect">
            <a:avLst/>
          </a:prstGeom>
        </p:spPr>
      </p:pic>
      <p:sp>
        <p:nvSpPr>
          <p:cNvPr id="22" name="Text 16"/>
          <p:cNvSpPr/>
          <p:nvPr/>
        </p:nvSpPr>
        <p:spPr>
          <a:xfrm>
            <a:off x="1280160" y="3529584"/>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The column is linked</a:t>
            </a:r>
            <a:endParaRPr lang="en-US" sz="1400" dirty="0"/>
          </a:p>
        </p:txBody>
      </p:sp>
      <p:sp>
        <p:nvSpPr>
          <p:cNvPr id="23" name="Text 17"/>
          <p:cNvSpPr/>
          <p:nvPr/>
        </p:nvSpPr>
        <p:spPr>
          <a:xfrm>
            <a:off x="3383280" y="3529584"/>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members.customer_name now lists under the term as Item Type COLUMN, from CopperState_Core_Banking.</a:t>
            </a:r>
            <a:endParaRPr lang="en-US" sz="1150" dirty="0"/>
          </a:p>
        </p:txBody>
      </p:sp>
      <p:sp>
        <p:nvSpPr>
          <p:cNvPr id="24" name="Shape 18"/>
          <p:cNvSpPr/>
          <p:nvPr/>
        </p:nvSpPr>
        <p:spPr>
          <a:xfrm>
            <a:off x="548640" y="4206240"/>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5" name="Shape 19"/>
          <p:cNvSpPr/>
          <p:nvPr/>
        </p:nvSpPr>
        <p:spPr>
          <a:xfrm>
            <a:off x="713232" y="4315968"/>
            <a:ext cx="384048" cy="384048"/>
          </a:xfrm>
          <a:prstGeom prst="ellipse">
            <a:avLst/>
          </a:prstGeom>
          <a:solidFill>
            <a:srgbClr val="1C7293"/>
          </a:solidFill>
          <a:ln/>
        </p:spPr>
      </p:sp>
      <p:pic>
        <p:nvPicPr>
          <p:cNvPr id="26" name="Image 4" descr="preencoded.png"/>
          <p:cNvPicPr>
            <a:picLocks noChangeAspect="1"/>
          </p:cNvPicPr>
          <p:nvPr/>
        </p:nvPicPr>
        <p:blipFill>
          <a:blip r:embed="rId6"/>
          <a:stretch>
            <a:fillRect/>
          </a:stretch>
        </p:blipFill>
        <p:spPr>
          <a:xfrm>
            <a:off x="800100" y="4402836"/>
            <a:ext cx="210312" cy="210312"/>
          </a:xfrm>
          <a:prstGeom prst="rect">
            <a:avLst/>
          </a:prstGeom>
        </p:spPr>
      </p:pic>
      <p:sp>
        <p:nvSpPr>
          <p:cNvPr id="27" name="Text 20"/>
          <p:cNvSpPr/>
          <p:nvPr/>
        </p:nvSpPr>
        <p:spPr>
          <a:xfrm>
            <a:off x="1280160" y="4206240"/>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Then feed the table score</a:t>
            </a:r>
            <a:endParaRPr lang="en-US" sz="1400" dirty="0"/>
          </a:p>
        </p:txBody>
      </p:sp>
      <p:sp>
        <p:nvSpPr>
          <p:cNvPr id="28" name="Text 21"/>
          <p:cNvSpPr/>
          <p:nvPr/>
        </p:nvSpPr>
        <p:spPr>
          <a:xfrm>
            <a:off x="3383280" y="4206240"/>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The column links above are enrichment — they don’t feed the score. To feed it, link the table-level term (Member Record) to the members table, then Actions → Process → Calculate Trust Score. A term is 1 of 4 inputs; it climbs furthest after Workshop 4.</a:t>
            </a:r>
            <a:endParaRPr lang="en-US" sz="1150" dirty="0"/>
          </a:p>
        </p:txBody>
      </p:sp>
      <p:sp>
        <p:nvSpPr>
          <p:cNvPr id="29" name="Text 22"/>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3 · Linking is done from the term’s Data Elements tab — not from an Add Term button on the table</a:t>
            </a:r>
            <a:endParaRPr lang="en-US" sz="950" dirty="0"/>
          </a:p>
        </p:txBody>
      </p:sp>
      <p:sp>
        <p:nvSpPr>
          <p:cNvPr id="30" name="Text 23"/>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7680960" cy="292608"/>
          </a:xfrm>
          <a:prstGeom prst="rect">
            <a:avLst/>
          </a:prstGeom>
          <a:noFill/>
        </p:spPr>
        <p:txBody>
          <a:bodyPr wrap="square" lIns="0" rIns="0" tIns="0" bIns="0">
            <a:spAutoFit/>
          </a:bodyPr>
          <a:lstStyle/>
          <a:p>
            <a:r>
              <a:rPr sz="1200" b="1" spc="200">
                <a:solidFill>
                  <a:srgbClr val="1C7293"/>
                </a:solidFill>
                <a:latin typeface="Calibri"/>
              </a:rPr>
              <a:t>TRUST SCORE</a:t>
            </a:r>
          </a:p>
        </p:txBody>
      </p:sp>
      <p:sp>
        <p:nvSpPr>
          <p:cNvPr id="3" name="TextBox 2"/>
          <p:cNvSpPr txBox="1"/>
          <p:nvPr/>
        </p:nvSpPr>
        <p:spPr>
          <a:xfrm>
            <a:off x="548640" y="713232"/>
            <a:ext cx="7863840" cy="566928"/>
          </a:xfrm>
          <a:prstGeom prst="rect">
            <a:avLst/>
          </a:prstGeom>
          <a:noFill/>
        </p:spPr>
        <p:txBody>
          <a:bodyPr wrap="square" lIns="0" rIns="0" tIns="0" bIns="0">
            <a:spAutoFit/>
          </a:bodyPr>
          <a:lstStyle/>
          <a:p>
            <a:r>
              <a:rPr sz="2700" b="0">
                <a:solidFill>
                  <a:srgbClr val="14333F"/>
                </a:solidFill>
                <a:latin typeface="Bookman Old Style"/>
              </a:rPr>
              <a:t>What your links did — and didn’t — do</a:t>
            </a:r>
          </a:p>
        </p:txBody>
      </p:sp>
      <p:sp>
        <p:nvSpPr>
          <p:cNvPr id="4" name="Rectangle 3"/>
          <p:cNvSpPr/>
          <p:nvPr/>
        </p:nvSpPr>
        <p:spPr>
          <a:xfrm>
            <a:off x="548640" y="1444752"/>
            <a:ext cx="8046720" cy="475488"/>
          </a:xfrm>
          <a:prstGeom prst="rect">
            <a:avLst/>
          </a:prstGeom>
          <a:solidFill>
            <a:srgbClr val="0A3D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36576" bIns="36576"/>
          <a:lstStyle/>
          <a:p>
            <a:pPr algn="ctr"/>
            <a:r>
              <a:rPr sz="1350" b="1">
                <a:solidFill>
                  <a:srgbClr val="FFFFFF"/>
                </a:solidFill>
                <a:latin typeface="Calibri"/>
              </a:rPr>
              <a:t>Trust Score is a TABLE / FILE metric — a column never gets its own</a:t>
            </a:r>
          </a:p>
        </p:txBody>
      </p:sp>
      <p:sp>
        <p:nvSpPr>
          <p:cNvPr id="5" name="Rounded Rectangle 4"/>
          <p:cNvSpPr/>
          <p:nvPr/>
        </p:nvSpPr>
        <p:spPr>
          <a:xfrm>
            <a:off x="548640" y="2084831"/>
            <a:ext cx="3931920" cy="1371600"/>
          </a:xfrm>
          <a:prstGeom prst="roundRect">
            <a:avLst>
              <a:gd name="adj" fmla="val 5000"/>
            </a:avLst>
          </a:prstGeom>
          <a:solidFill>
            <a:srgbClr val="EEF6FA"/>
          </a:solidFill>
          <a:ln w="9525">
            <a:solidFill>
              <a:srgbClr val="D7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9808" y="2322576"/>
            <a:ext cx="146304" cy="146304"/>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231136"/>
            <a:ext cx="3291839" cy="365760"/>
          </a:xfrm>
          <a:prstGeom prst="rect">
            <a:avLst/>
          </a:prstGeom>
          <a:noFill/>
        </p:spPr>
        <p:txBody>
          <a:bodyPr wrap="square" lIns="0" rIns="0" tIns="0" bIns="0">
            <a:spAutoFit/>
          </a:bodyPr>
          <a:lstStyle/>
          <a:p>
            <a:r>
              <a:rPr sz="1400" b="0">
                <a:solidFill>
                  <a:srgbClr val="14333F"/>
                </a:solidFill>
                <a:latin typeface="Bookman Old Style"/>
              </a:rPr>
              <a:t>Feed it with a table-level term</a:t>
            </a:r>
          </a:p>
        </p:txBody>
      </p:sp>
      <p:sp>
        <p:nvSpPr>
          <p:cNvPr id="8" name="TextBox 7"/>
          <p:cNvSpPr txBox="1"/>
          <p:nvPr/>
        </p:nvSpPr>
        <p:spPr>
          <a:xfrm>
            <a:off x="749808" y="2651760"/>
            <a:ext cx="3529584" cy="731520"/>
          </a:xfrm>
          <a:prstGeom prst="rect">
            <a:avLst/>
          </a:prstGeom>
          <a:noFill/>
        </p:spPr>
        <p:txBody>
          <a:bodyPr wrap="square" lIns="0" rIns="0" tIns="0" bIns="0">
            <a:spAutoFit/>
          </a:bodyPr>
          <a:lstStyle/>
          <a:p>
            <a:pPr>
              <a:lnSpc>
                <a:spcPct val="105000"/>
              </a:lnSpc>
            </a:pPr>
            <a:r>
              <a:rPr sz="1100" b="0">
                <a:solidFill>
                  <a:srgbClr val="5B7782"/>
                </a:solidFill>
                <a:latin typeface="Calibri"/>
              </a:rPr>
              <a:t>The score reads a term on the table itself (Member Record, …). Link that term to the table, then Calculate Trust Score.</a:t>
            </a:r>
          </a:p>
        </p:txBody>
      </p:sp>
      <p:sp>
        <p:nvSpPr>
          <p:cNvPr id="9" name="Rounded Rectangle 8"/>
          <p:cNvSpPr/>
          <p:nvPr/>
        </p:nvSpPr>
        <p:spPr>
          <a:xfrm>
            <a:off x="4663440" y="2084831"/>
            <a:ext cx="3931920" cy="1371600"/>
          </a:xfrm>
          <a:prstGeom prst="roundRect">
            <a:avLst>
              <a:gd name="adj" fmla="val 5000"/>
            </a:avLst>
          </a:prstGeom>
          <a:solidFill>
            <a:srgbClr val="EEF6FA"/>
          </a:solidFill>
          <a:ln w="9525">
            <a:solidFill>
              <a:srgbClr val="D7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64607" y="2322576"/>
            <a:ext cx="146304"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2231136"/>
            <a:ext cx="3291839" cy="365760"/>
          </a:xfrm>
          <a:prstGeom prst="rect">
            <a:avLst/>
          </a:prstGeom>
          <a:noFill/>
        </p:spPr>
        <p:txBody>
          <a:bodyPr wrap="square" lIns="0" rIns="0" tIns="0" bIns="0">
            <a:spAutoFit/>
          </a:bodyPr>
          <a:lstStyle/>
          <a:p>
            <a:r>
              <a:rPr sz="1400" b="0">
                <a:solidFill>
                  <a:srgbClr val="14333F"/>
                </a:solidFill>
                <a:latin typeface="Bookman Old Style"/>
              </a:rPr>
              <a:t>Column links are for meaning</a:t>
            </a:r>
          </a:p>
        </p:txBody>
      </p:sp>
      <p:sp>
        <p:nvSpPr>
          <p:cNvPr id="12" name="TextBox 11"/>
          <p:cNvSpPr txBox="1"/>
          <p:nvPr/>
        </p:nvSpPr>
        <p:spPr>
          <a:xfrm>
            <a:off x="4864607" y="2651760"/>
            <a:ext cx="3529584" cy="731520"/>
          </a:xfrm>
          <a:prstGeom prst="rect">
            <a:avLst/>
          </a:prstGeom>
          <a:noFill/>
        </p:spPr>
        <p:txBody>
          <a:bodyPr wrap="square" lIns="0" rIns="0" tIns="0" bIns="0">
            <a:spAutoFit/>
          </a:bodyPr>
          <a:lstStyle/>
          <a:p>
            <a:pPr>
              <a:lnSpc>
                <a:spcPct val="105000"/>
              </a:lnSpc>
            </a:pPr>
            <a:r>
              <a:rPr sz="1100" b="0">
                <a:solidFill>
                  <a:srgbClr val="5B7782"/>
                </a:solidFill>
                <a:latin typeface="Calibri"/>
              </a:rPr>
              <a:t>They carry definition, sensitivity and owner onto the column — for search, lineage and discovery, not for a score.</a:t>
            </a:r>
          </a:p>
        </p:txBody>
      </p:sp>
      <p:sp>
        <p:nvSpPr>
          <p:cNvPr id="13" name="Rounded Rectangle 12"/>
          <p:cNvSpPr/>
          <p:nvPr/>
        </p:nvSpPr>
        <p:spPr>
          <a:xfrm>
            <a:off x="548640" y="3566160"/>
            <a:ext cx="3931920" cy="1371600"/>
          </a:xfrm>
          <a:prstGeom prst="roundRect">
            <a:avLst>
              <a:gd name="adj" fmla="val 5000"/>
            </a:avLst>
          </a:prstGeom>
          <a:solidFill>
            <a:srgbClr val="EEF6FA"/>
          </a:solidFill>
          <a:ln w="9525">
            <a:solidFill>
              <a:srgbClr val="D7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8" y="3803904"/>
            <a:ext cx="146304" cy="146304"/>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712463"/>
            <a:ext cx="3291839" cy="365760"/>
          </a:xfrm>
          <a:prstGeom prst="rect">
            <a:avLst/>
          </a:prstGeom>
          <a:noFill/>
        </p:spPr>
        <p:txBody>
          <a:bodyPr wrap="square" lIns="0" rIns="0" tIns="0" bIns="0">
            <a:spAutoFit/>
          </a:bodyPr>
          <a:lstStyle/>
          <a:p>
            <a:r>
              <a:rPr sz="1400" b="0">
                <a:solidFill>
                  <a:srgbClr val="14333F"/>
                </a:solidFill>
                <a:latin typeface="Bookman Old Style"/>
              </a:rPr>
              <a:t>The term input is binary</a:t>
            </a:r>
          </a:p>
        </p:txBody>
      </p:sp>
      <p:sp>
        <p:nvSpPr>
          <p:cNvPr id="16" name="TextBox 15"/>
          <p:cNvSpPr txBox="1"/>
          <p:nvPr/>
        </p:nvSpPr>
        <p:spPr>
          <a:xfrm>
            <a:off x="749808" y="4133087"/>
            <a:ext cx="3529584" cy="731520"/>
          </a:xfrm>
          <a:prstGeom prst="rect">
            <a:avLst/>
          </a:prstGeom>
          <a:noFill/>
        </p:spPr>
        <p:txBody>
          <a:bodyPr wrap="square" lIns="0" rIns="0" tIns="0" bIns="0">
            <a:spAutoFit/>
          </a:bodyPr>
          <a:lstStyle/>
          <a:p>
            <a:pPr>
              <a:lnSpc>
                <a:spcPct val="105000"/>
              </a:lnSpc>
            </a:pPr>
            <a:r>
              <a:rPr sz="1100" b="0">
                <a:solidFill>
                  <a:srgbClr val="5B7782"/>
                </a:solidFill>
                <a:latin typeface="Calibri"/>
              </a:rPr>
              <a:t>Term assigned or not — never how many. Over-linking to lift the number degrades the governance the score measures.</a:t>
            </a:r>
          </a:p>
        </p:txBody>
      </p:sp>
      <p:sp>
        <p:nvSpPr>
          <p:cNvPr id="17" name="Rounded Rectangle 16"/>
          <p:cNvSpPr/>
          <p:nvPr/>
        </p:nvSpPr>
        <p:spPr>
          <a:xfrm>
            <a:off x="4663440" y="3566160"/>
            <a:ext cx="3931920" cy="1371600"/>
          </a:xfrm>
          <a:prstGeom prst="roundRect">
            <a:avLst>
              <a:gd name="adj" fmla="val 5000"/>
            </a:avLst>
          </a:prstGeom>
          <a:solidFill>
            <a:srgbClr val="EEF6FA"/>
          </a:solidFill>
          <a:ln w="9525">
            <a:solidFill>
              <a:srgbClr val="D7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64607" y="3803904"/>
            <a:ext cx="146304" cy="146304"/>
          </a:xfrm>
          <a:prstGeom prst="rect">
            <a:avLst/>
          </a:prstGeom>
          <a:solidFill>
            <a:srgbClr val="0A3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3712463"/>
            <a:ext cx="3291839" cy="365760"/>
          </a:xfrm>
          <a:prstGeom prst="rect">
            <a:avLst/>
          </a:prstGeom>
          <a:noFill/>
        </p:spPr>
        <p:txBody>
          <a:bodyPr wrap="square" lIns="0" rIns="0" tIns="0" bIns="0">
            <a:spAutoFit/>
          </a:bodyPr>
          <a:lstStyle/>
          <a:p>
            <a:r>
              <a:rPr sz="1400" b="0">
                <a:solidFill>
                  <a:srgbClr val="14333F"/>
                </a:solidFill>
                <a:latin typeface="Bookman Old Style"/>
              </a:rPr>
              <a:t>A column score is authored</a:t>
            </a:r>
          </a:p>
        </p:txBody>
      </p:sp>
      <p:sp>
        <p:nvSpPr>
          <p:cNvPr id="20" name="TextBox 19"/>
          <p:cNvSpPr txBox="1"/>
          <p:nvPr/>
        </p:nvSpPr>
        <p:spPr>
          <a:xfrm>
            <a:off x="4864607" y="4133087"/>
            <a:ext cx="3529584" cy="731520"/>
          </a:xfrm>
          <a:prstGeom prst="rect">
            <a:avLst/>
          </a:prstGeom>
          <a:noFill/>
        </p:spPr>
        <p:txBody>
          <a:bodyPr wrap="square" lIns="0" rIns="0" tIns="0" bIns="0">
            <a:spAutoFit/>
          </a:bodyPr>
          <a:lstStyle/>
          <a:p>
            <a:pPr>
              <a:lnSpc>
                <a:spcPct val="105000"/>
              </a:lnSpc>
            </a:pPr>
            <a:r>
              <a:rPr sz="1100" b="0">
                <a:solidFill>
                  <a:srgbClr val="5B7782"/>
                </a:solidFill>
                <a:latin typeface="Calibri"/>
              </a:rPr>
              <a:t>Not from the button. Extract entities, compute a value, then bulk-write it per column via API / OpenSearch — a Technical-track job.</a:t>
            </a:r>
          </a:p>
        </p:txBody>
      </p:sp>
      <p:sp>
        <p:nvSpPr>
          <p:cNvPr id="21" name="TextBox 20"/>
          <p:cNvSpPr txBox="1"/>
          <p:nvPr/>
        </p:nvSpPr>
        <p:spPr>
          <a:xfrm>
            <a:off x="548640" y="4828032"/>
            <a:ext cx="7315200" cy="274320"/>
          </a:xfrm>
          <a:prstGeom prst="rect">
            <a:avLst/>
          </a:prstGeom>
          <a:noFill/>
        </p:spPr>
        <p:txBody>
          <a:bodyPr wrap="square" lIns="0" rIns="0" tIns="0" bIns="0">
            <a:spAutoFit/>
          </a:bodyPr>
          <a:lstStyle/>
          <a:p>
            <a:r>
              <a:rPr sz="950" b="0">
                <a:solidFill>
                  <a:srgbClr val="5B7782"/>
                </a:solidFill>
                <a:latin typeface="Calibri"/>
              </a:rPr>
              <a:t>Workshop 3 · Build the Business Glossary</a:t>
            </a:r>
          </a:p>
        </p:txBody>
      </p:sp>
      <p:sp>
        <p:nvSpPr>
          <p:cNvPr id="22" name="TextBox 21"/>
          <p:cNvSpPr txBox="1"/>
          <p:nvPr/>
        </p:nvSpPr>
        <p:spPr>
          <a:xfrm>
            <a:off x="8366760" y="4828032"/>
            <a:ext cx="320040" cy="274320"/>
          </a:xfrm>
          <a:prstGeom prst="rect">
            <a:avLst/>
          </a:prstGeom>
          <a:noFill/>
        </p:spPr>
        <p:txBody>
          <a:bodyPr wrap="square" lIns="0" rIns="0" tIns="0" bIns="0">
            <a:spAutoFit/>
          </a:bodyPr>
          <a:lstStyle/>
          <a:p>
            <a:pPr algn="r"/>
            <a:r>
              <a:rPr sz="950" b="0">
                <a:solidFill>
                  <a:srgbClr val="5B7782"/>
                </a:solidFill>
                <a:latin typeface="Calibri"/>
              </a:rPr>
              <a:t>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BEFORE YOU LINK</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Map by business value, not volume</a:t>
            </a:r>
            <a:endParaRPr lang="en-US" sz="2700" dirty="0"/>
          </a:p>
        </p:txBody>
      </p:sp>
      <p:sp>
        <p:nvSpPr>
          <p:cNvPr id="4" name="Shape 2"/>
          <p:cNvSpPr/>
          <p:nvPr/>
        </p:nvSpPr>
        <p:spPr>
          <a:xfrm>
            <a:off x="548640"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5" name="Shape 3"/>
          <p:cNvSpPr/>
          <p:nvPr/>
        </p:nvSpPr>
        <p:spPr>
          <a:xfrm>
            <a:off x="804672" y="1792224"/>
            <a:ext cx="713232" cy="713232"/>
          </a:xfrm>
          <a:prstGeom prst="ellipse">
            <a:avLst/>
          </a:prstGeom>
          <a:solidFill>
            <a:srgbClr val="065A82"/>
          </a:solidFill>
          <a:ln/>
        </p:spPr>
      </p:sp>
      <p:pic>
        <p:nvPicPr>
          <p:cNvPr id="6" name="Image 0" descr="preencoded.png"/>
          <p:cNvPicPr>
            <a:picLocks noChangeAspect="1"/>
          </p:cNvPicPr>
          <p:nvPr/>
        </p:nvPicPr>
        <p:blipFill>
          <a:blip r:embed="rId3"/>
          <a:stretch>
            <a:fillRect/>
          </a:stretch>
        </p:blipFill>
        <p:spPr>
          <a:xfrm>
            <a:off x="996696" y="1984248"/>
            <a:ext cx="329184" cy="329184"/>
          </a:xfrm>
          <a:prstGeom prst="rect">
            <a:avLst/>
          </a:prstGeom>
        </p:spPr>
      </p:pic>
      <p:sp>
        <p:nvSpPr>
          <p:cNvPr id="7" name="Text 4"/>
          <p:cNvSpPr/>
          <p:nvPr/>
        </p:nvSpPr>
        <p:spPr>
          <a:xfrm>
            <a:off x="804672"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CDEs &amp; PII</a:t>
            </a:r>
            <a:endParaRPr lang="en-US" sz="2000" dirty="0"/>
          </a:p>
        </p:txBody>
      </p:sp>
      <p:sp>
        <p:nvSpPr>
          <p:cNvPr id="8" name="Text 5"/>
          <p:cNvSpPr/>
          <p:nvPr/>
        </p:nvSpPr>
        <p:spPr>
          <a:xfrm>
            <a:off x="804672" y="3035808"/>
            <a:ext cx="2130552" cy="292608"/>
          </a:xfrm>
          <a:prstGeom prst="rect">
            <a:avLst/>
          </a:prstGeom>
          <a:noFill/>
          <a:ln/>
        </p:spPr>
        <p:txBody>
          <a:bodyPr wrap="square" lIns="0" tIns="0" rIns="0" bIns="0" rtlCol="0" anchor="ctr"/>
          <a:lstStyle/>
          <a:p>
            <a:pPr marL="0" indent="0">
              <a:buNone/>
            </a:pPr>
            <a:r>
              <a:rPr lang="en-US" sz="1100" b="1" i="1" dirty="0">
                <a:solidFill>
                  <a:srgbClr val="065A82"/>
                </a:solidFill>
                <a:latin typeface="Calibri" pitchFamily="34" charset="0"/>
                <a:ea typeface="Calibri" pitchFamily="34" charset="-122"/>
                <a:cs typeface="Calibri" pitchFamily="34" charset="-120"/>
              </a:rPr>
              <a:t>Map first</a:t>
            </a:r>
            <a:endParaRPr lang="en-US" sz="1100" dirty="0"/>
          </a:p>
        </p:txBody>
      </p:sp>
      <p:sp>
        <p:nvSpPr>
          <p:cNvPr id="9" name="Text 6"/>
          <p:cNvSpPr/>
          <p:nvPr/>
        </p:nvSpPr>
        <p:spPr>
          <a:xfrm>
            <a:off x="804672"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Critical Data Elements and regulated or PII columns — your highest-care data. Flag, term, classify, verify lineage.</a:t>
            </a:r>
            <a:endParaRPr lang="en-US" sz="1100" dirty="0"/>
          </a:p>
        </p:txBody>
      </p:sp>
      <p:sp>
        <p:nvSpPr>
          <p:cNvPr id="10" name="Shape 7"/>
          <p:cNvSpPr/>
          <p:nvPr/>
        </p:nvSpPr>
        <p:spPr>
          <a:xfrm>
            <a:off x="3273552"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11" name="Shape 8"/>
          <p:cNvSpPr/>
          <p:nvPr/>
        </p:nvSpPr>
        <p:spPr>
          <a:xfrm>
            <a:off x="3529584" y="1792224"/>
            <a:ext cx="713232" cy="713232"/>
          </a:xfrm>
          <a:prstGeom prst="ellipse">
            <a:avLst/>
          </a:prstGeom>
          <a:solidFill>
            <a:srgbClr val="1C7293"/>
          </a:solidFill>
          <a:ln/>
        </p:spPr>
      </p:sp>
      <p:pic>
        <p:nvPicPr>
          <p:cNvPr id="12" name="Image 1" descr="preencoded.png"/>
          <p:cNvPicPr>
            <a:picLocks noChangeAspect="1"/>
          </p:cNvPicPr>
          <p:nvPr/>
        </p:nvPicPr>
        <p:blipFill>
          <a:blip r:embed="rId4"/>
          <a:stretch>
            <a:fillRect/>
          </a:stretch>
        </p:blipFill>
        <p:spPr>
          <a:xfrm>
            <a:off x="3721608" y="1984248"/>
            <a:ext cx="329184" cy="329184"/>
          </a:xfrm>
          <a:prstGeom prst="rect">
            <a:avLst/>
          </a:prstGeom>
        </p:spPr>
      </p:pic>
      <p:sp>
        <p:nvSpPr>
          <p:cNvPr id="13" name="Text 9"/>
          <p:cNvSpPr/>
          <p:nvPr/>
        </p:nvSpPr>
        <p:spPr>
          <a:xfrm>
            <a:off x="3529584"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Reporting</a:t>
            </a:r>
            <a:endParaRPr lang="en-US" sz="2000" dirty="0"/>
          </a:p>
        </p:txBody>
      </p:sp>
      <p:sp>
        <p:nvSpPr>
          <p:cNvPr id="14" name="Text 10"/>
          <p:cNvSpPr/>
          <p:nvPr/>
        </p:nvSpPr>
        <p:spPr>
          <a:xfrm>
            <a:off x="3529584" y="3035808"/>
            <a:ext cx="2130552" cy="292608"/>
          </a:xfrm>
          <a:prstGeom prst="rect">
            <a:avLst/>
          </a:prstGeom>
          <a:noFill/>
          <a:ln/>
        </p:spPr>
        <p:txBody>
          <a:bodyPr wrap="square" lIns="0" tIns="0" rIns="0" bIns="0" rtlCol="0" anchor="ctr"/>
          <a:lstStyle/>
          <a:p>
            <a:pPr marL="0" indent="0">
              <a:buNone/>
            </a:pPr>
            <a:r>
              <a:rPr lang="en-US" sz="1100" b="1" i="1" dirty="0">
                <a:solidFill>
                  <a:srgbClr val="1C7293"/>
                </a:solidFill>
                <a:latin typeface="Calibri" pitchFamily="34" charset="0"/>
                <a:ea typeface="Calibri" pitchFamily="34" charset="-122"/>
                <a:cs typeface="Calibri" pitchFamily="34" charset="-120"/>
              </a:rPr>
              <a:t>Map next</a:t>
            </a:r>
            <a:endParaRPr lang="en-US" sz="1100" dirty="0"/>
          </a:p>
        </p:txBody>
      </p:sp>
      <p:sp>
        <p:nvSpPr>
          <p:cNvPr id="15" name="Text 11"/>
          <p:cNvSpPr/>
          <p:nvPr/>
        </p:nvSpPr>
        <p:spPr>
          <a:xfrm>
            <a:off x="3529584"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Columns that feed billing, KPIs, dashboards, and operational decisions across the business.</a:t>
            </a:r>
            <a:endParaRPr lang="en-US" sz="1100" dirty="0"/>
          </a:p>
        </p:txBody>
      </p:sp>
      <p:sp>
        <p:nvSpPr>
          <p:cNvPr id="16" name="Shape 12"/>
          <p:cNvSpPr/>
          <p:nvPr/>
        </p:nvSpPr>
        <p:spPr>
          <a:xfrm>
            <a:off x="5998464"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17" name="Shape 13"/>
          <p:cNvSpPr/>
          <p:nvPr/>
        </p:nvSpPr>
        <p:spPr>
          <a:xfrm>
            <a:off x="6254496" y="1792224"/>
            <a:ext cx="713232" cy="713232"/>
          </a:xfrm>
          <a:prstGeom prst="ellipse">
            <a:avLst/>
          </a:prstGeom>
          <a:solidFill>
            <a:srgbClr val="2EC4B6"/>
          </a:solidFill>
          <a:ln/>
        </p:spPr>
      </p:sp>
      <p:pic>
        <p:nvPicPr>
          <p:cNvPr id="18" name="Image 2" descr="preencoded.png"/>
          <p:cNvPicPr>
            <a:picLocks noChangeAspect="1"/>
          </p:cNvPicPr>
          <p:nvPr/>
        </p:nvPicPr>
        <p:blipFill>
          <a:blip r:embed="rId5"/>
          <a:stretch>
            <a:fillRect/>
          </a:stretch>
        </p:blipFill>
        <p:spPr>
          <a:xfrm>
            <a:off x="6446520" y="1984248"/>
            <a:ext cx="329184" cy="329184"/>
          </a:xfrm>
          <a:prstGeom prst="rect">
            <a:avLst/>
          </a:prstGeom>
        </p:spPr>
      </p:pic>
      <p:sp>
        <p:nvSpPr>
          <p:cNvPr id="19" name="Text 14"/>
          <p:cNvSpPr/>
          <p:nvPr/>
        </p:nvSpPr>
        <p:spPr>
          <a:xfrm>
            <a:off x="6254496"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The long tail</a:t>
            </a:r>
            <a:endParaRPr lang="en-US" sz="2000" dirty="0"/>
          </a:p>
        </p:txBody>
      </p:sp>
      <p:sp>
        <p:nvSpPr>
          <p:cNvPr id="20" name="Text 15"/>
          <p:cNvSpPr/>
          <p:nvPr/>
        </p:nvSpPr>
        <p:spPr>
          <a:xfrm>
            <a:off x="6254496" y="3035808"/>
            <a:ext cx="2130552" cy="292608"/>
          </a:xfrm>
          <a:prstGeom prst="rect">
            <a:avLst/>
          </a:prstGeom>
          <a:noFill/>
          <a:ln/>
        </p:spPr>
        <p:txBody>
          <a:bodyPr wrap="square" lIns="0" tIns="0" rIns="0" bIns="0" rtlCol="0" anchor="ctr"/>
          <a:lstStyle/>
          <a:p>
            <a:pPr marL="0" indent="0">
              <a:buNone/>
            </a:pPr>
            <a:r>
              <a:rPr lang="en-US" sz="1100" b="1" i="1" dirty="0">
                <a:solidFill>
                  <a:srgbClr val="2EC4B6"/>
                </a:solidFill>
                <a:latin typeface="Calibri" pitchFamily="34" charset="0"/>
                <a:ea typeface="Calibri" pitchFamily="34" charset="-122"/>
                <a:cs typeface="Calibri" pitchFamily="34" charset="-120"/>
              </a:rPr>
              <a:t>As capacity allows</a:t>
            </a:r>
            <a:endParaRPr lang="en-US" sz="1100" dirty="0"/>
          </a:p>
        </p:txBody>
      </p:sp>
      <p:sp>
        <p:nvSpPr>
          <p:cNvPr id="21" name="Text 16"/>
          <p:cNvSpPr/>
          <p:nvPr/>
        </p:nvSpPr>
        <p:spPr>
          <a:xfrm>
            <a:off x="6254496"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Useful but non-critical columns; map over time. Some may never need a term.</a:t>
            </a:r>
            <a:endParaRPr lang="en-US" sz="1100" dirty="0"/>
          </a:p>
        </p:txBody>
      </p:sp>
      <p:sp>
        <p:nvSpPr>
          <p:cNvPr id="22" name="Text 17"/>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3 · Concepts like Trust Score and Tag name ideas, not columns — leave them unmapped</a:t>
            </a:r>
            <a:endParaRPr lang="en-US" sz="950" dirty="0"/>
          </a:p>
        </p:txBody>
      </p:sp>
      <p:sp>
        <p:nvSpPr>
          <p:cNvPr id="23" name="Text 18"/>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YOUR TASK</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Now link the whole catalog</a:t>
            </a:r>
            <a:endParaRPr lang="en-US" sz="2700" dirty="0"/>
          </a:p>
        </p:txBody>
      </p:sp>
      <p:sp>
        <p:nvSpPr>
          <p:cNvPr id="4" name="Text 2"/>
          <p:cNvSpPr/>
          <p:nvPr/>
        </p:nvSpPr>
        <p:spPr>
          <a:xfrm>
            <a:off x="548640" y="1140494"/>
            <a:ext cx="8046720" cy="457200"/>
          </a:xfrm>
          <a:prstGeom prst="rect">
            <a:avLst/>
          </a:prstGeom>
          <a:noFill/>
          <a:ln/>
        </p:spPr>
        <p:txBody>
          <a:bodyPr wrap="square" lIns="0" tIns="0" rIns="0" bIns="0" rtlCol="0" anchor="ctr"/>
          <a:lstStyle/>
          <a:p>
            <a:pPr marL="0" indent="0">
              <a:lnSpc>
                <a:spcPct val="104000"/>
              </a:lnSpc>
              <a:buNone/>
            </a:pPr>
            <a:r>
              <a:rPr lang="en-US" sz="1250" dirty="0">
                <a:solidFill>
                  <a:srgbClr val="5B7782"/>
                </a:solidFill>
                <a:latin typeface="Calibri" pitchFamily="34" charset="0"/>
                <a:ea typeface="Calibri" pitchFamily="34" charset="-122"/>
                <a:cs typeface="Calibri" pitchFamily="34" charset="-120"/>
              </a:rPr>
              <a:t>Part C linked one table. Repeat across all nine tables — 57 term links in all — then Calculate Trust Score on each.</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55216879"/>
              </p:ext>
            </p:extLst>
          </p:nvPr>
        </p:nvGraphicFramePr>
        <p:xfrm>
          <a:off x="548640" y="1594466"/>
          <a:ext cx="8046720" cy="2660000"/>
        </p:xfrm>
        <a:graphic>
          <a:graphicData uri="http://schemas.openxmlformats.org/drawingml/2006/table">
            <a:tbl>
              <a:tblPr/>
              <a:tblGrid>
                <a:gridCol w="192024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266000">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Table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Terms to link</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Count</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Then</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extLst>
                  <a:ext uri="{0D108BD9-81ED-4DB2-BD59-A6C34878D82A}">
                    <a16:rowId xmlns:a16="http://schemas.microsoft.com/office/drawing/2014/main" val="10000"/>
                  </a:ext>
                </a:extLst>
              </a:tr>
              <a:tr h="266000">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members</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Member, contact &amp; account</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Calculate Trust Score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6000">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transactions</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Usage &amp; billing cycle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Calculate Trust Score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6000">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loans</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Rate schedule &amp; charges</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Calculate Trust Score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6000">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branches</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System &amp; source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Calculate Trust Score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66000">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kyc_reviews</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Quality &amp; compliance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Calculate Trust Score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66000">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suspicious_activity</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Account Alert</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Calculate Trust Score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66000">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customer_billing</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Member, billing &amp; usage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Calculate Trust Score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66000">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system_usage_summary</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System usage &amp; revenue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Calculate Trust Score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66000">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system_water_quality</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Water-quality readings</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4333F"/>
                          </a:solidFill>
                          <a:latin typeface="Calibri" pitchFamily="34" charset="0"/>
                          <a:ea typeface="Calibri" pitchFamily="34" charset="-122"/>
                          <a:cs typeface="Calibri" pitchFamily="34" charset="-120"/>
                        </a:rPr>
                        <a:t>Calculate Trust Score</a:t>
                      </a:r>
                      <a:endParaRPr lang="en-US" sz="105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Text 3"/>
          <p:cNvSpPr/>
          <p:nvPr/>
        </p:nvSpPr>
        <p:spPr>
          <a:xfrm>
            <a:off x="548640" y="4430268"/>
            <a:ext cx="8046720" cy="274320"/>
          </a:xfrm>
          <a:prstGeom prst="rect">
            <a:avLst/>
          </a:prstGeom>
          <a:noFill/>
          <a:ln/>
        </p:spPr>
        <p:txBody>
          <a:bodyPr wrap="square" lIns="0" tIns="0" rIns="0" bIns="0" rtlCol="0" anchor="ctr"/>
          <a:lstStyle/>
          <a:p>
            <a:pPr marL="0" indent="0">
              <a:buNone/>
            </a:pPr>
            <a:r>
              <a:rPr lang="en-US" sz="1050" i="1" dirty="0">
                <a:solidFill>
                  <a:srgbClr val="5B7782"/>
                </a:solidFill>
                <a:latin typeface="Calibri" pitchFamily="34" charset="0"/>
                <a:ea typeface="Calibri" pitchFamily="34" charset="-122"/>
                <a:cs typeface="Calibri" pitchFamily="34" charset="-120"/>
              </a:rPr>
              <a:t>Two moves per table: link the columns (enrichment), then map the table-level term (Member Record, etc.) — the table term is what the Trust Score reads. Governance terms aren’t linked to columns.</a:t>
            </a:r>
            <a:endParaRPr lang="en-US" sz="1050" dirty="0"/>
          </a:p>
        </p:txBody>
      </p:sp>
      <p:sp>
        <p:nvSpPr>
          <p:cNvPr id="7" name="Text 4"/>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3 · 57 column links + 6 table-level terms — the table term is what each Trust Score reads</a:t>
            </a:r>
            <a:endParaRPr lang="en-US" sz="950" dirty="0"/>
          </a:p>
        </p:txBody>
      </p:sp>
      <p:sp>
        <p:nvSpPr>
          <p:cNvPr id="8" name="Text 5"/>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BEHIND THE SUGGESTIONS</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Where Suggested Columns come from</a:t>
            </a:r>
            <a:endParaRPr lang="en-US" sz="2700" dirty="0"/>
          </a:p>
        </p:txBody>
      </p:sp>
      <p:sp>
        <p:nvSpPr>
          <p:cNvPr id="4" name="Shape 2"/>
          <p:cNvSpPr/>
          <p:nvPr/>
        </p:nvSpPr>
        <p:spPr>
          <a:xfrm>
            <a:off x="548640" y="1499616"/>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5" name="Shape 3"/>
          <p:cNvSpPr/>
          <p:nvPr/>
        </p:nvSpPr>
        <p:spPr>
          <a:xfrm>
            <a:off x="713232" y="1609344"/>
            <a:ext cx="384048" cy="384048"/>
          </a:xfrm>
          <a:prstGeom prst="ellipse">
            <a:avLst/>
          </a:prstGeom>
          <a:solidFill>
            <a:srgbClr val="1C7293"/>
          </a:solidFill>
          <a:ln/>
        </p:spPr>
      </p:sp>
      <p:pic>
        <p:nvPicPr>
          <p:cNvPr id="6" name="Image 0" descr="preencoded.png"/>
          <p:cNvPicPr>
            <a:picLocks noChangeAspect="1"/>
          </p:cNvPicPr>
          <p:nvPr/>
        </p:nvPicPr>
        <p:blipFill>
          <a:blip r:embed="rId3"/>
          <a:stretch>
            <a:fillRect/>
          </a:stretch>
        </p:blipFill>
        <p:spPr>
          <a:xfrm>
            <a:off x="800100" y="1696212"/>
            <a:ext cx="210312" cy="210312"/>
          </a:xfrm>
          <a:prstGeom prst="rect">
            <a:avLst/>
          </a:prstGeom>
        </p:spPr>
      </p:pic>
      <p:sp>
        <p:nvSpPr>
          <p:cNvPr id="7" name="Text 4"/>
          <p:cNvSpPr/>
          <p:nvPr/>
        </p:nvSpPr>
        <p:spPr>
          <a:xfrm>
            <a:off x="1280160" y="1499616"/>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Similarity Score</a:t>
            </a:r>
            <a:endParaRPr lang="en-US" sz="1400" dirty="0"/>
          </a:p>
        </p:txBody>
      </p:sp>
      <p:sp>
        <p:nvSpPr>
          <p:cNvPr id="8" name="Text 5"/>
          <p:cNvSpPr/>
          <p:nvPr/>
        </p:nvSpPr>
        <p:spPr>
          <a:xfrm>
            <a:off x="3383280" y="1499616"/>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Each Suggested Column carries a score from 0 to 1 — PDC’s confidence that the term fits the column.</a:t>
            </a:r>
            <a:endParaRPr lang="en-US" sz="1150" dirty="0"/>
          </a:p>
        </p:txBody>
      </p:sp>
      <p:sp>
        <p:nvSpPr>
          <p:cNvPr id="9" name="Shape 6"/>
          <p:cNvSpPr/>
          <p:nvPr/>
        </p:nvSpPr>
        <p:spPr>
          <a:xfrm>
            <a:off x="548640" y="2176272"/>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0" name="Shape 7"/>
          <p:cNvSpPr/>
          <p:nvPr/>
        </p:nvSpPr>
        <p:spPr>
          <a:xfrm>
            <a:off x="713232" y="2286000"/>
            <a:ext cx="384048" cy="384048"/>
          </a:xfrm>
          <a:prstGeom prst="ellipse">
            <a:avLst/>
          </a:prstGeom>
          <a:solidFill>
            <a:srgbClr val="1C7293"/>
          </a:solidFill>
          <a:ln/>
        </p:spPr>
      </p:sp>
      <p:pic>
        <p:nvPicPr>
          <p:cNvPr id="11" name="Image 1" descr="preencoded.png"/>
          <p:cNvPicPr>
            <a:picLocks noChangeAspect="1"/>
          </p:cNvPicPr>
          <p:nvPr/>
        </p:nvPicPr>
        <p:blipFill>
          <a:blip r:embed="rId4"/>
          <a:stretch>
            <a:fillRect/>
          </a:stretch>
        </p:blipFill>
        <p:spPr>
          <a:xfrm>
            <a:off x="800100" y="2372868"/>
            <a:ext cx="210312" cy="210312"/>
          </a:xfrm>
          <a:prstGeom prst="rect">
            <a:avLst/>
          </a:prstGeom>
        </p:spPr>
      </p:pic>
      <p:sp>
        <p:nvSpPr>
          <p:cNvPr id="12" name="Text 8"/>
          <p:cNvSpPr/>
          <p:nvPr/>
        </p:nvSpPr>
        <p:spPr>
          <a:xfrm>
            <a:off x="1280160" y="2176272"/>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Meaning over names</a:t>
            </a:r>
            <a:endParaRPr lang="en-US" sz="1400" dirty="0"/>
          </a:p>
        </p:txBody>
      </p:sp>
      <p:sp>
        <p:nvSpPr>
          <p:cNvPr id="13" name="Text 9"/>
          <p:cNvSpPr/>
          <p:nvPr/>
        </p:nvSpPr>
        <p:spPr>
          <a:xfrm>
            <a:off x="3383280" y="2176272"/>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Matches rank on metadata structure and meaning, so a column can match even when its name differs from the term.</a:t>
            </a:r>
            <a:endParaRPr lang="en-US" sz="1150" dirty="0"/>
          </a:p>
        </p:txBody>
      </p:sp>
      <p:sp>
        <p:nvSpPr>
          <p:cNvPr id="14" name="Shape 10"/>
          <p:cNvSpPr/>
          <p:nvPr/>
        </p:nvSpPr>
        <p:spPr>
          <a:xfrm>
            <a:off x="548640" y="2852928"/>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5" name="Shape 11"/>
          <p:cNvSpPr/>
          <p:nvPr/>
        </p:nvSpPr>
        <p:spPr>
          <a:xfrm>
            <a:off x="713232" y="2962656"/>
            <a:ext cx="384048" cy="384048"/>
          </a:xfrm>
          <a:prstGeom prst="ellipse">
            <a:avLst/>
          </a:prstGeom>
          <a:solidFill>
            <a:srgbClr val="1C7293"/>
          </a:solidFill>
          <a:ln/>
        </p:spPr>
      </p:sp>
      <p:pic>
        <p:nvPicPr>
          <p:cNvPr id="16" name="Image 2" descr="preencoded.png"/>
          <p:cNvPicPr>
            <a:picLocks noChangeAspect="1"/>
          </p:cNvPicPr>
          <p:nvPr/>
        </p:nvPicPr>
        <p:blipFill>
          <a:blip r:embed="rId5"/>
          <a:stretch>
            <a:fillRect/>
          </a:stretch>
        </p:blipFill>
        <p:spPr>
          <a:xfrm>
            <a:off x="800100" y="3049524"/>
            <a:ext cx="210312" cy="210312"/>
          </a:xfrm>
          <a:prstGeom prst="rect">
            <a:avLst/>
          </a:prstGeom>
        </p:spPr>
      </p:pic>
      <p:sp>
        <p:nvSpPr>
          <p:cNvPr id="17" name="Text 12"/>
          <p:cNvSpPr/>
          <p:nvPr/>
        </p:nvSpPr>
        <p:spPr>
          <a:xfrm>
            <a:off x="1280160" y="2852928"/>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The 0.5 threshold</a:t>
            </a:r>
            <a:endParaRPr lang="en-US" sz="1400" dirty="0"/>
          </a:p>
        </p:txBody>
      </p:sp>
      <p:sp>
        <p:nvSpPr>
          <p:cNvPr id="18" name="Text 13"/>
          <p:cNvSpPr/>
          <p:nvPr/>
        </p:nvSpPr>
        <p:spPr>
          <a:xfrm>
            <a:off x="3383280" y="2852928"/>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The list shows matches above a threshold — 0.5 by default. Lower it to see more candidates; raise it for only the closest.</a:t>
            </a:r>
            <a:endParaRPr lang="en-US" sz="1150" dirty="0"/>
          </a:p>
        </p:txBody>
      </p:sp>
      <p:sp>
        <p:nvSpPr>
          <p:cNvPr id="19" name="Shape 14"/>
          <p:cNvSpPr/>
          <p:nvPr/>
        </p:nvSpPr>
        <p:spPr>
          <a:xfrm>
            <a:off x="548640" y="3529584"/>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0" name="Shape 15"/>
          <p:cNvSpPr/>
          <p:nvPr/>
        </p:nvSpPr>
        <p:spPr>
          <a:xfrm>
            <a:off x="713232" y="3639312"/>
            <a:ext cx="384048" cy="384048"/>
          </a:xfrm>
          <a:prstGeom prst="ellipse">
            <a:avLst/>
          </a:prstGeom>
          <a:solidFill>
            <a:srgbClr val="1C7293"/>
          </a:solidFill>
          <a:ln/>
        </p:spPr>
      </p:sp>
      <p:pic>
        <p:nvPicPr>
          <p:cNvPr id="21" name="Image 3" descr="preencoded.png"/>
          <p:cNvPicPr>
            <a:picLocks noChangeAspect="1"/>
          </p:cNvPicPr>
          <p:nvPr/>
        </p:nvPicPr>
        <p:blipFill>
          <a:blip r:embed="rId6"/>
          <a:stretch>
            <a:fillRect/>
          </a:stretch>
        </p:blipFill>
        <p:spPr>
          <a:xfrm>
            <a:off x="800100" y="3726180"/>
            <a:ext cx="210312" cy="210312"/>
          </a:xfrm>
          <a:prstGeom prst="rect">
            <a:avLst/>
          </a:prstGeom>
        </p:spPr>
      </p:pic>
      <p:sp>
        <p:nvSpPr>
          <p:cNvPr id="22" name="Text 16"/>
          <p:cNvSpPr/>
          <p:nvPr/>
        </p:nvSpPr>
        <p:spPr>
          <a:xfrm>
            <a:off x="1280160" y="3529584"/>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Approve or reject</a:t>
            </a:r>
            <a:endParaRPr lang="en-US" sz="1400" dirty="0"/>
          </a:p>
        </p:txBody>
      </p:sp>
      <p:sp>
        <p:nvSpPr>
          <p:cNvPr id="23" name="Text 17"/>
          <p:cNvSpPr/>
          <p:nvPr/>
        </p:nvSpPr>
        <p:spPr>
          <a:xfrm>
            <a:off x="3383280" y="3529584"/>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Approve to assign the term automatically; Reject to dismiss it. A rejected match is excluded from future suggestions.</a:t>
            </a:r>
            <a:endParaRPr lang="en-US" sz="1150" dirty="0"/>
          </a:p>
        </p:txBody>
      </p:sp>
      <p:sp>
        <p:nvSpPr>
          <p:cNvPr id="24" name="Shape 18"/>
          <p:cNvSpPr/>
          <p:nvPr/>
        </p:nvSpPr>
        <p:spPr>
          <a:xfrm>
            <a:off x="548640" y="4206240"/>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5" name="Shape 19"/>
          <p:cNvSpPr/>
          <p:nvPr/>
        </p:nvSpPr>
        <p:spPr>
          <a:xfrm>
            <a:off x="713232" y="4315968"/>
            <a:ext cx="384048" cy="384048"/>
          </a:xfrm>
          <a:prstGeom prst="ellipse">
            <a:avLst/>
          </a:prstGeom>
          <a:solidFill>
            <a:srgbClr val="1C7293"/>
          </a:solidFill>
          <a:ln/>
        </p:spPr>
      </p:sp>
      <p:pic>
        <p:nvPicPr>
          <p:cNvPr id="26" name="Image 4" descr="preencoded.png"/>
          <p:cNvPicPr>
            <a:picLocks noChangeAspect="1"/>
          </p:cNvPicPr>
          <p:nvPr/>
        </p:nvPicPr>
        <p:blipFill>
          <a:blip r:embed="rId7"/>
          <a:stretch>
            <a:fillRect/>
          </a:stretch>
        </p:blipFill>
        <p:spPr>
          <a:xfrm>
            <a:off x="800100" y="4402836"/>
            <a:ext cx="210312" cy="210312"/>
          </a:xfrm>
          <a:prstGeom prst="rect">
            <a:avLst/>
          </a:prstGeom>
        </p:spPr>
      </p:pic>
      <p:sp>
        <p:nvSpPr>
          <p:cNvPr id="27" name="Text 20"/>
          <p:cNvSpPr/>
          <p:nvPr/>
        </p:nvSpPr>
        <p:spPr>
          <a:xfrm>
            <a:off x="1280160" y="4206240"/>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The Technical track</a:t>
            </a:r>
            <a:endParaRPr lang="en-US" sz="1400" dirty="0"/>
          </a:p>
        </p:txBody>
      </p:sp>
      <p:sp>
        <p:nvSpPr>
          <p:cNvPr id="28" name="Text 21"/>
          <p:cNvSpPr/>
          <p:nvPr/>
        </p:nvSpPr>
        <p:spPr>
          <a:xfrm>
            <a:off x="3383280" y="4206240"/>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An admin runs the job behind these matches. The Technical track goes deeper — running and tuning that engine.</a:t>
            </a:r>
            <a:endParaRPr lang="en-US" sz="1150" dirty="0"/>
          </a:p>
        </p:txBody>
      </p:sp>
      <p:sp>
        <p:nvSpPr>
          <p:cNvPr id="29" name="Text 22"/>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3 · The Similarity Score powers Suggested Columns — explored in depth in the Technical track</a:t>
            </a:r>
            <a:endParaRPr lang="en-US" sz="950" dirty="0"/>
          </a:p>
        </p:txBody>
      </p:sp>
      <p:sp>
        <p:nvSpPr>
          <p:cNvPr id="30" name="Text 23"/>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7498080" y="-1280160"/>
            <a:ext cx="3291840" cy="3291840"/>
          </a:xfrm>
          <a:prstGeom prst="ellipse">
            <a:avLst/>
          </a:prstGeom>
          <a:solidFill>
            <a:srgbClr val="0A3D52"/>
          </a:solidFill>
          <a:ln/>
        </p:spPr>
      </p:sp>
      <p:sp>
        <p:nvSpPr>
          <p:cNvPr id="3" name="Shape 1"/>
          <p:cNvSpPr/>
          <p:nvPr/>
        </p:nvSpPr>
        <p:spPr>
          <a:xfrm>
            <a:off x="548640" y="603504"/>
            <a:ext cx="841248" cy="841248"/>
          </a:xfrm>
          <a:prstGeom prst="ellipse">
            <a:avLst/>
          </a:prstGeom>
          <a:solidFill>
            <a:srgbClr val="1C7293"/>
          </a:solidFill>
          <a:ln/>
        </p:spPr>
      </p:sp>
      <p:pic>
        <p:nvPicPr>
          <p:cNvPr id="4" name="Image 0" descr="preencoded.png"/>
          <p:cNvPicPr>
            <a:picLocks noChangeAspect="1"/>
          </p:cNvPicPr>
          <p:nvPr/>
        </p:nvPicPr>
        <p:blipFill>
          <a:blip r:embed="rId3"/>
          <a:stretch>
            <a:fillRect/>
          </a:stretch>
        </p:blipFill>
        <p:spPr>
          <a:xfrm>
            <a:off x="722376" y="777240"/>
            <a:ext cx="493776" cy="493776"/>
          </a:xfrm>
          <a:prstGeom prst="rect">
            <a:avLst/>
          </a:prstGeom>
        </p:spPr>
      </p:pic>
      <p:sp>
        <p:nvSpPr>
          <p:cNvPr id="5" name="Text 2"/>
          <p:cNvSpPr/>
          <p:nvPr/>
        </p:nvSpPr>
        <p:spPr>
          <a:xfrm>
            <a:off x="1554480" y="713232"/>
            <a:ext cx="6400800" cy="457200"/>
          </a:xfrm>
          <a:prstGeom prst="rect">
            <a:avLst/>
          </a:prstGeom>
          <a:noFill/>
          <a:ln/>
        </p:spPr>
        <p:txBody>
          <a:bodyPr wrap="square" lIns="0" tIns="0" rIns="0" bIns="0" rtlCol="0" anchor="ctr"/>
          <a:lstStyle/>
          <a:p>
            <a:pPr marL="0" indent="0">
              <a:buNone/>
            </a:pPr>
            <a:r>
              <a:rPr lang="en-US" sz="1400" b="1" kern="0" spc="300" dirty="0">
                <a:solidFill>
                  <a:srgbClr val="2EC4B6"/>
                </a:solidFill>
                <a:latin typeface="Calibri" pitchFamily="34" charset="0"/>
                <a:ea typeface="Calibri" pitchFamily="34" charset="-122"/>
                <a:cs typeface="Calibri" pitchFamily="34" charset="-120"/>
              </a:rPr>
              <a:t>WHY IT MATTERS</a:t>
            </a:r>
            <a:endParaRPr lang="en-US" sz="1400" dirty="0"/>
          </a:p>
        </p:txBody>
      </p:sp>
      <p:sp>
        <p:nvSpPr>
          <p:cNvPr id="6" name="Text 3"/>
          <p:cNvSpPr/>
          <p:nvPr/>
        </p:nvSpPr>
        <p:spPr>
          <a:xfrm>
            <a:off x="548640" y="1517904"/>
            <a:ext cx="8046720" cy="1097280"/>
          </a:xfrm>
          <a:prstGeom prst="rect">
            <a:avLst/>
          </a:prstGeom>
          <a:noFill/>
          <a:ln/>
        </p:spPr>
        <p:txBody>
          <a:bodyPr wrap="square" lIns="0" tIns="0" rIns="0" bIns="0" rtlCol="0" anchor="ctr"/>
          <a:lstStyle/>
          <a:p>
            <a:pPr marL="0" indent="0">
              <a:lnSpc>
                <a:spcPct val="98000"/>
              </a:lnSpc>
              <a:buNone/>
            </a:pPr>
            <a:r>
              <a:rPr lang="en-US" sz="2800" b="1" dirty="0">
                <a:solidFill>
                  <a:srgbClr val="FFFFFF"/>
                </a:solidFill>
                <a:latin typeface="Bookman Old Style" pitchFamily="34" charset="0"/>
                <a:ea typeface="Bookman Old Style" pitchFamily="34" charset="-122"/>
                <a:cs typeface="Bookman Old Style" pitchFamily="34" charset="-120"/>
              </a:rPr>
              <a:t>A glossary is how everyone speaks</a:t>
            </a:r>
            <a:endParaRPr lang="en-US" sz="2800" dirty="0"/>
          </a:p>
          <a:p>
            <a:pPr marL="0" indent="0">
              <a:lnSpc>
                <a:spcPct val="98000"/>
              </a:lnSpc>
              <a:buNone/>
            </a:pPr>
            <a:r>
              <a:rPr lang="en-US" sz="2800" b="1" dirty="0">
                <a:solidFill>
                  <a:srgbClr val="FFFFFF"/>
                </a:solidFill>
                <a:latin typeface="Bookman Old Style" pitchFamily="34" charset="0"/>
                <a:ea typeface="Bookman Old Style" pitchFamily="34" charset="-122"/>
                <a:cs typeface="Bookman Old Style" pitchFamily="34" charset="-120"/>
              </a:rPr>
              <a:t>the same data language</a:t>
            </a:r>
            <a:endParaRPr lang="en-US" sz="2800" dirty="0"/>
          </a:p>
        </p:txBody>
      </p:sp>
      <p:sp>
        <p:nvSpPr>
          <p:cNvPr id="7" name="Text 4"/>
          <p:cNvSpPr/>
          <p:nvPr/>
        </p:nvSpPr>
        <p:spPr>
          <a:xfrm>
            <a:off x="777240" y="2926080"/>
            <a:ext cx="2194560" cy="822960"/>
          </a:xfrm>
          <a:prstGeom prst="rect">
            <a:avLst/>
          </a:prstGeom>
          <a:noFill/>
          <a:ln/>
        </p:spPr>
        <p:txBody>
          <a:bodyPr wrap="square" lIns="0" tIns="0" rIns="0" bIns="0" rtlCol="0" anchor="ctr"/>
          <a:lstStyle/>
          <a:p>
            <a:pPr marL="0" indent="0" algn="ctr">
              <a:buNone/>
            </a:pPr>
            <a:r>
              <a:rPr lang="en-US" sz="4600" b="1" dirty="0">
                <a:solidFill>
                  <a:srgbClr val="2EC4B6"/>
                </a:solidFill>
                <a:latin typeface="Bookman Old Style" pitchFamily="34" charset="0"/>
                <a:ea typeface="Bookman Old Style" pitchFamily="34" charset="-122"/>
                <a:cs typeface="Bookman Old Style" pitchFamily="34" charset="-120"/>
              </a:rPr>
              <a:t>64</a:t>
            </a:r>
            <a:endParaRPr lang="en-US" sz="4600" dirty="0"/>
          </a:p>
        </p:txBody>
      </p:sp>
      <p:sp>
        <p:nvSpPr>
          <p:cNvPr id="8" name="Text 5"/>
          <p:cNvSpPr/>
          <p:nvPr/>
        </p:nvSpPr>
        <p:spPr>
          <a:xfrm>
            <a:off x="777240" y="3730752"/>
            <a:ext cx="2194560" cy="365760"/>
          </a:xfrm>
          <a:prstGeom prst="rect">
            <a:avLst/>
          </a:prstGeom>
          <a:noFill/>
          <a:ln/>
        </p:spPr>
        <p:txBody>
          <a:bodyPr wrap="square" lIns="0" tIns="0" rIns="0" bIns="0" rtlCol="0" anchor="ctr"/>
          <a:lstStyle/>
          <a:p>
            <a:pPr marL="0" indent="0" algn="ctr">
              <a:buNone/>
            </a:pPr>
            <a:r>
              <a:rPr lang="en-US" sz="1100" b="1" kern="0" spc="100" dirty="0">
                <a:solidFill>
                  <a:srgbClr val="DCEEF5"/>
                </a:solidFill>
                <a:latin typeface="Calibri" pitchFamily="34" charset="0"/>
                <a:ea typeface="Calibri" pitchFamily="34" charset="-122"/>
                <a:cs typeface="Calibri" pitchFamily="34" charset="-120"/>
              </a:rPr>
              <a:t>GLOSSARY TERMS</a:t>
            </a:r>
            <a:endParaRPr lang="en-US" sz="1100" dirty="0"/>
          </a:p>
        </p:txBody>
      </p:sp>
      <p:sp>
        <p:nvSpPr>
          <p:cNvPr id="9" name="Text 6"/>
          <p:cNvSpPr/>
          <p:nvPr/>
        </p:nvSpPr>
        <p:spPr>
          <a:xfrm>
            <a:off x="3337560" y="2926080"/>
            <a:ext cx="2194560" cy="822960"/>
          </a:xfrm>
          <a:prstGeom prst="rect">
            <a:avLst/>
          </a:prstGeom>
          <a:noFill/>
          <a:ln/>
        </p:spPr>
        <p:txBody>
          <a:bodyPr wrap="square" lIns="0" tIns="0" rIns="0" bIns="0" rtlCol="0" anchor="ctr"/>
          <a:lstStyle/>
          <a:p>
            <a:pPr marL="0" indent="0" algn="ctr">
              <a:buNone/>
            </a:pPr>
            <a:r>
              <a:rPr lang="en-US" sz="4600" b="1" dirty="0">
                <a:solidFill>
                  <a:srgbClr val="2EC4B6"/>
                </a:solidFill>
                <a:latin typeface="Bookman Old Style" pitchFamily="34" charset="0"/>
                <a:ea typeface="Bookman Old Style" pitchFamily="34" charset="-122"/>
                <a:cs typeface="Bookman Old Style" pitchFamily="34" charset="-120"/>
              </a:rPr>
              <a:t>7</a:t>
            </a:r>
            <a:endParaRPr lang="en-US" sz="4600" dirty="0"/>
          </a:p>
        </p:txBody>
      </p:sp>
      <p:sp>
        <p:nvSpPr>
          <p:cNvPr id="10" name="Text 7"/>
          <p:cNvSpPr/>
          <p:nvPr/>
        </p:nvSpPr>
        <p:spPr>
          <a:xfrm>
            <a:off x="3337560" y="3730752"/>
            <a:ext cx="2194560" cy="365760"/>
          </a:xfrm>
          <a:prstGeom prst="rect">
            <a:avLst/>
          </a:prstGeom>
          <a:noFill/>
          <a:ln/>
        </p:spPr>
        <p:txBody>
          <a:bodyPr wrap="square" lIns="0" tIns="0" rIns="0" bIns="0" rtlCol="0" anchor="ctr"/>
          <a:lstStyle/>
          <a:p>
            <a:pPr marL="0" indent="0" algn="ctr">
              <a:buNone/>
            </a:pPr>
            <a:r>
              <a:rPr lang="en-US" sz="1100" b="1" kern="0" spc="100" dirty="0">
                <a:solidFill>
                  <a:srgbClr val="DCEEF5"/>
                </a:solidFill>
                <a:latin typeface="Calibri" pitchFamily="34" charset="0"/>
                <a:ea typeface="Calibri" pitchFamily="34" charset="-122"/>
                <a:cs typeface="Calibri" pitchFamily="34" charset="-120"/>
              </a:rPr>
              <a:t>CATEGORIES</a:t>
            </a:r>
            <a:endParaRPr lang="en-US" sz="1100" dirty="0"/>
          </a:p>
        </p:txBody>
      </p:sp>
      <p:sp>
        <p:nvSpPr>
          <p:cNvPr id="11" name="Text 8"/>
          <p:cNvSpPr/>
          <p:nvPr/>
        </p:nvSpPr>
        <p:spPr>
          <a:xfrm>
            <a:off x="5897880" y="2926080"/>
            <a:ext cx="2194560" cy="822960"/>
          </a:xfrm>
          <a:prstGeom prst="rect">
            <a:avLst/>
          </a:prstGeom>
          <a:noFill/>
          <a:ln/>
        </p:spPr>
        <p:txBody>
          <a:bodyPr wrap="square" lIns="0" tIns="0" rIns="0" bIns="0" rtlCol="0" anchor="ctr"/>
          <a:lstStyle/>
          <a:p>
            <a:pPr marL="0" indent="0" algn="ctr">
              <a:buNone/>
            </a:pPr>
            <a:r>
              <a:rPr lang="en-US" sz="4600" b="1" dirty="0">
                <a:solidFill>
                  <a:srgbClr val="2EC4B6"/>
                </a:solidFill>
                <a:latin typeface="Bookman Old Style" pitchFamily="34" charset="0"/>
                <a:ea typeface="Bookman Old Style" pitchFamily="34" charset="-122"/>
                <a:cs typeface="Bookman Old Style" pitchFamily="34" charset="-120"/>
              </a:rPr>
              <a:t>1/4</a:t>
            </a:r>
            <a:endParaRPr lang="en-US" sz="4600" dirty="0"/>
          </a:p>
        </p:txBody>
      </p:sp>
      <p:sp>
        <p:nvSpPr>
          <p:cNvPr id="12" name="Text 9"/>
          <p:cNvSpPr/>
          <p:nvPr/>
        </p:nvSpPr>
        <p:spPr>
          <a:xfrm>
            <a:off x="5897880" y="3730752"/>
            <a:ext cx="2194560" cy="365760"/>
          </a:xfrm>
          <a:prstGeom prst="rect">
            <a:avLst/>
          </a:prstGeom>
          <a:noFill/>
          <a:ln/>
        </p:spPr>
        <p:txBody>
          <a:bodyPr wrap="square" lIns="0" tIns="0" rIns="0" bIns="0" rtlCol="0" anchor="ctr"/>
          <a:lstStyle/>
          <a:p>
            <a:pPr marL="0" indent="0" algn="ctr">
              <a:buNone/>
            </a:pPr>
            <a:r>
              <a:rPr lang="en-US" sz="1100" b="1" kern="0" spc="100" dirty="0">
                <a:solidFill>
                  <a:srgbClr val="DCEEF5"/>
                </a:solidFill>
                <a:latin typeface="Calibri" pitchFamily="34" charset="0"/>
                <a:ea typeface="Calibri" pitchFamily="34" charset="-122"/>
                <a:cs typeface="Calibri" pitchFamily="34" charset="-120"/>
              </a:rPr>
              <a:t>TRUST SCORE INPUTS</a:t>
            </a:r>
            <a:endParaRPr lang="en-US" sz="1100" dirty="0"/>
          </a:p>
        </p:txBody>
      </p:sp>
      <p:sp>
        <p:nvSpPr>
          <p:cNvPr id="13" name="Text 10"/>
          <p:cNvSpPr/>
          <p:nvPr/>
        </p:nvSpPr>
        <p:spPr>
          <a:xfrm>
            <a:off x="548640" y="4626864"/>
            <a:ext cx="8046720" cy="365760"/>
          </a:xfrm>
          <a:prstGeom prst="rect">
            <a:avLst/>
          </a:prstGeom>
          <a:noFill/>
          <a:ln/>
        </p:spPr>
        <p:txBody>
          <a:bodyPr wrap="square" lIns="0" tIns="0" rIns="0" bIns="0" rtlCol="0" anchor="ctr"/>
          <a:lstStyle/>
          <a:p>
            <a:pPr marL="0" indent="0">
              <a:buNone/>
            </a:pPr>
            <a:r>
              <a:rPr lang="en-US" sz="1200" i="1" dirty="0">
                <a:solidFill>
                  <a:srgbClr val="5B7782"/>
                </a:solidFill>
                <a:latin typeface="Calibri" pitchFamily="34" charset="0"/>
                <a:ea typeface="Calibri" pitchFamily="34" charset="-122"/>
                <a:cs typeface="Calibri" pitchFamily="34" charset="-120"/>
              </a:rPr>
              <a:t>Next up — Workshop 4: Data Profiling &amp; Identification</a:t>
            </a:r>
            <a:endParaRPr lang="en-US" sz="1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7680960" cy="292608"/>
          </a:xfrm>
          <a:prstGeom prst="rect">
            <a:avLst/>
          </a:prstGeom>
          <a:noFill/>
        </p:spPr>
        <p:txBody>
          <a:bodyPr wrap="square" lIns="0" rIns="0" tIns="0" bIns="0">
            <a:spAutoFit/>
          </a:bodyPr>
          <a:lstStyle/>
          <a:p>
            <a:r>
              <a:rPr sz="1200" b="1" spc="200">
                <a:solidFill>
                  <a:srgbClr val="1C7293"/>
                </a:solidFill>
                <a:latin typeface="Calibri"/>
              </a:rPr>
              <a:t>TRUST SCORE</a:t>
            </a:r>
          </a:p>
        </p:txBody>
      </p:sp>
      <p:sp>
        <p:nvSpPr>
          <p:cNvPr id="3" name="TextBox 2"/>
          <p:cNvSpPr txBox="1"/>
          <p:nvPr/>
        </p:nvSpPr>
        <p:spPr>
          <a:xfrm>
            <a:off x="548640" y="713232"/>
            <a:ext cx="7863840" cy="566928"/>
          </a:xfrm>
          <a:prstGeom prst="rect">
            <a:avLst/>
          </a:prstGeom>
          <a:noFill/>
        </p:spPr>
        <p:txBody>
          <a:bodyPr wrap="square" lIns="0" rIns="0" tIns="0" bIns="0">
            <a:spAutoFit/>
          </a:bodyPr>
          <a:lstStyle/>
          <a:p>
            <a:r>
              <a:rPr sz="2700" b="0">
                <a:solidFill>
                  <a:srgbClr val="14333F"/>
                </a:solidFill>
                <a:latin typeface="Bookman Old Style"/>
              </a:rPr>
              <a:t>Where Trust Score lives</a:t>
            </a:r>
          </a:p>
        </p:txBody>
      </p:sp>
      <p:sp>
        <p:nvSpPr>
          <p:cNvPr id="4" name="Rectangle 3"/>
          <p:cNvSpPr/>
          <p:nvPr/>
        </p:nvSpPr>
        <p:spPr>
          <a:xfrm>
            <a:off x="548640" y="1444752"/>
            <a:ext cx="8046720" cy="475488"/>
          </a:xfrm>
          <a:prstGeom prst="rect">
            <a:avLst/>
          </a:prstGeom>
          <a:solidFill>
            <a:srgbClr val="0A3D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350" b="1">
                <a:solidFill>
                  <a:srgbClr val="FFFFFF"/>
                </a:solidFill>
                <a:latin typeface="Calibri"/>
              </a:rPr>
              <a:t>Only tables and files are scored   ·   </a:t>
            </a:r>
            <a:r>
              <a:rPr sz="1350" b="1">
                <a:solidFill>
                  <a:srgbClr val="7FD4DE"/>
                </a:solidFill>
                <a:latin typeface="Calibri"/>
              </a:rPr>
              <a:t>Table = File</a:t>
            </a:r>
            <a:r>
              <a:rPr sz="1200" b="0">
                <a:solidFill>
                  <a:srgbClr val="AFC9CF"/>
                </a:solidFill>
                <a:latin typeface="Calibri"/>
              </a:rPr>
              <a:t>  (scored)    </a:t>
            </a:r>
            <a:r>
              <a:rPr sz="1350" b="1">
                <a:solidFill>
                  <a:srgbClr val="7FD4DE"/>
                </a:solidFill>
                <a:latin typeface="Calibri"/>
              </a:rPr>
              <a:t>Column = Folder</a:t>
            </a:r>
            <a:r>
              <a:rPr sz="1200" b="0">
                <a:solidFill>
                  <a:srgbClr val="AFC9CF"/>
                </a:solidFill>
                <a:latin typeface="Calibri"/>
              </a:rPr>
              <a:t>  (not)</a:t>
            </a:r>
          </a:p>
        </p:txBody>
      </p:sp>
      <p:sp>
        <p:nvSpPr>
          <p:cNvPr id="5" name="Rounded Rectangle 4"/>
          <p:cNvSpPr/>
          <p:nvPr/>
        </p:nvSpPr>
        <p:spPr>
          <a:xfrm>
            <a:off x="548640" y="2084831"/>
            <a:ext cx="3931920" cy="1371600"/>
          </a:xfrm>
          <a:prstGeom prst="roundRect">
            <a:avLst>
              <a:gd name="adj" fmla="val 5000"/>
            </a:avLst>
          </a:prstGeom>
          <a:solidFill>
            <a:srgbClr val="EEF6FA"/>
          </a:solidFill>
          <a:ln w="9525">
            <a:solidFill>
              <a:srgbClr val="D7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9808" y="2322576"/>
            <a:ext cx="146304" cy="146304"/>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231136"/>
            <a:ext cx="3291839" cy="365760"/>
          </a:xfrm>
          <a:prstGeom prst="rect">
            <a:avLst/>
          </a:prstGeom>
          <a:noFill/>
        </p:spPr>
        <p:txBody>
          <a:bodyPr wrap="square" lIns="0" rIns="0" tIns="0" bIns="0">
            <a:spAutoFit/>
          </a:bodyPr>
          <a:lstStyle/>
          <a:p>
            <a:r>
              <a:rPr sz="1400" b="0">
                <a:solidFill>
                  <a:srgbClr val="14333F"/>
                </a:solidFill>
                <a:latin typeface="Bookman Old Style"/>
              </a:rPr>
              <a:t>Table</a:t>
            </a:r>
            <a:r>
              <a:rPr sz="1100" b="1">
                <a:solidFill>
                  <a:srgbClr val="1C7293"/>
                </a:solidFill>
                <a:latin typeface="Calibri"/>
              </a:rPr>
              <a:t>  ·  scored</a:t>
            </a:r>
          </a:p>
        </p:txBody>
      </p:sp>
      <p:sp>
        <p:nvSpPr>
          <p:cNvPr id="8" name="TextBox 7"/>
          <p:cNvSpPr txBox="1"/>
          <p:nvPr/>
        </p:nvSpPr>
        <p:spPr>
          <a:xfrm>
            <a:off x="749808" y="2651760"/>
            <a:ext cx="3529584" cy="749808"/>
          </a:xfrm>
          <a:prstGeom prst="rect">
            <a:avLst/>
          </a:prstGeom>
          <a:noFill/>
        </p:spPr>
        <p:txBody>
          <a:bodyPr wrap="square" lIns="0" rIns="0" tIns="0" bIns="0">
            <a:spAutoFit/>
          </a:bodyPr>
          <a:lstStyle/>
          <a:p>
            <a:pPr>
              <a:lnSpc>
                <a:spcPct val="105000"/>
              </a:lnSpc>
            </a:pPr>
            <a:r>
              <a:rPr sz="1100" b="0">
                <a:solidFill>
                  <a:srgbClr val="5B7782"/>
                </a:solidFill>
                <a:latin typeface="Calibri"/>
              </a:rPr>
              <a:t>Calculate from four inputs, or set a value manually. A reliability score for the whole table.</a:t>
            </a:r>
          </a:p>
        </p:txBody>
      </p:sp>
      <p:sp>
        <p:nvSpPr>
          <p:cNvPr id="9" name="Rounded Rectangle 8"/>
          <p:cNvSpPr/>
          <p:nvPr/>
        </p:nvSpPr>
        <p:spPr>
          <a:xfrm>
            <a:off x="4663440" y="2084831"/>
            <a:ext cx="3931920" cy="1371600"/>
          </a:xfrm>
          <a:prstGeom prst="roundRect">
            <a:avLst>
              <a:gd name="adj" fmla="val 5000"/>
            </a:avLst>
          </a:prstGeom>
          <a:solidFill>
            <a:srgbClr val="EEF6FA"/>
          </a:solidFill>
          <a:ln w="9525">
            <a:solidFill>
              <a:srgbClr val="D7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64607" y="2322576"/>
            <a:ext cx="146304" cy="146304"/>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2231136"/>
            <a:ext cx="3291839" cy="365760"/>
          </a:xfrm>
          <a:prstGeom prst="rect">
            <a:avLst/>
          </a:prstGeom>
          <a:noFill/>
        </p:spPr>
        <p:txBody>
          <a:bodyPr wrap="square" lIns="0" rIns="0" tIns="0" bIns="0">
            <a:spAutoFit/>
          </a:bodyPr>
          <a:lstStyle/>
          <a:p>
            <a:r>
              <a:rPr sz="1400" b="0">
                <a:solidFill>
                  <a:srgbClr val="14333F"/>
                </a:solidFill>
                <a:latin typeface="Bookman Old Style"/>
              </a:rPr>
              <a:t>File</a:t>
            </a:r>
            <a:r>
              <a:rPr sz="1100" b="1">
                <a:solidFill>
                  <a:srgbClr val="1C7293"/>
                </a:solidFill>
                <a:latin typeface="Calibri"/>
              </a:rPr>
              <a:t>  ·  scored</a:t>
            </a:r>
          </a:p>
        </p:txBody>
      </p:sp>
      <p:sp>
        <p:nvSpPr>
          <p:cNvPr id="12" name="TextBox 11"/>
          <p:cNvSpPr txBox="1"/>
          <p:nvPr/>
        </p:nvSpPr>
        <p:spPr>
          <a:xfrm>
            <a:off x="4864607" y="2651760"/>
            <a:ext cx="3529584" cy="749808"/>
          </a:xfrm>
          <a:prstGeom prst="rect">
            <a:avLst/>
          </a:prstGeom>
          <a:noFill/>
        </p:spPr>
        <p:txBody>
          <a:bodyPr wrap="square" lIns="0" rIns="0" tIns="0" bIns="0">
            <a:spAutoFit/>
          </a:bodyPr>
          <a:lstStyle/>
          <a:p>
            <a:pPr>
              <a:lnSpc>
                <a:spcPct val="105000"/>
              </a:lnSpc>
            </a:pPr>
            <a:r>
              <a:rPr sz="1100" b="0">
                <a:solidFill>
                  <a:srgbClr val="5B7782"/>
                </a:solidFill>
                <a:latin typeface="Calibri"/>
              </a:rPr>
              <a:t>The unstructured twin of a table. Same four inputs; Data Quality comes from Data Discovery.</a:t>
            </a:r>
          </a:p>
        </p:txBody>
      </p:sp>
      <p:sp>
        <p:nvSpPr>
          <p:cNvPr id="13" name="Rounded Rectangle 12"/>
          <p:cNvSpPr/>
          <p:nvPr/>
        </p:nvSpPr>
        <p:spPr>
          <a:xfrm>
            <a:off x="548640" y="3566160"/>
            <a:ext cx="3931920" cy="1371600"/>
          </a:xfrm>
          <a:prstGeom prst="roundRect">
            <a:avLst>
              <a:gd name="adj" fmla="val 5000"/>
            </a:avLst>
          </a:prstGeom>
          <a:solidFill>
            <a:srgbClr val="EEF6FA"/>
          </a:solidFill>
          <a:ln w="9525">
            <a:solidFill>
              <a:srgbClr val="D7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9808" y="3803904"/>
            <a:ext cx="146304" cy="146304"/>
          </a:xfrm>
          <a:prstGeom prst="rect">
            <a:avLst/>
          </a:prstGeom>
          <a:solidFill>
            <a:srgbClr val="93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712463"/>
            <a:ext cx="3291839" cy="365760"/>
          </a:xfrm>
          <a:prstGeom prst="rect">
            <a:avLst/>
          </a:prstGeom>
          <a:noFill/>
        </p:spPr>
        <p:txBody>
          <a:bodyPr wrap="square" lIns="0" rIns="0" tIns="0" bIns="0">
            <a:spAutoFit/>
          </a:bodyPr>
          <a:lstStyle/>
          <a:p>
            <a:r>
              <a:rPr sz="1400" b="0">
                <a:solidFill>
                  <a:srgbClr val="14333F"/>
                </a:solidFill>
                <a:latin typeface="Bookman Old Style"/>
              </a:rPr>
              <a:t>Column</a:t>
            </a:r>
            <a:r>
              <a:rPr sz="1100" b="1">
                <a:solidFill>
                  <a:srgbClr val="5B7782"/>
                </a:solidFill>
                <a:latin typeface="Calibri"/>
              </a:rPr>
              <a:t>  ·  not scored</a:t>
            </a:r>
          </a:p>
        </p:txBody>
      </p:sp>
      <p:sp>
        <p:nvSpPr>
          <p:cNvPr id="16" name="TextBox 15"/>
          <p:cNvSpPr txBox="1"/>
          <p:nvPr/>
        </p:nvSpPr>
        <p:spPr>
          <a:xfrm>
            <a:off x="749808" y="4133087"/>
            <a:ext cx="3529584" cy="749808"/>
          </a:xfrm>
          <a:prstGeom prst="rect">
            <a:avLst/>
          </a:prstGeom>
          <a:noFill/>
        </p:spPr>
        <p:txBody>
          <a:bodyPr wrap="square" lIns="0" rIns="0" tIns="0" bIns="0">
            <a:spAutoFit/>
          </a:bodyPr>
          <a:lstStyle/>
          <a:p>
            <a:pPr>
              <a:lnSpc>
                <a:spcPct val="105000"/>
              </a:lnSpc>
            </a:pPr>
            <a:r>
              <a:rPr sz="1100" b="0">
                <a:solidFill>
                  <a:srgbClr val="5B7782"/>
                </a:solidFill>
                <a:latin typeface="Calibri"/>
              </a:rPr>
              <a:t>Carries DQ, sensitivity, tags and term links — for governance and discovery. Any number must be authored via API / OpenSearch.</a:t>
            </a:r>
          </a:p>
        </p:txBody>
      </p:sp>
      <p:sp>
        <p:nvSpPr>
          <p:cNvPr id="17" name="Rounded Rectangle 16"/>
          <p:cNvSpPr/>
          <p:nvPr/>
        </p:nvSpPr>
        <p:spPr>
          <a:xfrm>
            <a:off x="4663440" y="3566160"/>
            <a:ext cx="3931920" cy="1371600"/>
          </a:xfrm>
          <a:prstGeom prst="roundRect">
            <a:avLst>
              <a:gd name="adj" fmla="val 5000"/>
            </a:avLst>
          </a:prstGeom>
          <a:solidFill>
            <a:srgbClr val="EEF6FA"/>
          </a:solidFill>
          <a:ln w="9525">
            <a:solidFill>
              <a:srgbClr val="D7E6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64607" y="3803904"/>
            <a:ext cx="146304" cy="146304"/>
          </a:xfrm>
          <a:prstGeom prst="rect">
            <a:avLst/>
          </a:prstGeom>
          <a:solidFill>
            <a:srgbClr val="93A9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3712463"/>
            <a:ext cx="3291839" cy="365760"/>
          </a:xfrm>
          <a:prstGeom prst="rect">
            <a:avLst/>
          </a:prstGeom>
          <a:noFill/>
        </p:spPr>
        <p:txBody>
          <a:bodyPr wrap="square" lIns="0" rIns="0" tIns="0" bIns="0">
            <a:spAutoFit/>
          </a:bodyPr>
          <a:lstStyle/>
          <a:p>
            <a:r>
              <a:rPr sz="1400" b="0">
                <a:solidFill>
                  <a:srgbClr val="14333F"/>
                </a:solidFill>
                <a:latin typeface="Bookman Old Style"/>
              </a:rPr>
              <a:t>Folder</a:t>
            </a:r>
            <a:r>
              <a:rPr sz="1100" b="1">
                <a:solidFill>
                  <a:srgbClr val="5B7782"/>
                </a:solidFill>
                <a:latin typeface="Calibri"/>
              </a:rPr>
              <a:t>  ·  not scored</a:t>
            </a:r>
          </a:p>
        </p:txBody>
      </p:sp>
      <p:sp>
        <p:nvSpPr>
          <p:cNvPr id="20" name="TextBox 19"/>
          <p:cNvSpPr txBox="1"/>
          <p:nvPr/>
        </p:nvSpPr>
        <p:spPr>
          <a:xfrm>
            <a:off x="4864607" y="4133087"/>
            <a:ext cx="3529584" cy="749808"/>
          </a:xfrm>
          <a:prstGeom prst="rect">
            <a:avLst/>
          </a:prstGeom>
          <a:noFill/>
        </p:spPr>
        <p:txBody>
          <a:bodyPr wrap="square" lIns="0" rIns="0" tIns="0" bIns="0">
            <a:spAutoFit/>
          </a:bodyPr>
          <a:lstStyle/>
          <a:p>
            <a:pPr>
              <a:lnSpc>
                <a:spcPct val="105000"/>
              </a:lnSpc>
            </a:pPr>
            <a:r>
              <a:rPr sz="1100" b="0">
                <a:solidFill>
                  <a:srgbClr val="5B7782"/>
                </a:solidFill>
                <a:latin typeface="Calibri"/>
              </a:rPr>
              <a:t>A container above files, like a schema. Never carries a score.</a:t>
            </a:r>
          </a:p>
        </p:txBody>
      </p:sp>
      <p:sp>
        <p:nvSpPr>
          <p:cNvPr id="21" name="TextBox 20"/>
          <p:cNvSpPr txBox="1"/>
          <p:nvPr/>
        </p:nvSpPr>
        <p:spPr>
          <a:xfrm>
            <a:off x="548640" y="4828032"/>
            <a:ext cx="7315200" cy="274320"/>
          </a:xfrm>
          <a:prstGeom prst="rect">
            <a:avLst/>
          </a:prstGeom>
          <a:noFill/>
        </p:spPr>
        <p:txBody>
          <a:bodyPr wrap="square" lIns="0" rIns="0" tIns="0" bIns="0">
            <a:spAutoFit/>
          </a:bodyPr>
          <a:lstStyle/>
          <a:p>
            <a:r>
              <a:rPr sz="950" b="0">
                <a:solidFill>
                  <a:srgbClr val="5B7782"/>
                </a:solidFill>
                <a:latin typeface="Calibri"/>
              </a:rPr>
              <a:t>Workshop 3 · Build the Business Glossary</a:t>
            </a:r>
          </a:p>
        </p:txBody>
      </p:sp>
      <p:sp>
        <p:nvSpPr>
          <p:cNvPr id="22" name="TextBox 21"/>
          <p:cNvSpPr txBox="1"/>
          <p:nvPr/>
        </p:nvSpPr>
        <p:spPr>
          <a:xfrm>
            <a:off x="8366760" y="4828032"/>
            <a:ext cx="320040" cy="274320"/>
          </a:xfrm>
          <a:prstGeom prst="rect">
            <a:avLst/>
          </a:prstGeom>
          <a:noFill/>
        </p:spPr>
        <p:txBody>
          <a:bodyPr wrap="square" lIns="0" rIns="0" tIns="0" bIns="0">
            <a:spAutoFit/>
          </a:bodyPr>
          <a:lstStyle/>
          <a:p>
            <a:pPr algn="r"/>
            <a:r>
              <a:rPr sz="950" b="0">
                <a:solidFill>
                  <a:srgbClr val="5B7782"/>
                </a:solidFill>
                <a:latin typeface="Calibri"/>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1726</Words>
  <Application>Microsoft Office PowerPoint</Application>
  <PresentationFormat>On-screen Show (16:9)</PresentationFormat>
  <Paragraphs>187</Paragraphs>
  <Slides>10</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2: Explore Data Structure &amp; Metadata</dc:title>
  <dc:subject>PptxGenJS Presentation</dc:subject>
  <dc:creator>Copper State Credit Union - PDC BA Course</dc:creator>
  <cp:lastModifiedBy>James O'Reilly</cp:lastModifiedBy>
  <cp:revision>2</cp:revision>
  <dcterms:created xsi:type="dcterms:W3CDTF">2026-06-10T17:22:06Z</dcterms:created>
  <dcterms:modified xsi:type="dcterms:W3CDTF">2026-06-23T11:12:18Z</dcterms:modified>
</cp:coreProperties>
</file>